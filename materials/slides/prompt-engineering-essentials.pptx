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0 Welcome" id="{a78e0699-cf26-8a44-f7f6-97ac35cb2d92}">
          <p14:sldIdLst>
            <p14:sldId id="256"/>
            <p14:sldId id="257"/>
            <p14:sldId id="258"/>
            <p14:sldId id="259"/>
            <p14:sldId id="260"/>
            <p14:sldId id="261"/>
            <p14:sldId id="262"/>
          </p14:sldIdLst>
        </p14:section>
        <p14:section name="01 Foundations" id="{459c27c9-ddd1-0dd9-5a69-c75f79ce9058}">
          <p14:sldIdLst>
            <p14:sldId id="263"/>
            <p14:sldId id="264"/>
            <p14:sldId id="265"/>
            <p14:sldId id="266"/>
            <p14:sldId id="267"/>
            <p14:sldId id="268"/>
            <p14:sldId id="269"/>
            <p14:sldId id="270"/>
            <p14:sldId id="271"/>
          </p14:sldIdLst>
        </p14:section>
        <p14:section name="02 Core skills" id="{84181d8b-c471-5aea-9519-463de47bdcdc}">
          <p14:sldIdLst>
            <p14:sldId id="272"/>
            <p14:sldId id="273"/>
            <p14:sldId id="274"/>
            <p14:sldId id="275"/>
            <p14:sldId id="276"/>
            <p14:sldId id="277"/>
            <p14:sldId id="278"/>
            <p14:sldId id="279"/>
          </p14:sldIdLst>
        </p14:section>
        <p14:section name="03 Applied practice" id="{a6ba5828-ac9b-fb28-93f1-7b1ecf05512a}">
          <p14:sldIdLst>
            <p14:sldId id="280"/>
            <p14:sldId id="281"/>
            <p14:sldId id="282"/>
            <p14:sldId id="283"/>
            <p14:sldId id="284"/>
            <p14:sldId id="285"/>
            <p14:sldId id="286"/>
            <p14:sldId id="287"/>
            <p14:sldId id="288"/>
          </p14:sldIdLst>
        </p14:section>
        <p14:section name="04 Capstone" id="{18943d23-609a-c3f7-c8e2-030cf493647b}">
          <p14:sldIdLst>
            <p14:sldId id="289"/>
            <p14:sldId id="290"/>
            <p14:sldId id="291"/>
            <p14:sldId id="292"/>
            <p14:sldId id="293"/>
          </p14:sldIdLst>
        </p14:section>
        <p14:section name="05 Wrap-up" id="{02591081-e3f6-6276-f8b9-c08aac440aca}">
          <p14:sldIdLst>
            <p14:sldId id="294"/>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Likelihood</c:v>
                </c:pt>
              </c:strCache>
            </c:strRef>
          </c:tx>
          <c:spPr>
            <a:solidFill>
              <a:srgbClr val="000000"/>
            </a:solidFill>
            <a:effectLst/>
          </c:spPr>
          <c:invertIfNegative val="0"/>
          <c:dLbls>
            <c:numFmt formatCode="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Thursday</c:v>
                  </c:pt>
                  <c:pt idx="1">
                    <c:v>Friday</c:v>
                  </c:pt>
                  <c:pt idx="2">
                    <c:v>next</c:v>
                  </c:pt>
                  <c:pt idx="3">
                    <c:v>Monday</c:v>
                  </c:pt>
                  <c:pt idx="4">
                    <c:v>the</c:v>
                  </c:pt>
                </c:lvl>
              </c:multiLvlStrCache>
            </c:multiLvlStrRef>
          </c:cat>
          <c:val>
            <c:numRef>
              <c:f>Sheet1!$B$2:$B$6</c:f>
              <c:numCache>
                <c:formatCode>General</c:formatCode>
                <c:ptCount val="5"/>
                <c:pt idx="0">
                  <c:v>38</c:v>
                </c:pt>
                <c:pt idx="1">
                  <c:v>21</c:v>
                </c:pt>
                <c:pt idx="2">
                  <c:v>14</c:v>
                </c:pt>
                <c:pt idx="3">
                  <c:v>9</c:v>
                </c:pt>
                <c:pt idx="4">
                  <c:v>8</c:v>
                </c:pt>
              </c:numCache>
            </c:numRef>
          </c:val>
        </c:ser>
        <c:dLbls>
          <c:numFmt formatCode="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6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9:00: this slide up, Wi-Fi details on the table cards, workbook link ready to share. Start a visible countdown timer app for the day: you'll use it for every activity.
Add your name and the date to this slide if you like.
9:00 sharp: welcome. Today is about getting Gemini to do useful work for you, reliably. No technical background needed: if you can write an email, you can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9:00–9:05. Logistics: restrooms, breaks, lunch. Say the finish time out loud: 4:00.
Tell people the day's pattern: short explanation, then you try it. Nothing runs longer than 12 minutes without you doing something. New ideas all come before lunch; the afternoon is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9:05–9:13. Pairs, two minutes each way, timer on screen. Then 3–4 volunteers share their partner's 'one thing'. Write the themes on a flipchart: you'll come back to them at 3:30.
Welcome scepticism as well as enthusiasm: 'by this afternoon you'll know when to trust it and when not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9:13–9:20. Hand out the pre-check (assessment/pre-post-check.md) or share the link. Not graded, blanks are fine. The check code lets us match morning and afternoon without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9:20–9:25, with the next slide. Read these as plain promises. Number 5 is what you'll take back to work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moment on the last one: it's the first habit of responsible AI use, and we come back to it after lunch. Everything in the workbook is invented for that reason.
It's fine to stand, stretch, or use a fidget during any part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9:25–9:30. A response proves the account, browser, and Wi-Fi all work. Note who is on a personal account versus a work or school account: it matters after lunch (slide 27).
Anyone who can't get in: pair them with a neighbour and fix it at the 10:30 break. Don't debug during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Two big ideas this hour: what Gemini actually does (and why it gets things wrong), and the five elements of a prompt that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9:30–9:35. Hook. Run the prompt live in Gemini, or use the typical response shown. Ask 'how would you make this better?' before revealing the guesses. Promise: by 10:30 you'll be able to fix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9:35–9:47, with the next slide. Keep it non-technical: Gemini is a prediction engine for text. That's why it's fluent, and why it can be confidently wrong.
Gemini can also search Google while it answers, but it still writes the answer by prediction, so search results can be summarised wrongly.
The chart numbers are illustrative.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limit comes with a habit. Limits 1 and 4 come back after lunch as 'verify' and 'before you paste'.
'Hallucination' is the industry word for limit 1. Mention it so people recognise it.
The colleague model: widely read, knows nothing about your organization or audience, eager to please, more likely to guess than to ask, and you're accountable for the work. Repeat it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9:47–9:57. Individually. Leave this slide up and the timer running. Common mistake: asking again in the same chat, which isn't a fresh start: use New chat.
Gemini may search the web for Prairie Point and find nothing. Some learners will get 'I couldn't find information', others an invented policy. Both make the point. Debrief in one minute: 'Who got an invented policy? Who got a refusal?'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9:57–10:09, with the next slide. CRAFT is the framework for the whole day. Order doesn't matter much; clarity does. You don't always need all five: the more that's riding on the result, the more you specify.
Google's Workspace prompt guide recommends persona (= Role), task (= Ask), context, and format, and says the task verb is the most important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both prompts live in Gemini. Point at each letter: every sentence removes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10:09–10:22. Hand out cards A, B, C. Call each step aloud when the timer runs out: one step at a time is easier to follow than all four at once.
Extension: remove one element at a time from your rewrite. Which removal hurts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10:22–10:30. Answer: the time, place, and what to bring, so CONTEXT is missing. (It has an Ask, a Format: 'short', and Tone &amp; audience: 'friendly', 'volunteers'.)
Read the stickies during the break. If more than about a third miss it, re-run the before/after slide at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 Start on time. Warm-up (3 min, from this slide): 'In pairs, without looking, name the five CRAFT elements. Which one do you skip most often?' Usually Context or Format.
This is the last block with new material: two families of technique, each demonstrated and then practised.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10:48. Skill A in one slide. 'Ground it' is the single most effective defence against made-up details. 'Not stated' gives Gemini permission not to guess.
Any marker works: ###, triple quotes, or tags like &lt;notes&gt;…&lt;/notes&gt;. Examples teach style better than a paragraph of style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10:48–10:58. Type the prompt live in Gemini, narrating each choice: grounding rule, structure, one example row. Prompt and expected output are in materials/data/reference-solutions.md.
If time allows, run it once WITHOUT the 'Not stated' line: Gemini often assigns Dev as owner or invents a date. That makes the point better than any slide.
Gemini shows tables directly; if your version offers an export to Google Sheets option under the table, point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10:58–11:15. Pairs: one types, one directs; swap at 11:06. The numbered steps are a checklist: encourage pairs to tick them off in the workbook.
The memo says nothing about rideshares. A good result says it's not stated; a common failure is 'rideshares are typically reimbursable', sometimes after Gemini searches the web. Collect examples of both.
11:15–11:20 debrief (no slide): 'Where did Gemini invent things, and what stopped it?' Usual fixes: the 'use only' rule plus a test question; stating the format exactly; giving an example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Skill B: iterating. Most people stop after the first answer, or keep piling corrections into one long, confused chat.
'Interview me' is the most underused move. 'Critique, then revise' usually gives the biggest jump in quality.
Two Gemini tips: you can edit a prompt you've already sent (hover over it and click the pencil) instead of adding a correction; and if a chat goes off the rails, click New chat and start with a better first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11:20–11:30. Live in Gemini. Turn 1 already uses CRAFT (full prompt in reference-solutions.md). Name the move each turn uses. Turn 3 usually produces the biggest improvement: point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11:30–11:52. Checkpoint at 11:41: show of hands for 'how many turns have you used?' If most are stuck on turn 1, demo the 'interview me' move for one minute.
The extension previews the capstone: point it out to fast finishers.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11:52–12:00. Good answers: fence the source; 'use only the memo'; 'write Not stated if it's missing'; ask it to quote the line each point comes from. Read answers over lunch.
The lunch question seeds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Nothing new this afternoon: we put the morning's skills to work on a messy, realistic case, plus two habits that make Gemini safe to use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1:00–1:07. Gets everyone moving after lunch. Gaps on the sheets show what to reinforce during the case. If an exit-question answer was widely missed, fix it here in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1:07–1:15, with the next two slides. This is the most Gemini-specific point of the day, and it changes what's safe to paste.
Source: Google's Gemini Apps Privacy Hub and the Workspace with Gemini FAQ. Protections apply only when the organization has assigned a qualifying Gemini license; an ordinary account on an unlicensed domain falls under consumer terms. Turning off Keep Activity on a personal account reduces what's stored but doesn't stop human review for safety.
Check these details again the week before you teach: Google updates them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Turns limit 4 ('it isn't a vault') into a habit. Always defer to the organization's AI policy.
Anonymizing isn't just deleting the name: a job title plus a date can still identify someone.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Turns limit 1 ('it makes things up') into a habit. 'Invented?' is highlighted because it's the check people skip: invented details sound just as confident as real ones.
Gemini's Sources button appears only when it used sources, and a real link can still be summarised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documents are in the workbook. Don't point out the privacy trap in the manager's email: let groups find it. That's what the checker role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1:15–1:50. Circulate. At 1:32 each group gives a one-sentence status; hand out hint cards (module 03 README) to groups that are stuck.
If a group pastes the manager's whole email, don't stop them. Ask the checker: 'What's in that email? Which account are you using?'
Extension: leadership has made Friday a core in-office day too. Update the FAQ in one follow-up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1:50–2:05. Moving between tables is deliberate: it resets attention after a long work block. If running late, replace this with two groups presenting for 4 minutes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2:05–2:15. Use examples you saw while circulating, with permission. Show the reference FAQ (materials/data/reference-solutions.md) now, not before.
The usual invented answers: 'you can pick any two days', out-of-state work 'with approval', home internet 'typically not reimbursed'. None are in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Each person builds a prompt template for a real task from their own job, and saves it in Gemini. Protect the full 35 minutes of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2:30–2:35. Check everyone has a task by 2:40; anyone still deciding gets the fallback.
Learners whose real tasks involve sensitive data (HR, health, student records) test with fictional inputs: exactly how they should test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skeleton is in the workbook, ready to copy. The best templates end up shorter than this.
Saving: Gemini skills are saved prompts you call with '/'. Create one by asking Gemini in chat, or from Settings → Skills. Google is replacing Gems with skills (personal accounts from 17 November 2026; Workspace accounts in 2027), so some work or school accounts may still show Gems instead. Either works for today. Check the current menus the week before you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with the rubric. Ask: 'Which row are you working on? How do you know you've met it?' Pick share-out volunteers during the build: a range of professions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3–4 volunteers. 3:25–3:30: name what strong templates had in common (usually a grounding rule, a clear format, and placeholders that make reuse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3:30–3:37. Bring the 9:05 themes flipchart and the parking lot to the front. For each morning theme, ask 'Can you do this now?' Common parked questions and short answers are in the module 05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3:37–3:44. Never cut this, even if running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3:44–3:50. In the workbook. Learners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3:50–3:55. Collect in the room, before anyone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Point to participants/resources.md. The follow-up email arrives tomorrow with slides, resources, and parking-lot answers. Finish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0000"/>
        </a:solidFill>
      </p:bgPr>
    </p:bg>
    <p:spTree>
      <p:nvGrpSpPr>
        <p:cNvPr id="1" name=""/>
        <p:cNvGrpSpPr/>
        <p:nvPr/>
      </p:nvGrpSpPr>
      <p:grpSpPr>
        <a:xfrm>
          <a:off x="0" y="0"/>
          <a:ext cx="0" cy="0"/>
          <a:chOff x="0" y="0"/>
          <a:chExt cx="0" cy="0"/>
        </a:xfrm>
      </p:grpSpPr>
      <p:pic>
        <p:nvPicPr>
          <p:cNvPr id="2" name="Image 0" descr="/Users/zijunluo/Documents/GitHub/pb-group-D/materials/brand/uno-o-white.png">    </p:cNvPr>
          <p:cNvPicPr>
            <a:picLocks noChangeAspect="1"/>
          </p:cNvPicPr>
          <p:nvPr/>
        </p:nvPicPr>
        <p:blipFill>
          <a:blip r:embed="rId1"/>
          <a:stretch>
            <a:fillRect/>
          </a:stretch>
        </p:blipFill>
        <p:spPr>
          <a:xfrm>
            <a:off x="548640" y="502920"/>
            <a:ext cx="1143000" cy="1115568"/>
          </a:xfrm>
          <a:prstGeom prst="rect">
            <a:avLst/>
          </a:prstGeom>
        </p:spPr>
      </p:pic>
      <p:pic>
        <p:nvPicPr>
          <p:cNvPr id="3" name="Image 1" descr="/Users/zijunluo/Documents/GitHub/pb-group-D/materials/brand/uno-wordmark-white.png">    </p:cNvPr>
          <p:cNvPicPr>
            <a:picLocks noChangeAspect="1"/>
          </p:cNvPicPr>
          <p:nvPr/>
        </p:nvPicPr>
        <p:blipFill>
          <a:blip r:embed="rId2"/>
          <a:stretch>
            <a:fillRect/>
          </a:stretch>
        </p:blipFill>
        <p:spPr>
          <a:xfrm>
            <a:off x="9539935" y="5486400"/>
            <a:ext cx="2103120" cy="841248"/>
          </a:xfrm>
          <a:prstGeom prst="rect">
            <a:avLst/>
          </a:prstGeom>
        </p:spPr>
      </p:pic>
      <p:sp>
        <p:nvSpPr>
          <p:cNvPr id="4" name="Text 0"/>
          <p:cNvSpPr/>
          <p:nvPr>
            <p:ph idx="102" type="title" hasCustomPrompt="1"/>
          </p:nvPr>
        </p:nvSpPr>
        <p:spPr>
          <a:xfrm>
            <a:off x="548640" y="2103120"/>
            <a:ext cx="9875520" cy="15544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5" name="Text 0"/>
          <p:cNvSpPr/>
          <p:nvPr>
            <p:ph idx="103" type="body" hasCustomPrompt="1"/>
          </p:nvPr>
        </p:nvSpPr>
        <p:spPr>
          <a:xfrm>
            <a:off x="548640" y="3794760"/>
            <a:ext cx="9875520" cy="731520"/>
          </a:xfrm>
          <a:prstGeom prst="rect">
            <a:avLst/>
          </a:prstGeom>
          <a:noFill/>
          <a:ln/>
        </p:spPr>
        <p:txBody>
          <a:bodyPr wrap="square" rtlCol="0"/>
          <a:lstStyle>
            <a:lvl1pPr algn="l" indent="0" marL="0">
              <a:buNone/>
              <a:defRPr lang="en-US" sz="2400" dirty="0">
                <a:solidFill>
                  <a:schemeClr val="accent3"/>
                </a:solidFill>
              </a:defRPr>
            </a:lvl1pPr>
          </a:lstStyle>
          <a:p>
            <a:pPr algn="l" indent="0" marL="0">
              <a:buNone/>
            </a:pPr>
            <a:endParaRPr lang="en-US" sz="2400" dirty="0"/>
          </a:p>
        </p:txBody>
      </p:sp>
      <p:sp>
        <p:nvSpPr>
          <p:cNvPr id="6" name="Text 0"/>
          <p:cNvSpPr/>
          <p:nvPr>
            <p:ph idx="104" type="body" hasCustomPrompt="1"/>
          </p:nvPr>
        </p:nvSpPr>
        <p:spPr>
          <a:xfrm>
            <a:off x="548640" y="4754880"/>
            <a:ext cx="7863840" cy="82296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00000"/>
        </a:solidFill>
      </p:bgPr>
    </p:bg>
    <p:spTree>
      <p:nvGrpSpPr>
        <p:cNvPr id="1" name=""/>
        <p:cNvGrpSpPr/>
        <p:nvPr/>
      </p:nvGrpSpPr>
      <p:grpSpPr>
        <a:xfrm>
          <a:off x="0" y="0"/>
          <a:ext cx="0" cy="0"/>
          <a:chOff x="0" y="0"/>
          <a:chExt cx="0" cy="0"/>
        </a:xfrm>
      </p:grpSpPr>
      <p:pic>
        <p:nvPicPr>
          <p:cNvPr id="2" name="Image 0" descr="/Users/zijunluo/Documents/GitHub/pb-group-D/materials/brand/uno-o-white.png">    </p:cNvPr>
          <p:cNvPicPr>
            <a:picLocks noChangeAspect="1"/>
          </p:cNvPicPr>
          <p:nvPr/>
        </p:nvPicPr>
        <p:blipFill>
          <a:blip r:embed="rId1"/>
          <a:stretch>
            <a:fillRect/>
          </a:stretch>
        </p:blipFill>
        <p:spPr>
          <a:xfrm>
            <a:off x="11140135" y="6172200"/>
            <a:ext cx="502920" cy="493776"/>
          </a:xfrm>
          <a:prstGeom prst="rect">
            <a:avLst/>
          </a:prstGeom>
        </p:spPr>
      </p:pic>
      <p:sp>
        <p:nvSpPr>
          <p:cNvPr id="3" name="Text 0"/>
          <p:cNvSpPr/>
          <p:nvPr>
            <p:ph idx="101" type="body" hasCustomPrompt="1"/>
          </p:nvPr>
        </p:nvSpPr>
        <p:spPr>
          <a:xfrm>
            <a:off x="548640" y="1234440"/>
            <a:ext cx="3657600" cy="1554480"/>
          </a:xfrm>
          <a:prstGeom prst="rect">
            <a:avLst/>
          </a:prstGeom>
          <a:noFill/>
          <a:ln/>
        </p:spPr>
        <p:txBody>
          <a:bodyPr wrap="square" rtlCol="0"/>
          <a:lstStyle>
            <a:lvl1pPr algn="l" indent="0" marL="0">
              <a:buNone/>
              <a:defRPr lang="en-US" sz="11000" b="1" dirty="0">
                <a:solidFill>
                  <a:schemeClr val="accent1"/>
                </a:solidFill>
              </a:defRPr>
            </a:lvl1pPr>
          </a:lstStyle>
          <a:p>
            <a:pPr algn="l" indent="0" marL="0">
              <a:buNone/>
            </a:pPr>
            <a:endParaRPr lang="en-US" sz="11000" dirty="0"/>
          </a:p>
        </p:txBody>
      </p:sp>
      <p:sp>
        <p:nvSpPr>
          <p:cNvPr id="4" name="Text 0"/>
          <p:cNvSpPr/>
          <p:nvPr>
            <p:ph idx="102" type="title" hasCustomPrompt="1"/>
          </p:nvPr>
        </p:nvSpPr>
        <p:spPr>
          <a:xfrm>
            <a:off x="548640" y="2926080"/>
            <a:ext cx="1051560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548640" y="3931920"/>
            <a:ext cx="10515600" cy="640080"/>
          </a:xfrm>
          <a:prstGeom prst="rect">
            <a:avLst/>
          </a:prstGeom>
          <a:noFill/>
          <a:ln/>
        </p:spPr>
        <p:txBody>
          <a:bodyPr wrap="square" rtlCol="0"/>
          <a:lstStyle>
            <a:lvl1pPr algn="l" indent="0" marL="0">
              <a:buNone/>
              <a:defRPr lang="en-US" sz="2600" dirty="0">
                <a:solidFill>
                  <a:schemeClr val="accent3"/>
                </a:solidFill>
              </a:defRPr>
            </a:lvl1pPr>
          </a:lstStyle>
          <a:p>
            <a:pPr algn="l" indent="0" marL="0">
              <a:buNone/>
            </a:pPr>
            <a:endParaRPr lang="en-US" sz="2600" dirty="0"/>
          </a:p>
        </p:txBody>
      </p:sp>
      <p:sp>
        <p:nvSpPr>
          <p:cNvPr id="6" name="Text 0"/>
          <p:cNvSpPr/>
          <p:nvPr>
            <p:ph idx="104" type="body" hasCustomPrompt="1"/>
          </p:nvPr>
        </p:nvSpPr>
        <p:spPr>
          <a:xfrm>
            <a:off x="548640" y="4983480"/>
            <a:ext cx="5486400" cy="41148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tx2"/>
                </a:solidFill>
              </a:rPr>
              <a:t>Prompt Engineering Essentials</a:t>
            </a:r>
            <a:endParaRPr lang="en-US" sz="1000" dirty="0"/>
          </a:p>
        </p:txBody>
      </p:sp>
      <p:pic>
        <p:nvPicPr>
          <p:cNvPr id="3" name="Image 0" descr="/Users/zijunluo/Documents/GitHub/pb-group-D/materials/brand/uno-o.png">    </p:cNvPr>
          <p:cNvPicPr>
            <a:picLocks noChangeAspect="1"/>
          </p:cNvPicPr>
          <p:nvPr/>
        </p:nvPicPr>
        <p:blipFill>
          <a:blip r:embed="rId1"/>
          <a:stretch>
            <a:fillRect/>
          </a:stretch>
        </p:blipFill>
        <p:spPr>
          <a:xfrm>
            <a:off x="11277295" y="6309360"/>
            <a:ext cx="365760" cy="356616"/>
          </a:xfrm>
          <a:prstGeom prst="rect">
            <a:avLst/>
          </a:prstGeom>
        </p:spPr>
      </p:pic>
      <p:sp>
        <p:nvSpPr>
          <p:cNvPr id="4" name="Text 1"/>
          <p:cNvSpPr/>
          <p:nvPr>
            <p:ph idx="102" type="title" hasCustomPrompt="1"/>
          </p:nvPr>
        </p:nvSpPr>
        <p:spPr>
          <a:xfrm>
            <a:off x="548640" y="365760"/>
            <a:ext cx="9082735"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TIVITY_DARK">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Prompt Engineering Essentials</a:t>
            </a:r>
            <a:endParaRPr lang="en-US" sz="1000" dirty="0"/>
          </a:p>
        </p:txBody>
      </p:sp>
      <p:pic>
        <p:nvPicPr>
          <p:cNvPr id="3" name="Image 0" descr="/Users/zijunluo/Documents/GitHub/pb-group-D/materials/brand/uno-o-white.png">    </p:cNvPr>
          <p:cNvPicPr>
            <a:picLocks noChangeAspect="1"/>
          </p:cNvPicPr>
          <p:nvPr/>
        </p:nvPicPr>
        <p:blipFill>
          <a:blip r:embed="rId1"/>
          <a:stretch>
            <a:fillRect/>
          </a:stretch>
        </p:blipFill>
        <p:spPr>
          <a:xfrm>
            <a:off x="11277295" y="6309360"/>
            <a:ext cx="365760" cy="356616"/>
          </a:xfrm>
          <a:prstGeom prst="rect">
            <a:avLst/>
          </a:prstGeom>
        </p:spPr>
      </p:pic>
      <p:sp>
        <p:nvSpPr>
          <p:cNvPr id="4" name="Text 1"/>
          <p:cNvSpPr/>
          <p:nvPr>
            <p:ph idx="102" type="body" hasCustomPrompt="1"/>
          </p:nvPr>
        </p:nvSpPr>
        <p:spPr>
          <a:xfrm>
            <a:off x="548640" y="411480"/>
            <a:ext cx="8229600" cy="365760"/>
          </a:xfrm>
          <a:prstGeom prst="rect">
            <a:avLst/>
          </a:prstGeom>
          <a:noFill/>
          <a:ln/>
        </p:spPr>
        <p:txBody>
          <a:bodyPr wrap="square" rtlCol="0"/>
          <a:lstStyle>
            <a:lvl1pPr algn="l" indent="0" marL="0">
              <a:buNone/>
              <a:defRPr lang="en-US" sz="1400" b="1" spc="200" kern="0" dirty="0">
                <a:solidFill>
                  <a:schemeClr val="accent1"/>
                </a:solidFill>
              </a:defRPr>
            </a:lvl1pPr>
          </a:lstStyle>
          <a:p>
            <a:pPr algn="l" indent="0" marL="0">
              <a:buNone/>
            </a:pPr>
            <a:endParaRPr lang="en-US" sz="1400" dirty="0"/>
          </a:p>
        </p:txBody>
      </p:sp>
      <p:sp>
        <p:nvSpPr>
          <p:cNvPr id="5" name="Text 1"/>
          <p:cNvSpPr/>
          <p:nvPr>
            <p:ph idx="103" type="title" hasCustomPrompt="1"/>
          </p:nvPr>
        </p:nvSpPr>
        <p:spPr>
          <a:xfrm>
            <a:off x="548640" y="777240"/>
            <a:ext cx="8778240"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5.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4.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4.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5.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4.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548640" y="2103120"/>
            <a:ext cx="9875520" cy="1554480"/>
          </a:xfrm>
          <a:prstGeom prst="rect">
            <a:avLst/>
          </a:prstGeom>
          <a:noFill/>
          <a:ln/>
        </p:spPr>
        <p:txBody>
          <a:bodyPr wrap="square" lIns="0" tIns="0" rIns="0" bIns="0" rtlCol="0" anchor="b"/>
          <a:lstStyle/>
          <a:p>
            <a:pPr algn="l" indent="0" marL="0">
              <a:buNone/>
            </a:pPr>
            <a:r>
              <a:rPr lang="en-US" sz="5400" b="1" dirty="0">
                <a:solidFill>
                  <a:schemeClr val="bg1"/>
                </a:solidFill>
              </a:rPr>
              <a:t>Prompt Engineering Essentials</a:t>
            </a:r>
            <a:endParaRPr lang="en-US" sz="5400" dirty="0"/>
          </a:p>
        </p:txBody>
      </p:sp>
      <p:sp>
        <p:nvSpPr>
          <p:cNvPr id="3" name="Text 0"/>
          <p:cNvSpPr/>
          <p:nvPr>
            <p:ph idx="103" type="body" hasCustomPrompt="1"/>
          </p:nvPr>
        </p:nvSpPr>
        <p:spPr>
          <a:xfrm>
            <a:off x="548640" y="3794760"/>
            <a:ext cx="9875520" cy="731520"/>
          </a:xfrm>
          <a:prstGeom prst="rect">
            <a:avLst/>
          </a:prstGeom>
          <a:noFill/>
          <a:ln/>
        </p:spPr>
        <p:txBody>
          <a:bodyPr wrap="square" lIns="0" tIns="0" rIns="0" bIns="0" rtlCol="0" anchor="t"/>
          <a:lstStyle/>
          <a:p>
            <a:pPr algn="l" indent="0" marL="0">
              <a:buNone/>
            </a:pPr>
            <a:r>
              <a:rPr lang="en-US" sz="2400" dirty="0">
                <a:solidFill>
                  <a:schemeClr val="accent3"/>
                </a:solidFill>
              </a:rPr>
              <a:t>Getting reliable, useful results from Google Gemini</a:t>
            </a:r>
            <a:endParaRPr lang="en-US" sz="2400" dirty="0"/>
          </a:p>
        </p:txBody>
      </p:sp>
      <p:sp>
        <p:nvSpPr>
          <p:cNvPr id="4" name="Text 0"/>
          <p:cNvSpPr/>
          <p:nvPr>
            <p:ph idx="104" type="body" hasCustomPrompt="1"/>
          </p:nvPr>
        </p:nvSpPr>
        <p:spPr>
          <a:xfrm>
            <a:off x="548640" y="4754880"/>
            <a:ext cx="7863840" cy="822960"/>
          </a:xfrm>
          <a:prstGeom prst="rect">
            <a:avLst/>
          </a:prstGeom>
          <a:noFill/>
          <a:ln/>
        </p:spPr>
        <p:txBody>
          <a:bodyPr wrap="square" lIns="0" tIns="0" rIns="0" bIns="0" rtlCol="0" anchor="t"/>
          <a:lstStyle/>
          <a:p>
            <a:pPr algn="l" indent="0" marL="0">
              <a:buNone/>
            </a:pPr>
            <a:r>
              <a:rPr lang="en-US" sz="1600" dirty="0">
                <a:solidFill>
                  <a:schemeClr val="bg1"/>
                </a:solidFill>
              </a:rPr>
              <a:t>A one-day, hands-on workshop for professionals</a:t>
            </a:r>
            <a:endParaRPr lang="en-US" sz="1600" dirty="0"/>
          </a:p>
          <a:p>
            <a:pPr algn="l" indent="0" marL="0">
              <a:buNone/>
            </a:pPr>
            <a:r>
              <a:rPr lang="en-US" sz="1600" dirty="0">
                <a:solidFill>
                  <a:schemeClr val="bg1"/>
                </a:solidFill>
              </a:rPr>
              <a:t>9:00 a.m. – 4:00 p.m.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How today runs</a:t>
            </a:r>
            <a:endParaRPr lang="en-US" sz="3400" dirty="0"/>
          </a:p>
        </p:txBody>
      </p:sp>
      <p:sp>
        <p:nvSpPr>
          <p:cNvPr id="3" name="text-1"/>
          <p:cNvSpPr txBox="1"/>
          <p:nvPr/>
        </p:nvSpPr>
        <p:spPr>
          <a:xfrm>
            <a:off x="548640" y="1463040"/>
            <a:ext cx="5452750" cy="274320"/>
          </a:xfrm>
          <a:prstGeom prst="rect">
            <a:avLst/>
          </a:prstGeom>
          <a:noFill/>
          <a:ln/>
        </p:spPr>
        <p:txBody>
          <a:bodyPr wrap="square" lIns="0" tIns="0" rIns="0" bIns="0" rtlCol="0" anchor="t"/>
          <a:lstStyle/>
          <a:p>
            <a:pPr indent="0" marL="0">
              <a:buNone/>
            </a:pPr>
            <a:r>
              <a:rPr lang="en-US" sz="1300" b="1" spc="200" kern="0" dirty="0">
                <a:solidFill>
                  <a:schemeClr val="tx2"/>
                </a:solidFill>
              </a:rPr>
              <a:t>MORNING: LEARN THE SKILLS</a:t>
            </a:r>
            <a:endParaRPr lang="en-US" sz="1300" dirty="0"/>
          </a:p>
        </p:txBody>
      </p:sp>
      <p:sp>
        <p:nvSpPr>
          <p:cNvPr id="4" name="text-2"/>
          <p:cNvSpPr txBox="1"/>
          <p:nvPr/>
        </p:nvSpPr>
        <p:spPr>
          <a:xfrm>
            <a:off x="6190305" y="1463040"/>
            <a:ext cx="5452750" cy="274320"/>
          </a:xfrm>
          <a:prstGeom prst="rect">
            <a:avLst/>
          </a:prstGeom>
          <a:noFill/>
          <a:ln/>
        </p:spPr>
        <p:txBody>
          <a:bodyPr wrap="square" lIns="0" tIns="0" rIns="0" bIns="0" rtlCol="0" anchor="t"/>
          <a:lstStyle/>
          <a:p>
            <a:pPr indent="0" marL="0">
              <a:buNone/>
            </a:pPr>
            <a:r>
              <a:rPr lang="en-US" sz="1300" b="1" spc="200" kern="0" dirty="0">
                <a:solidFill>
                  <a:schemeClr val="tx2"/>
                </a:solidFill>
              </a:rPr>
              <a:t>AFTERNOON: APPLY THEM</a:t>
            </a:r>
            <a:endParaRPr lang="en-US" sz="1300" dirty="0"/>
          </a:p>
        </p:txBody>
      </p:sp>
      <p:sp>
        <p:nvSpPr>
          <p:cNvPr id="5" name="card-3"/>
          <p:cNvSpPr/>
          <p:nvPr/>
        </p:nvSpPr>
        <p:spPr>
          <a:xfrm>
            <a:off x="548640" y="1874520"/>
            <a:ext cx="1691640" cy="3017520"/>
          </a:xfrm>
          <a:prstGeom prst="roundRect">
            <a:avLst>
              <a:gd name="adj" fmla="val 6486"/>
            </a:avLst>
          </a:prstGeom>
          <a:solidFill>
            <a:schemeClr val="bg2"/>
          </a:solidFill>
          <a:ln/>
        </p:spPr>
      </p:sp>
      <p:sp>
        <p:nvSpPr>
          <p:cNvPr id="6" name="text-4"/>
          <p:cNvSpPr txBox="1"/>
          <p:nvPr/>
        </p:nvSpPr>
        <p:spPr>
          <a:xfrm>
            <a:off x="731520" y="2103120"/>
            <a:ext cx="1325880" cy="411480"/>
          </a:xfrm>
          <a:prstGeom prst="rect">
            <a:avLst/>
          </a:prstGeom>
          <a:noFill/>
          <a:ln/>
        </p:spPr>
        <p:txBody>
          <a:bodyPr wrap="square" lIns="0" tIns="0" rIns="0" bIns="0" rtlCol="0" anchor="t"/>
          <a:lstStyle/>
          <a:p>
            <a:pPr indent="0" marL="0">
              <a:buNone/>
            </a:pPr>
            <a:r>
              <a:rPr lang="en-US" sz="2000" b="1" dirty="0">
                <a:solidFill>
                  <a:schemeClr val="accent1"/>
                </a:solidFill>
              </a:rPr>
              <a:t>9:00</a:t>
            </a:r>
            <a:endParaRPr lang="en-US" sz="2000" dirty="0"/>
          </a:p>
        </p:txBody>
      </p:sp>
      <p:sp>
        <p:nvSpPr>
          <p:cNvPr id="7" name="text-5"/>
          <p:cNvSpPr txBox="1"/>
          <p:nvPr/>
        </p:nvSpPr>
        <p:spPr>
          <a:xfrm>
            <a:off x="731520" y="2606040"/>
            <a:ext cx="1325880" cy="274320"/>
          </a:xfrm>
          <a:prstGeom prst="rect">
            <a:avLst/>
          </a:prstGeom>
          <a:noFill/>
          <a:ln/>
        </p:spPr>
        <p:txBody>
          <a:bodyPr wrap="square" lIns="0" tIns="0" rIns="0" bIns="0" rtlCol="0" anchor="t"/>
          <a:lstStyle/>
          <a:p>
            <a:pPr indent="0" marL="0">
              <a:buNone/>
            </a:pPr>
            <a:r>
              <a:rPr lang="en-US" sz="1300" dirty="0">
                <a:solidFill>
                  <a:schemeClr val="tx2"/>
                </a:solidFill>
              </a:rPr>
              <a:t>00</a:t>
            </a:r>
            <a:endParaRPr lang="en-US" sz="1300" dirty="0"/>
          </a:p>
        </p:txBody>
      </p:sp>
      <p:sp>
        <p:nvSpPr>
          <p:cNvPr id="8" name="text-6"/>
          <p:cNvSpPr txBox="1"/>
          <p:nvPr/>
        </p:nvSpPr>
        <p:spPr>
          <a:xfrm>
            <a:off x="731520" y="2880360"/>
            <a:ext cx="1325880" cy="685800"/>
          </a:xfrm>
          <a:prstGeom prst="rect">
            <a:avLst/>
          </a:prstGeom>
          <a:noFill/>
          <a:ln/>
        </p:spPr>
        <p:txBody>
          <a:bodyPr wrap="square" lIns="0" tIns="0" rIns="0" bIns="0" rtlCol="0" anchor="t"/>
          <a:lstStyle/>
          <a:p>
            <a:pPr indent="0" marL="0">
              <a:buNone/>
            </a:pPr>
            <a:r>
              <a:rPr lang="en-US" sz="1900" b="1" dirty="0">
                <a:solidFill>
                  <a:schemeClr val="tx1"/>
                </a:solidFill>
              </a:rPr>
              <a:t>Welcome</a:t>
            </a:r>
            <a:endParaRPr lang="en-US" sz="1900" dirty="0"/>
          </a:p>
        </p:txBody>
      </p:sp>
      <p:sp>
        <p:nvSpPr>
          <p:cNvPr id="9" name="text-7"/>
          <p:cNvSpPr txBox="1"/>
          <p:nvPr/>
        </p:nvSpPr>
        <p:spPr>
          <a:xfrm>
            <a:off x="731520" y="3611880"/>
            <a:ext cx="1325880" cy="1097280"/>
          </a:xfrm>
          <a:prstGeom prst="rect">
            <a:avLst/>
          </a:prstGeom>
          <a:noFill/>
          <a:ln/>
        </p:spPr>
        <p:txBody>
          <a:bodyPr wrap="square" lIns="0" tIns="0" rIns="0" bIns="0" rtlCol="0" anchor="t"/>
          <a:lstStyle/>
          <a:p>
            <a:pPr indent="0" marL="0">
              <a:buNone/>
            </a:pPr>
            <a:r>
              <a:rPr lang="en-US" sz="1400" dirty="0">
                <a:solidFill>
                  <a:schemeClr val="tx2"/>
                </a:solidFill>
              </a:rPr>
              <a:t>Introductions, quick check, setup</a:t>
            </a:r>
            <a:endParaRPr lang="en-US" sz="1400" dirty="0"/>
          </a:p>
        </p:txBody>
      </p:sp>
      <p:sp>
        <p:nvSpPr>
          <p:cNvPr id="10" name="card-8"/>
          <p:cNvSpPr/>
          <p:nvPr/>
        </p:nvSpPr>
        <p:spPr>
          <a:xfrm>
            <a:off x="2429195" y="1874520"/>
            <a:ext cx="1691640" cy="3017520"/>
          </a:xfrm>
          <a:prstGeom prst="roundRect">
            <a:avLst>
              <a:gd name="adj" fmla="val 6486"/>
            </a:avLst>
          </a:prstGeom>
          <a:solidFill>
            <a:schemeClr val="bg2"/>
          </a:solidFill>
          <a:ln/>
        </p:spPr>
      </p:sp>
      <p:sp>
        <p:nvSpPr>
          <p:cNvPr id="11" name="text-9"/>
          <p:cNvSpPr txBox="1"/>
          <p:nvPr/>
        </p:nvSpPr>
        <p:spPr>
          <a:xfrm>
            <a:off x="2612075" y="2103120"/>
            <a:ext cx="1325880" cy="411480"/>
          </a:xfrm>
          <a:prstGeom prst="rect">
            <a:avLst/>
          </a:prstGeom>
          <a:noFill/>
          <a:ln/>
        </p:spPr>
        <p:txBody>
          <a:bodyPr wrap="square" lIns="0" tIns="0" rIns="0" bIns="0" rtlCol="0" anchor="t"/>
          <a:lstStyle/>
          <a:p>
            <a:pPr indent="0" marL="0">
              <a:buNone/>
            </a:pPr>
            <a:r>
              <a:rPr lang="en-US" sz="2000" b="1" dirty="0">
                <a:solidFill>
                  <a:schemeClr val="accent1"/>
                </a:solidFill>
              </a:rPr>
              <a:t>9:30</a:t>
            </a:r>
            <a:endParaRPr lang="en-US" sz="2000" dirty="0"/>
          </a:p>
        </p:txBody>
      </p:sp>
      <p:sp>
        <p:nvSpPr>
          <p:cNvPr id="12" name="text-10"/>
          <p:cNvSpPr txBox="1"/>
          <p:nvPr/>
        </p:nvSpPr>
        <p:spPr>
          <a:xfrm>
            <a:off x="2612075" y="2606040"/>
            <a:ext cx="1325880" cy="274320"/>
          </a:xfrm>
          <a:prstGeom prst="rect">
            <a:avLst/>
          </a:prstGeom>
          <a:noFill/>
          <a:ln/>
        </p:spPr>
        <p:txBody>
          <a:bodyPr wrap="square" lIns="0" tIns="0" rIns="0" bIns="0" rtlCol="0" anchor="t"/>
          <a:lstStyle/>
          <a:p>
            <a:pPr indent="0" marL="0">
              <a:buNone/>
            </a:pPr>
            <a:r>
              <a:rPr lang="en-US" sz="1300" dirty="0">
                <a:solidFill>
                  <a:schemeClr val="tx2"/>
                </a:solidFill>
              </a:rPr>
              <a:t>01</a:t>
            </a:r>
            <a:endParaRPr lang="en-US" sz="1300" dirty="0"/>
          </a:p>
        </p:txBody>
      </p:sp>
      <p:sp>
        <p:nvSpPr>
          <p:cNvPr id="13" name="text-11"/>
          <p:cNvSpPr txBox="1"/>
          <p:nvPr/>
        </p:nvSpPr>
        <p:spPr>
          <a:xfrm>
            <a:off x="2612075" y="2880360"/>
            <a:ext cx="1325880" cy="685800"/>
          </a:xfrm>
          <a:prstGeom prst="rect">
            <a:avLst/>
          </a:prstGeom>
          <a:noFill/>
          <a:ln/>
        </p:spPr>
        <p:txBody>
          <a:bodyPr wrap="square" lIns="0" tIns="0" rIns="0" bIns="0" rtlCol="0" anchor="t"/>
          <a:lstStyle/>
          <a:p>
            <a:pPr indent="0" marL="0">
              <a:buNone/>
            </a:pPr>
            <a:r>
              <a:rPr lang="en-US" sz="1900" b="1" dirty="0">
                <a:solidFill>
                  <a:schemeClr val="tx1"/>
                </a:solidFill>
              </a:rPr>
              <a:t>Foundations</a:t>
            </a:r>
            <a:endParaRPr lang="en-US" sz="1900" dirty="0"/>
          </a:p>
        </p:txBody>
      </p:sp>
      <p:sp>
        <p:nvSpPr>
          <p:cNvPr id="14" name="text-12"/>
          <p:cNvSpPr txBox="1"/>
          <p:nvPr/>
        </p:nvSpPr>
        <p:spPr>
          <a:xfrm>
            <a:off x="2612075" y="3611880"/>
            <a:ext cx="1325880" cy="1097280"/>
          </a:xfrm>
          <a:prstGeom prst="rect">
            <a:avLst/>
          </a:prstGeom>
          <a:noFill/>
          <a:ln/>
        </p:spPr>
        <p:txBody>
          <a:bodyPr wrap="square" lIns="0" tIns="0" rIns="0" bIns="0" rtlCol="0" anchor="t"/>
          <a:lstStyle/>
          <a:p>
            <a:pPr indent="0" marL="0">
              <a:buNone/>
            </a:pPr>
            <a:r>
              <a:rPr lang="en-US" sz="1400" dirty="0">
                <a:solidFill>
                  <a:schemeClr val="tx2"/>
                </a:solidFill>
              </a:rPr>
              <a:t>How Gemini works; the CRAFT framework</a:t>
            </a:r>
            <a:endParaRPr lang="en-US" sz="1400" dirty="0"/>
          </a:p>
        </p:txBody>
      </p:sp>
      <p:sp>
        <p:nvSpPr>
          <p:cNvPr id="15" name="card-13"/>
          <p:cNvSpPr/>
          <p:nvPr/>
        </p:nvSpPr>
        <p:spPr>
          <a:xfrm>
            <a:off x="4309750" y="1874520"/>
            <a:ext cx="1691640" cy="3017520"/>
          </a:xfrm>
          <a:prstGeom prst="roundRect">
            <a:avLst>
              <a:gd name="adj" fmla="val 6486"/>
            </a:avLst>
          </a:prstGeom>
          <a:solidFill>
            <a:schemeClr val="bg2"/>
          </a:solidFill>
          <a:ln/>
        </p:spPr>
      </p:sp>
      <p:sp>
        <p:nvSpPr>
          <p:cNvPr id="16" name="text-14"/>
          <p:cNvSpPr txBox="1"/>
          <p:nvPr/>
        </p:nvSpPr>
        <p:spPr>
          <a:xfrm>
            <a:off x="4492630" y="2103120"/>
            <a:ext cx="1325880" cy="411480"/>
          </a:xfrm>
          <a:prstGeom prst="rect">
            <a:avLst/>
          </a:prstGeom>
          <a:noFill/>
          <a:ln/>
        </p:spPr>
        <p:txBody>
          <a:bodyPr wrap="square" lIns="0" tIns="0" rIns="0" bIns="0" rtlCol="0" anchor="t"/>
          <a:lstStyle/>
          <a:p>
            <a:pPr indent="0" marL="0">
              <a:buNone/>
            </a:pPr>
            <a:r>
              <a:rPr lang="en-US" sz="2000" b="1" dirty="0">
                <a:solidFill>
                  <a:schemeClr val="accent1"/>
                </a:solidFill>
              </a:rPr>
              <a:t>10:45</a:t>
            </a:r>
            <a:endParaRPr lang="en-US" sz="2000" dirty="0"/>
          </a:p>
        </p:txBody>
      </p:sp>
      <p:sp>
        <p:nvSpPr>
          <p:cNvPr id="17" name="text-15"/>
          <p:cNvSpPr txBox="1"/>
          <p:nvPr/>
        </p:nvSpPr>
        <p:spPr>
          <a:xfrm>
            <a:off x="4492630" y="2606040"/>
            <a:ext cx="1325880" cy="274320"/>
          </a:xfrm>
          <a:prstGeom prst="rect">
            <a:avLst/>
          </a:prstGeom>
          <a:noFill/>
          <a:ln/>
        </p:spPr>
        <p:txBody>
          <a:bodyPr wrap="square" lIns="0" tIns="0" rIns="0" bIns="0" rtlCol="0" anchor="t"/>
          <a:lstStyle/>
          <a:p>
            <a:pPr indent="0" marL="0">
              <a:buNone/>
            </a:pPr>
            <a:r>
              <a:rPr lang="en-US" sz="1300" dirty="0">
                <a:solidFill>
                  <a:schemeClr val="tx2"/>
                </a:solidFill>
              </a:rPr>
              <a:t>02</a:t>
            </a:r>
            <a:endParaRPr lang="en-US" sz="1300" dirty="0"/>
          </a:p>
        </p:txBody>
      </p:sp>
      <p:sp>
        <p:nvSpPr>
          <p:cNvPr id="18" name="text-16"/>
          <p:cNvSpPr txBox="1"/>
          <p:nvPr/>
        </p:nvSpPr>
        <p:spPr>
          <a:xfrm>
            <a:off x="4492630" y="2880360"/>
            <a:ext cx="1325880" cy="685800"/>
          </a:xfrm>
          <a:prstGeom prst="rect">
            <a:avLst/>
          </a:prstGeom>
          <a:noFill/>
          <a:ln/>
        </p:spPr>
        <p:txBody>
          <a:bodyPr wrap="square" lIns="0" tIns="0" rIns="0" bIns="0" rtlCol="0" anchor="t"/>
          <a:lstStyle/>
          <a:p>
            <a:pPr indent="0" marL="0">
              <a:buNone/>
            </a:pPr>
            <a:r>
              <a:rPr lang="en-US" sz="1900" b="1" dirty="0">
                <a:solidFill>
                  <a:schemeClr val="tx1"/>
                </a:solidFill>
              </a:rPr>
              <a:t>Core skills</a:t>
            </a:r>
            <a:endParaRPr lang="en-US" sz="1900" dirty="0"/>
          </a:p>
        </p:txBody>
      </p:sp>
      <p:sp>
        <p:nvSpPr>
          <p:cNvPr id="19" name="text-17"/>
          <p:cNvSpPr txBox="1"/>
          <p:nvPr/>
        </p:nvSpPr>
        <p:spPr>
          <a:xfrm>
            <a:off x="4492630" y="3611880"/>
            <a:ext cx="1325880" cy="1097280"/>
          </a:xfrm>
          <a:prstGeom prst="rect">
            <a:avLst/>
          </a:prstGeom>
          <a:noFill/>
          <a:ln/>
        </p:spPr>
        <p:txBody>
          <a:bodyPr wrap="square" lIns="0" tIns="0" rIns="0" bIns="0" rtlCol="0" anchor="t"/>
          <a:lstStyle/>
          <a:p>
            <a:pPr indent="0" marL="0">
              <a:buNone/>
            </a:pPr>
            <a:r>
              <a:rPr lang="en-US" sz="1400" dirty="0">
                <a:solidFill>
                  <a:schemeClr val="tx2"/>
                </a:solidFill>
              </a:rPr>
              <a:t>Techniques for reliable results</a:t>
            </a:r>
            <a:endParaRPr lang="en-US" sz="1400" dirty="0"/>
          </a:p>
        </p:txBody>
      </p:sp>
      <p:sp>
        <p:nvSpPr>
          <p:cNvPr id="20" name="card-18"/>
          <p:cNvSpPr/>
          <p:nvPr/>
        </p:nvSpPr>
        <p:spPr>
          <a:xfrm>
            <a:off x="6190305" y="1874520"/>
            <a:ext cx="1691640" cy="3017520"/>
          </a:xfrm>
          <a:prstGeom prst="roundRect">
            <a:avLst>
              <a:gd name="adj" fmla="val 6486"/>
            </a:avLst>
          </a:prstGeom>
          <a:solidFill>
            <a:schemeClr val="tx1"/>
          </a:solidFill>
          <a:ln/>
        </p:spPr>
      </p:sp>
      <p:sp>
        <p:nvSpPr>
          <p:cNvPr id="21" name="text-19"/>
          <p:cNvSpPr txBox="1"/>
          <p:nvPr/>
        </p:nvSpPr>
        <p:spPr>
          <a:xfrm>
            <a:off x="6373185" y="2103120"/>
            <a:ext cx="1325880" cy="411480"/>
          </a:xfrm>
          <a:prstGeom prst="rect">
            <a:avLst/>
          </a:prstGeom>
          <a:noFill/>
          <a:ln/>
        </p:spPr>
        <p:txBody>
          <a:bodyPr wrap="square" lIns="0" tIns="0" rIns="0" bIns="0" rtlCol="0" anchor="t"/>
          <a:lstStyle/>
          <a:p>
            <a:pPr indent="0" marL="0">
              <a:buNone/>
            </a:pPr>
            <a:r>
              <a:rPr lang="en-US" sz="2000" b="1" dirty="0">
                <a:solidFill>
                  <a:schemeClr val="accent1"/>
                </a:solidFill>
              </a:rPr>
              <a:t>1:00</a:t>
            </a:r>
            <a:endParaRPr lang="en-US" sz="2000" dirty="0"/>
          </a:p>
        </p:txBody>
      </p:sp>
      <p:sp>
        <p:nvSpPr>
          <p:cNvPr id="22" name="text-20"/>
          <p:cNvSpPr txBox="1"/>
          <p:nvPr/>
        </p:nvSpPr>
        <p:spPr>
          <a:xfrm>
            <a:off x="6373185" y="2606040"/>
            <a:ext cx="1325880" cy="274320"/>
          </a:xfrm>
          <a:prstGeom prst="rect">
            <a:avLst/>
          </a:prstGeom>
          <a:noFill/>
          <a:ln/>
        </p:spPr>
        <p:txBody>
          <a:bodyPr wrap="square" lIns="0" tIns="0" rIns="0" bIns="0" rtlCol="0" anchor="t"/>
          <a:lstStyle/>
          <a:p>
            <a:pPr indent="0" marL="0">
              <a:buNone/>
            </a:pPr>
            <a:r>
              <a:rPr lang="en-US" sz="1300" dirty="0">
                <a:solidFill>
                  <a:schemeClr val="accent3"/>
                </a:solidFill>
              </a:rPr>
              <a:t>03</a:t>
            </a:r>
            <a:endParaRPr lang="en-US" sz="1300" dirty="0"/>
          </a:p>
        </p:txBody>
      </p:sp>
      <p:sp>
        <p:nvSpPr>
          <p:cNvPr id="23" name="text-21"/>
          <p:cNvSpPr txBox="1"/>
          <p:nvPr/>
        </p:nvSpPr>
        <p:spPr>
          <a:xfrm>
            <a:off x="6373185" y="2880360"/>
            <a:ext cx="1325880" cy="685800"/>
          </a:xfrm>
          <a:prstGeom prst="rect">
            <a:avLst/>
          </a:prstGeom>
          <a:noFill/>
          <a:ln/>
        </p:spPr>
        <p:txBody>
          <a:bodyPr wrap="square" lIns="0" tIns="0" rIns="0" bIns="0" rtlCol="0" anchor="t"/>
          <a:lstStyle/>
          <a:p>
            <a:pPr indent="0" marL="0">
              <a:buNone/>
            </a:pPr>
            <a:r>
              <a:rPr lang="en-US" sz="1900" b="1" dirty="0">
                <a:solidFill>
                  <a:schemeClr val="bg1"/>
                </a:solidFill>
              </a:rPr>
              <a:t>Applied practice</a:t>
            </a:r>
            <a:endParaRPr lang="en-US" sz="1900" dirty="0"/>
          </a:p>
        </p:txBody>
      </p:sp>
      <p:sp>
        <p:nvSpPr>
          <p:cNvPr id="24" name="text-22"/>
          <p:cNvSpPr txBox="1"/>
          <p:nvPr/>
        </p:nvSpPr>
        <p:spPr>
          <a:xfrm>
            <a:off x="6373185" y="3611880"/>
            <a:ext cx="1325880" cy="1097280"/>
          </a:xfrm>
          <a:prstGeom prst="rect">
            <a:avLst/>
          </a:prstGeom>
          <a:noFill/>
          <a:ln/>
        </p:spPr>
        <p:txBody>
          <a:bodyPr wrap="square" lIns="0" tIns="0" rIns="0" bIns="0" rtlCol="0" anchor="t"/>
          <a:lstStyle/>
          <a:p>
            <a:pPr indent="0" marL="0">
              <a:buNone/>
            </a:pPr>
            <a:r>
              <a:rPr lang="en-US" sz="1400" dirty="0">
                <a:solidFill>
                  <a:schemeClr val="accent3"/>
                </a:solidFill>
              </a:rPr>
              <a:t>A realistic workplace case</a:t>
            </a:r>
            <a:endParaRPr lang="en-US" sz="1400" dirty="0"/>
          </a:p>
        </p:txBody>
      </p:sp>
      <p:sp>
        <p:nvSpPr>
          <p:cNvPr id="25" name="card-23"/>
          <p:cNvSpPr/>
          <p:nvPr/>
        </p:nvSpPr>
        <p:spPr>
          <a:xfrm>
            <a:off x="8070860" y="1874520"/>
            <a:ext cx="1691640" cy="3017520"/>
          </a:xfrm>
          <a:prstGeom prst="roundRect">
            <a:avLst>
              <a:gd name="adj" fmla="val 6486"/>
            </a:avLst>
          </a:prstGeom>
          <a:solidFill>
            <a:schemeClr val="tx1"/>
          </a:solidFill>
          <a:ln/>
        </p:spPr>
      </p:sp>
      <p:sp>
        <p:nvSpPr>
          <p:cNvPr id="26" name="text-24"/>
          <p:cNvSpPr txBox="1"/>
          <p:nvPr/>
        </p:nvSpPr>
        <p:spPr>
          <a:xfrm>
            <a:off x="8253740" y="2103120"/>
            <a:ext cx="1325880" cy="411480"/>
          </a:xfrm>
          <a:prstGeom prst="rect">
            <a:avLst/>
          </a:prstGeom>
          <a:noFill/>
          <a:ln/>
        </p:spPr>
        <p:txBody>
          <a:bodyPr wrap="square" lIns="0" tIns="0" rIns="0" bIns="0" rtlCol="0" anchor="t"/>
          <a:lstStyle/>
          <a:p>
            <a:pPr indent="0" marL="0">
              <a:buNone/>
            </a:pPr>
            <a:r>
              <a:rPr lang="en-US" sz="2000" b="1" dirty="0">
                <a:solidFill>
                  <a:schemeClr val="accent1"/>
                </a:solidFill>
              </a:rPr>
              <a:t>2:30</a:t>
            </a:r>
            <a:endParaRPr lang="en-US" sz="2000" dirty="0"/>
          </a:p>
        </p:txBody>
      </p:sp>
      <p:sp>
        <p:nvSpPr>
          <p:cNvPr id="27" name="text-25"/>
          <p:cNvSpPr txBox="1"/>
          <p:nvPr/>
        </p:nvSpPr>
        <p:spPr>
          <a:xfrm>
            <a:off x="8253740" y="2606040"/>
            <a:ext cx="1325880" cy="274320"/>
          </a:xfrm>
          <a:prstGeom prst="rect">
            <a:avLst/>
          </a:prstGeom>
          <a:noFill/>
          <a:ln/>
        </p:spPr>
        <p:txBody>
          <a:bodyPr wrap="square" lIns="0" tIns="0" rIns="0" bIns="0" rtlCol="0" anchor="t"/>
          <a:lstStyle/>
          <a:p>
            <a:pPr indent="0" marL="0">
              <a:buNone/>
            </a:pPr>
            <a:r>
              <a:rPr lang="en-US" sz="1300" dirty="0">
                <a:solidFill>
                  <a:schemeClr val="accent3"/>
                </a:solidFill>
              </a:rPr>
              <a:t>04</a:t>
            </a:r>
            <a:endParaRPr lang="en-US" sz="1300" dirty="0"/>
          </a:p>
        </p:txBody>
      </p:sp>
      <p:sp>
        <p:nvSpPr>
          <p:cNvPr id="28" name="text-26"/>
          <p:cNvSpPr txBox="1"/>
          <p:nvPr/>
        </p:nvSpPr>
        <p:spPr>
          <a:xfrm>
            <a:off x="8253740" y="2880360"/>
            <a:ext cx="1325880" cy="685800"/>
          </a:xfrm>
          <a:prstGeom prst="rect">
            <a:avLst/>
          </a:prstGeom>
          <a:noFill/>
          <a:ln/>
        </p:spPr>
        <p:txBody>
          <a:bodyPr wrap="square" lIns="0" tIns="0" rIns="0" bIns="0" rtlCol="0" anchor="t"/>
          <a:lstStyle/>
          <a:p>
            <a:pPr indent="0" marL="0">
              <a:buNone/>
            </a:pPr>
            <a:r>
              <a:rPr lang="en-US" sz="1900" b="1" dirty="0">
                <a:solidFill>
                  <a:schemeClr val="bg1"/>
                </a:solidFill>
              </a:rPr>
              <a:t>Capstone</a:t>
            </a:r>
            <a:endParaRPr lang="en-US" sz="1900" dirty="0"/>
          </a:p>
        </p:txBody>
      </p:sp>
      <p:sp>
        <p:nvSpPr>
          <p:cNvPr id="29" name="text-27"/>
          <p:cNvSpPr txBox="1"/>
          <p:nvPr/>
        </p:nvSpPr>
        <p:spPr>
          <a:xfrm>
            <a:off x="8253740" y="3611880"/>
            <a:ext cx="1325880" cy="1097280"/>
          </a:xfrm>
          <a:prstGeom prst="rect">
            <a:avLst/>
          </a:prstGeom>
          <a:noFill/>
          <a:ln/>
        </p:spPr>
        <p:txBody>
          <a:bodyPr wrap="square" lIns="0" tIns="0" rIns="0" bIns="0" rtlCol="0" anchor="t"/>
          <a:lstStyle/>
          <a:p>
            <a:pPr indent="0" marL="0">
              <a:buNone/>
            </a:pPr>
            <a:r>
              <a:rPr lang="en-US" sz="1400" dirty="0">
                <a:solidFill>
                  <a:schemeClr val="accent3"/>
                </a:solidFill>
              </a:rPr>
              <a:t>Build and save your own prompt</a:t>
            </a:r>
            <a:endParaRPr lang="en-US" sz="1400" dirty="0"/>
          </a:p>
        </p:txBody>
      </p:sp>
      <p:sp>
        <p:nvSpPr>
          <p:cNvPr id="30" name="card-28"/>
          <p:cNvSpPr/>
          <p:nvPr/>
        </p:nvSpPr>
        <p:spPr>
          <a:xfrm>
            <a:off x="9951415" y="1874520"/>
            <a:ext cx="1691640" cy="3017520"/>
          </a:xfrm>
          <a:prstGeom prst="roundRect">
            <a:avLst>
              <a:gd name="adj" fmla="val 6486"/>
            </a:avLst>
          </a:prstGeom>
          <a:solidFill>
            <a:schemeClr val="tx1"/>
          </a:solidFill>
          <a:ln/>
        </p:spPr>
      </p:sp>
      <p:sp>
        <p:nvSpPr>
          <p:cNvPr id="31" name="text-29"/>
          <p:cNvSpPr txBox="1"/>
          <p:nvPr/>
        </p:nvSpPr>
        <p:spPr>
          <a:xfrm>
            <a:off x="10134295" y="2103120"/>
            <a:ext cx="1325880" cy="411480"/>
          </a:xfrm>
          <a:prstGeom prst="rect">
            <a:avLst/>
          </a:prstGeom>
          <a:noFill/>
          <a:ln/>
        </p:spPr>
        <p:txBody>
          <a:bodyPr wrap="square" lIns="0" tIns="0" rIns="0" bIns="0" rtlCol="0" anchor="t"/>
          <a:lstStyle/>
          <a:p>
            <a:pPr indent="0" marL="0">
              <a:buNone/>
            </a:pPr>
            <a:r>
              <a:rPr lang="en-US" sz="2000" b="1" dirty="0">
                <a:solidFill>
                  <a:schemeClr val="accent1"/>
                </a:solidFill>
              </a:rPr>
              <a:t>3:30</a:t>
            </a:r>
            <a:endParaRPr lang="en-US" sz="2000" dirty="0"/>
          </a:p>
        </p:txBody>
      </p:sp>
      <p:sp>
        <p:nvSpPr>
          <p:cNvPr id="32" name="text-30"/>
          <p:cNvSpPr txBox="1"/>
          <p:nvPr/>
        </p:nvSpPr>
        <p:spPr>
          <a:xfrm>
            <a:off x="10134295" y="2606040"/>
            <a:ext cx="1325880" cy="274320"/>
          </a:xfrm>
          <a:prstGeom prst="rect">
            <a:avLst/>
          </a:prstGeom>
          <a:noFill/>
          <a:ln/>
        </p:spPr>
        <p:txBody>
          <a:bodyPr wrap="square" lIns="0" tIns="0" rIns="0" bIns="0" rtlCol="0" anchor="t"/>
          <a:lstStyle/>
          <a:p>
            <a:pPr indent="0" marL="0">
              <a:buNone/>
            </a:pPr>
            <a:r>
              <a:rPr lang="en-US" sz="1300" dirty="0">
                <a:solidFill>
                  <a:schemeClr val="accent3"/>
                </a:solidFill>
              </a:rPr>
              <a:t>05</a:t>
            </a:r>
            <a:endParaRPr lang="en-US" sz="1300" dirty="0"/>
          </a:p>
        </p:txBody>
      </p:sp>
      <p:sp>
        <p:nvSpPr>
          <p:cNvPr id="33" name="text-31"/>
          <p:cNvSpPr txBox="1"/>
          <p:nvPr/>
        </p:nvSpPr>
        <p:spPr>
          <a:xfrm>
            <a:off x="10134295" y="2880360"/>
            <a:ext cx="1325880" cy="685800"/>
          </a:xfrm>
          <a:prstGeom prst="rect">
            <a:avLst/>
          </a:prstGeom>
          <a:noFill/>
          <a:ln/>
        </p:spPr>
        <p:txBody>
          <a:bodyPr wrap="square" lIns="0" tIns="0" rIns="0" bIns="0" rtlCol="0" anchor="t"/>
          <a:lstStyle/>
          <a:p>
            <a:pPr indent="0" marL="0">
              <a:buNone/>
            </a:pPr>
            <a:r>
              <a:rPr lang="en-US" sz="1900" b="1" dirty="0">
                <a:solidFill>
                  <a:schemeClr val="bg1"/>
                </a:solidFill>
              </a:rPr>
              <a:t>Wrap-up</a:t>
            </a:r>
            <a:endParaRPr lang="en-US" sz="1900" dirty="0"/>
          </a:p>
        </p:txBody>
      </p:sp>
      <p:sp>
        <p:nvSpPr>
          <p:cNvPr id="34" name="text-32"/>
          <p:cNvSpPr txBox="1"/>
          <p:nvPr/>
        </p:nvSpPr>
        <p:spPr>
          <a:xfrm>
            <a:off x="10134295" y="3611880"/>
            <a:ext cx="1325880" cy="1097280"/>
          </a:xfrm>
          <a:prstGeom prst="rect">
            <a:avLst/>
          </a:prstGeom>
          <a:noFill/>
          <a:ln/>
        </p:spPr>
        <p:txBody>
          <a:bodyPr wrap="square" lIns="0" tIns="0" rIns="0" bIns="0" rtlCol="0" anchor="t"/>
          <a:lstStyle/>
          <a:p>
            <a:pPr indent="0" marL="0">
              <a:buNone/>
            </a:pPr>
            <a:r>
              <a:rPr lang="en-US" sz="1400" dirty="0">
                <a:solidFill>
                  <a:schemeClr val="accent3"/>
                </a:solidFill>
              </a:rPr>
              <a:t>Review, action plan, feedback</a:t>
            </a:r>
            <a:endParaRPr lang="en-US" sz="1400" dirty="0"/>
          </a:p>
        </p:txBody>
      </p:sp>
      <p:sp>
        <p:nvSpPr>
          <p:cNvPr id="35" name="dot-33"/>
          <p:cNvSpPr/>
          <p:nvPr/>
        </p:nvSpPr>
        <p:spPr>
          <a:xfrm>
            <a:off x="548640" y="5257800"/>
            <a:ext cx="502920" cy="502920"/>
          </a:xfrm>
          <a:prstGeom prst="ellipse">
            <a:avLst/>
          </a:prstGeom>
          <a:solidFill>
            <a:schemeClr val="tx1"/>
          </a:solidFill>
          <a:ln/>
        </p:spPr>
      </p:sp>
      <p:pic>
        <p:nvPicPr>
          <p:cNvPr id="36" name="icon-34" descr="preencoded.png">    </p:cNvPr>
          <p:cNvPicPr>
            <a:picLocks noChangeAspect="1"/>
          </p:cNvPicPr>
          <p:nvPr/>
        </p:nvPicPr>
        <p:blipFill>
          <a:blip r:embed="rId1"/>
          <a:stretch>
            <a:fillRect/>
          </a:stretch>
        </p:blipFill>
        <p:spPr>
          <a:xfrm>
            <a:off x="659282" y="5368442"/>
            <a:ext cx="281635" cy="281635"/>
          </a:xfrm>
          <a:prstGeom prst="rect">
            <a:avLst/>
          </a:prstGeom>
        </p:spPr>
      </p:pic>
      <p:sp>
        <p:nvSpPr>
          <p:cNvPr id="37" name="text-35"/>
          <p:cNvSpPr txBox="1"/>
          <p:nvPr/>
        </p:nvSpPr>
        <p:spPr>
          <a:xfrm>
            <a:off x="1234440" y="5257800"/>
            <a:ext cx="2926080" cy="502920"/>
          </a:xfrm>
          <a:prstGeom prst="rect">
            <a:avLst/>
          </a:prstGeom>
          <a:noFill/>
          <a:ln/>
        </p:spPr>
        <p:txBody>
          <a:bodyPr wrap="square" lIns="0" tIns="0" rIns="0" bIns="0" rtlCol="0" anchor="ctr"/>
          <a:lstStyle/>
          <a:p>
            <a:pPr indent="0" marL="0">
              <a:buNone/>
            </a:pPr>
            <a:r>
              <a:rPr lang="en-US" sz="1700" dirty="0">
                <a:solidFill>
                  <a:schemeClr val="tx1"/>
                </a:solidFill>
              </a:rPr>
              <a:t>Breaks at 10:30 and 2:15</a:t>
            </a:r>
            <a:endParaRPr lang="en-US" sz="1700" dirty="0"/>
          </a:p>
        </p:txBody>
      </p:sp>
      <p:sp>
        <p:nvSpPr>
          <p:cNvPr id="38" name="dot-36"/>
          <p:cNvSpPr/>
          <p:nvPr/>
        </p:nvSpPr>
        <p:spPr>
          <a:xfrm>
            <a:off x="4297680" y="5257800"/>
            <a:ext cx="502920" cy="502920"/>
          </a:xfrm>
          <a:prstGeom prst="ellipse">
            <a:avLst/>
          </a:prstGeom>
          <a:solidFill>
            <a:schemeClr val="tx1"/>
          </a:solidFill>
          <a:ln/>
        </p:spPr>
      </p:sp>
      <p:pic>
        <p:nvPicPr>
          <p:cNvPr id="39" name="icon-37" descr="preencoded.png">    </p:cNvPr>
          <p:cNvPicPr>
            <a:picLocks noChangeAspect="1"/>
          </p:cNvPicPr>
          <p:nvPr/>
        </p:nvPicPr>
        <p:blipFill>
          <a:blip r:embed="rId2"/>
          <a:stretch>
            <a:fillRect/>
          </a:stretch>
        </p:blipFill>
        <p:spPr>
          <a:xfrm>
            <a:off x="4408322" y="5368442"/>
            <a:ext cx="281635" cy="281635"/>
          </a:xfrm>
          <a:prstGeom prst="rect">
            <a:avLst/>
          </a:prstGeom>
        </p:spPr>
      </p:pic>
      <p:sp>
        <p:nvSpPr>
          <p:cNvPr id="40" name="text-38"/>
          <p:cNvSpPr txBox="1"/>
          <p:nvPr/>
        </p:nvSpPr>
        <p:spPr>
          <a:xfrm>
            <a:off x="4983480" y="5257800"/>
            <a:ext cx="2926080" cy="502920"/>
          </a:xfrm>
          <a:prstGeom prst="rect">
            <a:avLst/>
          </a:prstGeom>
          <a:noFill/>
          <a:ln/>
        </p:spPr>
        <p:txBody>
          <a:bodyPr wrap="square" lIns="0" tIns="0" rIns="0" bIns="0" rtlCol="0" anchor="ctr"/>
          <a:lstStyle/>
          <a:p>
            <a:pPr indent="0" marL="0">
              <a:buNone/>
            </a:pPr>
            <a:r>
              <a:rPr lang="en-US" sz="1700" dirty="0">
                <a:solidFill>
                  <a:schemeClr val="tx1"/>
                </a:solidFill>
              </a:rPr>
              <a:t>Lunch 12:00 – 1:00</a:t>
            </a:r>
            <a:endParaRPr lang="en-US" sz="1700" dirty="0"/>
          </a:p>
        </p:txBody>
      </p:sp>
      <p:sp>
        <p:nvSpPr>
          <p:cNvPr id="41" name="dot-39"/>
          <p:cNvSpPr/>
          <p:nvPr/>
        </p:nvSpPr>
        <p:spPr>
          <a:xfrm>
            <a:off x="8046720" y="5257800"/>
            <a:ext cx="502920" cy="502920"/>
          </a:xfrm>
          <a:prstGeom prst="ellipse">
            <a:avLst/>
          </a:prstGeom>
          <a:solidFill>
            <a:schemeClr val="tx1"/>
          </a:solidFill>
          <a:ln/>
        </p:spPr>
      </p:sp>
      <p:pic>
        <p:nvPicPr>
          <p:cNvPr id="42" name="icon-40" descr="preencoded.png">    </p:cNvPr>
          <p:cNvPicPr>
            <a:picLocks noChangeAspect="1"/>
          </p:cNvPicPr>
          <p:nvPr/>
        </p:nvPicPr>
        <p:blipFill>
          <a:blip r:embed="rId3"/>
          <a:stretch>
            <a:fillRect/>
          </a:stretch>
        </p:blipFill>
        <p:spPr>
          <a:xfrm>
            <a:off x="8157362" y="5368442"/>
            <a:ext cx="281635" cy="281635"/>
          </a:xfrm>
          <a:prstGeom prst="rect">
            <a:avLst/>
          </a:prstGeom>
        </p:spPr>
      </p:pic>
      <p:sp>
        <p:nvSpPr>
          <p:cNvPr id="43" name="text-41"/>
          <p:cNvSpPr txBox="1"/>
          <p:nvPr/>
        </p:nvSpPr>
        <p:spPr>
          <a:xfrm>
            <a:off x="8732520" y="5257800"/>
            <a:ext cx="2926080" cy="502920"/>
          </a:xfrm>
          <a:prstGeom prst="rect">
            <a:avLst/>
          </a:prstGeom>
          <a:noFill/>
          <a:ln/>
        </p:spPr>
        <p:txBody>
          <a:bodyPr wrap="square" lIns="0" tIns="0" rIns="0" bIns="0" rtlCol="0" anchor="ctr"/>
          <a:lstStyle/>
          <a:p>
            <a:pPr indent="0" marL="0">
              <a:buNone/>
            </a:pPr>
            <a:r>
              <a:rPr lang="en-US" sz="1700" dirty="0">
                <a:solidFill>
                  <a:schemeClr val="tx1"/>
                </a:solidFill>
              </a:rPr>
              <a:t>Wi-Fi: card on your table</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Meet your neighbor</a:t>
            </a:r>
            <a:endParaRPr lang="en-US" sz="3400" dirty="0"/>
          </a:p>
        </p:txBody>
      </p:sp>
      <p:sp>
        <p:nvSpPr>
          <p:cNvPr id="3" name="badge-42"/>
          <p:cNvSpPr/>
          <p:nvPr/>
        </p:nvSpPr>
        <p:spPr>
          <a:xfrm>
            <a:off x="10042855" y="502920"/>
            <a:ext cx="1600200" cy="457200"/>
          </a:xfrm>
          <a:prstGeom prst="roundRect">
            <a:avLst>
              <a:gd name="adj" fmla="val 50000"/>
            </a:avLst>
          </a:prstGeom>
          <a:solidFill>
            <a:schemeClr val="bg2"/>
          </a:solidFill>
          <a:ln/>
        </p:spPr>
      </p:sp>
      <p:sp>
        <p:nvSpPr>
          <p:cNvPr id="4" name="text-43"/>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8 min</a:t>
            </a:r>
            <a:endParaRPr lang="en-US" sz="1600" dirty="0"/>
          </a:p>
        </p:txBody>
      </p:sp>
      <p:sp>
        <p:nvSpPr>
          <p:cNvPr id="5" name="card-44"/>
          <p:cNvSpPr/>
          <p:nvPr/>
        </p:nvSpPr>
        <p:spPr>
          <a:xfrm>
            <a:off x="548640" y="1554480"/>
            <a:ext cx="6766560" cy="4206240"/>
          </a:xfrm>
          <a:prstGeom prst="roundRect">
            <a:avLst>
              <a:gd name="adj" fmla="val 2609"/>
            </a:avLst>
          </a:prstGeom>
          <a:solidFill>
            <a:schemeClr val="bg2"/>
          </a:solidFill>
          <a:ln/>
        </p:spPr>
      </p:sp>
      <p:sp>
        <p:nvSpPr>
          <p:cNvPr id="6" name="text-45"/>
          <p:cNvSpPr txBox="1"/>
          <p:nvPr/>
        </p:nvSpPr>
        <p:spPr>
          <a:xfrm>
            <a:off x="960120" y="1920240"/>
            <a:ext cx="548640" cy="822960"/>
          </a:xfrm>
          <a:prstGeom prst="rect">
            <a:avLst/>
          </a:prstGeom>
          <a:noFill/>
          <a:ln/>
        </p:spPr>
        <p:txBody>
          <a:bodyPr wrap="square" lIns="0" tIns="0" rIns="0" bIns="0" rtlCol="0" anchor="t"/>
          <a:lstStyle/>
          <a:p>
            <a:pPr indent="0" marL="0">
              <a:buNone/>
            </a:pPr>
            <a:r>
              <a:rPr lang="en-US" sz="4000" b="1" dirty="0">
                <a:solidFill>
                  <a:schemeClr val="accent1"/>
                </a:solidFill>
              </a:rPr>
              <a:t>1</a:t>
            </a:r>
            <a:endParaRPr lang="en-US" sz="4000" dirty="0"/>
          </a:p>
        </p:txBody>
      </p:sp>
      <p:sp>
        <p:nvSpPr>
          <p:cNvPr id="7" name="text-46"/>
          <p:cNvSpPr txBox="1"/>
          <p:nvPr/>
        </p:nvSpPr>
        <p:spPr>
          <a:xfrm>
            <a:off x="1645920" y="2029968"/>
            <a:ext cx="5394960" cy="914400"/>
          </a:xfrm>
          <a:prstGeom prst="rect">
            <a:avLst/>
          </a:prstGeom>
          <a:noFill/>
          <a:ln/>
        </p:spPr>
        <p:txBody>
          <a:bodyPr wrap="square" lIns="0" tIns="0" rIns="0" bIns="0" rtlCol="0" anchor="t"/>
          <a:lstStyle/>
          <a:p>
            <a:pPr indent="0" marL="0">
              <a:buNone/>
            </a:pPr>
            <a:r>
              <a:rPr lang="en-US" sz="2400" b="1" dirty="0">
                <a:solidFill>
                  <a:schemeClr val="tx1"/>
                </a:solidFill>
              </a:rPr>
              <a:t>Your name</a:t>
            </a:r>
            <a:endParaRPr lang="en-US" sz="2400" dirty="0"/>
          </a:p>
        </p:txBody>
      </p:sp>
      <p:sp>
        <p:nvSpPr>
          <p:cNvPr id="8" name="text-47"/>
          <p:cNvSpPr txBox="1"/>
          <p:nvPr/>
        </p:nvSpPr>
        <p:spPr>
          <a:xfrm>
            <a:off x="960120" y="3108960"/>
            <a:ext cx="548640" cy="822960"/>
          </a:xfrm>
          <a:prstGeom prst="rect">
            <a:avLst/>
          </a:prstGeom>
          <a:noFill/>
          <a:ln/>
        </p:spPr>
        <p:txBody>
          <a:bodyPr wrap="square" lIns="0" tIns="0" rIns="0" bIns="0" rtlCol="0" anchor="t"/>
          <a:lstStyle/>
          <a:p>
            <a:pPr indent="0" marL="0">
              <a:buNone/>
            </a:pPr>
            <a:r>
              <a:rPr lang="en-US" sz="4000" b="1" dirty="0">
                <a:solidFill>
                  <a:schemeClr val="accent1"/>
                </a:solidFill>
              </a:rPr>
              <a:t>2</a:t>
            </a:r>
            <a:endParaRPr lang="en-US" sz="4000" dirty="0"/>
          </a:p>
        </p:txBody>
      </p:sp>
      <p:sp>
        <p:nvSpPr>
          <p:cNvPr id="9" name="text-48"/>
          <p:cNvSpPr txBox="1"/>
          <p:nvPr/>
        </p:nvSpPr>
        <p:spPr>
          <a:xfrm>
            <a:off x="1645920" y="3218688"/>
            <a:ext cx="5394960" cy="914400"/>
          </a:xfrm>
          <a:prstGeom prst="rect">
            <a:avLst/>
          </a:prstGeom>
          <a:noFill/>
          <a:ln/>
        </p:spPr>
        <p:txBody>
          <a:bodyPr wrap="square" lIns="0" tIns="0" rIns="0" bIns="0" rtlCol="0" anchor="t"/>
          <a:lstStyle/>
          <a:p>
            <a:pPr indent="0" marL="0">
              <a:buNone/>
            </a:pPr>
            <a:r>
              <a:rPr lang="en-US" sz="2400" b="1" dirty="0">
                <a:solidFill>
                  <a:schemeClr val="tx1"/>
                </a:solidFill>
              </a:rPr>
              <a:t>What you do</a:t>
            </a:r>
            <a:endParaRPr lang="en-US" sz="2400" dirty="0"/>
          </a:p>
        </p:txBody>
      </p:sp>
      <p:sp>
        <p:nvSpPr>
          <p:cNvPr id="10" name="text-49"/>
          <p:cNvSpPr txBox="1"/>
          <p:nvPr/>
        </p:nvSpPr>
        <p:spPr>
          <a:xfrm>
            <a:off x="960120" y="4297680"/>
            <a:ext cx="548640" cy="822960"/>
          </a:xfrm>
          <a:prstGeom prst="rect">
            <a:avLst/>
          </a:prstGeom>
          <a:noFill/>
          <a:ln/>
        </p:spPr>
        <p:txBody>
          <a:bodyPr wrap="square" lIns="0" tIns="0" rIns="0" bIns="0" rtlCol="0" anchor="t"/>
          <a:lstStyle/>
          <a:p>
            <a:pPr indent="0" marL="0">
              <a:buNone/>
            </a:pPr>
            <a:r>
              <a:rPr lang="en-US" sz="4000" b="1" dirty="0">
                <a:solidFill>
                  <a:schemeClr val="accent1"/>
                </a:solidFill>
              </a:rPr>
              <a:t>3</a:t>
            </a:r>
            <a:endParaRPr lang="en-US" sz="4000" dirty="0"/>
          </a:p>
        </p:txBody>
      </p:sp>
      <p:sp>
        <p:nvSpPr>
          <p:cNvPr id="11" name="text-50"/>
          <p:cNvSpPr txBox="1"/>
          <p:nvPr/>
        </p:nvSpPr>
        <p:spPr>
          <a:xfrm>
            <a:off x="1645920" y="4407408"/>
            <a:ext cx="5394960" cy="914400"/>
          </a:xfrm>
          <a:prstGeom prst="rect">
            <a:avLst/>
          </a:prstGeom>
          <a:noFill/>
          <a:ln/>
        </p:spPr>
        <p:txBody>
          <a:bodyPr wrap="square" lIns="0" tIns="0" rIns="0" bIns="0" rtlCol="0" anchor="t"/>
          <a:lstStyle/>
          <a:p>
            <a:pPr indent="0" marL="0">
              <a:buNone/>
            </a:pPr>
            <a:r>
              <a:rPr lang="en-US" sz="2400" dirty="0">
                <a:solidFill>
                  <a:schemeClr val="tx1"/>
                </a:solidFill>
              </a:rPr>
              <a:t>One thing you'd like Gemini to help you with at work</a:t>
            </a:r>
            <a:endParaRPr lang="en-US" sz="2400" dirty="0"/>
          </a:p>
        </p:txBody>
      </p:sp>
      <p:pic>
        <p:nvPicPr>
          <p:cNvPr id="12" name="icon-51" descr="preencoded.png">    </p:cNvPr>
          <p:cNvPicPr>
            <a:picLocks noChangeAspect="1"/>
          </p:cNvPicPr>
          <p:nvPr/>
        </p:nvPicPr>
        <p:blipFill>
          <a:blip r:embed="rId1"/>
          <a:stretch>
            <a:fillRect/>
          </a:stretch>
        </p:blipFill>
        <p:spPr>
          <a:xfrm>
            <a:off x="8001000" y="1691640"/>
            <a:ext cx="914400" cy="914400"/>
          </a:xfrm>
          <a:prstGeom prst="rect">
            <a:avLst/>
          </a:prstGeom>
        </p:spPr>
      </p:pic>
      <p:sp>
        <p:nvSpPr>
          <p:cNvPr id="13" name="text-52"/>
          <p:cNvSpPr txBox="1"/>
          <p:nvPr/>
        </p:nvSpPr>
        <p:spPr>
          <a:xfrm>
            <a:off x="8001000" y="2788920"/>
            <a:ext cx="3657600" cy="548640"/>
          </a:xfrm>
          <a:prstGeom prst="rect">
            <a:avLst/>
          </a:prstGeom>
          <a:noFill/>
          <a:ln/>
        </p:spPr>
        <p:txBody>
          <a:bodyPr wrap="square" lIns="0" tIns="0" rIns="0" bIns="0" rtlCol="0" anchor="t"/>
          <a:lstStyle/>
          <a:p>
            <a:pPr indent="0" marL="0">
              <a:buNone/>
            </a:pPr>
            <a:r>
              <a:rPr lang="en-US" sz="2800" b="1" dirty="0">
                <a:solidFill>
                  <a:schemeClr val="tx1"/>
                </a:solidFill>
              </a:rPr>
              <a:t>2 minutes each</a:t>
            </a:r>
            <a:endParaRPr lang="en-US" sz="2800" dirty="0"/>
          </a:p>
        </p:txBody>
      </p:sp>
      <p:sp>
        <p:nvSpPr>
          <p:cNvPr id="14" name="text-53"/>
          <p:cNvSpPr txBox="1"/>
          <p:nvPr/>
        </p:nvSpPr>
        <p:spPr>
          <a:xfrm>
            <a:off x="8001000" y="3429000"/>
            <a:ext cx="3566160" cy="1097280"/>
          </a:xfrm>
          <a:prstGeom prst="rect">
            <a:avLst/>
          </a:prstGeom>
          <a:noFill/>
          <a:ln/>
        </p:spPr>
        <p:txBody>
          <a:bodyPr wrap="square" lIns="0" tIns="0" rIns="0" bIns="0" rtlCol="0" anchor="t"/>
          <a:lstStyle/>
          <a:p>
            <a:pPr indent="0" marL="0">
              <a:buNone/>
            </a:pPr>
            <a:r>
              <a:rPr lang="en-US" sz="1800" dirty="0">
                <a:solidFill>
                  <a:schemeClr val="tx2"/>
                </a:solidFill>
              </a:rPr>
              <a:t>Then share your partner's answer to #3 with the room.</a:t>
            </a:r>
            <a:endParaRPr lang="en-US" sz="1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Quick check: where are you starting?</a:t>
            </a:r>
            <a:endParaRPr lang="en-US" sz="3400" dirty="0"/>
          </a:p>
        </p:txBody>
      </p:sp>
      <p:sp>
        <p:nvSpPr>
          <p:cNvPr id="3" name="badge-54"/>
          <p:cNvSpPr/>
          <p:nvPr/>
        </p:nvSpPr>
        <p:spPr>
          <a:xfrm>
            <a:off x="10042855" y="502920"/>
            <a:ext cx="1600200" cy="457200"/>
          </a:xfrm>
          <a:prstGeom prst="roundRect">
            <a:avLst>
              <a:gd name="adj" fmla="val 50000"/>
            </a:avLst>
          </a:prstGeom>
          <a:solidFill>
            <a:schemeClr val="bg2"/>
          </a:solidFill>
          <a:ln/>
        </p:spPr>
      </p:sp>
      <p:sp>
        <p:nvSpPr>
          <p:cNvPr id="4" name="text-55"/>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7 min</a:t>
            </a:r>
            <a:endParaRPr lang="en-US" sz="1600" dirty="0"/>
          </a:p>
        </p:txBody>
      </p:sp>
      <p:sp>
        <p:nvSpPr>
          <p:cNvPr id="5" name="dot-56"/>
          <p:cNvSpPr/>
          <p:nvPr/>
        </p:nvSpPr>
        <p:spPr>
          <a:xfrm>
            <a:off x="548640" y="1691640"/>
            <a:ext cx="603504" cy="603504"/>
          </a:xfrm>
          <a:prstGeom prst="ellipse">
            <a:avLst/>
          </a:prstGeom>
          <a:solidFill>
            <a:schemeClr val="tx1"/>
          </a:solidFill>
          <a:ln/>
        </p:spPr>
      </p:sp>
      <p:pic>
        <p:nvPicPr>
          <p:cNvPr id="6" name="icon-57" descr="preencoded.png">    </p:cNvPr>
          <p:cNvPicPr>
            <a:picLocks noChangeAspect="1"/>
          </p:cNvPicPr>
          <p:nvPr/>
        </p:nvPicPr>
        <p:blipFill>
          <a:blip r:embed="rId1"/>
          <a:stretch>
            <a:fillRect/>
          </a:stretch>
        </p:blipFill>
        <p:spPr>
          <a:xfrm>
            <a:off x="681411" y="1824411"/>
            <a:ext cx="337962" cy="337962"/>
          </a:xfrm>
          <a:prstGeom prst="rect">
            <a:avLst/>
          </a:prstGeom>
        </p:spPr>
      </p:pic>
      <p:sp>
        <p:nvSpPr>
          <p:cNvPr id="7" name="text-58"/>
          <p:cNvSpPr txBox="1"/>
          <p:nvPr/>
        </p:nvSpPr>
        <p:spPr>
          <a:xfrm>
            <a:off x="1417320" y="1691640"/>
            <a:ext cx="5212080" cy="603504"/>
          </a:xfrm>
          <a:prstGeom prst="rect">
            <a:avLst/>
          </a:prstGeom>
          <a:noFill/>
          <a:ln/>
        </p:spPr>
        <p:txBody>
          <a:bodyPr wrap="square" lIns="0" tIns="0" rIns="0" bIns="0" rtlCol="0" anchor="ctr"/>
          <a:lstStyle/>
          <a:p>
            <a:pPr indent="0" marL="0">
              <a:buNone/>
            </a:pPr>
            <a:r>
              <a:rPr lang="en-US" sz="2000" dirty="0">
                <a:solidFill>
                  <a:schemeClr val="tx1"/>
                </a:solidFill>
              </a:rPr>
              <a:t>8 questions, 7 minutes</a:t>
            </a:r>
            <a:endParaRPr lang="en-US" sz="2000" dirty="0"/>
          </a:p>
        </p:txBody>
      </p:sp>
      <p:sp>
        <p:nvSpPr>
          <p:cNvPr id="8" name="dot-59"/>
          <p:cNvSpPr/>
          <p:nvPr/>
        </p:nvSpPr>
        <p:spPr>
          <a:xfrm>
            <a:off x="548640" y="2679192"/>
            <a:ext cx="603504" cy="603504"/>
          </a:xfrm>
          <a:prstGeom prst="ellipse">
            <a:avLst/>
          </a:prstGeom>
          <a:solidFill>
            <a:schemeClr val="tx1"/>
          </a:solidFill>
          <a:ln/>
        </p:spPr>
      </p:sp>
      <p:pic>
        <p:nvPicPr>
          <p:cNvPr id="9" name="icon-60" descr="preencoded.png">    </p:cNvPr>
          <p:cNvPicPr>
            <a:picLocks noChangeAspect="1"/>
          </p:cNvPicPr>
          <p:nvPr/>
        </p:nvPicPr>
        <p:blipFill>
          <a:blip r:embed="rId2"/>
          <a:stretch>
            <a:fillRect/>
          </a:stretch>
        </p:blipFill>
        <p:spPr>
          <a:xfrm>
            <a:off x="681411" y="2811963"/>
            <a:ext cx="337962" cy="337962"/>
          </a:xfrm>
          <a:prstGeom prst="rect">
            <a:avLst/>
          </a:prstGeom>
        </p:spPr>
      </p:pic>
      <p:sp>
        <p:nvSpPr>
          <p:cNvPr id="10" name="text-61"/>
          <p:cNvSpPr txBox="1"/>
          <p:nvPr/>
        </p:nvSpPr>
        <p:spPr>
          <a:xfrm>
            <a:off x="1417320" y="2679192"/>
            <a:ext cx="5212080" cy="603504"/>
          </a:xfrm>
          <a:prstGeom prst="rect">
            <a:avLst/>
          </a:prstGeom>
          <a:noFill/>
          <a:ln/>
        </p:spPr>
        <p:txBody>
          <a:bodyPr wrap="square" lIns="0" tIns="0" rIns="0" bIns="0" rtlCol="0" anchor="ctr"/>
          <a:lstStyle/>
          <a:p>
            <a:pPr indent="0" marL="0">
              <a:buNone/>
            </a:pPr>
            <a:r>
              <a:rPr lang="en-US" sz="2000" dirty="0">
                <a:solidFill>
                  <a:schemeClr val="tx1"/>
                </a:solidFill>
              </a:rPr>
              <a:t>Not graded. Nobody sees your name.</a:t>
            </a:r>
            <a:endParaRPr lang="en-US" sz="2000" dirty="0"/>
          </a:p>
        </p:txBody>
      </p:sp>
      <p:sp>
        <p:nvSpPr>
          <p:cNvPr id="11" name="dot-62"/>
          <p:cNvSpPr/>
          <p:nvPr/>
        </p:nvSpPr>
        <p:spPr>
          <a:xfrm>
            <a:off x="548640" y="3666744"/>
            <a:ext cx="603504" cy="603504"/>
          </a:xfrm>
          <a:prstGeom prst="ellipse">
            <a:avLst/>
          </a:prstGeom>
          <a:solidFill>
            <a:schemeClr val="tx1"/>
          </a:solidFill>
          <a:ln/>
        </p:spPr>
      </p:sp>
      <p:pic>
        <p:nvPicPr>
          <p:cNvPr id="12" name="icon-63" descr="preencoded.png">    </p:cNvPr>
          <p:cNvPicPr>
            <a:picLocks noChangeAspect="1"/>
          </p:cNvPicPr>
          <p:nvPr/>
        </p:nvPicPr>
        <p:blipFill>
          <a:blip r:embed="rId3"/>
          <a:stretch>
            <a:fillRect/>
          </a:stretch>
        </p:blipFill>
        <p:spPr>
          <a:xfrm>
            <a:off x="681411" y="3799515"/>
            <a:ext cx="337962" cy="337962"/>
          </a:xfrm>
          <a:prstGeom prst="rect">
            <a:avLst/>
          </a:prstGeom>
        </p:spPr>
      </p:pic>
      <p:sp>
        <p:nvSpPr>
          <p:cNvPr id="13" name="text-64"/>
          <p:cNvSpPr txBox="1"/>
          <p:nvPr/>
        </p:nvSpPr>
        <p:spPr>
          <a:xfrm>
            <a:off x="1417320" y="3666744"/>
            <a:ext cx="5212080" cy="603504"/>
          </a:xfrm>
          <a:prstGeom prst="rect">
            <a:avLst/>
          </a:prstGeom>
          <a:noFill/>
          <a:ln/>
        </p:spPr>
        <p:txBody>
          <a:bodyPr wrap="square" lIns="0" tIns="0" rIns="0" bIns="0" rtlCol="0" anchor="ctr"/>
          <a:lstStyle/>
          <a:p>
            <a:pPr indent="0" marL="0">
              <a:buNone/>
            </a:pPr>
            <a:r>
              <a:rPr lang="en-US" sz="2000" dirty="0">
                <a:solidFill>
                  <a:schemeClr val="tx1"/>
                </a:solidFill>
              </a:rPr>
              <a:t>“I don't know yet” is a great answer this morning</a:t>
            </a:r>
            <a:endParaRPr lang="en-US" sz="2000" dirty="0"/>
          </a:p>
        </p:txBody>
      </p:sp>
      <p:sp>
        <p:nvSpPr>
          <p:cNvPr id="14" name="dot-65"/>
          <p:cNvSpPr/>
          <p:nvPr/>
        </p:nvSpPr>
        <p:spPr>
          <a:xfrm>
            <a:off x="548640" y="4654296"/>
            <a:ext cx="603504" cy="603504"/>
          </a:xfrm>
          <a:prstGeom prst="ellipse">
            <a:avLst/>
          </a:prstGeom>
          <a:solidFill>
            <a:schemeClr val="tx1"/>
          </a:solidFill>
          <a:ln/>
        </p:spPr>
      </p:sp>
      <p:pic>
        <p:nvPicPr>
          <p:cNvPr id="15" name="icon-66" descr="preencoded.png">    </p:cNvPr>
          <p:cNvPicPr>
            <a:picLocks noChangeAspect="1"/>
          </p:cNvPicPr>
          <p:nvPr/>
        </p:nvPicPr>
        <p:blipFill>
          <a:blip r:embed="rId4"/>
          <a:stretch>
            <a:fillRect/>
          </a:stretch>
        </p:blipFill>
        <p:spPr>
          <a:xfrm>
            <a:off x="681411" y="4787067"/>
            <a:ext cx="337962" cy="337962"/>
          </a:xfrm>
          <a:prstGeom prst="rect">
            <a:avLst/>
          </a:prstGeom>
        </p:spPr>
      </p:pic>
      <p:sp>
        <p:nvSpPr>
          <p:cNvPr id="16" name="text-67"/>
          <p:cNvSpPr txBox="1"/>
          <p:nvPr/>
        </p:nvSpPr>
        <p:spPr>
          <a:xfrm>
            <a:off x="1417320" y="4654296"/>
            <a:ext cx="5212080" cy="603504"/>
          </a:xfrm>
          <a:prstGeom prst="rect">
            <a:avLst/>
          </a:prstGeom>
          <a:noFill/>
          <a:ln/>
        </p:spPr>
        <p:txBody>
          <a:bodyPr wrap="square" lIns="0" tIns="0" rIns="0" bIns="0" rtlCol="0" anchor="ctr"/>
          <a:lstStyle/>
          <a:p>
            <a:pPr indent="0" marL="0">
              <a:buNone/>
            </a:pPr>
            <a:r>
              <a:rPr lang="en-US" sz="2000" dirty="0">
                <a:solidFill>
                  <a:schemeClr val="tx1"/>
                </a:solidFill>
              </a:rPr>
              <a:t>Same questions at 3:37, to show what changed</a:t>
            </a:r>
            <a:endParaRPr lang="en-US" sz="2000" dirty="0"/>
          </a:p>
        </p:txBody>
      </p:sp>
      <p:sp>
        <p:nvSpPr>
          <p:cNvPr id="17" name="card-68"/>
          <p:cNvSpPr/>
          <p:nvPr/>
        </p:nvSpPr>
        <p:spPr>
          <a:xfrm>
            <a:off x="6949440" y="1600200"/>
            <a:ext cx="4690872" cy="4206240"/>
          </a:xfrm>
          <a:prstGeom prst="roundRect">
            <a:avLst>
              <a:gd name="adj" fmla="val 2609"/>
            </a:avLst>
          </a:prstGeom>
          <a:solidFill>
            <a:schemeClr val="tx1"/>
          </a:solidFill>
          <a:ln/>
        </p:spPr>
      </p:sp>
      <p:sp>
        <p:nvSpPr>
          <p:cNvPr id="18" name="text-69"/>
          <p:cNvSpPr txBox="1"/>
          <p:nvPr/>
        </p:nvSpPr>
        <p:spPr>
          <a:xfrm>
            <a:off x="7315200" y="1920240"/>
            <a:ext cx="402336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YOUR CHECK CODE</a:t>
            </a:r>
            <a:endParaRPr lang="en-US" sz="1300" dirty="0"/>
          </a:p>
        </p:txBody>
      </p:sp>
      <p:sp>
        <p:nvSpPr>
          <p:cNvPr id="19" name="text-70"/>
          <p:cNvSpPr txBox="1"/>
          <p:nvPr/>
        </p:nvSpPr>
        <p:spPr>
          <a:xfrm>
            <a:off x="7315200" y="2331720"/>
            <a:ext cx="4023360" cy="1188720"/>
          </a:xfrm>
          <a:prstGeom prst="rect">
            <a:avLst/>
          </a:prstGeom>
          <a:noFill/>
          <a:ln/>
        </p:spPr>
        <p:txBody>
          <a:bodyPr wrap="square" lIns="0" tIns="0" rIns="0" bIns="0" rtlCol="0" anchor="t"/>
          <a:lstStyle/>
          <a:p>
            <a:pPr indent="0" marL="0">
              <a:buNone/>
            </a:pPr>
            <a:r>
              <a:rPr lang="en-US" sz="1800" dirty="0">
                <a:solidFill>
                  <a:schemeClr val="bg1"/>
                </a:solidFill>
              </a:rPr>
              <a:t>Last two letters of your mother's or guardian's first name, plus the day of the month you were born</a:t>
            </a:r>
            <a:endParaRPr lang="en-US" sz="1800" dirty="0"/>
          </a:p>
        </p:txBody>
      </p:sp>
      <p:sp>
        <p:nvSpPr>
          <p:cNvPr id="20" name="text-71"/>
          <p:cNvSpPr txBox="1"/>
          <p:nvPr/>
        </p:nvSpPr>
        <p:spPr>
          <a:xfrm>
            <a:off x="7315200" y="3611880"/>
            <a:ext cx="4023360" cy="1097280"/>
          </a:xfrm>
          <a:prstGeom prst="rect">
            <a:avLst/>
          </a:prstGeom>
          <a:noFill/>
          <a:ln/>
        </p:spPr>
        <p:txBody>
          <a:bodyPr wrap="square" lIns="0" tIns="0" rIns="0" bIns="0" rtlCol="0" anchor="t"/>
          <a:lstStyle/>
          <a:p>
            <a:pPr indent="0" marL="0">
              <a:buNone/>
            </a:pPr>
            <a:r>
              <a:rPr lang="en-US" sz="7200" b="1" dirty="0">
                <a:solidFill>
                  <a:schemeClr val="bg1"/>
                </a:solidFill>
              </a:rPr>
              <a:t>NA14</a:t>
            </a:r>
            <a:endParaRPr lang="en-US" sz="7200" dirty="0"/>
          </a:p>
        </p:txBody>
      </p:sp>
      <p:sp>
        <p:nvSpPr>
          <p:cNvPr id="21" name="text-72"/>
          <p:cNvSpPr txBox="1"/>
          <p:nvPr/>
        </p:nvSpPr>
        <p:spPr>
          <a:xfrm>
            <a:off x="7315200" y="4800600"/>
            <a:ext cx="4023360" cy="365760"/>
          </a:xfrm>
          <a:prstGeom prst="rect">
            <a:avLst/>
          </a:prstGeom>
          <a:noFill/>
          <a:ln/>
        </p:spPr>
        <p:txBody>
          <a:bodyPr wrap="square" lIns="0" tIns="0" rIns="0" bIns="0" rtlCol="0" anchor="t"/>
          <a:lstStyle/>
          <a:p>
            <a:pPr indent="0" marL="0">
              <a:buNone/>
            </a:pPr>
            <a:r>
              <a:rPr lang="en-US" sz="1400" dirty="0">
                <a:solidFill>
                  <a:schemeClr val="accent3"/>
                </a:solidFill>
              </a:rPr>
              <a:t>Example: Diana, born on the 14th</a:t>
            </a:r>
            <a:endParaRPr lang="en-US" sz="14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By 4:00, you'll be able to…</a:t>
            </a:r>
            <a:endParaRPr lang="en-US" sz="3400" dirty="0"/>
          </a:p>
        </p:txBody>
      </p:sp>
      <p:sp>
        <p:nvSpPr>
          <p:cNvPr id="3" name="card-73"/>
          <p:cNvSpPr/>
          <p:nvPr/>
        </p:nvSpPr>
        <p:spPr>
          <a:xfrm>
            <a:off x="548640" y="1463040"/>
            <a:ext cx="11094415" cy="749808"/>
          </a:xfrm>
          <a:prstGeom prst="roundRect">
            <a:avLst>
              <a:gd name="adj" fmla="val 14634"/>
            </a:avLst>
          </a:prstGeom>
          <a:solidFill>
            <a:schemeClr val="bg2"/>
          </a:solidFill>
          <a:ln/>
        </p:spPr>
      </p:sp>
      <p:sp>
        <p:nvSpPr>
          <p:cNvPr id="4" name="text-74"/>
          <p:cNvSpPr txBox="1"/>
          <p:nvPr/>
        </p:nvSpPr>
        <p:spPr>
          <a:xfrm>
            <a:off x="822960" y="1463040"/>
            <a:ext cx="457200" cy="749808"/>
          </a:xfrm>
          <a:prstGeom prst="rect">
            <a:avLst/>
          </a:prstGeom>
          <a:noFill/>
          <a:ln/>
        </p:spPr>
        <p:txBody>
          <a:bodyPr wrap="square" lIns="0" tIns="0" rIns="0" bIns="0" rtlCol="0" anchor="ctr"/>
          <a:lstStyle/>
          <a:p>
            <a:pPr indent="0" marL="0">
              <a:buNone/>
            </a:pPr>
            <a:r>
              <a:rPr lang="en-US" sz="2800" b="1" dirty="0">
                <a:solidFill>
                  <a:schemeClr val="accent1"/>
                </a:solidFill>
              </a:rPr>
              <a:t>1</a:t>
            </a:r>
            <a:endParaRPr lang="en-US" sz="2800" dirty="0"/>
          </a:p>
        </p:txBody>
      </p:sp>
      <p:sp>
        <p:nvSpPr>
          <p:cNvPr id="5" name="text-75"/>
          <p:cNvSpPr txBox="1"/>
          <p:nvPr/>
        </p:nvSpPr>
        <p:spPr>
          <a:xfrm>
            <a:off x="1463040" y="1463040"/>
            <a:ext cx="9905695" cy="749808"/>
          </a:xfrm>
          <a:prstGeom prst="rect">
            <a:avLst/>
          </a:prstGeom>
          <a:noFill/>
          <a:ln/>
        </p:spPr>
        <p:txBody>
          <a:bodyPr wrap="square" lIns="0" tIns="0" rIns="0" bIns="0" rtlCol="0" anchor="ctr"/>
          <a:lstStyle/>
          <a:p>
            <a:pPr indent="0" marL="0">
              <a:buNone/>
            </a:pPr>
            <a:r>
              <a:rPr lang="en-US" sz="2100" dirty="0">
                <a:solidFill>
                  <a:schemeClr val="tx1"/>
                </a:solidFill>
              </a:rPr>
              <a:t>Explain how Gemini produces answers, and where it goes wrong</a:t>
            </a:r>
            <a:endParaRPr lang="en-US" sz="2100" dirty="0"/>
          </a:p>
        </p:txBody>
      </p:sp>
      <p:sp>
        <p:nvSpPr>
          <p:cNvPr id="6" name="card-76"/>
          <p:cNvSpPr/>
          <p:nvPr/>
        </p:nvSpPr>
        <p:spPr>
          <a:xfrm>
            <a:off x="548640" y="2377440"/>
            <a:ext cx="11094415" cy="749808"/>
          </a:xfrm>
          <a:prstGeom prst="roundRect">
            <a:avLst>
              <a:gd name="adj" fmla="val 14634"/>
            </a:avLst>
          </a:prstGeom>
          <a:solidFill>
            <a:schemeClr val="bg2"/>
          </a:solidFill>
          <a:ln/>
        </p:spPr>
      </p:sp>
      <p:sp>
        <p:nvSpPr>
          <p:cNvPr id="7" name="text-77"/>
          <p:cNvSpPr txBox="1"/>
          <p:nvPr/>
        </p:nvSpPr>
        <p:spPr>
          <a:xfrm>
            <a:off x="822960" y="2377440"/>
            <a:ext cx="457200" cy="749808"/>
          </a:xfrm>
          <a:prstGeom prst="rect">
            <a:avLst/>
          </a:prstGeom>
          <a:noFill/>
          <a:ln/>
        </p:spPr>
        <p:txBody>
          <a:bodyPr wrap="square" lIns="0" tIns="0" rIns="0" bIns="0" rtlCol="0" anchor="ctr"/>
          <a:lstStyle/>
          <a:p>
            <a:pPr indent="0" marL="0">
              <a:buNone/>
            </a:pPr>
            <a:r>
              <a:rPr lang="en-US" sz="2800" b="1" dirty="0">
                <a:solidFill>
                  <a:schemeClr val="accent1"/>
                </a:solidFill>
              </a:rPr>
              <a:t>2</a:t>
            </a:r>
            <a:endParaRPr lang="en-US" sz="2800" dirty="0"/>
          </a:p>
        </p:txBody>
      </p:sp>
      <p:sp>
        <p:nvSpPr>
          <p:cNvPr id="8" name="text-78"/>
          <p:cNvSpPr txBox="1"/>
          <p:nvPr/>
        </p:nvSpPr>
        <p:spPr>
          <a:xfrm>
            <a:off x="1463040" y="2377440"/>
            <a:ext cx="9905695" cy="749808"/>
          </a:xfrm>
          <a:prstGeom prst="rect">
            <a:avLst/>
          </a:prstGeom>
          <a:noFill/>
          <a:ln/>
        </p:spPr>
        <p:txBody>
          <a:bodyPr wrap="square" lIns="0" tIns="0" rIns="0" bIns="0" rtlCol="0" anchor="ctr"/>
          <a:lstStyle/>
          <a:p>
            <a:pPr indent="0" marL="0">
              <a:buNone/>
            </a:pPr>
            <a:r>
              <a:rPr lang="en-US" sz="2100" dirty="0">
                <a:solidFill>
                  <a:schemeClr val="tx1"/>
                </a:solidFill>
              </a:rPr>
              <a:t>Write clear prompts using the five CRAFT elements</a:t>
            </a:r>
            <a:endParaRPr lang="en-US" sz="2100" dirty="0"/>
          </a:p>
        </p:txBody>
      </p:sp>
      <p:sp>
        <p:nvSpPr>
          <p:cNvPr id="9" name="card-79"/>
          <p:cNvSpPr/>
          <p:nvPr/>
        </p:nvSpPr>
        <p:spPr>
          <a:xfrm>
            <a:off x="548640" y="3291840"/>
            <a:ext cx="11094415" cy="749808"/>
          </a:xfrm>
          <a:prstGeom prst="roundRect">
            <a:avLst>
              <a:gd name="adj" fmla="val 14634"/>
            </a:avLst>
          </a:prstGeom>
          <a:solidFill>
            <a:schemeClr val="bg2"/>
          </a:solidFill>
          <a:ln/>
        </p:spPr>
      </p:sp>
      <p:sp>
        <p:nvSpPr>
          <p:cNvPr id="10" name="text-80"/>
          <p:cNvSpPr txBox="1"/>
          <p:nvPr/>
        </p:nvSpPr>
        <p:spPr>
          <a:xfrm>
            <a:off x="822960" y="3291840"/>
            <a:ext cx="457200" cy="749808"/>
          </a:xfrm>
          <a:prstGeom prst="rect">
            <a:avLst/>
          </a:prstGeom>
          <a:noFill/>
          <a:ln/>
        </p:spPr>
        <p:txBody>
          <a:bodyPr wrap="square" lIns="0" tIns="0" rIns="0" bIns="0" rtlCol="0" anchor="ctr"/>
          <a:lstStyle/>
          <a:p>
            <a:pPr indent="0" marL="0">
              <a:buNone/>
            </a:pPr>
            <a:r>
              <a:rPr lang="en-US" sz="2800" b="1" dirty="0">
                <a:solidFill>
                  <a:schemeClr val="accent1"/>
                </a:solidFill>
              </a:rPr>
              <a:t>3</a:t>
            </a:r>
            <a:endParaRPr lang="en-US" sz="2800" dirty="0"/>
          </a:p>
        </p:txBody>
      </p:sp>
      <p:sp>
        <p:nvSpPr>
          <p:cNvPr id="11" name="text-81"/>
          <p:cNvSpPr txBox="1"/>
          <p:nvPr/>
        </p:nvSpPr>
        <p:spPr>
          <a:xfrm>
            <a:off x="1463040" y="3291840"/>
            <a:ext cx="9905695" cy="749808"/>
          </a:xfrm>
          <a:prstGeom prst="rect">
            <a:avLst/>
          </a:prstGeom>
          <a:noFill/>
          <a:ln/>
        </p:spPr>
        <p:txBody>
          <a:bodyPr wrap="square" lIns="0" tIns="0" rIns="0" bIns="0" rtlCol="0" anchor="ctr"/>
          <a:lstStyle/>
          <a:p>
            <a:pPr indent="0" marL="0">
              <a:buNone/>
            </a:pPr>
            <a:r>
              <a:rPr lang="en-US" sz="2100" dirty="0">
                <a:solidFill>
                  <a:schemeClr val="tx1"/>
                </a:solidFill>
              </a:rPr>
              <a:t>Use techniques that make Gemini's answers more reliable</a:t>
            </a:r>
            <a:endParaRPr lang="en-US" sz="2100" dirty="0"/>
          </a:p>
        </p:txBody>
      </p:sp>
      <p:sp>
        <p:nvSpPr>
          <p:cNvPr id="12" name="card-82"/>
          <p:cNvSpPr/>
          <p:nvPr/>
        </p:nvSpPr>
        <p:spPr>
          <a:xfrm>
            <a:off x="548640" y="4206240"/>
            <a:ext cx="11094415" cy="749808"/>
          </a:xfrm>
          <a:prstGeom prst="roundRect">
            <a:avLst>
              <a:gd name="adj" fmla="val 14634"/>
            </a:avLst>
          </a:prstGeom>
          <a:solidFill>
            <a:schemeClr val="bg2"/>
          </a:solidFill>
          <a:ln/>
        </p:spPr>
      </p:sp>
      <p:sp>
        <p:nvSpPr>
          <p:cNvPr id="13" name="text-83"/>
          <p:cNvSpPr txBox="1"/>
          <p:nvPr/>
        </p:nvSpPr>
        <p:spPr>
          <a:xfrm>
            <a:off x="822960" y="4206240"/>
            <a:ext cx="457200" cy="749808"/>
          </a:xfrm>
          <a:prstGeom prst="rect">
            <a:avLst/>
          </a:prstGeom>
          <a:noFill/>
          <a:ln/>
        </p:spPr>
        <p:txBody>
          <a:bodyPr wrap="square" lIns="0" tIns="0" rIns="0" bIns="0" rtlCol="0" anchor="ctr"/>
          <a:lstStyle/>
          <a:p>
            <a:pPr indent="0" marL="0">
              <a:buNone/>
            </a:pPr>
            <a:r>
              <a:rPr lang="en-US" sz="2800" b="1" dirty="0">
                <a:solidFill>
                  <a:schemeClr val="accent1"/>
                </a:solidFill>
              </a:rPr>
              <a:t>4</a:t>
            </a:r>
            <a:endParaRPr lang="en-US" sz="2800" dirty="0"/>
          </a:p>
        </p:txBody>
      </p:sp>
      <p:sp>
        <p:nvSpPr>
          <p:cNvPr id="14" name="text-84"/>
          <p:cNvSpPr txBox="1"/>
          <p:nvPr/>
        </p:nvSpPr>
        <p:spPr>
          <a:xfrm>
            <a:off x="1463040" y="4206240"/>
            <a:ext cx="9905695" cy="749808"/>
          </a:xfrm>
          <a:prstGeom prst="rect">
            <a:avLst/>
          </a:prstGeom>
          <a:noFill/>
          <a:ln/>
        </p:spPr>
        <p:txBody>
          <a:bodyPr wrap="square" lIns="0" tIns="0" rIns="0" bIns="0" rtlCol="0" anchor="ctr"/>
          <a:lstStyle/>
          <a:p>
            <a:pPr indent="0" marL="0">
              <a:buNone/>
            </a:pPr>
            <a:r>
              <a:rPr lang="en-US" sz="2100" dirty="0">
                <a:solidFill>
                  <a:schemeClr val="tx1"/>
                </a:solidFill>
              </a:rPr>
              <a:t>Check Gemini's output, and know what's safe to share</a:t>
            </a:r>
            <a:endParaRPr lang="en-US" sz="2100" dirty="0"/>
          </a:p>
        </p:txBody>
      </p:sp>
      <p:sp>
        <p:nvSpPr>
          <p:cNvPr id="15" name="card-85"/>
          <p:cNvSpPr/>
          <p:nvPr/>
        </p:nvSpPr>
        <p:spPr>
          <a:xfrm>
            <a:off x="548640" y="5120640"/>
            <a:ext cx="11094415" cy="749808"/>
          </a:xfrm>
          <a:prstGeom prst="roundRect">
            <a:avLst>
              <a:gd name="adj" fmla="val 14634"/>
            </a:avLst>
          </a:prstGeom>
          <a:solidFill>
            <a:schemeClr val="bg2"/>
          </a:solidFill>
          <a:ln/>
        </p:spPr>
      </p:sp>
      <p:sp>
        <p:nvSpPr>
          <p:cNvPr id="16" name="text-86"/>
          <p:cNvSpPr txBox="1"/>
          <p:nvPr/>
        </p:nvSpPr>
        <p:spPr>
          <a:xfrm>
            <a:off x="822960" y="5120640"/>
            <a:ext cx="457200" cy="749808"/>
          </a:xfrm>
          <a:prstGeom prst="rect">
            <a:avLst/>
          </a:prstGeom>
          <a:noFill/>
          <a:ln/>
        </p:spPr>
        <p:txBody>
          <a:bodyPr wrap="square" lIns="0" tIns="0" rIns="0" bIns="0" rtlCol="0" anchor="ctr"/>
          <a:lstStyle/>
          <a:p>
            <a:pPr indent="0" marL="0">
              <a:buNone/>
            </a:pPr>
            <a:r>
              <a:rPr lang="en-US" sz="2800" b="1" dirty="0">
                <a:solidFill>
                  <a:schemeClr val="accent1"/>
                </a:solidFill>
              </a:rPr>
              <a:t>5</a:t>
            </a:r>
            <a:endParaRPr lang="en-US" sz="2800" dirty="0"/>
          </a:p>
        </p:txBody>
      </p:sp>
      <p:sp>
        <p:nvSpPr>
          <p:cNvPr id="17" name="text-87"/>
          <p:cNvSpPr txBox="1"/>
          <p:nvPr/>
        </p:nvSpPr>
        <p:spPr>
          <a:xfrm>
            <a:off x="1463040" y="5120640"/>
            <a:ext cx="9905695" cy="749808"/>
          </a:xfrm>
          <a:prstGeom prst="rect">
            <a:avLst/>
          </a:prstGeom>
          <a:noFill/>
          <a:ln/>
        </p:spPr>
        <p:txBody>
          <a:bodyPr wrap="square" lIns="0" tIns="0" rIns="0" bIns="0" rtlCol="0" anchor="ctr"/>
          <a:lstStyle/>
          <a:p>
            <a:pPr indent="0" marL="0">
              <a:buNone/>
            </a:pPr>
            <a:r>
              <a:rPr lang="en-US" sz="2100" dirty="0">
                <a:solidFill>
                  <a:schemeClr val="tx1"/>
                </a:solidFill>
              </a:rPr>
              <a:t>Build a reusable prompt, and save it in Gemini</a:t>
            </a:r>
            <a:endParaRPr lang="en-US" sz="21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Ground rules</a:t>
            </a:r>
            <a:endParaRPr lang="en-US" sz="3400" dirty="0"/>
          </a:p>
        </p:txBody>
      </p:sp>
      <p:sp>
        <p:nvSpPr>
          <p:cNvPr id="3" name="card-88"/>
          <p:cNvSpPr/>
          <p:nvPr/>
        </p:nvSpPr>
        <p:spPr>
          <a:xfrm>
            <a:off x="548640" y="1508760"/>
            <a:ext cx="5387188" cy="2011680"/>
          </a:xfrm>
          <a:prstGeom prst="roundRect">
            <a:avLst>
              <a:gd name="adj" fmla="val 5455"/>
            </a:avLst>
          </a:prstGeom>
          <a:solidFill>
            <a:schemeClr val="bg2"/>
          </a:solidFill>
          <a:ln/>
        </p:spPr>
      </p:sp>
      <p:sp>
        <p:nvSpPr>
          <p:cNvPr id="4" name="dot-89"/>
          <p:cNvSpPr/>
          <p:nvPr/>
        </p:nvSpPr>
        <p:spPr>
          <a:xfrm>
            <a:off x="868680" y="1874520"/>
            <a:ext cx="731520" cy="731520"/>
          </a:xfrm>
          <a:prstGeom prst="ellipse">
            <a:avLst/>
          </a:prstGeom>
          <a:solidFill>
            <a:schemeClr val="tx1"/>
          </a:solidFill>
          <a:ln/>
        </p:spPr>
      </p:sp>
      <p:pic>
        <p:nvPicPr>
          <p:cNvPr id="5" name="icon-90" descr="preencoded.png">    </p:cNvPr>
          <p:cNvPicPr>
            <a:picLocks noChangeAspect="1"/>
          </p:cNvPicPr>
          <p:nvPr/>
        </p:nvPicPr>
        <p:blipFill>
          <a:blip r:embed="rId1"/>
          <a:stretch>
            <a:fillRect/>
          </a:stretch>
        </p:blipFill>
        <p:spPr>
          <a:xfrm>
            <a:off x="1029614" y="2035454"/>
            <a:ext cx="409651" cy="409651"/>
          </a:xfrm>
          <a:prstGeom prst="rect">
            <a:avLst/>
          </a:prstGeom>
        </p:spPr>
      </p:pic>
      <p:sp>
        <p:nvSpPr>
          <p:cNvPr id="6" name="text-91"/>
          <p:cNvSpPr txBox="1"/>
          <p:nvPr/>
        </p:nvSpPr>
        <p:spPr>
          <a:xfrm>
            <a:off x="1874520" y="1856232"/>
            <a:ext cx="3786988" cy="457200"/>
          </a:xfrm>
          <a:prstGeom prst="rect">
            <a:avLst/>
          </a:prstGeom>
          <a:noFill/>
          <a:ln/>
        </p:spPr>
        <p:txBody>
          <a:bodyPr wrap="square" lIns="0" tIns="0" rIns="0" bIns="0" rtlCol="0" anchor="t"/>
          <a:lstStyle/>
          <a:p>
            <a:pPr indent="0" marL="0">
              <a:buNone/>
            </a:pPr>
            <a:r>
              <a:rPr lang="en-US" sz="2200" b="1" dirty="0">
                <a:solidFill>
                  <a:schemeClr val="tx1"/>
                </a:solidFill>
              </a:rPr>
              <a:t>Ask anytime</a:t>
            </a:r>
            <a:endParaRPr lang="en-US" sz="2200" dirty="0"/>
          </a:p>
        </p:txBody>
      </p:sp>
      <p:sp>
        <p:nvSpPr>
          <p:cNvPr id="7" name="text-92"/>
          <p:cNvSpPr txBox="1"/>
          <p:nvPr/>
        </p:nvSpPr>
        <p:spPr>
          <a:xfrm>
            <a:off x="1874520" y="2377440"/>
            <a:ext cx="3786988" cy="914400"/>
          </a:xfrm>
          <a:prstGeom prst="rect">
            <a:avLst/>
          </a:prstGeom>
          <a:noFill/>
          <a:ln/>
        </p:spPr>
        <p:txBody>
          <a:bodyPr wrap="square" lIns="0" tIns="0" rIns="0" bIns="0" rtlCol="0" anchor="t"/>
          <a:lstStyle/>
          <a:p>
            <a:pPr indent="0" marL="0">
              <a:buNone/>
            </a:pPr>
            <a:r>
              <a:rPr lang="en-US" sz="1600" dirty="0">
                <a:solidFill>
                  <a:schemeClr val="tx2"/>
                </a:solidFill>
              </a:rPr>
              <a:t>Off-topic questions go on the parking lot. All answered by 4:00.</a:t>
            </a:r>
            <a:endParaRPr lang="en-US" sz="1600" dirty="0"/>
          </a:p>
        </p:txBody>
      </p:sp>
      <p:sp>
        <p:nvSpPr>
          <p:cNvPr id="8" name="card-93"/>
          <p:cNvSpPr/>
          <p:nvPr/>
        </p:nvSpPr>
        <p:spPr>
          <a:xfrm>
            <a:off x="6255868" y="1508760"/>
            <a:ext cx="5387188" cy="2011680"/>
          </a:xfrm>
          <a:prstGeom prst="roundRect">
            <a:avLst>
              <a:gd name="adj" fmla="val 5455"/>
            </a:avLst>
          </a:prstGeom>
          <a:solidFill>
            <a:schemeClr val="bg2"/>
          </a:solidFill>
          <a:ln/>
        </p:spPr>
      </p:sp>
      <p:sp>
        <p:nvSpPr>
          <p:cNvPr id="9" name="dot-94"/>
          <p:cNvSpPr/>
          <p:nvPr/>
        </p:nvSpPr>
        <p:spPr>
          <a:xfrm>
            <a:off x="6575908" y="1874520"/>
            <a:ext cx="731520" cy="731520"/>
          </a:xfrm>
          <a:prstGeom prst="ellipse">
            <a:avLst/>
          </a:prstGeom>
          <a:solidFill>
            <a:schemeClr val="tx1"/>
          </a:solidFill>
          <a:ln/>
        </p:spPr>
      </p:sp>
      <p:pic>
        <p:nvPicPr>
          <p:cNvPr id="10" name="icon-95" descr="preencoded.png">    </p:cNvPr>
          <p:cNvPicPr>
            <a:picLocks noChangeAspect="1"/>
          </p:cNvPicPr>
          <p:nvPr/>
        </p:nvPicPr>
        <p:blipFill>
          <a:blip r:embed="rId2"/>
          <a:stretch>
            <a:fillRect/>
          </a:stretch>
        </p:blipFill>
        <p:spPr>
          <a:xfrm>
            <a:off x="6736842" y="2035454"/>
            <a:ext cx="409651" cy="409651"/>
          </a:xfrm>
          <a:prstGeom prst="rect">
            <a:avLst/>
          </a:prstGeom>
        </p:spPr>
      </p:pic>
      <p:sp>
        <p:nvSpPr>
          <p:cNvPr id="11" name="text-96"/>
          <p:cNvSpPr txBox="1"/>
          <p:nvPr/>
        </p:nvSpPr>
        <p:spPr>
          <a:xfrm>
            <a:off x="7581748" y="1856232"/>
            <a:ext cx="3786988" cy="457200"/>
          </a:xfrm>
          <a:prstGeom prst="rect">
            <a:avLst/>
          </a:prstGeom>
          <a:noFill/>
          <a:ln/>
        </p:spPr>
        <p:txBody>
          <a:bodyPr wrap="square" lIns="0" tIns="0" rIns="0" bIns="0" rtlCol="0" anchor="t"/>
          <a:lstStyle/>
          <a:p>
            <a:pPr indent="0" marL="0">
              <a:buNone/>
            </a:pPr>
            <a:r>
              <a:rPr lang="en-US" sz="2200" b="1" dirty="0">
                <a:solidFill>
                  <a:schemeClr val="tx1"/>
                </a:solidFill>
              </a:rPr>
              <a:t>Two-minute rule</a:t>
            </a:r>
            <a:endParaRPr lang="en-US" sz="2200" dirty="0"/>
          </a:p>
        </p:txBody>
      </p:sp>
      <p:sp>
        <p:nvSpPr>
          <p:cNvPr id="12" name="text-97"/>
          <p:cNvSpPr txBox="1"/>
          <p:nvPr/>
        </p:nvSpPr>
        <p:spPr>
          <a:xfrm>
            <a:off x="7581748" y="2377440"/>
            <a:ext cx="3786988" cy="914400"/>
          </a:xfrm>
          <a:prstGeom prst="rect">
            <a:avLst/>
          </a:prstGeom>
          <a:noFill/>
          <a:ln/>
        </p:spPr>
        <p:txBody>
          <a:bodyPr wrap="square" lIns="0" tIns="0" rIns="0" bIns="0" rtlCol="0" anchor="t"/>
          <a:lstStyle/>
          <a:p>
            <a:pPr indent="0" marL="0">
              <a:buNone/>
            </a:pPr>
            <a:r>
              <a:rPr lang="en-US" sz="1600" dirty="0">
                <a:solidFill>
                  <a:schemeClr val="tx2"/>
                </a:solidFill>
              </a:rPr>
              <a:t>In activities, try for two minutes, then ask a neighbor or me.</a:t>
            </a:r>
            <a:endParaRPr lang="en-US" sz="1600" dirty="0"/>
          </a:p>
        </p:txBody>
      </p:sp>
      <p:sp>
        <p:nvSpPr>
          <p:cNvPr id="13" name="card-98"/>
          <p:cNvSpPr/>
          <p:nvPr/>
        </p:nvSpPr>
        <p:spPr>
          <a:xfrm>
            <a:off x="548640" y="3794760"/>
            <a:ext cx="5387188" cy="2011680"/>
          </a:xfrm>
          <a:prstGeom prst="roundRect">
            <a:avLst>
              <a:gd name="adj" fmla="val 5455"/>
            </a:avLst>
          </a:prstGeom>
          <a:solidFill>
            <a:schemeClr val="bg2"/>
          </a:solidFill>
          <a:ln/>
        </p:spPr>
      </p:sp>
      <p:sp>
        <p:nvSpPr>
          <p:cNvPr id="14" name="dot-99"/>
          <p:cNvSpPr/>
          <p:nvPr/>
        </p:nvSpPr>
        <p:spPr>
          <a:xfrm>
            <a:off x="868680" y="4160520"/>
            <a:ext cx="731520" cy="731520"/>
          </a:xfrm>
          <a:prstGeom prst="ellipse">
            <a:avLst/>
          </a:prstGeom>
          <a:solidFill>
            <a:schemeClr val="tx1"/>
          </a:solidFill>
          <a:ln/>
        </p:spPr>
      </p:sp>
      <p:pic>
        <p:nvPicPr>
          <p:cNvPr id="15" name="icon-100" descr="preencoded.png">    </p:cNvPr>
          <p:cNvPicPr>
            <a:picLocks noChangeAspect="1"/>
          </p:cNvPicPr>
          <p:nvPr/>
        </p:nvPicPr>
        <p:blipFill>
          <a:blip r:embed="rId3"/>
          <a:stretch>
            <a:fillRect/>
          </a:stretch>
        </p:blipFill>
        <p:spPr>
          <a:xfrm>
            <a:off x="1029614" y="4321454"/>
            <a:ext cx="409651" cy="409651"/>
          </a:xfrm>
          <a:prstGeom prst="rect">
            <a:avLst/>
          </a:prstGeom>
        </p:spPr>
      </p:pic>
      <p:sp>
        <p:nvSpPr>
          <p:cNvPr id="16" name="text-101"/>
          <p:cNvSpPr txBox="1"/>
          <p:nvPr/>
        </p:nvSpPr>
        <p:spPr>
          <a:xfrm>
            <a:off x="1874520" y="4142232"/>
            <a:ext cx="3786988" cy="457200"/>
          </a:xfrm>
          <a:prstGeom prst="rect">
            <a:avLst/>
          </a:prstGeom>
          <a:noFill/>
          <a:ln/>
        </p:spPr>
        <p:txBody>
          <a:bodyPr wrap="square" lIns="0" tIns="0" rIns="0" bIns="0" rtlCol="0" anchor="t"/>
          <a:lstStyle/>
          <a:p>
            <a:pPr indent="0" marL="0">
              <a:buNone/>
            </a:pPr>
            <a:r>
              <a:rPr lang="en-US" sz="2200" b="1" dirty="0">
                <a:solidFill>
                  <a:schemeClr val="tx1"/>
                </a:solidFill>
              </a:rPr>
              <a:t>Lids up for activities</a:t>
            </a:r>
            <a:endParaRPr lang="en-US" sz="2200" dirty="0"/>
          </a:p>
        </p:txBody>
      </p:sp>
      <p:sp>
        <p:nvSpPr>
          <p:cNvPr id="17" name="text-102"/>
          <p:cNvSpPr txBox="1"/>
          <p:nvPr/>
        </p:nvSpPr>
        <p:spPr>
          <a:xfrm>
            <a:off x="1874520" y="4663440"/>
            <a:ext cx="3786988" cy="914400"/>
          </a:xfrm>
          <a:prstGeom prst="rect">
            <a:avLst/>
          </a:prstGeom>
          <a:noFill/>
          <a:ln/>
        </p:spPr>
        <p:txBody>
          <a:bodyPr wrap="square" lIns="0" tIns="0" rIns="0" bIns="0" rtlCol="0" anchor="t"/>
          <a:lstStyle/>
          <a:p>
            <a:pPr indent="0" marL="0">
              <a:buNone/>
            </a:pPr>
            <a:r>
              <a:rPr lang="en-US" sz="1600" dirty="0">
                <a:solidFill>
                  <a:schemeClr val="tx2"/>
                </a:solidFill>
              </a:rPr>
              <a:t>Half-down during short talks, so the talks stay short.</a:t>
            </a:r>
            <a:endParaRPr lang="en-US" sz="1600" dirty="0"/>
          </a:p>
        </p:txBody>
      </p:sp>
      <p:sp>
        <p:nvSpPr>
          <p:cNvPr id="18" name="card-103"/>
          <p:cNvSpPr/>
          <p:nvPr/>
        </p:nvSpPr>
        <p:spPr>
          <a:xfrm>
            <a:off x="6255868" y="3794760"/>
            <a:ext cx="5387188" cy="2011680"/>
          </a:xfrm>
          <a:prstGeom prst="roundRect">
            <a:avLst>
              <a:gd name="adj" fmla="val 5455"/>
            </a:avLst>
          </a:prstGeom>
          <a:solidFill>
            <a:schemeClr val="bg2"/>
          </a:solidFill>
          <a:ln/>
        </p:spPr>
      </p:sp>
      <p:sp>
        <p:nvSpPr>
          <p:cNvPr id="19" name="dot-104"/>
          <p:cNvSpPr/>
          <p:nvPr/>
        </p:nvSpPr>
        <p:spPr>
          <a:xfrm>
            <a:off x="6575908" y="4160520"/>
            <a:ext cx="731520" cy="731520"/>
          </a:xfrm>
          <a:prstGeom prst="ellipse">
            <a:avLst/>
          </a:prstGeom>
          <a:solidFill>
            <a:schemeClr val="accent1"/>
          </a:solidFill>
          <a:ln/>
        </p:spPr>
      </p:sp>
      <p:pic>
        <p:nvPicPr>
          <p:cNvPr id="20" name="icon-105" descr="preencoded.png">    </p:cNvPr>
          <p:cNvPicPr>
            <a:picLocks noChangeAspect="1"/>
          </p:cNvPicPr>
          <p:nvPr/>
        </p:nvPicPr>
        <p:blipFill>
          <a:blip r:embed="rId4"/>
          <a:stretch>
            <a:fillRect/>
          </a:stretch>
        </p:blipFill>
        <p:spPr>
          <a:xfrm>
            <a:off x="6736842" y="4321454"/>
            <a:ext cx="409651" cy="409651"/>
          </a:xfrm>
          <a:prstGeom prst="rect">
            <a:avLst/>
          </a:prstGeom>
        </p:spPr>
      </p:pic>
      <p:sp>
        <p:nvSpPr>
          <p:cNvPr id="21" name="text-106"/>
          <p:cNvSpPr txBox="1"/>
          <p:nvPr/>
        </p:nvSpPr>
        <p:spPr>
          <a:xfrm>
            <a:off x="7581748" y="4142232"/>
            <a:ext cx="3786988" cy="457200"/>
          </a:xfrm>
          <a:prstGeom prst="rect">
            <a:avLst/>
          </a:prstGeom>
          <a:noFill/>
          <a:ln/>
        </p:spPr>
        <p:txBody>
          <a:bodyPr wrap="square" lIns="0" tIns="0" rIns="0" bIns="0" rtlCol="0" anchor="t"/>
          <a:lstStyle/>
          <a:p>
            <a:pPr indent="0" marL="0">
              <a:buNone/>
            </a:pPr>
            <a:r>
              <a:rPr lang="en-US" sz="2200" b="1" dirty="0">
                <a:solidFill>
                  <a:schemeClr val="tx1"/>
                </a:solidFill>
              </a:rPr>
              <a:t>Fictional data only</a:t>
            </a:r>
            <a:endParaRPr lang="en-US" sz="2200" dirty="0"/>
          </a:p>
        </p:txBody>
      </p:sp>
      <p:sp>
        <p:nvSpPr>
          <p:cNvPr id="22" name="text-107"/>
          <p:cNvSpPr txBox="1"/>
          <p:nvPr/>
        </p:nvSpPr>
        <p:spPr>
          <a:xfrm>
            <a:off x="7581748" y="4663440"/>
            <a:ext cx="3786988" cy="914400"/>
          </a:xfrm>
          <a:prstGeom prst="rect">
            <a:avLst/>
          </a:prstGeom>
          <a:noFill/>
          <a:ln/>
        </p:spPr>
        <p:txBody>
          <a:bodyPr wrap="square" lIns="0" tIns="0" rIns="0" bIns="0" rtlCol="0" anchor="t"/>
          <a:lstStyle/>
          <a:p>
            <a:pPr indent="0" marL="0">
              <a:buNone/>
            </a:pPr>
            <a:r>
              <a:rPr lang="en-US" sz="1600" dirty="0">
                <a:solidFill>
                  <a:schemeClr val="tx2"/>
                </a:solidFill>
              </a:rPr>
              <a:t>Nothing personal, confidential, or from a real client goes into Gemini today.</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SETUP CHECK  ·  EVERYONE</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Open Gemini</a:t>
            </a:r>
            <a:endParaRPr lang="en-US" sz="3800" dirty="0"/>
          </a:p>
        </p:txBody>
      </p:sp>
      <p:sp>
        <p:nvSpPr>
          <p:cNvPr id="4" name="badge-108"/>
          <p:cNvSpPr/>
          <p:nvPr/>
        </p:nvSpPr>
        <p:spPr>
          <a:xfrm>
            <a:off x="10042855" y="502920"/>
            <a:ext cx="1600200" cy="457200"/>
          </a:xfrm>
          <a:prstGeom prst="roundRect">
            <a:avLst>
              <a:gd name="adj" fmla="val 50000"/>
            </a:avLst>
          </a:prstGeom>
          <a:solidFill>
            <a:schemeClr val="bg1"/>
          </a:solidFill>
          <a:ln/>
        </p:spPr>
      </p:sp>
      <p:sp>
        <p:nvSpPr>
          <p:cNvPr id="5" name="text-109"/>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5 min</a:t>
            </a:r>
            <a:endParaRPr lang="en-US" sz="1600" dirty="0"/>
          </a:p>
        </p:txBody>
      </p:sp>
      <p:sp>
        <p:nvSpPr>
          <p:cNvPr id="6" name="num-110"/>
          <p:cNvSpPr/>
          <p:nvPr/>
        </p:nvSpPr>
        <p:spPr>
          <a:xfrm>
            <a:off x="548640" y="2011680"/>
            <a:ext cx="548640" cy="548640"/>
          </a:xfrm>
          <a:prstGeom prst="ellipse">
            <a:avLst/>
          </a:prstGeom>
          <a:solidFill>
            <a:schemeClr val="bg1"/>
          </a:solidFill>
          <a:ln/>
        </p:spPr>
      </p:sp>
      <p:sp>
        <p:nvSpPr>
          <p:cNvPr id="7" name="text-111"/>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8" name="text-112"/>
          <p:cNvSpPr txBox="1"/>
          <p:nvPr/>
        </p:nvSpPr>
        <p:spPr>
          <a:xfrm>
            <a:off x="1371600" y="2011680"/>
            <a:ext cx="5303520" cy="914400"/>
          </a:xfrm>
          <a:prstGeom prst="rect">
            <a:avLst/>
          </a:prstGeom>
          <a:noFill/>
          <a:ln/>
        </p:spPr>
        <p:txBody>
          <a:bodyPr wrap="square" lIns="0" tIns="0" rIns="0" bIns="0" rtlCol="0" anchor="ctr"/>
          <a:lstStyle/>
          <a:p>
            <a:pPr indent="0" marL="0">
              <a:buNone/>
            </a:pPr>
            <a:r>
              <a:rPr lang="en-US" sz="1900" dirty="0">
                <a:solidFill>
                  <a:schemeClr val="bg1"/>
                </a:solidFill>
              </a:rPr>
              <a:t>Go to gemini.google.com and sign in.</a:t>
            </a:r>
            <a:endParaRPr lang="en-US" sz="1900" dirty="0"/>
          </a:p>
        </p:txBody>
      </p:sp>
      <p:sp>
        <p:nvSpPr>
          <p:cNvPr id="9" name="num-113"/>
          <p:cNvSpPr/>
          <p:nvPr/>
        </p:nvSpPr>
        <p:spPr>
          <a:xfrm>
            <a:off x="548640" y="3063240"/>
            <a:ext cx="548640" cy="548640"/>
          </a:xfrm>
          <a:prstGeom prst="ellipse">
            <a:avLst/>
          </a:prstGeom>
          <a:solidFill>
            <a:schemeClr val="bg1"/>
          </a:solidFill>
          <a:ln/>
        </p:spPr>
      </p:sp>
      <p:sp>
        <p:nvSpPr>
          <p:cNvPr id="10" name="text-114"/>
          <p:cNvSpPr txBox="1"/>
          <p:nvPr/>
        </p:nvSpPr>
        <p:spPr>
          <a:xfrm>
            <a:off x="548640" y="306324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115"/>
          <p:cNvSpPr txBox="1"/>
          <p:nvPr/>
        </p:nvSpPr>
        <p:spPr>
          <a:xfrm>
            <a:off x="1371600" y="3063240"/>
            <a:ext cx="5303520" cy="914400"/>
          </a:xfrm>
          <a:prstGeom prst="rect">
            <a:avLst/>
          </a:prstGeom>
          <a:noFill/>
          <a:ln/>
        </p:spPr>
        <p:txBody>
          <a:bodyPr wrap="square" lIns="0" tIns="0" rIns="0" bIns="0" rtlCol="0" anchor="ctr"/>
          <a:lstStyle/>
          <a:p>
            <a:pPr indent="0" marL="0">
              <a:buNone/>
            </a:pPr>
            <a:r>
              <a:rPr lang="en-US" sz="1900" dirty="0">
                <a:solidFill>
                  <a:schemeClr val="bg1"/>
                </a:solidFill>
              </a:rPr>
              <a:t>Check the account picture, top right. Is it your work or school account, or a personal one?</a:t>
            </a:r>
            <a:endParaRPr lang="en-US" sz="1900" dirty="0"/>
          </a:p>
        </p:txBody>
      </p:sp>
      <p:sp>
        <p:nvSpPr>
          <p:cNvPr id="12" name="num-116"/>
          <p:cNvSpPr/>
          <p:nvPr/>
        </p:nvSpPr>
        <p:spPr>
          <a:xfrm>
            <a:off x="548640" y="4114800"/>
            <a:ext cx="548640" cy="548640"/>
          </a:xfrm>
          <a:prstGeom prst="ellipse">
            <a:avLst/>
          </a:prstGeom>
          <a:solidFill>
            <a:schemeClr val="bg1"/>
          </a:solidFill>
          <a:ln/>
        </p:spPr>
      </p:sp>
      <p:sp>
        <p:nvSpPr>
          <p:cNvPr id="13" name="text-117"/>
          <p:cNvSpPr txBox="1"/>
          <p:nvPr/>
        </p:nvSpPr>
        <p:spPr>
          <a:xfrm>
            <a:off x="548640" y="411480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4" name="text-118"/>
          <p:cNvSpPr txBox="1"/>
          <p:nvPr/>
        </p:nvSpPr>
        <p:spPr>
          <a:xfrm>
            <a:off x="1371600" y="4114800"/>
            <a:ext cx="5303520" cy="914400"/>
          </a:xfrm>
          <a:prstGeom prst="rect">
            <a:avLst/>
          </a:prstGeom>
          <a:noFill/>
          <a:ln/>
        </p:spPr>
        <p:txBody>
          <a:bodyPr wrap="square" lIns="0" tIns="0" rIns="0" bIns="0" rtlCol="0" anchor="ctr"/>
          <a:lstStyle/>
          <a:p>
            <a:pPr indent="0" marL="0">
              <a:buNone/>
            </a:pPr>
            <a:r>
              <a:rPr lang="en-US" sz="1900" dirty="0">
                <a:solidFill>
                  <a:schemeClr val="bg1"/>
                </a:solidFill>
              </a:rPr>
              <a:t>Type the prompt on the right and press Enter.</a:t>
            </a:r>
            <a:endParaRPr lang="en-US" sz="1900" dirty="0"/>
          </a:p>
        </p:txBody>
      </p:sp>
      <p:sp>
        <p:nvSpPr>
          <p:cNvPr id="15" name="card-119"/>
          <p:cNvSpPr/>
          <p:nvPr/>
        </p:nvSpPr>
        <p:spPr>
          <a:xfrm>
            <a:off x="6858000" y="2011680"/>
            <a:ext cx="4782312" cy="1737360"/>
          </a:xfrm>
          <a:prstGeom prst="roundRect">
            <a:avLst>
              <a:gd name="adj" fmla="val 6316"/>
            </a:avLst>
          </a:prstGeom>
          <a:solidFill>
            <a:schemeClr val="accent2"/>
          </a:solidFill>
          <a:ln/>
        </p:spPr>
      </p:sp>
      <p:sp>
        <p:nvSpPr>
          <p:cNvPr id="16" name="text-120"/>
          <p:cNvSpPr txBox="1"/>
          <p:nvPr/>
        </p:nvSpPr>
        <p:spPr>
          <a:xfrm>
            <a:off x="7132320" y="2212848"/>
            <a:ext cx="4233672"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PROMPT</a:t>
            </a:r>
            <a:endParaRPr lang="en-US" sz="1200" dirty="0"/>
          </a:p>
        </p:txBody>
      </p:sp>
      <p:sp>
        <p:nvSpPr>
          <p:cNvPr id="17" name="text-121"/>
          <p:cNvSpPr txBox="1"/>
          <p:nvPr/>
        </p:nvSpPr>
        <p:spPr>
          <a:xfrm>
            <a:off x="7132320" y="2542032"/>
            <a:ext cx="4233672" cy="1024128"/>
          </a:xfrm>
          <a:prstGeom prst="rect">
            <a:avLst/>
          </a:prstGeom>
          <a:noFill/>
          <a:ln/>
        </p:spPr>
        <p:txBody>
          <a:bodyPr wrap="square" lIns="0" tIns="0" rIns="0" bIns="0" rtlCol="0" anchor="t"/>
          <a:lstStyle/>
          <a:p>
            <a:pPr indent="0" marL="0">
              <a:spcAft>
                <a:spcPts val="200"/>
              </a:spcAft>
              <a:buNone/>
            </a:pPr>
            <a:r>
              <a:rPr lang="en-US" sz="1800" dirty="0">
                <a:solidFill>
                  <a:schemeClr val="bg1"/>
                </a:solidFill>
                <a:latin typeface="Courier New" pitchFamily="34" charset="0"/>
                <a:ea typeface="Courier New" pitchFamily="34" charset="-122"/>
                <a:cs typeface="Courier New" pitchFamily="34" charset="-120"/>
              </a:rPr>
              <a:t>In two sentences, explain what you can help me with at work.</a:t>
            </a:r>
            <a:endParaRPr lang="en-US" sz="1800" dirty="0"/>
          </a:p>
        </p:txBody>
      </p:sp>
      <p:sp>
        <p:nvSpPr>
          <p:cNvPr id="18" name="text-122"/>
          <p:cNvSpPr txBox="1"/>
          <p:nvPr/>
        </p:nvSpPr>
        <p:spPr>
          <a:xfrm>
            <a:off x="6858000" y="4023360"/>
            <a:ext cx="4754880" cy="1097280"/>
          </a:xfrm>
          <a:prstGeom prst="rect">
            <a:avLst/>
          </a:prstGeom>
          <a:noFill/>
          <a:ln/>
        </p:spPr>
        <p:txBody>
          <a:bodyPr wrap="square" lIns="0" tIns="0" rIns="0" bIns="0" rtlCol="0" anchor="t"/>
          <a:lstStyle/>
          <a:p>
            <a:pPr indent="0" marL="0">
              <a:buNone/>
            </a:pPr>
            <a:r>
              <a:rPr lang="en-US" sz="1800" b="1" dirty="0">
                <a:solidFill>
                  <a:schemeClr val="bg1"/>
                </a:solidFill>
              </a:rPr>
              <a:t>Got a response? You're ready.</a:t>
            </a:r>
            <a:endParaRPr lang="en-US" sz="1800" dirty="0"/>
          </a:p>
          <a:p>
            <a:pPr indent="0" marL="0">
              <a:buNone/>
            </a:pPr>
            <a:r>
              <a:rPr lang="en-US" sz="1800" dirty="0">
                <a:solidFill>
                  <a:schemeClr val="accent3"/>
                </a:solidFill>
              </a:rPr>
              <a:t>Now open your Participant Workbook. Stuck? Raise your hand.</a:t>
            </a:r>
            <a:endParaRPr lang="en-US" sz="1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1234440"/>
            <a:ext cx="3657600" cy="1554480"/>
          </a:xfrm>
          <a:prstGeom prst="rect">
            <a:avLst/>
          </a:prstGeom>
          <a:noFill/>
          <a:ln/>
        </p:spPr>
        <p:txBody>
          <a:bodyPr wrap="square" lIns="0" tIns="0" rIns="0" bIns="0" rtlCol="0" anchor="b"/>
          <a:lstStyle/>
          <a:p>
            <a:pPr algn="l" indent="0" marL="0">
              <a:buNone/>
            </a:pPr>
            <a:r>
              <a:rPr lang="en-US" sz="11000" b="1" dirty="0">
                <a:solidFill>
                  <a:schemeClr val="accent1"/>
                </a:solidFill>
              </a:rPr>
              <a:t>01</a:t>
            </a:r>
            <a:endParaRPr lang="en-US" sz="11000" dirty="0"/>
          </a:p>
        </p:txBody>
      </p:sp>
      <p:sp>
        <p:nvSpPr>
          <p:cNvPr id="3" name="Text 0"/>
          <p:cNvSpPr/>
          <p:nvPr>
            <p:ph idx="102" type="title" hasCustomPrompt="1"/>
          </p:nvPr>
        </p:nvSpPr>
        <p:spPr>
          <a:xfrm>
            <a:off x="548640" y="2926080"/>
            <a:ext cx="10515600" cy="1005840"/>
          </a:xfrm>
          <a:prstGeom prst="rect">
            <a:avLst/>
          </a:prstGeom>
          <a:noFill/>
          <a:ln/>
        </p:spPr>
        <p:txBody>
          <a:bodyPr wrap="square" lIns="0" tIns="0" rIns="0" bIns="0" rtlCol="0" anchor="t"/>
          <a:lstStyle/>
          <a:p>
            <a:pPr algn="l" indent="0" marL="0">
              <a:buNone/>
            </a:pPr>
            <a:r>
              <a:rPr lang="en-US" sz="5000" b="1" dirty="0">
                <a:solidFill>
                  <a:schemeClr val="bg1"/>
                </a:solidFill>
              </a:rPr>
              <a:t>Foundations</a:t>
            </a:r>
            <a:endParaRPr lang="en-US" sz="5000" dirty="0"/>
          </a:p>
        </p:txBody>
      </p:sp>
      <p:sp>
        <p:nvSpPr>
          <p:cNvPr id="4" name="Text 0"/>
          <p:cNvSpPr/>
          <p:nvPr>
            <p:ph idx="103" type="body" hasCustomPrompt="1"/>
          </p:nvPr>
        </p:nvSpPr>
        <p:spPr>
          <a:xfrm>
            <a:off x="548640" y="3931920"/>
            <a:ext cx="10515600" cy="640080"/>
          </a:xfrm>
          <a:prstGeom prst="rect">
            <a:avLst/>
          </a:prstGeom>
          <a:noFill/>
          <a:ln/>
        </p:spPr>
        <p:txBody>
          <a:bodyPr wrap="square" lIns="0" tIns="0" rIns="0" bIns="0" rtlCol="0" anchor="t"/>
          <a:lstStyle/>
          <a:p>
            <a:pPr algn="l" indent="0" marL="0">
              <a:buNone/>
            </a:pPr>
            <a:r>
              <a:rPr lang="en-US" sz="2600" dirty="0">
                <a:solidFill>
                  <a:schemeClr val="accent3"/>
                </a:solidFill>
              </a:rPr>
              <a:t>How Gemini works, and what makes a good prompt</a:t>
            </a:r>
            <a:endParaRPr lang="en-US" sz="2600" dirty="0"/>
          </a:p>
        </p:txBody>
      </p:sp>
      <p:sp>
        <p:nvSpPr>
          <p:cNvPr id="5" name="Text 0"/>
          <p:cNvSpPr/>
          <p:nvPr>
            <p:ph idx="104" type="body" hasCustomPrompt="1"/>
          </p:nvPr>
        </p:nvSpPr>
        <p:spPr>
          <a:xfrm>
            <a:off x="548640" y="4983480"/>
            <a:ext cx="5486400" cy="411480"/>
          </a:xfrm>
          <a:prstGeom prst="rect">
            <a:avLst/>
          </a:prstGeom>
          <a:noFill/>
          <a:ln/>
        </p:spPr>
        <p:txBody>
          <a:bodyPr wrap="square" lIns="0" tIns="0" rIns="0" bIns="0" rtlCol="0" anchor="t"/>
          <a:lstStyle/>
          <a:p>
            <a:pPr algn="l" indent="0" marL="0">
              <a:buNone/>
            </a:pPr>
            <a:r>
              <a:rPr lang="en-US" sz="1600" dirty="0">
                <a:solidFill>
                  <a:schemeClr val="accent3"/>
                </a:solidFill>
              </a:rPr>
              <a:t>9:30 – 10:30 a.m.</a:t>
            </a:r>
            <a:endParaRPr lang="en-US" sz="1600" dirty="0"/>
          </a:p>
        </p:txBody>
      </p:sp>
      <p:sp>
        <p:nvSpPr>
          <p:cNvPr id="6" name="text-123"/>
          <p:cNvSpPr txBox="1"/>
          <p:nvPr/>
        </p:nvSpPr>
        <p:spPr>
          <a:xfrm>
            <a:off x="5486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00 Welcome</a:t>
            </a:r>
            <a:endParaRPr lang="en-US" sz="1300" dirty="0"/>
          </a:p>
        </p:txBody>
      </p:sp>
      <p:sp>
        <p:nvSpPr>
          <p:cNvPr id="7" name="progress-124"/>
          <p:cNvSpPr/>
          <p:nvPr/>
        </p:nvSpPr>
        <p:spPr>
          <a:xfrm>
            <a:off x="548640" y="5897880"/>
            <a:ext cx="1508760" cy="45720"/>
          </a:xfrm>
          <a:prstGeom prst="rect">
            <a:avLst/>
          </a:prstGeom>
          <a:solidFill>
            <a:schemeClr val="accent2"/>
          </a:solidFill>
          <a:ln/>
        </p:spPr>
      </p:sp>
      <p:sp>
        <p:nvSpPr>
          <p:cNvPr id="8" name="text-125"/>
          <p:cNvSpPr txBox="1"/>
          <p:nvPr/>
        </p:nvSpPr>
        <p:spPr>
          <a:xfrm>
            <a:off x="2194560" y="5989320"/>
            <a:ext cx="1554480" cy="320040"/>
          </a:xfrm>
          <a:prstGeom prst="rect">
            <a:avLst/>
          </a:prstGeom>
          <a:noFill/>
          <a:ln/>
        </p:spPr>
        <p:txBody>
          <a:bodyPr wrap="square" lIns="0" tIns="0" rIns="0" bIns="0" rtlCol="0" anchor="t"/>
          <a:lstStyle/>
          <a:p>
            <a:pPr indent="0" marL="0">
              <a:buNone/>
            </a:pPr>
            <a:r>
              <a:rPr lang="en-US" sz="1300" b="1" dirty="0">
                <a:solidFill>
                  <a:schemeClr val="bg1"/>
                </a:solidFill>
              </a:rPr>
              <a:t>01 Foundations</a:t>
            </a:r>
            <a:endParaRPr lang="en-US" sz="1300" dirty="0"/>
          </a:p>
        </p:txBody>
      </p:sp>
      <p:sp>
        <p:nvSpPr>
          <p:cNvPr id="9" name="progress-126"/>
          <p:cNvSpPr/>
          <p:nvPr/>
        </p:nvSpPr>
        <p:spPr>
          <a:xfrm>
            <a:off x="2194560" y="5897880"/>
            <a:ext cx="1508760" cy="45720"/>
          </a:xfrm>
          <a:prstGeom prst="rect">
            <a:avLst/>
          </a:prstGeom>
          <a:solidFill>
            <a:schemeClr val="accent1"/>
          </a:solidFill>
          <a:ln/>
        </p:spPr>
      </p:sp>
      <p:sp>
        <p:nvSpPr>
          <p:cNvPr id="10" name="text-127"/>
          <p:cNvSpPr txBox="1"/>
          <p:nvPr/>
        </p:nvSpPr>
        <p:spPr>
          <a:xfrm>
            <a:off x="384048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02 Core skills</a:t>
            </a:r>
            <a:endParaRPr lang="en-US" sz="1300" dirty="0"/>
          </a:p>
        </p:txBody>
      </p:sp>
      <p:sp>
        <p:nvSpPr>
          <p:cNvPr id="11" name="progress-128"/>
          <p:cNvSpPr/>
          <p:nvPr/>
        </p:nvSpPr>
        <p:spPr>
          <a:xfrm>
            <a:off x="3840480" y="5897880"/>
            <a:ext cx="1508760" cy="45720"/>
          </a:xfrm>
          <a:prstGeom prst="rect">
            <a:avLst/>
          </a:prstGeom>
          <a:solidFill>
            <a:schemeClr val="accent2"/>
          </a:solidFill>
          <a:ln/>
        </p:spPr>
      </p:sp>
      <p:sp>
        <p:nvSpPr>
          <p:cNvPr id="12" name="text-129"/>
          <p:cNvSpPr txBox="1"/>
          <p:nvPr/>
        </p:nvSpPr>
        <p:spPr>
          <a:xfrm>
            <a:off x="548640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03 Applied practice</a:t>
            </a:r>
            <a:endParaRPr lang="en-US" sz="1300" dirty="0"/>
          </a:p>
        </p:txBody>
      </p:sp>
      <p:sp>
        <p:nvSpPr>
          <p:cNvPr id="13" name="progress-130"/>
          <p:cNvSpPr/>
          <p:nvPr/>
        </p:nvSpPr>
        <p:spPr>
          <a:xfrm>
            <a:off x="5486400" y="5897880"/>
            <a:ext cx="1508760" cy="45720"/>
          </a:xfrm>
          <a:prstGeom prst="rect">
            <a:avLst/>
          </a:prstGeom>
          <a:solidFill>
            <a:schemeClr val="accent2"/>
          </a:solidFill>
          <a:ln/>
        </p:spPr>
      </p:sp>
      <p:sp>
        <p:nvSpPr>
          <p:cNvPr id="14" name="text-131"/>
          <p:cNvSpPr txBox="1"/>
          <p:nvPr/>
        </p:nvSpPr>
        <p:spPr>
          <a:xfrm>
            <a:off x="713232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04 Capstone</a:t>
            </a:r>
            <a:endParaRPr lang="en-US" sz="1300" dirty="0"/>
          </a:p>
        </p:txBody>
      </p:sp>
      <p:sp>
        <p:nvSpPr>
          <p:cNvPr id="15" name="progress-132"/>
          <p:cNvSpPr/>
          <p:nvPr/>
        </p:nvSpPr>
        <p:spPr>
          <a:xfrm>
            <a:off x="7132320" y="5897880"/>
            <a:ext cx="1508760" cy="45720"/>
          </a:xfrm>
          <a:prstGeom prst="rect">
            <a:avLst/>
          </a:prstGeom>
          <a:solidFill>
            <a:schemeClr val="accent2"/>
          </a:solidFill>
          <a:ln/>
        </p:spPr>
      </p:sp>
      <p:sp>
        <p:nvSpPr>
          <p:cNvPr id="16" name="text-133"/>
          <p:cNvSpPr txBox="1"/>
          <p:nvPr/>
        </p:nvSpPr>
        <p:spPr>
          <a:xfrm>
            <a:off x="87782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05 Wrap-up</a:t>
            </a:r>
            <a:endParaRPr lang="en-US" sz="1300" dirty="0"/>
          </a:p>
        </p:txBody>
      </p:sp>
      <p:sp>
        <p:nvSpPr>
          <p:cNvPr id="17" name="progress-134"/>
          <p:cNvSpPr/>
          <p:nvPr/>
        </p:nvSpPr>
        <p:spPr>
          <a:xfrm>
            <a:off x="8778240" y="5897880"/>
            <a:ext cx="1508760" cy="45720"/>
          </a:xfrm>
          <a:prstGeom prst="rect">
            <a:avLst/>
          </a:prstGeom>
          <a:solidFill>
            <a:schemeClr val="accent2"/>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What did Gemini have to guess?</a:t>
            </a:r>
            <a:endParaRPr lang="en-US" sz="3400" dirty="0"/>
          </a:p>
        </p:txBody>
      </p:sp>
      <p:sp>
        <p:nvSpPr>
          <p:cNvPr id="3" name="card-135"/>
          <p:cNvSpPr/>
          <p:nvPr/>
        </p:nvSpPr>
        <p:spPr>
          <a:xfrm>
            <a:off x="548640" y="1463040"/>
            <a:ext cx="5029200" cy="1143000"/>
          </a:xfrm>
          <a:prstGeom prst="roundRect">
            <a:avLst>
              <a:gd name="adj" fmla="val 9600"/>
            </a:avLst>
          </a:prstGeom>
          <a:solidFill>
            <a:schemeClr val="tx1"/>
          </a:solidFill>
          <a:ln/>
        </p:spPr>
      </p:sp>
      <p:sp>
        <p:nvSpPr>
          <p:cNvPr id="4" name="text-136"/>
          <p:cNvSpPr txBox="1"/>
          <p:nvPr/>
        </p:nvSpPr>
        <p:spPr>
          <a:xfrm>
            <a:off x="822960" y="1664208"/>
            <a:ext cx="44805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PROMPT</a:t>
            </a:r>
            <a:endParaRPr lang="en-US" sz="1200" dirty="0"/>
          </a:p>
        </p:txBody>
      </p:sp>
      <p:sp>
        <p:nvSpPr>
          <p:cNvPr id="5" name="text-137"/>
          <p:cNvSpPr txBox="1"/>
          <p:nvPr/>
        </p:nvSpPr>
        <p:spPr>
          <a:xfrm>
            <a:off x="822960" y="1993392"/>
            <a:ext cx="4480560" cy="429768"/>
          </a:xfrm>
          <a:prstGeom prst="rect">
            <a:avLst/>
          </a:prstGeom>
          <a:noFill/>
          <a:ln/>
        </p:spPr>
        <p:txBody>
          <a:bodyPr wrap="square" lIns="0" tIns="0" rIns="0" bIns="0" rtlCol="0" anchor="t"/>
          <a:lstStyle/>
          <a:p>
            <a:pPr indent="0" marL="0">
              <a:spcAft>
                <a:spcPts val="200"/>
              </a:spcAft>
              <a:buNone/>
            </a:pPr>
            <a:r>
              <a:rPr lang="en-US" sz="1800" dirty="0">
                <a:solidFill>
                  <a:schemeClr val="bg1"/>
                </a:solidFill>
                <a:latin typeface="Courier New" pitchFamily="34" charset="0"/>
                <a:ea typeface="Courier New" pitchFamily="34" charset="-122"/>
                <a:cs typeface="Courier New" pitchFamily="34" charset="-120"/>
              </a:rPr>
              <a:t>Write an email about the meeting.</a:t>
            </a:r>
            <a:endParaRPr lang="en-US" sz="1800" dirty="0"/>
          </a:p>
        </p:txBody>
      </p:sp>
      <p:sp>
        <p:nvSpPr>
          <p:cNvPr id="6" name="card-138"/>
          <p:cNvSpPr/>
          <p:nvPr/>
        </p:nvSpPr>
        <p:spPr>
          <a:xfrm>
            <a:off x="548640" y="2788920"/>
            <a:ext cx="5029200" cy="3246120"/>
          </a:xfrm>
          <a:prstGeom prst="roundRect">
            <a:avLst>
              <a:gd name="adj" fmla="val 3380"/>
            </a:avLst>
          </a:prstGeom>
          <a:solidFill>
            <a:schemeClr val="bg2"/>
          </a:solidFill>
          <a:ln/>
        </p:spPr>
      </p:sp>
      <p:sp>
        <p:nvSpPr>
          <p:cNvPr id="7" name="text-139"/>
          <p:cNvSpPr txBox="1"/>
          <p:nvPr/>
        </p:nvSpPr>
        <p:spPr>
          <a:xfrm>
            <a:off x="822960" y="2990088"/>
            <a:ext cx="3657600" cy="256032"/>
          </a:xfrm>
          <a:prstGeom prst="rect">
            <a:avLst/>
          </a:prstGeom>
          <a:noFill/>
          <a:ln/>
        </p:spPr>
        <p:txBody>
          <a:bodyPr wrap="square" lIns="0" tIns="0" rIns="0" bIns="0" rtlCol="0" anchor="t"/>
          <a:lstStyle/>
          <a:p>
            <a:pPr indent="0" marL="0">
              <a:buNone/>
            </a:pPr>
            <a:r>
              <a:rPr lang="en-US" sz="1200" b="1" spc="200" kern="0" dirty="0">
                <a:solidFill>
                  <a:schemeClr val="tx2"/>
                </a:solidFill>
              </a:rPr>
              <a:t>GEMINI</a:t>
            </a:r>
            <a:endParaRPr lang="en-US" sz="1200" dirty="0"/>
          </a:p>
        </p:txBody>
      </p:sp>
      <p:sp>
        <p:nvSpPr>
          <p:cNvPr id="8" name="text-140"/>
          <p:cNvSpPr txBox="1"/>
          <p:nvPr/>
        </p:nvSpPr>
        <p:spPr>
          <a:xfrm>
            <a:off x="822960" y="3337560"/>
            <a:ext cx="4480560" cy="2560320"/>
          </a:xfrm>
          <a:prstGeom prst="rect">
            <a:avLst/>
          </a:prstGeom>
          <a:noFill/>
          <a:ln/>
        </p:spPr>
        <p:txBody>
          <a:bodyPr wrap="square" lIns="0" tIns="0" rIns="0" bIns="0" rtlCol="0" anchor="t"/>
          <a:lstStyle/>
          <a:p>
            <a:pPr indent="0" marL="0">
              <a:buNone/>
            </a:pPr>
            <a:r>
              <a:rPr lang="en-US" sz="1500" dirty="0">
                <a:solidFill>
                  <a:schemeClr val="tx2"/>
                </a:solidFill>
              </a:rPr>
              <a:t>Subject: Meeting Update</a:t>
            </a:r>
            <a:endParaRPr lang="en-US" sz="1500" dirty="0"/>
          </a:p>
          <a:p>
            <a:pPr indent="0" marL="0">
              <a:buNone/>
            </a:pPr>
            <a:endParaRPr lang="en-US" sz="1500" dirty="0"/>
          </a:p>
          <a:p>
            <a:pPr indent="0" marL="0">
              <a:buNone/>
            </a:pPr>
            <a:r>
              <a:rPr lang="en-US" sz="1500" dirty="0">
                <a:solidFill>
                  <a:schemeClr val="tx2"/>
                </a:solidFill>
              </a:rPr>
              <a:t>Hi team,</a:t>
            </a:r>
            <a:endParaRPr lang="en-US" sz="1500" dirty="0"/>
          </a:p>
          <a:p>
            <a:pPr indent="0" marL="0">
              <a:buNone/>
            </a:pPr>
            <a:endParaRPr lang="en-US" sz="1500" dirty="0"/>
          </a:p>
          <a:p>
            <a:pPr indent="0" marL="0">
              <a:buNone/>
            </a:pPr>
            <a:r>
              <a:rPr lang="en-US" sz="1500" dirty="0">
                <a:solidFill>
                  <a:schemeClr val="tx2"/>
                </a:solidFill>
              </a:rPr>
              <a:t>I wanted to follow up regarding our upcoming meeting. Please let me know your availability so we can find a time that works for everyone.</a:t>
            </a:r>
            <a:endParaRPr lang="en-US" sz="1500" dirty="0"/>
          </a:p>
          <a:p>
            <a:pPr indent="0" marL="0">
              <a:buNone/>
            </a:pPr>
            <a:endParaRPr lang="en-US" sz="1500" dirty="0"/>
          </a:p>
          <a:p>
            <a:pPr indent="0" marL="0">
              <a:buNone/>
            </a:pPr>
            <a:r>
              <a:rPr lang="en-US" sz="1500" dirty="0">
                <a:solidFill>
                  <a:schemeClr val="tx2"/>
                </a:solidFill>
              </a:rPr>
              <a:t>Best regards,</a:t>
            </a:r>
            <a:endParaRPr lang="en-US" sz="1500" dirty="0"/>
          </a:p>
          <a:p>
            <a:pPr indent="0" marL="0">
              <a:buNone/>
            </a:pPr>
            <a:r>
              <a:rPr lang="en-US" sz="1500" dirty="0">
                <a:solidFill>
                  <a:schemeClr val="tx2"/>
                </a:solidFill>
              </a:rPr>
              <a:t>[Your Name]</a:t>
            </a:r>
            <a:endParaRPr lang="en-US" sz="1500" dirty="0"/>
          </a:p>
        </p:txBody>
      </p:sp>
      <p:sp>
        <p:nvSpPr>
          <p:cNvPr id="9" name="text-141"/>
          <p:cNvSpPr txBox="1"/>
          <p:nvPr/>
        </p:nvSpPr>
        <p:spPr>
          <a:xfrm>
            <a:off x="6172200" y="1508760"/>
            <a:ext cx="5486400" cy="457200"/>
          </a:xfrm>
          <a:prstGeom prst="rect">
            <a:avLst/>
          </a:prstGeom>
          <a:noFill/>
          <a:ln/>
        </p:spPr>
        <p:txBody>
          <a:bodyPr wrap="square" lIns="0" tIns="0" rIns="0" bIns="0" rtlCol="0" anchor="t"/>
          <a:lstStyle/>
          <a:p>
            <a:pPr indent="0" marL="0">
              <a:buNone/>
            </a:pPr>
            <a:r>
              <a:rPr lang="en-US" sz="2200" b="1" dirty="0">
                <a:solidFill>
                  <a:schemeClr val="tx1"/>
                </a:solidFill>
              </a:rPr>
              <a:t>It had to guess…</a:t>
            </a:r>
            <a:endParaRPr lang="en-US" sz="2200" dirty="0"/>
          </a:p>
        </p:txBody>
      </p:sp>
      <p:pic>
        <p:nvPicPr>
          <p:cNvPr id="10" name="icon-142" descr="preencoded.png">    </p:cNvPr>
          <p:cNvPicPr>
            <a:picLocks noChangeAspect="1"/>
          </p:cNvPicPr>
          <p:nvPr/>
        </p:nvPicPr>
        <p:blipFill>
          <a:blip r:embed="rId1"/>
          <a:stretch>
            <a:fillRect/>
          </a:stretch>
        </p:blipFill>
        <p:spPr>
          <a:xfrm>
            <a:off x="6172200" y="2231136"/>
            <a:ext cx="384048" cy="384048"/>
          </a:xfrm>
          <a:prstGeom prst="rect">
            <a:avLst/>
          </a:prstGeom>
        </p:spPr>
      </p:pic>
      <p:sp>
        <p:nvSpPr>
          <p:cNvPr id="11" name="text-143"/>
          <p:cNvSpPr txBox="1"/>
          <p:nvPr/>
        </p:nvSpPr>
        <p:spPr>
          <a:xfrm>
            <a:off x="6702552" y="2194560"/>
            <a:ext cx="2194560" cy="457200"/>
          </a:xfrm>
          <a:prstGeom prst="rect">
            <a:avLst/>
          </a:prstGeom>
          <a:noFill/>
          <a:ln/>
        </p:spPr>
        <p:txBody>
          <a:bodyPr wrap="square" lIns="0" tIns="0" rIns="0" bIns="0" rtlCol="0" anchor="ctr"/>
          <a:lstStyle/>
          <a:p>
            <a:pPr indent="0" marL="0">
              <a:buNone/>
            </a:pPr>
            <a:r>
              <a:rPr lang="en-US" sz="1800" dirty="0">
                <a:solidFill>
                  <a:schemeClr val="tx1"/>
                </a:solidFill>
              </a:rPr>
              <a:t>Which meeting?</a:t>
            </a:r>
            <a:endParaRPr lang="en-US" sz="1800" dirty="0"/>
          </a:p>
        </p:txBody>
      </p:sp>
      <p:pic>
        <p:nvPicPr>
          <p:cNvPr id="12" name="icon-144" descr="preencoded.png">    </p:cNvPr>
          <p:cNvPicPr>
            <a:picLocks noChangeAspect="1"/>
          </p:cNvPicPr>
          <p:nvPr/>
        </p:nvPicPr>
        <p:blipFill>
          <a:blip r:embed="rId2"/>
          <a:stretch>
            <a:fillRect/>
          </a:stretch>
        </p:blipFill>
        <p:spPr>
          <a:xfrm>
            <a:off x="8915400" y="2231136"/>
            <a:ext cx="384048" cy="384048"/>
          </a:xfrm>
          <a:prstGeom prst="rect">
            <a:avLst/>
          </a:prstGeom>
        </p:spPr>
      </p:pic>
      <p:sp>
        <p:nvSpPr>
          <p:cNvPr id="13" name="text-145"/>
          <p:cNvSpPr txBox="1"/>
          <p:nvPr/>
        </p:nvSpPr>
        <p:spPr>
          <a:xfrm>
            <a:off x="9445752" y="2194560"/>
            <a:ext cx="2194560" cy="457200"/>
          </a:xfrm>
          <a:prstGeom prst="rect">
            <a:avLst/>
          </a:prstGeom>
          <a:noFill/>
          <a:ln/>
        </p:spPr>
        <p:txBody>
          <a:bodyPr wrap="square" lIns="0" tIns="0" rIns="0" bIns="0" rtlCol="0" anchor="ctr"/>
          <a:lstStyle/>
          <a:p>
            <a:pPr indent="0" marL="0">
              <a:buNone/>
            </a:pPr>
            <a:r>
              <a:rPr lang="en-US" sz="1800" dirty="0">
                <a:solidFill>
                  <a:schemeClr val="tx1"/>
                </a:solidFill>
              </a:rPr>
              <a:t>Who's reading it?</a:t>
            </a:r>
            <a:endParaRPr lang="en-US" sz="1800" dirty="0"/>
          </a:p>
        </p:txBody>
      </p:sp>
      <p:pic>
        <p:nvPicPr>
          <p:cNvPr id="14" name="icon-146" descr="preencoded.png">    </p:cNvPr>
          <p:cNvPicPr>
            <a:picLocks noChangeAspect="1"/>
          </p:cNvPicPr>
          <p:nvPr/>
        </p:nvPicPr>
        <p:blipFill>
          <a:blip r:embed="rId3"/>
          <a:stretch>
            <a:fillRect/>
          </a:stretch>
        </p:blipFill>
        <p:spPr>
          <a:xfrm>
            <a:off x="6172200" y="3008376"/>
            <a:ext cx="384048" cy="384048"/>
          </a:xfrm>
          <a:prstGeom prst="rect">
            <a:avLst/>
          </a:prstGeom>
        </p:spPr>
      </p:pic>
      <p:sp>
        <p:nvSpPr>
          <p:cNvPr id="15" name="text-147"/>
          <p:cNvSpPr txBox="1"/>
          <p:nvPr/>
        </p:nvSpPr>
        <p:spPr>
          <a:xfrm>
            <a:off x="6702552" y="2971800"/>
            <a:ext cx="2194560" cy="457200"/>
          </a:xfrm>
          <a:prstGeom prst="rect">
            <a:avLst/>
          </a:prstGeom>
          <a:noFill/>
          <a:ln/>
        </p:spPr>
        <p:txBody>
          <a:bodyPr wrap="square" lIns="0" tIns="0" rIns="0" bIns="0" rtlCol="0" anchor="ctr"/>
          <a:lstStyle/>
          <a:p>
            <a:pPr indent="0" marL="0">
              <a:buNone/>
            </a:pPr>
            <a:r>
              <a:rPr lang="en-US" sz="1800" dirty="0">
                <a:solidFill>
                  <a:schemeClr val="tx1"/>
                </a:solidFill>
              </a:rPr>
              <a:t>What's the purpose?</a:t>
            </a:r>
            <a:endParaRPr lang="en-US" sz="1800" dirty="0"/>
          </a:p>
        </p:txBody>
      </p:sp>
      <p:pic>
        <p:nvPicPr>
          <p:cNvPr id="16" name="icon-148" descr="preencoded.png">    </p:cNvPr>
          <p:cNvPicPr>
            <a:picLocks noChangeAspect="1"/>
          </p:cNvPicPr>
          <p:nvPr/>
        </p:nvPicPr>
        <p:blipFill>
          <a:blip r:embed="rId4"/>
          <a:stretch>
            <a:fillRect/>
          </a:stretch>
        </p:blipFill>
        <p:spPr>
          <a:xfrm>
            <a:off x="8915400" y="3008376"/>
            <a:ext cx="384048" cy="384048"/>
          </a:xfrm>
          <a:prstGeom prst="rect">
            <a:avLst/>
          </a:prstGeom>
        </p:spPr>
      </p:pic>
      <p:sp>
        <p:nvSpPr>
          <p:cNvPr id="17" name="text-149"/>
          <p:cNvSpPr txBox="1"/>
          <p:nvPr/>
        </p:nvSpPr>
        <p:spPr>
          <a:xfrm>
            <a:off x="9445752" y="2971800"/>
            <a:ext cx="2194560" cy="457200"/>
          </a:xfrm>
          <a:prstGeom prst="rect">
            <a:avLst/>
          </a:prstGeom>
          <a:noFill/>
          <a:ln/>
        </p:spPr>
        <p:txBody>
          <a:bodyPr wrap="square" lIns="0" tIns="0" rIns="0" bIns="0" rtlCol="0" anchor="ctr"/>
          <a:lstStyle/>
          <a:p>
            <a:pPr indent="0" marL="0">
              <a:buNone/>
            </a:pPr>
            <a:r>
              <a:rPr lang="en-US" sz="1800" dirty="0">
                <a:solidFill>
                  <a:schemeClr val="tx1"/>
                </a:solidFill>
              </a:rPr>
              <a:t>What tone?</a:t>
            </a:r>
            <a:endParaRPr lang="en-US" sz="1800" dirty="0"/>
          </a:p>
        </p:txBody>
      </p:sp>
      <p:pic>
        <p:nvPicPr>
          <p:cNvPr id="18" name="icon-150" descr="preencoded.png">    </p:cNvPr>
          <p:cNvPicPr>
            <a:picLocks noChangeAspect="1"/>
          </p:cNvPicPr>
          <p:nvPr/>
        </p:nvPicPr>
        <p:blipFill>
          <a:blip r:embed="rId5"/>
          <a:stretch>
            <a:fillRect/>
          </a:stretch>
        </p:blipFill>
        <p:spPr>
          <a:xfrm>
            <a:off x="6172200" y="3785616"/>
            <a:ext cx="384048" cy="384048"/>
          </a:xfrm>
          <a:prstGeom prst="rect">
            <a:avLst/>
          </a:prstGeom>
        </p:spPr>
      </p:pic>
      <p:sp>
        <p:nvSpPr>
          <p:cNvPr id="19" name="text-151"/>
          <p:cNvSpPr txBox="1"/>
          <p:nvPr/>
        </p:nvSpPr>
        <p:spPr>
          <a:xfrm>
            <a:off x="6702552" y="3749040"/>
            <a:ext cx="2194560" cy="457200"/>
          </a:xfrm>
          <a:prstGeom prst="rect">
            <a:avLst/>
          </a:prstGeom>
          <a:noFill/>
          <a:ln/>
        </p:spPr>
        <p:txBody>
          <a:bodyPr wrap="square" lIns="0" tIns="0" rIns="0" bIns="0" rtlCol="0" anchor="ctr"/>
          <a:lstStyle/>
          <a:p>
            <a:pPr indent="0" marL="0">
              <a:buNone/>
            </a:pPr>
            <a:r>
              <a:rPr lang="en-US" sz="1800" dirty="0">
                <a:solidFill>
                  <a:schemeClr val="tx1"/>
                </a:solidFill>
              </a:rPr>
              <a:t>How long?</a:t>
            </a:r>
            <a:endParaRPr lang="en-US" sz="1800" dirty="0"/>
          </a:p>
        </p:txBody>
      </p:sp>
      <p:pic>
        <p:nvPicPr>
          <p:cNvPr id="20" name="icon-152" descr="preencoded.png">    </p:cNvPr>
          <p:cNvPicPr>
            <a:picLocks noChangeAspect="1"/>
          </p:cNvPicPr>
          <p:nvPr/>
        </p:nvPicPr>
        <p:blipFill>
          <a:blip r:embed="rId6"/>
          <a:stretch>
            <a:fillRect/>
          </a:stretch>
        </p:blipFill>
        <p:spPr>
          <a:xfrm>
            <a:off x="8915400" y="3785616"/>
            <a:ext cx="384048" cy="384048"/>
          </a:xfrm>
          <a:prstGeom prst="rect">
            <a:avLst/>
          </a:prstGeom>
        </p:spPr>
      </p:pic>
      <p:sp>
        <p:nvSpPr>
          <p:cNvPr id="21" name="text-153"/>
          <p:cNvSpPr txBox="1"/>
          <p:nvPr/>
        </p:nvSpPr>
        <p:spPr>
          <a:xfrm>
            <a:off x="9445752" y="3749040"/>
            <a:ext cx="2194560" cy="457200"/>
          </a:xfrm>
          <a:prstGeom prst="rect">
            <a:avLst/>
          </a:prstGeom>
          <a:noFill/>
          <a:ln/>
        </p:spPr>
        <p:txBody>
          <a:bodyPr wrap="square" lIns="0" tIns="0" rIns="0" bIns="0" rtlCol="0" anchor="ctr"/>
          <a:lstStyle/>
          <a:p>
            <a:pPr indent="0" marL="0">
              <a:buNone/>
            </a:pPr>
            <a:r>
              <a:rPr lang="en-US" sz="1800" dirty="0">
                <a:solidFill>
                  <a:schemeClr val="tx1"/>
                </a:solidFill>
              </a:rPr>
              <a:t>What should readers do?</a:t>
            </a:r>
            <a:endParaRPr lang="en-US" sz="1800" dirty="0"/>
          </a:p>
        </p:txBody>
      </p:sp>
      <p:sp>
        <p:nvSpPr>
          <p:cNvPr id="22" name="card-154"/>
          <p:cNvSpPr/>
          <p:nvPr/>
        </p:nvSpPr>
        <p:spPr>
          <a:xfrm>
            <a:off x="6172200" y="4800600"/>
            <a:ext cx="5468112" cy="1234440"/>
          </a:xfrm>
          <a:prstGeom prst="roundRect">
            <a:avLst>
              <a:gd name="adj" fmla="val 8889"/>
            </a:avLst>
          </a:prstGeom>
          <a:solidFill>
            <a:schemeClr val="tx1"/>
          </a:solidFill>
          <a:ln/>
        </p:spPr>
      </p:sp>
      <p:sp>
        <p:nvSpPr>
          <p:cNvPr id="23" name="text-155"/>
          <p:cNvSpPr txBox="1"/>
          <p:nvPr/>
        </p:nvSpPr>
        <p:spPr>
          <a:xfrm>
            <a:off x="6492240" y="4800600"/>
            <a:ext cx="4937760" cy="1234440"/>
          </a:xfrm>
          <a:prstGeom prst="rect">
            <a:avLst/>
          </a:prstGeom>
          <a:noFill/>
          <a:ln/>
        </p:spPr>
        <p:txBody>
          <a:bodyPr wrap="square" lIns="0" tIns="0" rIns="0" bIns="0" rtlCol="0" anchor="ctr"/>
          <a:lstStyle/>
          <a:p>
            <a:pPr indent="0" marL="0">
              <a:buNone/>
            </a:pPr>
            <a:r>
              <a:rPr lang="en-US" sz="2200" b="1" dirty="0">
                <a:solidFill>
                  <a:schemeClr val="bg1"/>
                </a:solidFill>
              </a:rPr>
              <a:t>Everything you don't say, Gemini guesses.</a:t>
            </a:r>
            <a:endParaRPr lang="en-US" sz="22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Gemini writes by predicting the next word</a:t>
            </a:r>
            <a:endParaRPr lang="en-US" sz="3400" dirty="0"/>
          </a:p>
        </p:txBody>
      </p:sp>
      <p:sp>
        <p:nvSpPr>
          <p:cNvPr id="3" name="num-156"/>
          <p:cNvSpPr/>
          <p:nvPr/>
        </p:nvSpPr>
        <p:spPr>
          <a:xfrm>
            <a:off x="548640" y="1600200"/>
            <a:ext cx="566928" cy="566928"/>
          </a:xfrm>
          <a:prstGeom prst="ellipse">
            <a:avLst/>
          </a:prstGeom>
          <a:solidFill>
            <a:schemeClr val="tx1"/>
          </a:solidFill>
          <a:ln/>
        </p:spPr>
      </p:sp>
      <p:sp>
        <p:nvSpPr>
          <p:cNvPr id="4" name="text-157"/>
          <p:cNvSpPr txBox="1"/>
          <p:nvPr/>
        </p:nvSpPr>
        <p:spPr>
          <a:xfrm>
            <a:off x="548640" y="16002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158"/>
          <p:cNvSpPr txBox="1"/>
          <p:nvPr/>
        </p:nvSpPr>
        <p:spPr>
          <a:xfrm>
            <a:off x="1371600" y="1581912"/>
            <a:ext cx="4297680" cy="411480"/>
          </a:xfrm>
          <a:prstGeom prst="rect">
            <a:avLst/>
          </a:prstGeom>
          <a:noFill/>
          <a:ln/>
        </p:spPr>
        <p:txBody>
          <a:bodyPr wrap="square" lIns="0" tIns="0" rIns="0" bIns="0" rtlCol="0" anchor="t"/>
          <a:lstStyle/>
          <a:p>
            <a:pPr indent="0" marL="0">
              <a:buNone/>
            </a:pPr>
            <a:r>
              <a:rPr lang="en-US" sz="2000" b="1" dirty="0">
                <a:solidFill>
                  <a:schemeClr val="tx1"/>
                </a:solidFill>
              </a:rPr>
              <a:t>Trained on huge amounts of text</a:t>
            </a:r>
            <a:endParaRPr lang="en-US" sz="2000" dirty="0"/>
          </a:p>
        </p:txBody>
      </p:sp>
      <p:sp>
        <p:nvSpPr>
          <p:cNvPr id="6" name="text-159"/>
          <p:cNvSpPr txBox="1"/>
          <p:nvPr/>
        </p:nvSpPr>
        <p:spPr>
          <a:xfrm>
            <a:off x="1371600" y="2011680"/>
            <a:ext cx="4297680" cy="640080"/>
          </a:xfrm>
          <a:prstGeom prst="rect">
            <a:avLst/>
          </a:prstGeom>
          <a:noFill/>
          <a:ln/>
        </p:spPr>
        <p:txBody>
          <a:bodyPr wrap="square" lIns="0" tIns="0" rIns="0" bIns="0" rtlCol="0" anchor="t"/>
          <a:lstStyle/>
          <a:p>
            <a:pPr indent="0" marL="0">
              <a:buNone/>
            </a:pPr>
            <a:r>
              <a:rPr lang="en-US" sz="1600" dirty="0">
                <a:solidFill>
                  <a:schemeClr val="tx2"/>
                </a:solidFill>
              </a:rPr>
              <a:t>Books, websites, and articles: billions of pages.</a:t>
            </a:r>
            <a:endParaRPr lang="en-US" sz="1600" dirty="0"/>
          </a:p>
        </p:txBody>
      </p:sp>
      <p:sp>
        <p:nvSpPr>
          <p:cNvPr id="7" name="num-160"/>
          <p:cNvSpPr/>
          <p:nvPr/>
        </p:nvSpPr>
        <p:spPr>
          <a:xfrm>
            <a:off x="548640" y="2971800"/>
            <a:ext cx="566928" cy="566928"/>
          </a:xfrm>
          <a:prstGeom prst="ellipse">
            <a:avLst/>
          </a:prstGeom>
          <a:solidFill>
            <a:schemeClr val="tx1"/>
          </a:solidFill>
          <a:ln/>
        </p:spPr>
      </p:sp>
      <p:sp>
        <p:nvSpPr>
          <p:cNvPr id="8" name="text-161"/>
          <p:cNvSpPr txBox="1"/>
          <p:nvPr/>
        </p:nvSpPr>
        <p:spPr>
          <a:xfrm>
            <a:off x="548640" y="29718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162"/>
          <p:cNvSpPr txBox="1"/>
          <p:nvPr/>
        </p:nvSpPr>
        <p:spPr>
          <a:xfrm>
            <a:off x="1371600" y="2953512"/>
            <a:ext cx="4297680" cy="411480"/>
          </a:xfrm>
          <a:prstGeom prst="rect">
            <a:avLst/>
          </a:prstGeom>
          <a:noFill/>
          <a:ln/>
        </p:spPr>
        <p:txBody>
          <a:bodyPr wrap="square" lIns="0" tIns="0" rIns="0" bIns="0" rtlCol="0" anchor="t"/>
          <a:lstStyle/>
          <a:p>
            <a:pPr indent="0" marL="0">
              <a:buNone/>
            </a:pPr>
            <a:r>
              <a:rPr lang="en-US" sz="2000" b="1" dirty="0">
                <a:solidFill>
                  <a:schemeClr val="tx1"/>
                </a:solidFill>
              </a:rPr>
              <a:t>Learns the patterns of language</a:t>
            </a:r>
            <a:endParaRPr lang="en-US" sz="2000" dirty="0"/>
          </a:p>
        </p:txBody>
      </p:sp>
      <p:sp>
        <p:nvSpPr>
          <p:cNvPr id="10" name="text-163"/>
          <p:cNvSpPr txBox="1"/>
          <p:nvPr/>
        </p:nvSpPr>
        <p:spPr>
          <a:xfrm>
            <a:off x="1371600" y="3383280"/>
            <a:ext cx="4297680" cy="640080"/>
          </a:xfrm>
          <a:prstGeom prst="rect">
            <a:avLst/>
          </a:prstGeom>
          <a:noFill/>
          <a:ln/>
        </p:spPr>
        <p:txBody>
          <a:bodyPr wrap="square" lIns="0" tIns="0" rIns="0" bIns="0" rtlCol="0" anchor="t"/>
          <a:lstStyle/>
          <a:p>
            <a:pPr indent="0" marL="0">
              <a:buNone/>
            </a:pPr>
            <a:r>
              <a:rPr lang="en-US" sz="1600" dirty="0">
                <a:solidFill>
                  <a:schemeClr val="tx2"/>
                </a:solidFill>
              </a:rPr>
              <a:t>Which words tend to follow which, in which contexts.</a:t>
            </a:r>
            <a:endParaRPr lang="en-US" sz="1600" dirty="0"/>
          </a:p>
        </p:txBody>
      </p:sp>
      <p:sp>
        <p:nvSpPr>
          <p:cNvPr id="11" name="num-164"/>
          <p:cNvSpPr/>
          <p:nvPr/>
        </p:nvSpPr>
        <p:spPr>
          <a:xfrm>
            <a:off x="548640" y="4343400"/>
            <a:ext cx="566928" cy="566928"/>
          </a:xfrm>
          <a:prstGeom prst="ellipse">
            <a:avLst/>
          </a:prstGeom>
          <a:solidFill>
            <a:schemeClr val="tx1"/>
          </a:solidFill>
          <a:ln/>
        </p:spPr>
      </p:sp>
      <p:sp>
        <p:nvSpPr>
          <p:cNvPr id="12" name="text-165"/>
          <p:cNvSpPr txBox="1"/>
          <p:nvPr/>
        </p:nvSpPr>
        <p:spPr>
          <a:xfrm>
            <a:off x="548640" y="43434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166"/>
          <p:cNvSpPr txBox="1"/>
          <p:nvPr/>
        </p:nvSpPr>
        <p:spPr>
          <a:xfrm>
            <a:off x="1371600" y="4325112"/>
            <a:ext cx="4297680" cy="411480"/>
          </a:xfrm>
          <a:prstGeom prst="rect">
            <a:avLst/>
          </a:prstGeom>
          <a:noFill/>
          <a:ln/>
        </p:spPr>
        <p:txBody>
          <a:bodyPr wrap="square" lIns="0" tIns="0" rIns="0" bIns="0" rtlCol="0" anchor="t"/>
          <a:lstStyle/>
          <a:p>
            <a:pPr indent="0" marL="0">
              <a:buNone/>
            </a:pPr>
            <a:r>
              <a:rPr lang="en-US" sz="2000" b="1" dirty="0">
                <a:solidFill>
                  <a:schemeClr val="tx1"/>
                </a:solidFill>
              </a:rPr>
              <a:t>Writes one piece at a time</a:t>
            </a:r>
            <a:endParaRPr lang="en-US" sz="2000" dirty="0"/>
          </a:p>
        </p:txBody>
      </p:sp>
      <p:sp>
        <p:nvSpPr>
          <p:cNvPr id="14" name="text-167"/>
          <p:cNvSpPr txBox="1"/>
          <p:nvPr/>
        </p:nvSpPr>
        <p:spPr>
          <a:xfrm>
            <a:off x="1371600" y="4754880"/>
            <a:ext cx="4297680" cy="640080"/>
          </a:xfrm>
          <a:prstGeom prst="rect">
            <a:avLst/>
          </a:prstGeom>
          <a:noFill/>
          <a:ln/>
        </p:spPr>
        <p:txBody>
          <a:bodyPr wrap="square" lIns="0" tIns="0" rIns="0" bIns="0" rtlCol="0" anchor="t"/>
          <a:lstStyle/>
          <a:p>
            <a:pPr indent="0" marL="0">
              <a:buNone/>
            </a:pPr>
            <a:r>
              <a:rPr lang="en-US" sz="1600" dirty="0">
                <a:solidFill>
                  <a:schemeClr val="tx2"/>
                </a:solidFill>
              </a:rPr>
              <a:t>Each word is a prediction of what's likely to come next.</a:t>
            </a:r>
            <a:endParaRPr lang="en-US" sz="1600" dirty="0"/>
          </a:p>
        </p:txBody>
      </p:sp>
      <p:sp>
        <p:nvSpPr>
          <p:cNvPr id="15" name="card-168"/>
          <p:cNvSpPr/>
          <p:nvPr/>
        </p:nvSpPr>
        <p:spPr>
          <a:xfrm>
            <a:off x="5806440" y="1463040"/>
            <a:ext cx="5833872" cy="4572000"/>
          </a:xfrm>
          <a:prstGeom prst="roundRect">
            <a:avLst>
              <a:gd name="adj" fmla="val 2400"/>
            </a:avLst>
          </a:prstGeom>
          <a:solidFill>
            <a:schemeClr val="bg2"/>
          </a:solidFill>
          <a:ln/>
        </p:spPr>
      </p:sp>
      <p:sp>
        <p:nvSpPr>
          <p:cNvPr id="16" name="text-169"/>
          <p:cNvSpPr txBox="1"/>
          <p:nvPr/>
        </p:nvSpPr>
        <p:spPr>
          <a:xfrm>
            <a:off x="6080760" y="1691640"/>
            <a:ext cx="5303520" cy="457200"/>
          </a:xfrm>
          <a:prstGeom prst="rect">
            <a:avLst/>
          </a:prstGeom>
          <a:noFill/>
          <a:ln/>
        </p:spPr>
        <p:txBody>
          <a:bodyPr wrap="square" lIns="0" tIns="0" rIns="0" bIns="0" rtlCol="0" anchor="t"/>
          <a:lstStyle/>
          <a:p>
            <a:pPr indent="0" marL="0">
              <a:buNone/>
            </a:pPr>
            <a:r>
              <a:rPr lang="en-US" sz="1800" b="1" dirty="0">
                <a:solidFill>
                  <a:schemeClr val="tx1"/>
                </a:solidFill>
              </a:rPr>
              <a:t>“Our quarterly meeting has been moved to ___”</a:t>
            </a:r>
            <a:endParaRPr lang="en-US" sz="1800" dirty="0"/>
          </a:p>
        </p:txBody>
      </p:sp>
      <p:graphicFrame>
        <p:nvGraphicFramePr>
          <p:cNvPr id="17" name="next-word-chart" descr=""/>
          <p:cNvGraphicFramePr/>
          <p:nvPr/>
        </p:nvGraphicFramePr>
        <p:xfrm>
          <a:off x="5989320" y="2194560"/>
          <a:ext cx="5486400" cy="3200400"/>
        </p:xfrm>
        <a:graphic xmlns:a="http://schemas.openxmlformats.org/drawingml/2006/main">
          <a:graphicData uri="http://schemas.openxmlformats.org/drawingml/2006/chart">
            <c:chart xmlns:c="http://schemas.openxmlformats.org/drawingml/2006/chart" r:id="rId1"/>
          </a:graphicData>
        </a:graphic>
      </p:graphicFrame>
      <p:sp>
        <p:nvSpPr>
          <p:cNvPr id="18" name="text-170"/>
          <p:cNvSpPr txBox="1"/>
          <p:nvPr/>
        </p:nvSpPr>
        <p:spPr>
          <a:xfrm>
            <a:off x="6080760" y="5486400"/>
            <a:ext cx="5303520" cy="365760"/>
          </a:xfrm>
          <a:prstGeom prst="rect">
            <a:avLst/>
          </a:prstGeom>
          <a:noFill/>
          <a:ln/>
        </p:spPr>
        <p:txBody>
          <a:bodyPr wrap="square" lIns="0" tIns="0" rIns="0" bIns="0" rtlCol="0" anchor="t"/>
          <a:lstStyle/>
          <a:p>
            <a:pPr indent="0" marL="0">
              <a:buNone/>
            </a:pPr>
            <a:r>
              <a:rPr lang="en-US" sz="1300" dirty="0">
                <a:solidFill>
                  <a:schemeClr val="tx2"/>
                </a:solidFill>
              </a:rPr>
              <a:t>Illustrative numbers. It picks a likely word, not a checked fact.</a:t>
            </a:r>
            <a:endParaRPr lang="en-US" sz="13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Four limits that shape how you prompt</a:t>
            </a:r>
            <a:endParaRPr lang="en-US" sz="3400" dirty="0"/>
          </a:p>
        </p:txBody>
      </p:sp>
      <p:sp>
        <p:nvSpPr>
          <p:cNvPr id="3" name="card-171"/>
          <p:cNvSpPr/>
          <p:nvPr/>
        </p:nvSpPr>
        <p:spPr>
          <a:xfrm>
            <a:off x="548640" y="1417320"/>
            <a:ext cx="5387188" cy="1691640"/>
          </a:xfrm>
          <a:prstGeom prst="roundRect">
            <a:avLst>
              <a:gd name="adj" fmla="val 6486"/>
            </a:avLst>
          </a:prstGeom>
          <a:solidFill>
            <a:schemeClr val="bg2"/>
          </a:solidFill>
          <a:ln/>
        </p:spPr>
      </p:sp>
      <p:sp>
        <p:nvSpPr>
          <p:cNvPr id="4" name="text-172"/>
          <p:cNvSpPr txBox="1"/>
          <p:nvPr/>
        </p:nvSpPr>
        <p:spPr>
          <a:xfrm>
            <a:off x="868680" y="164592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5" name="text-173"/>
          <p:cNvSpPr txBox="1"/>
          <p:nvPr/>
        </p:nvSpPr>
        <p:spPr>
          <a:xfrm>
            <a:off x="1371600" y="1691640"/>
            <a:ext cx="3558388" cy="457200"/>
          </a:xfrm>
          <a:prstGeom prst="rect">
            <a:avLst/>
          </a:prstGeom>
          <a:noFill/>
          <a:ln/>
        </p:spPr>
        <p:txBody>
          <a:bodyPr wrap="square" lIns="0" tIns="0" rIns="0" bIns="0" rtlCol="0" anchor="t"/>
          <a:lstStyle/>
          <a:p>
            <a:pPr indent="0" marL="0">
              <a:buNone/>
            </a:pPr>
            <a:r>
              <a:rPr lang="en-US" sz="2200" b="1" dirty="0">
                <a:solidFill>
                  <a:schemeClr val="tx1"/>
                </a:solidFill>
              </a:rPr>
              <a:t>It can make things up</a:t>
            </a:r>
            <a:endParaRPr lang="en-US" sz="2200" dirty="0"/>
          </a:p>
        </p:txBody>
      </p:sp>
      <p:sp>
        <p:nvSpPr>
          <p:cNvPr id="6" name="dot-174"/>
          <p:cNvSpPr/>
          <p:nvPr/>
        </p:nvSpPr>
        <p:spPr>
          <a:xfrm>
            <a:off x="5067148" y="1645920"/>
            <a:ext cx="566928" cy="566928"/>
          </a:xfrm>
          <a:prstGeom prst="ellipse">
            <a:avLst/>
          </a:prstGeom>
          <a:solidFill>
            <a:schemeClr val="tx1"/>
          </a:solidFill>
          <a:ln/>
        </p:spPr>
      </p:sp>
      <p:pic>
        <p:nvPicPr>
          <p:cNvPr id="7" name="icon-175" descr="preencoded.png">    </p:cNvPr>
          <p:cNvPicPr>
            <a:picLocks noChangeAspect="1"/>
          </p:cNvPicPr>
          <p:nvPr/>
        </p:nvPicPr>
        <p:blipFill>
          <a:blip r:embed="rId1"/>
          <a:stretch>
            <a:fillRect/>
          </a:stretch>
        </p:blipFill>
        <p:spPr>
          <a:xfrm>
            <a:off x="5191872" y="1770644"/>
            <a:ext cx="317480" cy="317480"/>
          </a:xfrm>
          <a:prstGeom prst="rect">
            <a:avLst/>
          </a:prstGeom>
        </p:spPr>
      </p:pic>
      <p:sp>
        <p:nvSpPr>
          <p:cNvPr id="8" name="text-176"/>
          <p:cNvSpPr txBox="1"/>
          <p:nvPr/>
        </p:nvSpPr>
        <p:spPr>
          <a:xfrm>
            <a:off x="1371600" y="2194560"/>
            <a:ext cx="4244188" cy="365760"/>
          </a:xfrm>
          <a:prstGeom prst="rect">
            <a:avLst/>
          </a:prstGeom>
          <a:noFill/>
          <a:ln/>
        </p:spPr>
        <p:txBody>
          <a:bodyPr wrap="square" lIns="0" tIns="0" rIns="0" bIns="0" rtlCol="0" anchor="t"/>
          <a:lstStyle/>
          <a:p>
            <a:pPr indent="0" marL="0">
              <a:buNone/>
            </a:pPr>
            <a:r>
              <a:rPr lang="en-US" sz="1600" dirty="0">
                <a:solidFill>
                  <a:schemeClr val="tx2"/>
                </a:solidFill>
              </a:rPr>
              <a:t>Fluent isn't the same as correct.</a:t>
            </a:r>
            <a:endParaRPr lang="en-US" sz="1600" dirty="0"/>
          </a:p>
        </p:txBody>
      </p:sp>
      <p:sp>
        <p:nvSpPr>
          <p:cNvPr id="9" name="text-177"/>
          <p:cNvSpPr txBox="1"/>
          <p:nvPr/>
        </p:nvSpPr>
        <p:spPr>
          <a:xfrm>
            <a:off x="1371600" y="2578608"/>
            <a:ext cx="4244188" cy="365760"/>
          </a:xfrm>
          <a:prstGeom prst="rect">
            <a:avLst/>
          </a:prstGeom>
          <a:noFill/>
          <a:ln/>
        </p:spPr>
        <p:txBody>
          <a:bodyPr wrap="square" lIns="0" tIns="0" rIns="0" bIns="0" rtlCol="0" anchor="t"/>
          <a:lstStyle/>
          <a:p>
            <a:pPr indent="0" marL="0">
              <a:buNone/>
            </a:pPr>
            <a:r>
              <a:rPr lang="en-US" sz="1600" b="1" dirty="0">
                <a:solidFill>
                  <a:schemeClr val="tx1"/>
                </a:solidFill>
              </a:rPr>
              <a:t>So: check anything that matters.</a:t>
            </a:r>
            <a:endParaRPr lang="en-US" sz="1600" dirty="0"/>
          </a:p>
        </p:txBody>
      </p:sp>
      <p:sp>
        <p:nvSpPr>
          <p:cNvPr id="10" name="card-178"/>
          <p:cNvSpPr/>
          <p:nvPr/>
        </p:nvSpPr>
        <p:spPr>
          <a:xfrm>
            <a:off x="6255868" y="1417320"/>
            <a:ext cx="5387188" cy="1691640"/>
          </a:xfrm>
          <a:prstGeom prst="roundRect">
            <a:avLst>
              <a:gd name="adj" fmla="val 6486"/>
            </a:avLst>
          </a:prstGeom>
          <a:solidFill>
            <a:schemeClr val="bg2"/>
          </a:solidFill>
          <a:ln/>
        </p:spPr>
      </p:sp>
      <p:sp>
        <p:nvSpPr>
          <p:cNvPr id="11" name="text-179"/>
          <p:cNvSpPr txBox="1"/>
          <p:nvPr/>
        </p:nvSpPr>
        <p:spPr>
          <a:xfrm>
            <a:off x="6575908" y="164592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12" name="text-180"/>
          <p:cNvSpPr txBox="1"/>
          <p:nvPr/>
        </p:nvSpPr>
        <p:spPr>
          <a:xfrm>
            <a:off x="7078828" y="1691640"/>
            <a:ext cx="3558388" cy="457200"/>
          </a:xfrm>
          <a:prstGeom prst="rect">
            <a:avLst/>
          </a:prstGeom>
          <a:noFill/>
          <a:ln/>
        </p:spPr>
        <p:txBody>
          <a:bodyPr wrap="square" lIns="0" tIns="0" rIns="0" bIns="0" rtlCol="0" anchor="t"/>
          <a:lstStyle/>
          <a:p>
            <a:pPr indent="0" marL="0">
              <a:buNone/>
            </a:pPr>
            <a:r>
              <a:rPr lang="en-US" sz="2200" b="1" dirty="0">
                <a:solidFill>
                  <a:schemeClr val="tx1"/>
                </a:solidFill>
              </a:rPr>
              <a:t>It's inconsistent</a:t>
            </a:r>
            <a:endParaRPr lang="en-US" sz="2200" dirty="0"/>
          </a:p>
        </p:txBody>
      </p:sp>
      <p:sp>
        <p:nvSpPr>
          <p:cNvPr id="13" name="dot-181"/>
          <p:cNvSpPr/>
          <p:nvPr/>
        </p:nvSpPr>
        <p:spPr>
          <a:xfrm>
            <a:off x="10774375" y="1645920"/>
            <a:ext cx="566928" cy="566928"/>
          </a:xfrm>
          <a:prstGeom prst="ellipse">
            <a:avLst/>
          </a:prstGeom>
          <a:solidFill>
            <a:schemeClr val="tx1"/>
          </a:solidFill>
          <a:ln/>
        </p:spPr>
      </p:sp>
      <p:pic>
        <p:nvPicPr>
          <p:cNvPr id="14" name="icon-182" descr="preencoded.png">    </p:cNvPr>
          <p:cNvPicPr>
            <a:picLocks noChangeAspect="1"/>
          </p:cNvPicPr>
          <p:nvPr/>
        </p:nvPicPr>
        <p:blipFill>
          <a:blip r:embed="rId2"/>
          <a:stretch>
            <a:fillRect/>
          </a:stretch>
        </p:blipFill>
        <p:spPr>
          <a:xfrm>
            <a:off x="10899099" y="1770644"/>
            <a:ext cx="317480" cy="317480"/>
          </a:xfrm>
          <a:prstGeom prst="rect">
            <a:avLst/>
          </a:prstGeom>
        </p:spPr>
      </p:pic>
      <p:sp>
        <p:nvSpPr>
          <p:cNvPr id="15" name="text-183"/>
          <p:cNvSpPr txBox="1"/>
          <p:nvPr/>
        </p:nvSpPr>
        <p:spPr>
          <a:xfrm>
            <a:off x="7078828" y="2194560"/>
            <a:ext cx="4244188" cy="365760"/>
          </a:xfrm>
          <a:prstGeom prst="rect">
            <a:avLst/>
          </a:prstGeom>
          <a:noFill/>
          <a:ln/>
        </p:spPr>
        <p:txBody>
          <a:bodyPr wrap="square" lIns="0" tIns="0" rIns="0" bIns="0" rtlCol="0" anchor="t"/>
          <a:lstStyle/>
          <a:p>
            <a:pPr indent="0" marL="0">
              <a:buNone/>
            </a:pPr>
            <a:r>
              <a:rPr lang="en-US" sz="1600" dirty="0">
                <a:solidFill>
                  <a:schemeClr val="tx2"/>
                </a:solidFill>
              </a:rPr>
              <a:t>Same prompt, different answers.</a:t>
            </a:r>
            <a:endParaRPr lang="en-US" sz="1600" dirty="0"/>
          </a:p>
        </p:txBody>
      </p:sp>
      <p:sp>
        <p:nvSpPr>
          <p:cNvPr id="16" name="text-184"/>
          <p:cNvSpPr txBox="1"/>
          <p:nvPr/>
        </p:nvSpPr>
        <p:spPr>
          <a:xfrm>
            <a:off x="7078828" y="2578608"/>
            <a:ext cx="4244188" cy="365760"/>
          </a:xfrm>
          <a:prstGeom prst="rect">
            <a:avLst/>
          </a:prstGeom>
          <a:noFill/>
          <a:ln/>
        </p:spPr>
        <p:txBody>
          <a:bodyPr wrap="square" lIns="0" tIns="0" rIns="0" bIns="0" rtlCol="0" anchor="t"/>
          <a:lstStyle/>
          <a:p>
            <a:pPr indent="0" marL="0">
              <a:buNone/>
            </a:pPr>
            <a:r>
              <a:rPr lang="en-US" sz="1600" b="1" dirty="0">
                <a:solidFill>
                  <a:schemeClr val="tx1"/>
                </a:solidFill>
              </a:rPr>
              <a:t>So: be specific, and test your prompt.</a:t>
            </a:r>
            <a:endParaRPr lang="en-US" sz="1600" dirty="0"/>
          </a:p>
        </p:txBody>
      </p:sp>
      <p:sp>
        <p:nvSpPr>
          <p:cNvPr id="17" name="card-185"/>
          <p:cNvSpPr/>
          <p:nvPr/>
        </p:nvSpPr>
        <p:spPr>
          <a:xfrm>
            <a:off x="548640" y="3337560"/>
            <a:ext cx="5387188" cy="1691640"/>
          </a:xfrm>
          <a:prstGeom prst="roundRect">
            <a:avLst>
              <a:gd name="adj" fmla="val 6486"/>
            </a:avLst>
          </a:prstGeom>
          <a:solidFill>
            <a:schemeClr val="bg2"/>
          </a:solidFill>
          <a:ln/>
        </p:spPr>
      </p:sp>
      <p:sp>
        <p:nvSpPr>
          <p:cNvPr id="18" name="text-186"/>
          <p:cNvSpPr txBox="1"/>
          <p:nvPr/>
        </p:nvSpPr>
        <p:spPr>
          <a:xfrm>
            <a:off x="868680" y="356616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19" name="text-187"/>
          <p:cNvSpPr txBox="1"/>
          <p:nvPr/>
        </p:nvSpPr>
        <p:spPr>
          <a:xfrm>
            <a:off x="1371600" y="3611880"/>
            <a:ext cx="3558388" cy="457200"/>
          </a:xfrm>
          <a:prstGeom prst="rect">
            <a:avLst/>
          </a:prstGeom>
          <a:noFill/>
          <a:ln/>
        </p:spPr>
        <p:txBody>
          <a:bodyPr wrap="square" lIns="0" tIns="0" rIns="0" bIns="0" rtlCol="0" anchor="t"/>
          <a:lstStyle/>
          <a:p>
            <a:pPr indent="0" marL="0">
              <a:buNone/>
            </a:pPr>
            <a:r>
              <a:rPr lang="en-US" sz="2200" b="1" dirty="0">
                <a:solidFill>
                  <a:schemeClr val="tx1"/>
                </a:solidFill>
              </a:rPr>
              <a:t>It doesn't know your world</a:t>
            </a:r>
            <a:endParaRPr lang="en-US" sz="2200" dirty="0"/>
          </a:p>
        </p:txBody>
      </p:sp>
      <p:sp>
        <p:nvSpPr>
          <p:cNvPr id="20" name="dot-188"/>
          <p:cNvSpPr/>
          <p:nvPr/>
        </p:nvSpPr>
        <p:spPr>
          <a:xfrm>
            <a:off x="5067148" y="3566160"/>
            <a:ext cx="566928" cy="566928"/>
          </a:xfrm>
          <a:prstGeom prst="ellipse">
            <a:avLst/>
          </a:prstGeom>
          <a:solidFill>
            <a:schemeClr val="tx1"/>
          </a:solidFill>
          <a:ln/>
        </p:spPr>
      </p:sp>
      <p:pic>
        <p:nvPicPr>
          <p:cNvPr id="21" name="icon-189" descr="preencoded.png">    </p:cNvPr>
          <p:cNvPicPr>
            <a:picLocks noChangeAspect="1"/>
          </p:cNvPicPr>
          <p:nvPr/>
        </p:nvPicPr>
        <p:blipFill>
          <a:blip r:embed="rId3"/>
          <a:stretch>
            <a:fillRect/>
          </a:stretch>
        </p:blipFill>
        <p:spPr>
          <a:xfrm>
            <a:off x="5191872" y="3690884"/>
            <a:ext cx="317480" cy="317480"/>
          </a:xfrm>
          <a:prstGeom prst="rect">
            <a:avLst/>
          </a:prstGeom>
        </p:spPr>
      </p:pic>
      <p:sp>
        <p:nvSpPr>
          <p:cNvPr id="22" name="text-190"/>
          <p:cNvSpPr txBox="1"/>
          <p:nvPr/>
        </p:nvSpPr>
        <p:spPr>
          <a:xfrm>
            <a:off x="1371600" y="4114800"/>
            <a:ext cx="4244188" cy="365760"/>
          </a:xfrm>
          <a:prstGeom prst="rect">
            <a:avLst/>
          </a:prstGeom>
          <a:noFill/>
          <a:ln/>
        </p:spPr>
        <p:txBody>
          <a:bodyPr wrap="square" lIns="0" tIns="0" rIns="0" bIns="0" rtlCol="0" anchor="t"/>
          <a:lstStyle/>
          <a:p>
            <a:pPr indent="0" marL="0">
              <a:buNone/>
            </a:pPr>
            <a:r>
              <a:rPr lang="en-US" sz="1600" dirty="0">
                <a:solidFill>
                  <a:schemeClr val="tx2"/>
                </a:solidFill>
              </a:rPr>
              <a:t>It can't see your files or your organization.</a:t>
            </a:r>
            <a:endParaRPr lang="en-US" sz="1600" dirty="0"/>
          </a:p>
        </p:txBody>
      </p:sp>
      <p:sp>
        <p:nvSpPr>
          <p:cNvPr id="23" name="text-191"/>
          <p:cNvSpPr txBox="1"/>
          <p:nvPr/>
        </p:nvSpPr>
        <p:spPr>
          <a:xfrm>
            <a:off x="1371600" y="4498848"/>
            <a:ext cx="4244188" cy="365760"/>
          </a:xfrm>
          <a:prstGeom prst="rect">
            <a:avLst/>
          </a:prstGeom>
          <a:noFill/>
          <a:ln/>
        </p:spPr>
        <p:txBody>
          <a:bodyPr wrap="square" lIns="0" tIns="0" rIns="0" bIns="0" rtlCol="0" anchor="t"/>
          <a:lstStyle/>
          <a:p>
            <a:pPr indent="0" marL="0">
              <a:buNone/>
            </a:pPr>
            <a:r>
              <a:rPr lang="en-US" sz="1600" b="1" dirty="0">
                <a:solidFill>
                  <a:schemeClr val="tx1"/>
                </a:solidFill>
              </a:rPr>
              <a:t>So: give it the context it needs.</a:t>
            </a:r>
            <a:endParaRPr lang="en-US" sz="1600" dirty="0"/>
          </a:p>
        </p:txBody>
      </p:sp>
      <p:sp>
        <p:nvSpPr>
          <p:cNvPr id="24" name="card-192"/>
          <p:cNvSpPr/>
          <p:nvPr/>
        </p:nvSpPr>
        <p:spPr>
          <a:xfrm>
            <a:off x="6255868" y="3337560"/>
            <a:ext cx="5387188" cy="1691640"/>
          </a:xfrm>
          <a:prstGeom prst="roundRect">
            <a:avLst>
              <a:gd name="adj" fmla="val 6486"/>
            </a:avLst>
          </a:prstGeom>
          <a:solidFill>
            <a:schemeClr val="bg2"/>
          </a:solidFill>
          <a:ln/>
        </p:spPr>
      </p:sp>
      <p:sp>
        <p:nvSpPr>
          <p:cNvPr id="25" name="text-193"/>
          <p:cNvSpPr txBox="1"/>
          <p:nvPr/>
        </p:nvSpPr>
        <p:spPr>
          <a:xfrm>
            <a:off x="6575908" y="356616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4</a:t>
            </a:r>
            <a:endParaRPr lang="en-US" sz="3000" dirty="0"/>
          </a:p>
        </p:txBody>
      </p:sp>
      <p:sp>
        <p:nvSpPr>
          <p:cNvPr id="26" name="text-194"/>
          <p:cNvSpPr txBox="1"/>
          <p:nvPr/>
        </p:nvSpPr>
        <p:spPr>
          <a:xfrm>
            <a:off x="7078828" y="3611880"/>
            <a:ext cx="3558388" cy="457200"/>
          </a:xfrm>
          <a:prstGeom prst="rect">
            <a:avLst/>
          </a:prstGeom>
          <a:noFill/>
          <a:ln/>
        </p:spPr>
        <p:txBody>
          <a:bodyPr wrap="square" lIns="0" tIns="0" rIns="0" bIns="0" rtlCol="0" anchor="t"/>
          <a:lstStyle/>
          <a:p>
            <a:pPr indent="0" marL="0">
              <a:buNone/>
            </a:pPr>
            <a:r>
              <a:rPr lang="en-US" sz="2200" b="1" dirty="0">
                <a:solidFill>
                  <a:schemeClr val="tx1"/>
                </a:solidFill>
              </a:rPr>
              <a:t>It isn't a vault</a:t>
            </a:r>
            <a:endParaRPr lang="en-US" sz="2200" dirty="0"/>
          </a:p>
        </p:txBody>
      </p:sp>
      <p:sp>
        <p:nvSpPr>
          <p:cNvPr id="27" name="dot-195"/>
          <p:cNvSpPr/>
          <p:nvPr/>
        </p:nvSpPr>
        <p:spPr>
          <a:xfrm>
            <a:off x="10774375" y="3566160"/>
            <a:ext cx="566928" cy="566928"/>
          </a:xfrm>
          <a:prstGeom prst="ellipse">
            <a:avLst/>
          </a:prstGeom>
          <a:solidFill>
            <a:schemeClr val="tx1"/>
          </a:solidFill>
          <a:ln/>
        </p:spPr>
      </p:sp>
      <p:pic>
        <p:nvPicPr>
          <p:cNvPr id="28" name="icon-196" descr="preencoded.png">    </p:cNvPr>
          <p:cNvPicPr>
            <a:picLocks noChangeAspect="1"/>
          </p:cNvPicPr>
          <p:nvPr/>
        </p:nvPicPr>
        <p:blipFill>
          <a:blip r:embed="rId4"/>
          <a:stretch>
            <a:fillRect/>
          </a:stretch>
        </p:blipFill>
        <p:spPr>
          <a:xfrm>
            <a:off x="10899099" y="3690884"/>
            <a:ext cx="317480" cy="317480"/>
          </a:xfrm>
          <a:prstGeom prst="rect">
            <a:avLst/>
          </a:prstGeom>
        </p:spPr>
      </p:pic>
      <p:sp>
        <p:nvSpPr>
          <p:cNvPr id="29" name="text-197"/>
          <p:cNvSpPr txBox="1"/>
          <p:nvPr/>
        </p:nvSpPr>
        <p:spPr>
          <a:xfrm>
            <a:off x="7078828" y="4114800"/>
            <a:ext cx="4244188" cy="365760"/>
          </a:xfrm>
          <a:prstGeom prst="rect">
            <a:avLst/>
          </a:prstGeom>
          <a:noFill/>
          <a:ln/>
        </p:spPr>
        <p:txBody>
          <a:bodyPr wrap="square" lIns="0" tIns="0" rIns="0" bIns="0" rtlCol="0" anchor="t"/>
          <a:lstStyle/>
          <a:p>
            <a:pPr indent="0" marL="0">
              <a:buNone/>
            </a:pPr>
            <a:r>
              <a:rPr lang="en-US" sz="1600" dirty="0">
                <a:solidFill>
                  <a:schemeClr val="tx2"/>
                </a:solidFill>
              </a:rPr>
              <a:t>On personal accounts, people may review chats.</a:t>
            </a:r>
            <a:endParaRPr lang="en-US" sz="1600" dirty="0"/>
          </a:p>
        </p:txBody>
      </p:sp>
      <p:sp>
        <p:nvSpPr>
          <p:cNvPr id="30" name="text-198"/>
          <p:cNvSpPr txBox="1"/>
          <p:nvPr/>
        </p:nvSpPr>
        <p:spPr>
          <a:xfrm>
            <a:off x="7078828" y="4498848"/>
            <a:ext cx="4244188" cy="365760"/>
          </a:xfrm>
          <a:prstGeom prst="rect">
            <a:avLst/>
          </a:prstGeom>
          <a:noFill/>
          <a:ln/>
        </p:spPr>
        <p:txBody>
          <a:bodyPr wrap="square" lIns="0" tIns="0" rIns="0" bIns="0" rtlCol="0" anchor="t"/>
          <a:lstStyle/>
          <a:p>
            <a:pPr indent="0" marL="0">
              <a:buNone/>
            </a:pPr>
            <a:r>
              <a:rPr lang="en-US" sz="1600" b="1" dirty="0">
                <a:solidFill>
                  <a:schemeClr val="tx1"/>
                </a:solidFill>
              </a:rPr>
              <a:t>So: never paste sensitive information.</a:t>
            </a:r>
            <a:endParaRPr lang="en-US" sz="1600" dirty="0"/>
          </a:p>
        </p:txBody>
      </p:sp>
      <p:sp>
        <p:nvSpPr>
          <p:cNvPr id="31" name="card-199"/>
          <p:cNvSpPr/>
          <p:nvPr/>
        </p:nvSpPr>
        <p:spPr>
          <a:xfrm>
            <a:off x="548640" y="5303520"/>
            <a:ext cx="11094415" cy="777240"/>
          </a:xfrm>
          <a:prstGeom prst="roundRect">
            <a:avLst>
              <a:gd name="adj" fmla="val 14118"/>
            </a:avLst>
          </a:prstGeom>
          <a:solidFill>
            <a:schemeClr val="tx1"/>
          </a:solidFill>
          <a:ln/>
        </p:spPr>
      </p:sp>
      <p:sp>
        <p:nvSpPr>
          <p:cNvPr id="32" name="text-200"/>
          <p:cNvSpPr txBox="1"/>
          <p:nvPr/>
        </p:nvSpPr>
        <p:spPr>
          <a:xfrm>
            <a:off x="868680" y="5303520"/>
            <a:ext cx="10454335" cy="777240"/>
          </a:xfrm>
          <a:prstGeom prst="rect">
            <a:avLst/>
          </a:prstGeom>
          <a:noFill/>
          <a:ln/>
        </p:spPr>
        <p:txBody>
          <a:bodyPr wrap="square" lIns="0" tIns="0" rIns="0" bIns="0" rtlCol="0" anchor="ctr"/>
          <a:lstStyle/>
          <a:p>
            <a:pPr indent="0" marL="0">
              <a:buNone/>
            </a:pPr>
            <a:r>
              <a:rPr lang="en-US" sz="1900" b="1" dirty="0">
                <a:solidFill>
                  <a:schemeClr val="bg1"/>
                </a:solidFill>
              </a:rPr>
              <a:t>Think of Gemini as a brilliant new colleague on day one: brief it well, and check its work.</a:t>
            </a:r>
            <a:endParaRPr lang="en-US" sz="19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ACTIVITY 1.1  ·  ON YOUR OWN</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Poke Gemini</a:t>
            </a:r>
            <a:endParaRPr lang="en-US" sz="3800" dirty="0"/>
          </a:p>
        </p:txBody>
      </p:sp>
      <p:sp>
        <p:nvSpPr>
          <p:cNvPr id="4" name="badge-201"/>
          <p:cNvSpPr/>
          <p:nvPr/>
        </p:nvSpPr>
        <p:spPr>
          <a:xfrm>
            <a:off x="10042855" y="502920"/>
            <a:ext cx="1600200" cy="457200"/>
          </a:xfrm>
          <a:prstGeom prst="roundRect">
            <a:avLst>
              <a:gd name="adj" fmla="val 50000"/>
            </a:avLst>
          </a:prstGeom>
          <a:solidFill>
            <a:schemeClr val="bg1"/>
          </a:solidFill>
          <a:ln/>
        </p:spPr>
      </p:sp>
      <p:sp>
        <p:nvSpPr>
          <p:cNvPr id="5" name="text-202"/>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10 min</a:t>
            </a:r>
            <a:endParaRPr lang="en-US" sz="1600" dirty="0"/>
          </a:p>
        </p:txBody>
      </p:sp>
      <p:sp>
        <p:nvSpPr>
          <p:cNvPr id="6" name="card-203"/>
          <p:cNvSpPr/>
          <p:nvPr/>
        </p:nvSpPr>
        <p:spPr>
          <a:xfrm>
            <a:off x="548640" y="1874520"/>
            <a:ext cx="3515258" cy="3337560"/>
          </a:xfrm>
          <a:prstGeom prst="roundRect">
            <a:avLst>
              <a:gd name="adj" fmla="val 3288"/>
            </a:avLst>
          </a:prstGeom>
          <a:solidFill>
            <a:schemeClr val="accent2"/>
          </a:solidFill>
          <a:ln/>
        </p:spPr>
      </p:sp>
      <p:sp>
        <p:nvSpPr>
          <p:cNvPr id="7" name="text-204"/>
          <p:cNvSpPr txBox="1"/>
          <p:nvPr/>
        </p:nvSpPr>
        <p:spPr>
          <a:xfrm>
            <a:off x="822960" y="210312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8" name="text-205"/>
          <p:cNvSpPr txBox="1"/>
          <p:nvPr/>
        </p:nvSpPr>
        <p:spPr>
          <a:xfrm>
            <a:off x="1325880" y="2167128"/>
            <a:ext cx="2509418" cy="457200"/>
          </a:xfrm>
          <a:prstGeom prst="rect">
            <a:avLst/>
          </a:prstGeom>
          <a:noFill/>
          <a:ln/>
        </p:spPr>
        <p:txBody>
          <a:bodyPr wrap="square" lIns="0" tIns="0" rIns="0" bIns="0" rtlCol="0" anchor="t"/>
          <a:lstStyle/>
          <a:p>
            <a:pPr indent="0" marL="0">
              <a:buNone/>
            </a:pPr>
            <a:r>
              <a:rPr lang="en-US" sz="2000" b="1" dirty="0">
                <a:solidFill>
                  <a:schemeClr val="bg1"/>
                </a:solidFill>
              </a:rPr>
              <a:t>Same question, twice</a:t>
            </a:r>
            <a:endParaRPr lang="en-US" sz="2000" dirty="0"/>
          </a:p>
        </p:txBody>
      </p:sp>
      <p:sp>
        <p:nvSpPr>
          <p:cNvPr id="9" name="text-206"/>
          <p:cNvSpPr txBox="1"/>
          <p:nvPr/>
        </p:nvSpPr>
        <p:spPr>
          <a:xfrm>
            <a:off x="822960" y="2834640"/>
            <a:ext cx="2966618" cy="13716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Give me three tips for running a better meeting.</a:t>
            </a:r>
            <a:endParaRPr lang="en-US" sz="1600" dirty="0"/>
          </a:p>
        </p:txBody>
      </p:sp>
      <p:sp>
        <p:nvSpPr>
          <p:cNvPr id="10" name="text-207"/>
          <p:cNvSpPr txBox="1"/>
          <p:nvPr/>
        </p:nvSpPr>
        <p:spPr>
          <a:xfrm>
            <a:off x="822960" y="4297680"/>
            <a:ext cx="2966618" cy="777240"/>
          </a:xfrm>
          <a:prstGeom prst="rect">
            <a:avLst/>
          </a:prstGeom>
          <a:noFill/>
          <a:ln/>
        </p:spPr>
        <p:txBody>
          <a:bodyPr wrap="square" lIns="0" tIns="0" rIns="0" bIns="0" rtlCol="0" anchor="t"/>
          <a:lstStyle/>
          <a:p>
            <a:pPr indent="0" marL="0">
              <a:buNone/>
            </a:pPr>
            <a:r>
              <a:rPr lang="en-US" sz="1500" dirty="0">
                <a:solidFill>
                  <a:schemeClr val="accent3"/>
                </a:solidFill>
              </a:rPr>
              <a:t>Click New chat and ask again. Same answer?</a:t>
            </a:r>
            <a:endParaRPr lang="en-US" sz="1500" dirty="0"/>
          </a:p>
        </p:txBody>
      </p:sp>
      <p:sp>
        <p:nvSpPr>
          <p:cNvPr id="11" name="card-208"/>
          <p:cNvSpPr/>
          <p:nvPr/>
        </p:nvSpPr>
        <p:spPr>
          <a:xfrm>
            <a:off x="4338218" y="1874520"/>
            <a:ext cx="3515258" cy="3337560"/>
          </a:xfrm>
          <a:prstGeom prst="roundRect">
            <a:avLst>
              <a:gd name="adj" fmla="val 3288"/>
            </a:avLst>
          </a:prstGeom>
          <a:solidFill>
            <a:schemeClr val="accent2"/>
          </a:solidFill>
          <a:ln/>
        </p:spPr>
      </p:sp>
      <p:sp>
        <p:nvSpPr>
          <p:cNvPr id="12" name="text-209"/>
          <p:cNvSpPr txBox="1"/>
          <p:nvPr/>
        </p:nvSpPr>
        <p:spPr>
          <a:xfrm>
            <a:off x="4612538" y="210312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13" name="text-210"/>
          <p:cNvSpPr txBox="1"/>
          <p:nvPr/>
        </p:nvSpPr>
        <p:spPr>
          <a:xfrm>
            <a:off x="5115458" y="2167128"/>
            <a:ext cx="2509418" cy="457200"/>
          </a:xfrm>
          <a:prstGeom prst="rect">
            <a:avLst/>
          </a:prstGeom>
          <a:noFill/>
          <a:ln/>
        </p:spPr>
        <p:txBody>
          <a:bodyPr wrap="square" lIns="0" tIns="0" rIns="0" bIns="0" rtlCol="0" anchor="t"/>
          <a:lstStyle/>
          <a:p>
            <a:pPr indent="0" marL="0">
              <a:buNone/>
            </a:pPr>
            <a:r>
              <a:rPr lang="en-US" sz="2000" b="1" dirty="0">
                <a:solidFill>
                  <a:schemeClr val="bg1"/>
                </a:solidFill>
              </a:rPr>
              <a:t>Change one word</a:t>
            </a:r>
            <a:endParaRPr lang="en-US" sz="2000" dirty="0"/>
          </a:p>
        </p:txBody>
      </p:sp>
      <p:sp>
        <p:nvSpPr>
          <p:cNvPr id="14" name="text-211"/>
          <p:cNvSpPr txBox="1"/>
          <p:nvPr/>
        </p:nvSpPr>
        <p:spPr>
          <a:xfrm>
            <a:off x="4612538" y="2834640"/>
            <a:ext cx="2966618" cy="13716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Give me three tips for running a shorter meeting.</a:t>
            </a:r>
            <a:endParaRPr lang="en-US" sz="1600" dirty="0"/>
          </a:p>
        </p:txBody>
      </p:sp>
      <p:sp>
        <p:nvSpPr>
          <p:cNvPr id="15" name="text-212"/>
          <p:cNvSpPr txBox="1"/>
          <p:nvPr/>
        </p:nvSpPr>
        <p:spPr>
          <a:xfrm>
            <a:off x="4612538" y="4297680"/>
            <a:ext cx="2966618" cy="777240"/>
          </a:xfrm>
          <a:prstGeom prst="rect">
            <a:avLst/>
          </a:prstGeom>
          <a:noFill/>
          <a:ln/>
        </p:spPr>
        <p:txBody>
          <a:bodyPr wrap="square" lIns="0" tIns="0" rIns="0" bIns="0" rtlCol="0" anchor="t"/>
          <a:lstStyle/>
          <a:p>
            <a:pPr indent="0" marL="0">
              <a:buNone/>
            </a:pPr>
            <a:r>
              <a:rPr lang="en-US" sz="1500" dirty="0">
                <a:solidFill>
                  <a:schemeClr val="accent3"/>
                </a:solidFill>
              </a:rPr>
              <a:t>What changed?</a:t>
            </a:r>
            <a:endParaRPr lang="en-US" sz="1500" dirty="0"/>
          </a:p>
        </p:txBody>
      </p:sp>
      <p:sp>
        <p:nvSpPr>
          <p:cNvPr id="16" name="card-213"/>
          <p:cNvSpPr/>
          <p:nvPr/>
        </p:nvSpPr>
        <p:spPr>
          <a:xfrm>
            <a:off x="8127797" y="1874520"/>
            <a:ext cx="3515258" cy="3337560"/>
          </a:xfrm>
          <a:prstGeom prst="roundRect">
            <a:avLst>
              <a:gd name="adj" fmla="val 3288"/>
            </a:avLst>
          </a:prstGeom>
          <a:solidFill>
            <a:schemeClr val="accent2"/>
          </a:solidFill>
          <a:ln/>
        </p:spPr>
      </p:sp>
      <p:sp>
        <p:nvSpPr>
          <p:cNvPr id="17" name="text-214"/>
          <p:cNvSpPr txBox="1"/>
          <p:nvPr/>
        </p:nvSpPr>
        <p:spPr>
          <a:xfrm>
            <a:off x="8402117" y="2103120"/>
            <a:ext cx="457200" cy="50292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18" name="text-215"/>
          <p:cNvSpPr txBox="1"/>
          <p:nvPr/>
        </p:nvSpPr>
        <p:spPr>
          <a:xfrm>
            <a:off x="8905037" y="2167128"/>
            <a:ext cx="2509418" cy="457200"/>
          </a:xfrm>
          <a:prstGeom prst="rect">
            <a:avLst/>
          </a:prstGeom>
          <a:noFill/>
          <a:ln/>
        </p:spPr>
        <p:txBody>
          <a:bodyPr wrap="square" lIns="0" tIns="0" rIns="0" bIns="0" rtlCol="0" anchor="t"/>
          <a:lstStyle/>
          <a:p>
            <a:pPr indent="0" marL="0">
              <a:buNone/>
            </a:pPr>
            <a:r>
              <a:rPr lang="en-US" sz="2000" b="1" dirty="0">
                <a:solidFill>
                  <a:schemeClr val="bg1"/>
                </a:solidFill>
              </a:rPr>
              <a:t>Ask what it can't know</a:t>
            </a:r>
            <a:endParaRPr lang="en-US" sz="2000" dirty="0"/>
          </a:p>
        </p:txBody>
      </p:sp>
      <p:sp>
        <p:nvSpPr>
          <p:cNvPr id="19" name="text-216"/>
          <p:cNvSpPr txBox="1"/>
          <p:nvPr/>
        </p:nvSpPr>
        <p:spPr>
          <a:xfrm>
            <a:off x="8402117" y="2834640"/>
            <a:ext cx="2966618" cy="13716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What is the parking policy at Prairie Point Logistics' Omaha office?</a:t>
            </a:r>
            <a:endParaRPr lang="en-US" sz="1600" dirty="0"/>
          </a:p>
        </p:txBody>
      </p:sp>
      <p:sp>
        <p:nvSpPr>
          <p:cNvPr id="20" name="text-217"/>
          <p:cNvSpPr txBox="1"/>
          <p:nvPr/>
        </p:nvSpPr>
        <p:spPr>
          <a:xfrm>
            <a:off x="8402117" y="4297680"/>
            <a:ext cx="2966618" cy="777240"/>
          </a:xfrm>
          <a:prstGeom prst="rect">
            <a:avLst/>
          </a:prstGeom>
          <a:noFill/>
          <a:ln/>
        </p:spPr>
        <p:txBody>
          <a:bodyPr wrap="square" lIns="0" tIns="0" rIns="0" bIns="0" rtlCol="0" anchor="t"/>
          <a:lstStyle/>
          <a:p>
            <a:pPr indent="0" marL="0">
              <a:buNone/>
            </a:pPr>
            <a:r>
              <a:rPr lang="en-US" sz="1500" dirty="0">
                <a:solidFill>
                  <a:schemeClr val="accent3"/>
                </a:solidFill>
              </a:rPr>
              <a:t>It's a fictional company. Does Gemini admit it?</a:t>
            </a:r>
            <a:endParaRPr lang="en-US" sz="1500" dirty="0"/>
          </a:p>
        </p:txBody>
      </p:sp>
      <p:sp>
        <p:nvSpPr>
          <p:cNvPr id="21" name="text-218"/>
          <p:cNvSpPr txBox="1"/>
          <p:nvPr/>
        </p:nvSpPr>
        <p:spPr>
          <a:xfrm>
            <a:off x="548640" y="5440680"/>
            <a:ext cx="10180015" cy="365760"/>
          </a:xfrm>
          <a:prstGeom prst="rect">
            <a:avLst/>
          </a:prstGeom>
          <a:noFill/>
          <a:ln/>
        </p:spPr>
        <p:txBody>
          <a:bodyPr wrap="square" lIns="0" tIns="0" rIns="0" bIns="0" rtlCol="0" anchor="t"/>
          <a:lstStyle/>
          <a:p>
            <a:pPr indent="0" marL="0">
              <a:buNone/>
            </a:pPr>
            <a:r>
              <a:rPr lang="en-US" sz="1700" b="1" dirty="0">
                <a:solidFill>
                  <a:schemeClr val="accent1"/>
                </a:solidFill>
              </a:rPr>
              <a:t>Done when: </a:t>
            </a:r>
            <a:pPr indent="0" marL="0">
              <a:buNone/>
            </a:pPr>
            <a:r>
              <a:rPr lang="en-US" sz="1700" dirty="0">
                <a:solidFill>
                  <a:schemeClr val="bg1"/>
                </a:solidFill>
              </a:rPr>
              <a:t>you can name one example of inconsistency and one of invention (or a sensible refusal).</a:t>
            </a:r>
            <a:endParaRPr lang="en-US" sz="1700" dirty="0"/>
          </a:p>
        </p:txBody>
      </p:sp>
      <p:sp>
        <p:nvSpPr>
          <p:cNvPr id="22" name="text-219"/>
          <p:cNvSpPr txBox="1"/>
          <p:nvPr/>
        </p:nvSpPr>
        <p:spPr>
          <a:xfrm>
            <a:off x="548640" y="5852160"/>
            <a:ext cx="10180015" cy="365760"/>
          </a:xfrm>
          <a:prstGeom prst="rect">
            <a:avLst/>
          </a:prstGeom>
          <a:noFill/>
          <a:ln/>
        </p:spPr>
        <p:txBody>
          <a:bodyPr wrap="square" lIns="0" tIns="0" rIns="0" bIns="0" rtlCol="0" anchor="t"/>
          <a:lstStyle/>
          <a:p>
            <a:pPr indent="0" marL="0">
              <a:buNone/>
            </a:pPr>
            <a:r>
              <a:rPr lang="en-US" sz="1500" dirty="0">
                <a:solidFill>
                  <a:schemeClr val="accent3"/>
                </a:solidFill>
              </a:rPr>
              <a:t>Finished early? Ask: “How confident are you in that answer, and how could I check it?”</a:t>
            </a:r>
            <a:endParaRPr lang="en-US" sz="15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CRAFT: five elements of an effective prompt</a:t>
            </a:r>
            <a:endParaRPr lang="en-US" sz="3400" dirty="0"/>
          </a:p>
        </p:txBody>
      </p:sp>
      <p:sp>
        <p:nvSpPr>
          <p:cNvPr id="3" name="card-220"/>
          <p:cNvSpPr/>
          <p:nvPr/>
        </p:nvSpPr>
        <p:spPr>
          <a:xfrm>
            <a:off x="548640" y="1554480"/>
            <a:ext cx="2014057" cy="1828800"/>
          </a:xfrm>
          <a:prstGeom prst="roundRect">
            <a:avLst>
              <a:gd name="adj" fmla="val 6000"/>
            </a:avLst>
          </a:prstGeom>
          <a:solidFill>
            <a:schemeClr val="tx1"/>
          </a:solidFill>
          <a:ln/>
        </p:spPr>
      </p:sp>
      <p:sp>
        <p:nvSpPr>
          <p:cNvPr id="4" name="text-221"/>
          <p:cNvSpPr txBox="1"/>
          <p:nvPr/>
        </p:nvSpPr>
        <p:spPr>
          <a:xfrm>
            <a:off x="548640" y="1554480"/>
            <a:ext cx="2014057" cy="1828800"/>
          </a:xfrm>
          <a:prstGeom prst="rect">
            <a:avLst/>
          </a:prstGeom>
          <a:noFill/>
          <a:ln/>
        </p:spPr>
        <p:txBody>
          <a:bodyPr wrap="square" lIns="0" tIns="0" rIns="0" bIns="0" rtlCol="0" anchor="ctr"/>
          <a:lstStyle/>
          <a:p>
            <a:pPr algn="ctr" indent="0" marL="0">
              <a:buNone/>
            </a:pPr>
            <a:r>
              <a:rPr lang="en-US" sz="8800" b="1" dirty="0">
                <a:solidFill>
                  <a:schemeClr val="bg1"/>
                </a:solidFill>
              </a:rPr>
              <a:t>C</a:t>
            </a:r>
            <a:endParaRPr lang="en-US" sz="8800" dirty="0"/>
          </a:p>
        </p:txBody>
      </p:sp>
      <p:sp>
        <p:nvSpPr>
          <p:cNvPr id="5" name="text-222"/>
          <p:cNvSpPr txBox="1"/>
          <p:nvPr/>
        </p:nvSpPr>
        <p:spPr>
          <a:xfrm>
            <a:off x="548640" y="3611880"/>
            <a:ext cx="2014057" cy="457200"/>
          </a:xfrm>
          <a:prstGeom prst="rect">
            <a:avLst/>
          </a:prstGeom>
          <a:noFill/>
          <a:ln/>
        </p:spPr>
        <p:txBody>
          <a:bodyPr wrap="square" lIns="0" tIns="0" rIns="0" bIns="0" rtlCol="0" anchor="t"/>
          <a:lstStyle/>
          <a:p>
            <a:pPr indent="0" marL="0">
              <a:buNone/>
            </a:pPr>
            <a:r>
              <a:rPr lang="en-US" sz="2200" b="1" dirty="0">
                <a:solidFill>
                  <a:schemeClr val="tx1"/>
                </a:solidFill>
              </a:rPr>
              <a:t>Context</a:t>
            </a:r>
            <a:endParaRPr lang="en-US" sz="2200" dirty="0"/>
          </a:p>
        </p:txBody>
      </p:sp>
      <p:sp>
        <p:nvSpPr>
          <p:cNvPr id="6" name="text-223"/>
          <p:cNvSpPr txBox="1"/>
          <p:nvPr/>
        </p:nvSpPr>
        <p:spPr>
          <a:xfrm>
            <a:off x="548640" y="4114800"/>
            <a:ext cx="1922617" cy="914400"/>
          </a:xfrm>
          <a:prstGeom prst="rect">
            <a:avLst/>
          </a:prstGeom>
          <a:noFill/>
          <a:ln/>
        </p:spPr>
        <p:txBody>
          <a:bodyPr wrap="square" lIns="0" tIns="0" rIns="0" bIns="0" rtlCol="0" anchor="t"/>
          <a:lstStyle/>
          <a:p>
            <a:pPr indent="0" marL="0">
              <a:buNone/>
            </a:pPr>
            <a:r>
              <a:rPr lang="en-US" sz="1600" dirty="0">
                <a:solidFill>
                  <a:schemeClr val="tx2"/>
                </a:solidFill>
              </a:rPr>
              <a:t>What's the situation, and why does it matter?</a:t>
            </a:r>
            <a:endParaRPr lang="en-US" sz="1600" dirty="0"/>
          </a:p>
        </p:txBody>
      </p:sp>
      <p:sp>
        <p:nvSpPr>
          <p:cNvPr id="7" name="card-224"/>
          <p:cNvSpPr/>
          <p:nvPr/>
        </p:nvSpPr>
        <p:spPr>
          <a:xfrm>
            <a:off x="2818729" y="1554480"/>
            <a:ext cx="2014057" cy="1828800"/>
          </a:xfrm>
          <a:prstGeom prst="roundRect">
            <a:avLst>
              <a:gd name="adj" fmla="val 6000"/>
            </a:avLst>
          </a:prstGeom>
          <a:solidFill>
            <a:schemeClr val="tx1"/>
          </a:solidFill>
          <a:ln/>
        </p:spPr>
      </p:sp>
      <p:sp>
        <p:nvSpPr>
          <p:cNvPr id="8" name="text-225"/>
          <p:cNvSpPr txBox="1"/>
          <p:nvPr/>
        </p:nvSpPr>
        <p:spPr>
          <a:xfrm>
            <a:off x="2818729" y="1554480"/>
            <a:ext cx="2014057" cy="1828800"/>
          </a:xfrm>
          <a:prstGeom prst="rect">
            <a:avLst/>
          </a:prstGeom>
          <a:noFill/>
          <a:ln/>
        </p:spPr>
        <p:txBody>
          <a:bodyPr wrap="square" lIns="0" tIns="0" rIns="0" bIns="0" rtlCol="0" anchor="ctr"/>
          <a:lstStyle/>
          <a:p>
            <a:pPr algn="ctr" indent="0" marL="0">
              <a:buNone/>
            </a:pPr>
            <a:r>
              <a:rPr lang="en-US" sz="8800" b="1" dirty="0">
                <a:solidFill>
                  <a:schemeClr val="bg1"/>
                </a:solidFill>
              </a:rPr>
              <a:t>R</a:t>
            </a:r>
            <a:endParaRPr lang="en-US" sz="8800" dirty="0"/>
          </a:p>
        </p:txBody>
      </p:sp>
      <p:sp>
        <p:nvSpPr>
          <p:cNvPr id="9" name="text-226"/>
          <p:cNvSpPr txBox="1"/>
          <p:nvPr/>
        </p:nvSpPr>
        <p:spPr>
          <a:xfrm>
            <a:off x="2818729" y="3611880"/>
            <a:ext cx="2014057" cy="457200"/>
          </a:xfrm>
          <a:prstGeom prst="rect">
            <a:avLst/>
          </a:prstGeom>
          <a:noFill/>
          <a:ln/>
        </p:spPr>
        <p:txBody>
          <a:bodyPr wrap="square" lIns="0" tIns="0" rIns="0" bIns="0" rtlCol="0" anchor="t"/>
          <a:lstStyle/>
          <a:p>
            <a:pPr indent="0" marL="0">
              <a:buNone/>
            </a:pPr>
            <a:r>
              <a:rPr lang="en-US" sz="2200" b="1" dirty="0">
                <a:solidFill>
                  <a:schemeClr val="tx1"/>
                </a:solidFill>
              </a:rPr>
              <a:t>Role</a:t>
            </a:r>
            <a:endParaRPr lang="en-US" sz="2200" dirty="0"/>
          </a:p>
        </p:txBody>
      </p:sp>
      <p:sp>
        <p:nvSpPr>
          <p:cNvPr id="10" name="text-227"/>
          <p:cNvSpPr txBox="1"/>
          <p:nvPr/>
        </p:nvSpPr>
        <p:spPr>
          <a:xfrm>
            <a:off x="2818729" y="4114800"/>
            <a:ext cx="1922617" cy="914400"/>
          </a:xfrm>
          <a:prstGeom prst="rect">
            <a:avLst/>
          </a:prstGeom>
          <a:noFill/>
          <a:ln/>
        </p:spPr>
        <p:txBody>
          <a:bodyPr wrap="square" lIns="0" tIns="0" rIns="0" bIns="0" rtlCol="0" anchor="t"/>
          <a:lstStyle/>
          <a:p>
            <a:pPr indent="0" marL="0">
              <a:buNone/>
            </a:pPr>
            <a:r>
              <a:rPr lang="en-US" sz="1600" dirty="0">
                <a:solidFill>
                  <a:schemeClr val="tx2"/>
                </a:solidFill>
              </a:rPr>
              <a:t>Whose perspective or expertise?</a:t>
            </a:r>
            <a:endParaRPr lang="en-US" sz="1600" dirty="0"/>
          </a:p>
        </p:txBody>
      </p:sp>
      <p:sp>
        <p:nvSpPr>
          <p:cNvPr id="11" name="card-228"/>
          <p:cNvSpPr/>
          <p:nvPr/>
        </p:nvSpPr>
        <p:spPr>
          <a:xfrm>
            <a:off x="5088819" y="1554480"/>
            <a:ext cx="2014057" cy="1828800"/>
          </a:xfrm>
          <a:prstGeom prst="roundRect">
            <a:avLst>
              <a:gd name="adj" fmla="val 6000"/>
            </a:avLst>
          </a:prstGeom>
          <a:solidFill>
            <a:schemeClr val="tx1"/>
          </a:solidFill>
          <a:ln/>
        </p:spPr>
      </p:sp>
      <p:sp>
        <p:nvSpPr>
          <p:cNvPr id="12" name="text-229"/>
          <p:cNvSpPr txBox="1"/>
          <p:nvPr/>
        </p:nvSpPr>
        <p:spPr>
          <a:xfrm>
            <a:off x="5088819" y="1554480"/>
            <a:ext cx="2014057" cy="1828800"/>
          </a:xfrm>
          <a:prstGeom prst="rect">
            <a:avLst/>
          </a:prstGeom>
          <a:noFill/>
          <a:ln/>
        </p:spPr>
        <p:txBody>
          <a:bodyPr wrap="square" lIns="0" tIns="0" rIns="0" bIns="0" rtlCol="0" anchor="ctr"/>
          <a:lstStyle/>
          <a:p>
            <a:pPr algn="ctr" indent="0" marL="0">
              <a:buNone/>
            </a:pPr>
            <a:r>
              <a:rPr lang="en-US" sz="8800" b="1" dirty="0">
                <a:solidFill>
                  <a:schemeClr val="bg1"/>
                </a:solidFill>
              </a:rPr>
              <a:t>A</a:t>
            </a:r>
            <a:endParaRPr lang="en-US" sz="8800" dirty="0"/>
          </a:p>
        </p:txBody>
      </p:sp>
      <p:sp>
        <p:nvSpPr>
          <p:cNvPr id="13" name="text-230"/>
          <p:cNvSpPr txBox="1"/>
          <p:nvPr/>
        </p:nvSpPr>
        <p:spPr>
          <a:xfrm>
            <a:off x="5088819" y="3611880"/>
            <a:ext cx="2014057" cy="457200"/>
          </a:xfrm>
          <a:prstGeom prst="rect">
            <a:avLst/>
          </a:prstGeom>
          <a:noFill/>
          <a:ln/>
        </p:spPr>
        <p:txBody>
          <a:bodyPr wrap="square" lIns="0" tIns="0" rIns="0" bIns="0" rtlCol="0" anchor="t"/>
          <a:lstStyle/>
          <a:p>
            <a:pPr indent="0" marL="0">
              <a:buNone/>
            </a:pPr>
            <a:r>
              <a:rPr lang="en-US" sz="2200" b="1" dirty="0">
                <a:solidFill>
                  <a:schemeClr val="tx1"/>
                </a:solidFill>
              </a:rPr>
              <a:t>Ask</a:t>
            </a:r>
            <a:endParaRPr lang="en-US" sz="2200" dirty="0"/>
          </a:p>
        </p:txBody>
      </p:sp>
      <p:sp>
        <p:nvSpPr>
          <p:cNvPr id="14" name="text-231"/>
          <p:cNvSpPr txBox="1"/>
          <p:nvPr/>
        </p:nvSpPr>
        <p:spPr>
          <a:xfrm>
            <a:off x="5088819" y="4114800"/>
            <a:ext cx="1922617" cy="914400"/>
          </a:xfrm>
          <a:prstGeom prst="rect">
            <a:avLst/>
          </a:prstGeom>
          <a:noFill/>
          <a:ln/>
        </p:spPr>
        <p:txBody>
          <a:bodyPr wrap="square" lIns="0" tIns="0" rIns="0" bIns="0" rtlCol="0" anchor="t"/>
          <a:lstStyle/>
          <a:p>
            <a:pPr indent="0" marL="0">
              <a:buNone/>
            </a:pPr>
            <a:r>
              <a:rPr lang="en-US" sz="1600" dirty="0">
                <a:solidFill>
                  <a:schemeClr val="tx2"/>
                </a:solidFill>
              </a:rPr>
              <a:t>What exactly should it do?</a:t>
            </a:r>
            <a:endParaRPr lang="en-US" sz="1600" dirty="0"/>
          </a:p>
        </p:txBody>
      </p:sp>
      <p:sp>
        <p:nvSpPr>
          <p:cNvPr id="15" name="card-232"/>
          <p:cNvSpPr/>
          <p:nvPr/>
        </p:nvSpPr>
        <p:spPr>
          <a:xfrm>
            <a:off x="7358908" y="1554480"/>
            <a:ext cx="2014057" cy="1828800"/>
          </a:xfrm>
          <a:prstGeom prst="roundRect">
            <a:avLst>
              <a:gd name="adj" fmla="val 6000"/>
            </a:avLst>
          </a:prstGeom>
          <a:solidFill>
            <a:schemeClr val="tx1"/>
          </a:solidFill>
          <a:ln/>
        </p:spPr>
      </p:sp>
      <p:sp>
        <p:nvSpPr>
          <p:cNvPr id="16" name="text-233"/>
          <p:cNvSpPr txBox="1"/>
          <p:nvPr/>
        </p:nvSpPr>
        <p:spPr>
          <a:xfrm>
            <a:off x="7358908" y="1554480"/>
            <a:ext cx="2014057" cy="1828800"/>
          </a:xfrm>
          <a:prstGeom prst="rect">
            <a:avLst/>
          </a:prstGeom>
          <a:noFill/>
          <a:ln/>
        </p:spPr>
        <p:txBody>
          <a:bodyPr wrap="square" lIns="0" tIns="0" rIns="0" bIns="0" rtlCol="0" anchor="ctr"/>
          <a:lstStyle/>
          <a:p>
            <a:pPr algn="ctr" indent="0" marL="0">
              <a:buNone/>
            </a:pPr>
            <a:r>
              <a:rPr lang="en-US" sz="8800" b="1" dirty="0">
                <a:solidFill>
                  <a:schemeClr val="bg1"/>
                </a:solidFill>
              </a:rPr>
              <a:t>F</a:t>
            </a:r>
            <a:endParaRPr lang="en-US" sz="8800" dirty="0"/>
          </a:p>
        </p:txBody>
      </p:sp>
      <p:sp>
        <p:nvSpPr>
          <p:cNvPr id="17" name="text-234"/>
          <p:cNvSpPr txBox="1"/>
          <p:nvPr/>
        </p:nvSpPr>
        <p:spPr>
          <a:xfrm>
            <a:off x="7358908" y="3611880"/>
            <a:ext cx="2014057" cy="457200"/>
          </a:xfrm>
          <a:prstGeom prst="rect">
            <a:avLst/>
          </a:prstGeom>
          <a:noFill/>
          <a:ln/>
        </p:spPr>
        <p:txBody>
          <a:bodyPr wrap="square" lIns="0" tIns="0" rIns="0" bIns="0" rtlCol="0" anchor="t"/>
          <a:lstStyle/>
          <a:p>
            <a:pPr indent="0" marL="0">
              <a:buNone/>
            </a:pPr>
            <a:r>
              <a:rPr lang="en-US" sz="2200" b="1" dirty="0">
                <a:solidFill>
                  <a:schemeClr val="tx1"/>
                </a:solidFill>
              </a:rPr>
              <a:t>Format</a:t>
            </a:r>
            <a:endParaRPr lang="en-US" sz="2200" dirty="0"/>
          </a:p>
        </p:txBody>
      </p:sp>
      <p:sp>
        <p:nvSpPr>
          <p:cNvPr id="18" name="text-235"/>
          <p:cNvSpPr txBox="1"/>
          <p:nvPr/>
        </p:nvSpPr>
        <p:spPr>
          <a:xfrm>
            <a:off x="7358908" y="4114800"/>
            <a:ext cx="1922617" cy="914400"/>
          </a:xfrm>
          <a:prstGeom prst="rect">
            <a:avLst/>
          </a:prstGeom>
          <a:noFill/>
          <a:ln/>
        </p:spPr>
        <p:txBody>
          <a:bodyPr wrap="square" lIns="0" tIns="0" rIns="0" bIns="0" rtlCol="0" anchor="t"/>
          <a:lstStyle/>
          <a:p>
            <a:pPr indent="0" marL="0">
              <a:buNone/>
            </a:pPr>
            <a:r>
              <a:rPr lang="en-US" sz="1600" dirty="0">
                <a:solidFill>
                  <a:schemeClr val="tx2"/>
                </a:solidFill>
              </a:rPr>
              <a:t>What shape, length, and structure?</a:t>
            </a:r>
            <a:endParaRPr lang="en-US" sz="1600" dirty="0"/>
          </a:p>
        </p:txBody>
      </p:sp>
      <p:sp>
        <p:nvSpPr>
          <p:cNvPr id="19" name="card-236"/>
          <p:cNvSpPr/>
          <p:nvPr/>
        </p:nvSpPr>
        <p:spPr>
          <a:xfrm>
            <a:off x="9628998" y="1554480"/>
            <a:ext cx="2014057" cy="1828800"/>
          </a:xfrm>
          <a:prstGeom prst="roundRect">
            <a:avLst>
              <a:gd name="adj" fmla="val 6000"/>
            </a:avLst>
          </a:prstGeom>
          <a:solidFill>
            <a:schemeClr val="tx1"/>
          </a:solidFill>
          <a:ln/>
        </p:spPr>
      </p:sp>
      <p:sp>
        <p:nvSpPr>
          <p:cNvPr id="20" name="text-237"/>
          <p:cNvSpPr txBox="1"/>
          <p:nvPr/>
        </p:nvSpPr>
        <p:spPr>
          <a:xfrm>
            <a:off x="9628998" y="1554480"/>
            <a:ext cx="2014057" cy="1828800"/>
          </a:xfrm>
          <a:prstGeom prst="rect">
            <a:avLst/>
          </a:prstGeom>
          <a:noFill/>
          <a:ln/>
        </p:spPr>
        <p:txBody>
          <a:bodyPr wrap="square" lIns="0" tIns="0" rIns="0" bIns="0" rtlCol="0" anchor="ctr"/>
          <a:lstStyle/>
          <a:p>
            <a:pPr algn="ctr" indent="0" marL="0">
              <a:buNone/>
            </a:pPr>
            <a:r>
              <a:rPr lang="en-US" sz="8800" b="1" dirty="0">
                <a:solidFill>
                  <a:schemeClr val="bg1"/>
                </a:solidFill>
              </a:rPr>
              <a:t>T</a:t>
            </a:r>
            <a:endParaRPr lang="en-US" sz="8800" dirty="0"/>
          </a:p>
        </p:txBody>
      </p:sp>
      <p:sp>
        <p:nvSpPr>
          <p:cNvPr id="21" name="text-238"/>
          <p:cNvSpPr txBox="1"/>
          <p:nvPr/>
        </p:nvSpPr>
        <p:spPr>
          <a:xfrm>
            <a:off x="9628998" y="3611880"/>
            <a:ext cx="2014057" cy="457200"/>
          </a:xfrm>
          <a:prstGeom prst="rect">
            <a:avLst/>
          </a:prstGeom>
          <a:noFill/>
          <a:ln/>
        </p:spPr>
        <p:txBody>
          <a:bodyPr wrap="square" lIns="0" tIns="0" rIns="0" bIns="0" rtlCol="0" anchor="t"/>
          <a:lstStyle/>
          <a:p>
            <a:pPr indent="0" marL="0">
              <a:buNone/>
            </a:pPr>
            <a:r>
              <a:rPr lang="en-US" sz="2200" b="1" dirty="0">
                <a:solidFill>
                  <a:schemeClr val="tx1"/>
                </a:solidFill>
              </a:rPr>
              <a:t>Tone &amp; audience</a:t>
            </a:r>
            <a:endParaRPr lang="en-US" sz="2200" dirty="0"/>
          </a:p>
        </p:txBody>
      </p:sp>
      <p:sp>
        <p:nvSpPr>
          <p:cNvPr id="22" name="text-239"/>
          <p:cNvSpPr txBox="1"/>
          <p:nvPr/>
        </p:nvSpPr>
        <p:spPr>
          <a:xfrm>
            <a:off x="9628998" y="4114800"/>
            <a:ext cx="1922617" cy="914400"/>
          </a:xfrm>
          <a:prstGeom prst="rect">
            <a:avLst/>
          </a:prstGeom>
          <a:noFill/>
          <a:ln/>
        </p:spPr>
        <p:txBody>
          <a:bodyPr wrap="square" lIns="0" tIns="0" rIns="0" bIns="0" rtlCol="0" anchor="t"/>
          <a:lstStyle/>
          <a:p>
            <a:pPr indent="0" marL="0">
              <a:buNone/>
            </a:pPr>
            <a:r>
              <a:rPr lang="en-US" sz="1600" dirty="0">
                <a:solidFill>
                  <a:schemeClr val="tx2"/>
                </a:solidFill>
              </a:rPr>
              <a:t>Who reads it, and how should it sound?</a:t>
            </a:r>
            <a:endParaRPr lang="en-US" sz="1600" dirty="0"/>
          </a:p>
        </p:txBody>
      </p:sp>
      <p:sp>
        <p:nvSpPr>
          <p:cNvPr id="23" name="card-240"/>
          <p:cNvSpPr/>
          <p:nvPr/>
        </p:nvSpPr>
        <p:spPr>
          <a:xfrm>
            <a:off x="548640" y="5257800"/>
            <a:ext cx="11094415" cy="777240"/>
          </a:xfrm>
          <a:prstGeom prst="roundRect">
            <a:avLst>
              <a:gd name="adj" fmla="val 14118"/>
            </a:avLst>
          </a:prstGeom>
          <a:solidFill>
            <a:schemeClr val="bg2"/>
          </a:solidFill>
          <a:ln/>
        </p:spPr>
      </p:sp>
      <p:sp>
        <p:nvSpPr>
          <p:cNvPr id="24" name="text-241"/>
          <p:cNvSpPr txBox="1"/>
          <p:nvPr/>
        </p:nvSpPr>
        <p:spPr>
          <a:xfrm>
            <a:off x="868680" y="5257800"/>
            <a:ext cx="10454335" cy="777240"/>
          </a:xfrm>
          <a:prstGeom prst="rect">
            <a:avLst/>
          </a:prstGeom>
          <a:noFill/>
          <a:ln/>
        </p:spPr>
        <p:txBody>
          <a:bodyPr wrap="square" lIns="0" tIns="0" rIns="0" bIns="0" rtlCol="0" anchor="ctr"/>
          <a:lstStyle/>
          <a:p>
            <a:pPr indent="0" marL="0">
              <a:buNone/>
            </a:pPr>
            <a:r>
              <a:rPr lang="en-US" sz="1800" b="1" dirty="0">
                <a:solidFill>
                  <a:schemeClr val="tx1"/>
                </a:solidFill>
              </a:rPr>
              <a:t>Google's own Gemini guide uses the same ideas: </a:t>
            </a:r>
            <a:pPr indent="0" marL="0">
              <a:buNone/>
            </a:pPr>
            <a:r>
              <a:rPr lang="en-US" sz="1800" dirty="0">
                <a:solidFill>
                  <a:schemeClr val="tx1"/>
                </a:solidFill>
              </a:rPr>
              <a:t>persona, task, context, and format. CRAFT adds tone &amp; audience.</a:t>
            </a:r>
            <a:endParaRPr lang="en-US" sz="1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Same request, better prompt</a:t>
            </a:r>
            <a:endParaRPr lang="en-US" sz="3400" dirty="0"/>
          </a:p>
        </p:txBody>
      </p:sp>
      <p:sp>
        <p:nvSpPr>
          <p:cNvPr id="3" name="text-24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300" b="1" spc="200" kern="0" dirty="0">
                <a:solidFill>
                  <a:schemeClr val="tx2"/>
                </a:solidFill>
              </a:rPr>
              <a:t>BEFORE</a:t>
            </a:r>
            <a:endParaRPr lang="en-US" sz="1300" dirty="0"/>
          </a:p>
        </p:txBody>
      </p:sp>
      <p:sp>
        <p:nvSpPr>
          <p:cNvPr id="4" name="card-243"/>
          <p:cNvSpPr/>
          <p:nvPr/>
        </p:nvSpPr>
        <p:spPr>
          <a:xfrm>
            <a:off x="548640" y="1828800"/>
            <a:ext cx="4206240" cy="1325880"/>
          </a:xfrm>
          <a:prstGeom prst="roundRect">
            <a:avLst>
              <a:gd name="adj" fmla="val 8276"/>
            </a:avLst>
          </a:prstGeom>
          <a:solidFill>
            <a:schemeClr val="tx1"/>
          </a:solidFill>
          <a:ln/>
        </p:spPr>
      </p:sp>
      <p:sp>
        <p:nvSpPr>
          <p:cNvPr id="5" name="text-244"/>
          <p:cNvSpPr txBox="1"/>
          <p:nvPr/>
        </p:nvSpPr>
        <p:spPr>
          <a:xfrm>
            <a:off x="822960" y="2029968"/>
            <a:ext cx="36576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PROMPT</a:t>
            </a:r>
            <a:endParaRPr lang="en-US" sz="1200" dirty="0"/>
          </a:p>
        </p:txBody>
      </p:sp>
      <p:sp>
        <p:nvSpPr>
          <p:cNvPr id="6" name="text-245"/>
          <p:cNvSpPr txBox="1"/>
          <p:nvPr/>
        </p:nvSpPr>
        <p:spPr>
          <a:xfrm>
            <a:off x="822960" y="2359152"/>
            <a:ext cx="3657600" cy="612648"/>
          </a:xfrm>
          <a:prstGeom prst="rect">
            <a:avLst/>
          </a:prstGeom>
          <a:noFill/>
          <a:ln/>
        </p:spPr>
        <p:txBody>
          <a:bodyPr wrap="square" lIns="0" tIns="0" rIns="0" bIns="0" rtlCol="0" anchor="t"/>
          <a:lstStyle/>
          <a:p>
            <a:pPr indent="0" marL="0">
              <a:spcAft>
                <a:spcPts val="200"/>
              </a:spcAft>
              <a:buNone/>
            </a:pPr>
            <a:r>
              <a:rPr lang="en-US" sz="1700" dirty="0">
                <a:solidFill>
                  <a:schemeClr val="bg1"/>
                </a:solidFill>
                <a:latin typeface="Courier New" pitchFamily="34" charset="0"/>
                <a:ea typeface="Courier New" pitchFamily="34" charset="-122"/>
                <a:cs typeface="Courier New" pitchFamily="34" charset="-120"/>
              </a:rPr>
              <a:t>Write an email about the meeting.</a:t>
            </a:r>
            <a:endParaRPr lang="en-US" sz="1700" dirty="0"/>
          </a:p>
        </p:txBody>
      </p:sp>
      <p:sp>
        <p:nvSpPr>
          <p:cNvPr id="7" name="text-246"/>
          <p:cNvSpPr txBox="1"/>
          <p:nvPr/>
        </p:nvSpPr>
        <p:spPr>
          <a:xfrm>
            <a:off x="548640" y="3337560"/>
            <a:ext cx="4206240" cy="640080"/>
          </a:xfrm>
          <a:prstGeom prst="rect">
            <a:avLst/>
          </a:prstGeom>
          <a:noFill/>
          <a:ln/>
        </p:spPr>
        <p:txBody>
          <a:bodyPr wrap="square" lIns="0" tIns="0" rIns="0" bIns="0" rtlCol="0" anchor="t"/>
          <a:lstStyle/>
          <a:p>
            <a:pPr indent="0" marL="0">
              <a:buNone/>
            </a:pPr>
            <a:r>
              <a:rPr lang="en-US" sz="1600" dirty="0">
                <a:solidFill>
                  <a:schemeClr val="tx2"/>
                </a:solidFill>
              </a:rPr>
              <a:t>Result: a generic email full of placeholders.</a:t>
            </a:r>
            <a:endParaRPr lang="en-US" sz="1600" dirty="0"/>
          </a:p>
        </p:txBody>
      </p:sp>
      <p:sp>
        <p:nvSpPr>
          <p:cNvPr id="8" name="text-247"/>
          <p:cNvSpPr txBox="1"/>
          <p:nvPr/>
        </p:nvSpPr>
        <p:spPr>
          <a:xfrm>
            <a:off x="5120640" y="1463040"/>
            <a:ext cx="365760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AFTER</a:t>
            </a:r>
            <a:endParaRPr lang="en-US" sz="1300" dirty="0"/>
          </a:p>
        </p:txBody>
      </p:sp>
      <p:sp>
        <p:nvSpPr>
          <p:cNvPr id="9" name="card-248"/>
          <p:cNvSpPr/>
          <p:nvPr/>
        </p:nvSpPr>
        <p:spPr>
          <a:xfrm>
            <a:off x="5120640" y="1828800"/>
            <a:ext cx="6519672" cy="3611880"/>
          </a:xfrm>
          <a:prstGeom prst="roundRect">
            <a:avLst>
              <a:gd name="adj" fmla="val 3038"/>
            </a:avLst>
          </a:prstGeom>
          <a:solidFill>
            <a:schemeClr val="tx1"/>
          </a:solidFill>
          <a:ln/>
        </p:spPr>
      </p:sp>
      <p:sp>
        <p:nvSpPr>
          <p:cNvPr id="10" name="text-249"/>
          <p:cNvSpPr txBox="1"/>
          <p:nvPr/>
        </p:nvSpPr>
        <p:spPr>
          <a:xfrm>
            <a:off x="5394960" y="2057400"/>
            <a:ext cx="5989320" cy="3200400"/>
          </a:xfrm>
          <a:prstGeom prst="rect">
            <a:avLst/>
          </a:prstGeom>
          <a:noFill/>
          <a:ln/>
        </p:spPr>
        <p:txBody>
          <a:bodyPr wrap="square" lIns="0" tIns="0" rIns="0" bIns="0" rtlCol="0" anchor="t"/>
          <a:lstStyle/>
          <a:p>
            <a:pPr indent="0" marL="0">
              <a:spcAft>
                <a:spcPts val="800"/>
              </a:spcAft>
              <a:buNone/>
            </a:pPr>
            <a:r>
              <a:rPr lang="en-US" sz="1500" b="1" dirty="0">
                <a:solidFill>
                  <a:srgbClr val="F2777C"/>
                </a:solidFill>
                <a:latin typeface="Calibri" pitchFamily="34" charset="0"/>
                <a:ea typeface="Calibri" pitchFamily="34" charset="-122"/>
                <a:cs typeface="Calibri" pitchFamily="34" charset="-120"/>
              </a:rPr>
              <a:t>R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Act as an experienced internal communications manager.</a:t>
            </a:r>
            <a:endParaRPr lang="en-US" sz="1500" dirty="0"/>
          </a:p>
          <a:p>
            <a:pPr indent="0" marL="0">
              <a:spcAft>
                <a:spcPts val="800"/>
              </a:spcAft>
              <a:buNone/>
            </a:pPr>
            <a:r>
              <a:rPr lang="en-US" sz="1500" b="1" dirty="0">
                <a:solidFill>
                  <a:srgbClr val="F2777C"/>
                </a:solidFill>
                <a:latin typeface="Calibri" pitchFamily="34" charset="0"/>
                <a:ea typeface="Calibri" pitchFamily="34" charset="-122"/>
                <a:cs typeface="Calibri" pitchFamily="34" charset="-120"/>
              </a:rPr>
              <a:t>C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Our team of 12 is moving from weekly to biweekly status meetings on March 3.</a:t>
            </a:r>
            <a:endParaRPr lang="en-US" sz="1500" dirty="0"/>
          </a:p>
          <a:p>
            <a:pPr indent="0" marL="0">
              <a:spcAft>
                <a:spcPts val="800"/>
              </a:spcAft>
              <a:buNone/>
            </a:pPr>
            <a:r>
              <a:rPr lang="en-US" sz="1500" b="1" dirty="0">
                <a:solidFill>
                  <a:srgbClr val="F2777C"/>
                </a:solidFill>
                <a:latin typeface="Calibri" pitchFamily="34" charset="0"/>
                <a:ea typeface="Calibri" pitchFamily="34" charset="-122"/>
                <a:cs typeface="Calibri" pitchFamily="34" charset="-120"/>
              </a:rPr>
              <a:t>A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Draft an email announcing the change.</a:t>
            </a:r>
            <a:endParaRPr lang="en-US" sz="1500" dirty="0"/>
          </a:p>
          <a:p>
            <a:pPr indent="0" marL="0">
              <a:spcAft>
                <a:spcPts val="800"/>
              </a:spcAft>
              <a:buNone/>
            </a:pPr>
            <a:r>
              <a:rPr lang="en-US" sz="1500" b="1" dirty="0">
                <a:solidFill>
                  <a:srgbClr val="F2777C"/>
                </a:solidFill>
                <a:latin typeface="Calibri" pitchFamily="34" charset="0"/>
                <a:ea typeface="Calibri" pitchFamily="34" charset="-122"/>
                <a:cs typeface="Calibri" pitchFamily="34" charset="-120"/>
              </a:rPr>
              <a:t>F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Keep it under 150 words, with a subject line and one clear next step.</a:t>
            </a:r>
            <a:endParaRPr lang="en-US" sz="1500" dirty="0"/>
          </a:p>
          <a:p>
            <a:pPr indent="0" marL="0">
              <a:spcAft>
                <a:spcPts val="800"/>
              </a:spcAft>
              <a:buNone/>
            </a:pPr>
            <a:r>
              <a:rPr lang="en-US" sz="1500" b="1" dirty="0">
                <a:solidFill>
                  <a:srgbClr val="F2777C"/>
                </a:solidFill>
                <a:latin typeface="Calibri" pitchFamily="34" charset="0"/>
                <a:ea typeface="Calibri" pitchFamily="34" charset="-122"/>
                <a:cs typeface="Calibri" pitchFamily="34" charset="-120"/>
              </a:rPr>
              <a:t>T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Readers are busy staff who may worry this means less support. Be warm and direct, with no jargon.</a:t>
            </a:r>
            <a:endParaRPr lang="en-US" sz="1500" dirty="0"/>
          </a:p>
        </p:txBody>
      </p:sp>
      <p:sp>
        <p:nvSpPr>
          <p:cNvPr id="11" name="text-250"/>
          <p:cNvSpPr txBox="1"/>
          <p:nvPr/>
        </p:nvSpPr>
        <p:spPr>
          <a:xfrm>
            <a:off x="5120640" y="5577840"/>
            <a:ext cx="6492240" cy="457200"/>
          </a:xfrm>
          <a:prstGeom prst="rect">
            <a:avLst/>
          </a:prstGeom>
          <a:noFill/>
          <a:ln/>
        </p:spPr>
        <p:txBody>
          <a:bodyPr wrap="square" lIns="0" tIns="0" rIns="0" bIns="0" rtlCol="0" anchor="t"/>
          <a:lstStyle/>
          <a:p>
            <a:pPr indent="0" marL="0">
              <a:buNone/>
            </a:pPr>
            <a:r>
              <a:rPr lang="en-US" sz="1600" b="1" dirty="0">
                <a:solidFill>
                  <a:schemeClr val="tx1"/>
                </a:solidFill>
              </a:rPr>
              <a:t>Result: a ready-to-send email, in the right tone, on the first try.</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ACTIVITY 1.2  ·  GROUPS OF 3</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Prompt makeover</a:t>
            </a:r>
            <a:endParaRPr lang="en-US" sz="3800" dirty="0"/>
          </a:p>
        </p:txBody>
      </p:sp>
      <p:sp>
        <p:nvSpPr>
          <p:cNvPr id="4" name="badge-251"/>
          <p:cNvSpPr/>
          <p:nvPr/>
        </p:nvSpPr>
        <p:spPr>
          <a:xfrm>
            <a:off x="10042855" y="502920"/>
            <a:ext cx="1600200" cy="457200"/>
          </a:xfrm>
          <a:prstGeom prst="roundRect">
            <a:avLst>
              <a:gd name="adj" fmla="val 50000"/>
            </a:avLst>
          </a:prstGeom>
          <a:solidFill>
            <a:schemeClr val="bg1"/>
          </a:solidFill>
          <a:ln/>
        </p:spPr>
      </p:sp>
      <p:sp>
        <p:nvSpPr>
          <p:cNvPr id="5" name="text-252"/>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13 min</a:t>
            </a:r>
            <a:endParaRPr lang="en-US" sz="1600" dirty="0"/>
          </a:p>
        </p:txBody>
      </p:sp>
      <p:sp>
        <p:nvSpPr>
          <p:cNvPr id="6" name="text-253"/>
          <p:cNvSpPr txBox="1"/>
          <p:nvPr/>
        </p:nvSpPr>
        <p:spPr>
          <a:xfrm>
            <a:off x="548640" y="1828800"/>
            <a:ext cx="4572000" cy="365760"/>
          </a:xfrm>
          <a:prstGeom prst="rect">
            <a:avLst/>
          </a:prstGeom>
          <a:noFill/>
          <a:ln/>
        </p:spPr>
        <p:txBody>
          <a:bodyPr wrap="square" lIns="0" tIns="0" rIns="0" bIns="0" rtlCol="0" anchor="t"/>
          <a:lstStyle/>
          <a:p>
            <a:pPr indent="0" marL="0">
              <a:buNone/>
            </a:pPr>
            <a:r>
              <a:rPr lang="en-US" sz="1700" dirty="0">
                <a:solidFill>
                  <a:schemeClr val="accent3"/>
                </a:solidFill>
              </a:rPr>
              <a:t>Your group gets one weak prompt:</a:t>
            </a:r>
            <a:endParaRPr lang="en-US" sz="1700" dirty="0"/>
          </a:p>
        </p:txBody>
      </p:sp>
      <p:sp>
        <p:nvSpPr>
          <p:cNvPr id="7" name="card-254"/>
          <p:cNvSpPr/>
          <p:nvPr/>
        </p:nvSpPr>
        <p:spPr>
          <a:xfrm>
            <a:off x="548640" y="2286000"/>
            <a:ext cx="4572000" cy="841248"/>
          </a:xfrm>
          <a:prstGeom prst="roundRect">
            <a:avLst>
              <a:gd name="adj" fmla="val 13043"/>
            </a:avLst>
          </a:prstGeom>
          <a:solidFill>
            <a:schemeClr val="accent2"/>
          </a:solidFill>
          <a:ln/>
        </p:spPr>
      </p:sp>
      <p:sp>
        <p:nvSpPr>
          <p:cNvPr id="8" name="text-255"/>
          <p:cNvSpPr txBox="1"/>
          <p:nvPr/>
        </p:nvSpPr>
        <p:spPr>
          <a:xfrm>
            <a:off x="822960" y="2286000"/>
            <a:ext cx="457200" cy="841248"/>
          </a:xfrm>
          <a:prstGeom prst="rect">
            <a:avLst/>
          </a:prstGeom>
          <a:noFill/>
          <a:ln/>
        </p:spPr>
        <p:txBody>
          <a:bodyPr wrap="square" lIns="0" tIns="0" rIns="0" bIns="0" rtlCol="0" anchor="ctr"/>
          <a:lstStyle/>
          <a:p>
            <a:pPr indent="0" marL="0">
              <a:buNone/>
            </a:pPr>
            <a:r>
              <a:rPr lang="en-US" sz="2600" b="1" dirty="0">
                <a:solidFill>
                  <a:schemeClr val="accent1"/>
                </a:solidFill>
              </a:rPr>
              <a:t>A</a:t>
            </a:r>
            <a:endParaRPr lang="en-US" sz="2600" dirty="0"/>
          </a:p>
        </p:txBody>
      </p:sp>
      <p:sp>
        <p:nvSpPr>
          <p:cNvPr id="9" name="text-256"/>
          <p:cNvSpPr txBox="1"/>
          <p:nvPr/>
        </p:nvSpPr>
        <p:spPr>
          <a:xfrm>
            <a:off x="1417320" y="2286000"/>
            <a:ext cx="3566160" cy="841248"/>
          </a:xfrm>
          <a:prstGeom prst="rect">
            <a:avLst/>
          </a:prstGeom>
          <a:noFill/>
          <a:ln/>
        </p:spPr>
        <p:txBody>
          <a:bodyPr wrap="square" lIns="0" tIns="0" rIns="0" bIns="0" rtlCol="0" anchor="ctr"/>
          <a:lstStyle/>
          <a:p>
            <a:pPr indent="0" marL="0">
              <a:buNone/>
            </a:pPr>
            <a:r>
              <a:rPr lang="en-US" sz="1700" dirty="0">
                <a:solidFill>
                  <a:schemeClr val="bg1"/>
                </a:solidFill>
                <a:latin typeface="Courier New" pitchFamily="34" charset="0"/>
                <a:ea typeface="Courier New" pitchFamily="34" charset="-122"/>
                <a:cs typeface="Courier New" pitchFamily="34" charset="-120"/>
              </a:rPr>
              <a:t>Summarize this article.</a:t>
            </a:r>
            <a:endParaRPr lang="en-US" sz="1700" dirty="0"/>
          </a:p>
        </p:txBody>
      </p:sp>
      <p:sp>
        <p:nvSpPr>
          <p:cNvPr id="10" name="card-257"/>
          <p:cNvSpPr/>
          <p:nvPr/>
        </p:nvSpPr>
        <p:spPr>
          <a:xfrm>
            <a:off x="548640" y="3310128"/>
            <a:ext cx="4572000" cy="841248"/>
          </a:xfrm>
          <a:prstGeom prst="roundRect">
            <a:avLst>
              <a:gd name="adj" fmla="val 13043"/>
            </a:avLst>
          </a:prstGeom>
          <a:solidFill>
            <a:schemeClr val="accent2"/>
          </a:solidFill>
          <a:ln/>
        </p:spPr>
      </p:sp>
      <p:sp>
        <p:nvSpPr>
          <p:cNvPr id="11" name="text-258"/>
          <p:cNvSpPr txBox="1"/>
          <p:nvPr/>
        </p:nvSpPr>
        <p:spPr>
          <a:xfrm>
            <a:off x="822960" y="3310128"/>
            <a:ext cx="457200" cy="841248"/>
          </a:xfrm>
          <a:prstGeom prst="rect">
            <a:avLst/>
          </a:prstGeom>
          <a:noFill/>
          <a:ln/>
        </p:spPr>
        <p:txBody>
          <a:bodyPr wrap="square" lIns="0" tIns="0" rIns="0" bIns="0" rtlCol="0" anchor="ctr"/>
          <a:lstStyle/>
          <a:p>
            <a:pPr indent="0" marL="0">
              <a:buNone/>
            </a:pPr>
            <a:r>
              <a:rPr lang="en-US" sz="2600" b="1" dirty="0">
                <a:solidFill>
                  <a:schemeClr val="accent1"/>
                </a:solidFill>
              </a:rPr>
              <a:t>B</a:t>
            </a:r>
            <a:endParaRPr lang="en-US" sz="2600" dirty="0"/>
          </a:p>
        </p:txBody>
      </p:sp>
      <p:sp>
        <p:nvSpPr>
          <p:cNvPr id="12" name="text-259"/>
          <p:cNvSpPr txBox="1"/>
          <p:nvPr/>
        </p:nvSpPr>
        <p:spPr>
          <a:xfrm>
            <a:off x="1417320" y="3310128"/>
            <a:ext cx="3566160" cy="841248"/>
          </a:xfrm>
          <a:prstGeom prst="rect">
            <a:avLst/>
          </a:prstGeom>
          <a:noFill/>
          <a:ln/>
        </p:spPr>
        <p:txBody>
          <a:bodyPr wrap="square" lIns="0" tIns="0" rIns="0" bIns="0" rtlCol="0" anchor="ctr"/>
          <a:lstStyle/>
          <a:p>
            <a:pPr indent="0" marL="0">
              <a:buNone/>
            </a:pPr>
            <a:r>
              <a:rPr lang="en-US" sz="1700" dirty="0">
                <a:solidFill>
                  <a:schemeClr val="bg1"/>
                </a:solidFill>
                <a:latin typeface="Courier New" pitchFamily="34" charset="0"/>
                <a:ea typeface="Courier New" pitchFamily="34" charset="-122"/>
                <a:cs typeface="Courier New" pitchFamily="34" charset="-120"/>
              </a:rPr>
              <a:t>Give me ideas for our event.</a:t>
            </a:r>
            <a:endParaRPr lang="en-US" sz="1700" dirty="0"/>
          </a:p>
        </p:txBody>
      </p:sp>
      <p:sp>
        <p:nvSpPr>
          <p:cNvPr id="13" name="card-260"/>
          <p:cNvSpPr/>
          <p:nvPr/>
        </p:nvSpPr>
        <p:spPr>
          <a:xfrm>
            <a:off x="548640" y="4334256"/>
            <a:ext cx="4572000" cy="841248"/>
          </a:xfrm>
          <a:prstGeom prst="roundRect">
            <a:avLst>
              <a:gd name="adj" fmla="val 13043"/>
            </a:avLst>
          </a:prstGeom>
          <a:solidFill>
            <a:schemeClr val="accent2"/>
          </a:solidFill>
          <a:ln/>
        </p:spPr>
      </p:sp>
      <p:sp>
        <p:nvSpPr>
          <p:cNvPr id="14" name="text-261"/>
          <p:cNvSpPr txBox="1"/>
          <p:nvPr/>
        </p:nvSpPr>
        <p:spPr>
          <a:xfrm>
            <a:off x="822960" y="4334256"/>
            <a:ext cx="457200" cy="841248"/>
          </a:xfrm>
          <a:prstGeom prst="rect">
            <a:avLst/>
          </a:prstGeom>
          <a:noFill/>
          <a:ln/>
        </p:spPr>
        <p:txBody>
          <a:bodyPr wrap="square" lIns="0" tIns="0" rIns="0" bIns="0" rtlCol="0" anchor="ctr"/>
          <a:lstStyle/>
          <a:p>
            <a:pPr indent="0" marL="0">
              <a:buNone/>
            </a:pPr>
            <a:r>
              <a:rPr lang="en-US" sz="2600" b="1" dirty="0">
                <a:solidFill>
                  <a:schemeClr val="accent1"/>
                </a:solidFill>
              </a:rPr>
              <a:t>C</a:t>
            </a:r>
            <a:endParaRPr lang="en-US" sz="2600" dirty="0"/>
          </a:p>
        </p:txBody>
      </p:sp>
      <p:sp>
        <p:nvSpPr>
          <p:cNvPr id="15" name="text-262"/>
          <p:cNvSpPr txBox="1"/>
          <p:nvPr/>
        </p:nvSpPr>
        <p:spPr>
          <a:xfrm>
            <a:off x="1417320" y="4334256"/>
            <a:ext cx="3566160" cy="841248"/>
          </a:xfrm>
          <a:prstGeom prst="rect">
            <a:avLst/>
          </a:prstGeom>
          <a:noFill/>
          <a:ln/>
        </p:spPr>
        <p:txBody>
          <a:bodyPr wrap="square" lIns="0" tIns="0" rIns="0" bIns="0" rtlCol="0" anchor="ctr"/>
          <a:lstStyle/>
          <a:p>
            <a:pPr indent="0" marL="0">
              <a:buNone/>
            </a:pPr>
            <a:r>
              <a:rPr lang="en-US" sz="1700" dirty="0">
                <a:solidFill>
                  <a:schemeClr val="bg1"/>
                </a:solidFill>
                <a:latin typeface="Courier New" pitchFamily="34" charset="0"/>
                <a:ea typeface="Courier New" pitchFamily="34" charset="-122"/>
                <a:cs typeface="Courier New" pitchFamily="34" charset="-120"/>
              </a:rPr>
              <a:t>Write a job description.</a:t>
            </a:r>
            <a:endParaRPr lang="en-US" sz="1700" dirty="0"/>
          </a:p>
        </p:txBody>
      </p:sp>
      <p:sp>
        <p:nvSpPr>
          <p:cNvPr id="16" name="num-263"/>
          <p:cNvSpPr/>
          <p:nvPr/>
        </p:nvSpPr>
        <p:spPr>
          <a:xfrm>
            <a:off x="5715000" y="1828800"/>
            <a:ext cx="548640" cy="548640"/>
          </a:xfrm>
          <a:prstGeom prst="ellipse">
            <a:avLst/>
          </a:prstGeom>
          <a:solidFill>
            <a:schemeClr val="bg1"/>
          </a:solidFill>
          <a:ln/>
        </p:spPr>
      </p:sp>
      <p:sp>
        <p:nvSpPr>
          <p:cNvPr id="17" name="text-264"/>
          <p:cNvSpPr txBox="1"/>
          <p:nvPr/>
        </p:nvSpPr>
        <p:spPr>
          <a:xfrm>
            <a:off x="5715000" y="182880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18" name="text-265"/>
          <p:cNvSpPr txBox="1"/>
          <p:nvPr/>
        </p:nvSpPr>
        <p:spPr>
          <a:xfrm>
            <a:off x="6492240" y="1810512"/>
            <a:ext cx="5120640" cy="365760"/>
          </a:xfrm>
          <a:prstGeom prst="rect">
            <a:avLst/>
          </a:prstGeom>
          <a:noFill/>
          <a:ln/>
        </p:spPr>
        <p:txBody>
          <a:bodyPr wrap="square" lIns="0" tIns="0" rIns="0" bIns="0" rtlCol="0" anchor="t"/>
          <a:lstStyle/>
          <a:p>
            <a:pPr indent="0" marL="0">
              <a:buNone/>
            </a:pPr>
            <a:r>
              <a:rPr lang="en-US" sz="1900" b="1" dirty="0">
                <a:solidFill>
                  <a:schemeClr val="bg1"/>
                </a:solidFill>
              </a:rPr>
              <a:t>Diagnose  </a:t>
            </a:r>
            <a:pPr indent="0" marL="0">
              <a:buNone/>
            </a:pPr>
            <a:r>
              <a:rPr lang="en-US" sz="1900" dirty="0">
                <a:solidFill>
                  <a:schemeClr val="accent3"/>
                </a:solidFill>
              </a:rPr>
              <a:t>3 min</a:t>
            </a:r>
            <a:endParaRPr lang="en-US" sz="1900" dirty="0"/>
          </a:p>
        </p:txBody>
      </p:sp>
      <p:sp>
        <p:nvSpPr>
          <p:cNvPr id="19" name="text-266"/>
          <p:cNvSpPr txBox="1"/>
          <p:nvPr/>
        </p:nvSpPr>
        <p:spPr>
          <a:xfrm>
            <a:off x="6492240" y="2176272"/>
            <a:ext cx="5120640" cy="411480"/>
          </a:xfrm>
          <a:prstGeom prst="rect">
            <a:avLst/>
          </a:prstGeom>
          <a:noFill/>
          <a:ln/>
        </p:spPr>
        <p:txBody>
          <a:bodyPr wrap="square" lIns="0" tIns="0" rIns="0" bIns="0" rtlCol="0" anchor="t"/>
          <a:lstStyle/>
          <a:p>
            <a:pPr indent="0" marL="0">
              <a:buNone/>
            </a:pPr>
            <a:r>
              <a:rPr lang="en-US" sz="1600" dirty="0">
                <a:solidFill>
                  <a:schemeClr val="accent3"/>
                </a:solidFill>
              </a:rPr>
              <a:t>Which CRAFT elements are missing?</a:t>
            </a:r>
            <a:endParaRPr lang="en-US" sz="1600" dirty="0"/>
          </a:p>
        </p:txBody>
      </p:sp>
      <p:sp>
        <p:nvSpPr>
          <p:cNvPr id="20" name="num-267"/>
          <p:cNvSpPr/>
          <p:nvPr/>
        </p:nvSpPr>
        <p:spPr>
          <a:xfrm>
            <a:off x="5715000" y="2743200"/>
            <a:ext cx="548640" cy="548640"/>
          </a:xfrm>
          <a:prstGeom prst="ellipse">
            <a:avLst/>
          </a:prstGeom>
          <a:solidFill>
            <a:schemeClr val="bg1"/>
          </a:solidFill>
          <a:ln/>
        </p:spPr>
      </p:sp>
      <p:sp>
        <p:nvSpPr>
          <p:cNvPr id="21" name="text-268"/>
          <p:cNvSpPr txBox="1"/>
          <p:nvPr/>
        </p:nvSpPr>
        <p:spPr>
          <a:xfrm>
            <a:off x="5715000" y="274320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22" name="text-269"/>
          <p:cNvSpPr txBox="1"/>
          <p:nvPr/>
        </p:nvSpPr>
        <p:spPr>
          <a:xfrm>
            <a:off x="6492240" y="2724912"/>
            <a:ext cx="5120640" cy="365760"/>
          </a:xfrm>
          <a:prstGeom prst="rect">
            <a:avLst/>
          </a:prstGeom>
          <a:noFill/>
          <a:ln/>
        </p:spPr>
        <p:txBody>
          <a:bodyPr wrap="square" lIns="0" tIns="0" rIns="0" bIns="0" rtlCol="0" anchor="t"/>
          <a:lstStyle/>
          <a:p>
            <a:pPr indent="0" marL="0">
              <a:buNone/>
            </a:pPr>
            <a:r>
              <a:rPr lang="en-US" sz="1900" b="1" dirty="0">
                <a:solidFill>
                  <a:schemeClr val="bg1"/>
                </a:solidFill>
              </a:rPr>
              <a:t>Rewrite  </a:t>
            </a:r>
            <a:pPr indent="0" marL="0">
              <a:buNone/>
            </a:pPr>
            <a:r>
              <a:rPr lang="en-US" sz="1900" dirty="0">
                <a:solidFill>
                  <a:schemeClr val="accent3"/>
                </a:solidFill>
              </a:rPr>
              <a:t>4 min</a:t>
            </a:r>
            <a:endParaRPr lang="en-US" sz="1900" dirty="0"/>
          </a:p>
        </p:txBody>
      </p:sp>
      <p:sp>
        <p:nvSpPr>
          <p:cNvPr id="23" name="text-270"/>
          <p:cNvSpPr txBox="1"/>
          <p:nvPr/>
        </p:nvSpPr>
        <p:spPr>
          <a:xfrm>
            <a:off x="6492240" y="3090672"/>
            <a:ext cx="5120640" cy="411480"/>
          </a:xfrm>
          <a:prstGeom prst="rect">
            <a:avLst/>
          </a:prstGeom>
          <a:noFill/>
          <a:ln/>
        </p:spPr>
        <p:txBody>
          <a:bodyPr wrap="square" lIns="0" tIns="0" rIns="0" bIns="0" rtlCol="0" anchor="t"/>
          <a:lstStyle/>
          <a:p>
            <a:pPr indent="0" marL="0">
              <a:buNone/>
            </a:pPr>
            <a:r>
              <a:rPr lang="en-US" sz="1600" dirty="0">
                <a:solidFill>
                  <a:schemeClr val="accent3"/>
                </a:solidFill>
              </a:rPr>
              <a:t>Add all five. Invent fictional details.</a:t>
            </a:r>
            <a:endParaRPr lang="en-US" sz="1600" dirty="0"/>
          </a:p>
        </p:txBody>
      </p:sp>
      <p:sp>
        <p:nvSpPr>
          <p:cNvPr id="24" name="num-271"/>
          <p:cNvSpPr/>
          <p:nvPr/>
        </p:nvSpPr>
        <p:spPr>
          <a:xfrm>
            <a:off x="5715000" y="3657600"/>
            <a:ext cx="548640" cy="548640"/>
          </a:xfrm>
          <a:prstGeom prst="ellipse">
            <a:avLst/>
          </a:prstGeom>
          <a:solidFill>
            <a:schemeClr val="bg1"/>
          </a:solidFill>
          <a:ln/>
        </p:spPr>
      </p:sp>
      <p:sp>
        <p:nvSpPr>
          <p:cNvPr id="25" name="text-272"/>
          <p:cNvSpPr txBox="1"/>
          <p:nvPr/>
        </p:nvSpPr>
        <p:spPr>
          <a:xfrm>
            <a:off x="5715000" y="365760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26" name="text-273"/>
          <p:cNvSpPr txBox="1"/>
          <p:nvPr/>
        </p:nvSpPr>
        <p:spPr>
          <a:xfrm>
            <a:off x="6492240" y="3639312"/>
            <a:ext cx="5120640" cy="365760"/>
          </a:xfrm>
          <a:prstGeom prst="rect">
            <a:avLst/>
          </a:prstGeom>
          <a:noFill/>
          <a:ln/>
        </p:spPr>
        <p:txBody>
          <a:bodyPr wrap="square" lIns="0" tIns="0" rIns="0" bIns="0" rtlCol="0" anchor="t"/>
          <a:lstStyle/>
          <a:p>
            <a:pPr indent="0" marL="0">
              <a:buNone/>
            </a:pPr>
            <a:r>
              <a:rPr lang="en-US" sz="1900" b="1" dirty="0">
                <a:solidFill>
                  <a:schemeClr val="bg1"/>
                </a:solidFill>
              </a:rPr>
              <a:t>Test  </a:t>
            </a:r>
            <a:pPr indent="0" marL="0">
              <a:buNone/>
            </a:pPr>
            <a:r>
              <a:rPr lang="en-US" sz="1900" dirty="0">
                <a:solidFill>
                  <a:schemeClr val="accent3"/>
                </a:solidFill>
              </a:rPr>
              <a:t>3 min</a:t>
            </a:r>
            <a:endParaRPr lang="en-US" sz="1900" dirty="0"/>
          </a:p>
        </p:txBody>
      </p:sp>
      <p:sp>
        <p:nvSpPr>
          <p:cNvPr id="27" name="text-274"/>
          <p:cNvSpPr txBox="1"/>
          <p:nvPr/>
        </p:nvSpPr>
        <p:spPr>
          <a:xfrm>
            <a:off x="6492240" y="4005072"/>
            <a:ext cx="5120640" cy="411480"/>
          </a:xfrm>
          <a:prstGeom prst="rect">
            <a:avLst/>
          </a:prstGeom>
          <a:noFill/>
          <a:ln/>
        </p:spPr>
        <p:txBody>
          <a:bodyPr wrap="square" lIns="0" tIns="0" rIns="0" bIns="0" rtlCol="0" anchor="t"/>
          <a:lstStyle/>
          <a:p>
            <a:pPr indent="0" marL="0">
              <a:buNone/>
            </a:pPr>
            <a:r>
              <a:rPr lang="en-US" sz="1600" dirty="0">
                <a:solidFill>
                  <a:schemeClr val="accent3"/>
                </a:solidFill>
              </a:rPr>
              <a:t>Run both versions in separate Gemini chats.</a:t>
            </a:r>
            <a:endParaRPr lang="en-US" sz="1600" dirty="0"/>
          </a:p>
        </p:txBody>
      </p:sp>
      <p:sp>
        <p:nvSpPr>
          <p:cNvPr id="28" name="num-275"/>
          <p:cNvSpPr/>
          <p:nvPr/>
        </p:nvSpPr>
        <p:spPr>
          <a:xfrm>
            <a:off x="5715000" y="4572000"/>
            <a:ext cx="548640" cy="548640"/>
          </a:xfrm>
          <a:prstGeom prst="ellipse">
            <a:avLst/>
          </a:prstGeom>
          <a:solidFill>
            <a:schemeClr val="bg1"/>
          </a:solidFill>
          <a:ln/>
        </p:spPr>
      </p:sp>
      <p:sp>
        <p:nvSpPr>
          <p:cNvPr id="29" name="text-276"/>
          <p:cNvSpPr txBox="1"/>
          <p:nvPr/>
        </p:nvSpPr>
        <p:spPr>
          <a:xfrm>
            <a:off x="5715000" y="457200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30" name="text-277"/>
          <p:cNvSpPr txBox="1"/>
          <p:nvPr/>
        </p:nvSpPr>
        <p:spPr>
          <a:xfrm>
            <a:off x="6492240" y="4553712"/>
            <a:ext cx="5120640" cy="365760"/>
          </a:xfrm>
          <a:prstGeom prst="rect">
            <a:avLst/>
          </a:prstGeom>
          <a:noFill/>
          <a:ln/>
        </p:spPr>
        <p:txBody>
          <a:bodyPr wrap="square" lIns="0" tIns="0" rIns="0" bIns="0" rtlCol="0" anchor="t"/>
          <a:lstStyle/>
          <a:p>
            <a:pPr indent="0" marL="0">
              <a:buNone/>
            </a:pPr>
            <a:r>
              <a:rPr lang="en-US" sz="1900" b="1" dirty="0">
                <a:solidFill>
                  <a:schemeClr val="bg1"/>
                </a:solidFill>
              </a:rPr>
              <a:t>Share  </a:t>
            </a:r>
            <a:pPr indent="0" marL="0">
              <a:buNone/>
            </a:pPr>
            <a:r>
              <a:rPr lang="en-US" sz="1900" dirty="0">
                <a:solidFill>
                  <a:schemeClr val="accent3"/>
                </a:solidFill>
              </a:rPr>
              <a:t>3 min</a:t>
            </a:r>
            <a:endParaRPr lang="en-US" sz="1900" dirty="0"/>
          </a:p>
        </p:txBody>
      </p:sp>
      <p:sp>
        <p:nvSpPr>
          <p:cNvPr id="31" name="text-278"/>
          <p:cNvSpPr txBox="1"/>
          <p:nvPr/>
        </p:nvSpPr>
        <p:spPr>
          <a:xfrm>
            <a:off x="6492240" y="4919472"/>
            <a:ext cx="5120640" cy="411480"/>
          </a:xfrm>
          <a:prstGeom prst="rect">
            <a:avLst/>
          </a:prstGeom>
          <a:noFill/>
          <a:ln/>
        </p:spPr>
        <p:txBody>
          <a:bodyPr wrap="square" lIns="0" tIns="0" rIns="0" bIns="0" rtlCol="0" anchor="t"/>
          <a:lstStyle/>
          <a:p>
            <a:pPr indent="0" marL="0">
              <a:buNone/>
            </a:pPr>
            <a:r>
              <a:rPr lang="en-US" sz="1600" dirty="0">
                <a:solidFill>
                  <a:schemeClr val="accent3"/>
                </a:solidFill>
              </a:rPr>
              <a:t>Which element made the biggest difference?</a:t>
            </a:r>
            <a:endParaRPr lang="en-US" sz="1600" dirty="0"/>
          </a:p>
        </p:txBody>
      </p:sp>
      <p:sp>
        <p:nvSpPr>
          <p:cNvPr id="32" name="text-279"/>
          <p:cNvSpPr txBox="1"/>
          <p:nvPr/>
        </p:nvSpPr>
        <p:spPr>
          <a:xfrm>
            <a:off x="548640" y="5715000"/>
            <a:ext cx="10180015" cy="411480"/>
          </a:xfrm>
          <a:prstGeom prst="rect">
            <a:avLst/>
          </a:prstGeom>
          <a:noFill/>
          <a:ln/>
        </p:spPr>
        <p:txBody>
          <a:bodyPr wrap="square" lIns="0" tIns="0" rIns="0" bIns="0" rtlCol="0" anchor="t"/>
          <a:lstStyle/>
          <a:p>
            <a:pPr indent="0" marL="0">
              <a:buNone/>
            </a:pPr>
            <a:r>
              <a:rPr lang="en-US" sz="1700" b="1" dirty="0">
                <a:solidFill>
                  <a:schemeClr val="accent1"/>
                </a:solidFill>
              </a:rPr>
              <a:t>Done when: </a:t>
            </a:r>
            <a:pPr indent="0" marL="0">
              <a:buNone/>
            </a:pPr>
            <a:r>
              <a:rPr lang="en-US" sz="1700" dirty="0">
                <a:solidFill>
                  <a:schemeClr val="bg1"/>
                </a:solidFill>
              </a:rPr>
              <a:t>your rewrite has all five elements, and you can point to one thing that got better.</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Exit question</a:t>
            </a:r>
            <a:endParaRPr lang="en-US" sz="3400" dirty="0"/>
          </a:p>
        </p:txBody>
      </p:sp>
      <p:sp>
        <p:nvSpPr>
          <p:cNvPr id="3" name="badge-280"/>
          <p:cNvSpPr/>
          <p:nvPr/>
        </p:nvSpPr>
        <p:spPr>
          <a:xfrm>
            <a:off x="10042855" y="502920"/>
            <a:ext cx="1600200" cy="457200"/>
          </a:xfrm>
          <a:prstGeom prst="roundRect">
            <a:avLst>
              <a:gd name="adj" fmla="val 50000"/>
            </a:avLst>
          </a:prstGeom>
          <a:solidFill>
            <a:schemeClr val="bg2"/>
          </a:solidFill>
          <a:ln/>
        </p:spPr>
      </p:sp>
      <p:sp>
        <p:nvSpPr>
          <p:cNvPr id="4" name="text-281"/>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Before the break</a:t>
            </a:r>
            <a:endParaRPr lang="en-US" sz="1600" dirty="0"/>
          </a:p>
        </p:txBody>
      </p:sp>
      <p:sp>
        <p:nvSpPr>
          <p:cNvPr id="5" name="card-282"/>
          <p:cNvSpPr/>
          <p:nvPr/>
        </p:nvSpPr>
        <p:spPr>
          <a:xfrm>
            <a:off x="548640" y="1554480"/>
            <a:ext cx="5486400" cy="2377440"/>
          </a:xfrm>
          <a:prstGeom prst="roundRect">
            <a:avLst>
              <a:gd name="adj" fmla="val 4615"/>
            </a:avLst>
          </a:prstGeom>
          <a:solidFill>
            <a:schemeClr val="tx1"/>
          </a:solidFill>
          <a:ln/>
        </p:spPr>
      </p:sp>
      <p:sp>
        <p:nvSpPr>
          <p:cNvPr id="6" name="text-283"/>
          <p:cNvSpPr txBox="1"/>
          <p:nvPr/>
        </p:nvSpPr>
        <p:spPr>
          <a:xfrm>
            <a:off x="822960" y="1755648"/>
            <a:ext cx="49377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PROMPT</a:t>
            </a:r>
            <a:endParaRPr lang="en-US" sz="1200" dirty="0"/>
          </a:p>
        </p:txBody>
      </p:sp>
      <p:sp>
        <p:nvSpPr>
          <p:cNvPr id="7" name="text-284"/>
          <p:cNvSpPr txBox="1"/>
          <p:nvPr/>
        </p:nvSpPr>
        <p:spPr>
          <a:xfrm>
            <a:off x="822960" y="2084832"/>
            <a:ext cx="4937760" cy="1664208"/>
          </a:xfrm>
          <a:prstGeom prst="rect">
            <a:avLst/>
          </a:prstGeom>
          <a:noFill/>
          <a:ln/>
        </p:spPr>
        <p:txBody>
          <a:bodyPr wrap="square" lIns="0" tIns="0" rIns="0" bIns="0" rtlCol="0" anchor="t"/>
          <a:lstStyle/>
          <a:p>
            <a:pPr indent="0" marL="0">
              <a:spcAft>
                <a:spcPts val="200"/>
              </a:spcAft>
              <a:buNone/>
            </a:pPr>
            <a:r>
              <a:rPr lang="en-US" sz="1900" dirty="0">
                <a:solidFill>
                  <a:schemeClr val="bg1"/>
                </a:solidFill>
                <a:latin typeface="Courier New" pitchFamily="34" charset="0"/>
                <a:ea typeface="Courier New" pitchFamily="34" charset="-122"/>
                <a:cs typeface="Courier New" pitchFamily="34" charset="-120"/>
              </a:rPr>
              <a:t>Write a short, friendly reminder for our volunteers about Saturday's food drive.</a:t>
            </a:r>
            <a:endParaRPr lang="en-US" sz="1900" dirty="0"/>
          </a:p>
        </p:txBody>
      </p:sp>
      <p:sp>
        <p:nvSpPr>
          <p:cNvPr id="8" name="text-285"/>
          <p:cNvSpPr txBox="1"/>
          <p:nvPr/>
        </p:nvSpPr>
        <p:spPr>
          <a:xfrm>
            <a:off x="6537960" y="1600200"/>
            <a:ext cx="457200" cy="640080"/>
          </a:xfrm>
          <a:prstGeom prst="rect">
            <a:avLst/>
          </a:prstGeom>
          <a:noFill/>
          <a:ln/>
        </p:spPr>
        <p:txBody>
          <a:bodyPr wrap="square" lIns="0" tIns="0" rIns="0" bIns="0" rtlCol="0" anchor="t"/>
          <a:lstStyle/>
          <a:p>
            <a:pPr indent="0" marL="0">
              <a:buNone/>
            </a:pPr>
            <a:r>
              <a:rPr lang="en-US" sz="3600" b="1" dirty="0">
                <a:solidFill>
                  <a:schemeClr val="accent1"/>
                </a:solidFill>
              </a:rPr>
              <a:t>1</a:t>
            </a:r>
            <a:endParaRPr lang="en-US" sz="3600" dirty="0"/>
          </a:p>
        </p:txBody>
      </p:sp>
      <p:sp>
        <p:nvSpPr>
          <p:cNvPr id="9" name="text-286"/>
          <p:cNvSpPr txBox="1"/>
          <p:nvPr/>
        </p:nvSpPr>
        <p:spPr>
          <a:xfrm>
            <a:off x="7086600" y="1691640"/>
            <a:ext cx="4572000" cy="914400"/>
          </a:xfrm>
          <a:prstGeom prst="rect">
            <a:avLst/>
          </a:prstGeom>
          <a:noFill/>
          <a:ln/>
        </p:spPr>
        <p:txBody>
          <a:bodyPr wrap="square" lIns="0" tIns="0" rIns="0" bIns="0" rtlCol="0" anchor="t"/>
          <a:lstStyle/>
          <a:p>
            <a:pPr indent="0" marL="0">
              <a:buNone/>
            </a:pPr>
            <a:r>
              <a:rPr lang="en-US" sz="2400" b="1" dirty="0">
                <a:solidFill>
                  <a:schemeClr val="tx1"/>
                </a:solidFill>
              </a:rPr>
              <a:t>What will Gemini have to invent?</a:t>
            </a:r>
            <a:endParaRPr lang="en-US" sz="2400" dirty="0"/>
          </a:p>
        </p:txBody>
      </p:sp>
      <p:sp>
        <p:nvSpPr>
          <p:cNvPr id="10" name="text-287"/>
          <p:cNvSpPr txBox="1"/>
          <p:nvPr/>
        </p:nvSpPr>
        <p:spPr>
          <a:xfrm>
            <a:off x="6537960" y="2788920"/>
            <a:ext cx="457200" cy="640080"/>
          </a:xfrm>
          <a:prstGeom prst="rect">
            <a:avLst/>
          </a:prstGeom>
          <a:noFill/>
          <a:ln/>
        </p:spPr>
        <p:txBody>
          <a:bodyPr wrap="square" lIns="0" tIns="0" rIns="0" bIns="0" rtlCol="0" anchor="t"/>
          <a:lstStyle/>
          <a:p>
            <a:pPr indent="0" marL="0">
              <a:buNone/>
            </a:pPr>
            <a:r>
              <a:rPr lang="en-US" sz="3600" b="1" dirty="0">
                <a:solidFill>
                  <a:schemeClr val="accent1"/>
                </a:solidFill>
              </a:rPr>
              <a:t>2</a:t>
            </a:r>
            <a:endParaRPr lang="en-US" sz="3600" dirty="0"/>
          </a:p>
        </p:txBody>
      </p:sp>
      <p:sp>
        <p:nvSpPr>
          <p:cNvPr id="11" name="text-288"/>
          <p:cNvSpPr txBox="1"/>
          <p:nvPr/>
        </p:nvSpPr>
        <p:spPr>
          <a:xfrm>
            <a:off x="7086600" y="2880360"/>
            <a:ext cx="4572000" cy="914400"/>
          </a:xfrm>
          <a:prstGeom prst="rect">
            <a:avLst/>
          </a:prstGeom>
          <a:noFill/>
          <a:ln/>
        </p:spPr>
        <p:txBody>
          <a:bodyPr wrap="square" lIns="0" tIns="0" rIns="0" bIns="0" rtlCol="0" anchor="t"/>
          <a:lstStyle/>
          <a:p>
            <a:pPr indent="0" marL="0">
              <a:buNone/>
            </a:pPr>
            <a:r>
              <a:rPr lang="en-US" sz="2400" b="1" dirty="0">
                <a:solidFill>
                  <a:schemeClr val="tx1"/>
                </a:solidFill>
              </a:rPr>
              <a:t>Which CRAFT element is missing?</a:t>
            </a:r>
            <a:endParaRPr lang="en-US" sz="2400" dirty="0"/>
          </a:p>
        </p:txBody>
      </p:sp>
      <p:pic>
        <p:nvPicPr>
          <p:cNvPr id="12" name="icon-289" descr="preencoded.png">    </p:cNvPr>
          <p:cNvPicPr>
            <a:picLocks noChangeAspect="1"/>
          </p:cNvPicPr>
          <p:nvPr/>
        </p:nvPicPr>
        <p:blipFill>
          <a:blip r:embed="rId1"/>
          <a:stretch>
            <a:fillRect/>
          </a:stretch>
        </p:blipFill>
        <p:spPr>
          <a:xfrm>
            <a:off x="548640" y="4434840"/>
            <a:ext cx="548640" cy="548640"/>
          </a:xfrm>
          <a:prstGeom prst="rect">
            <a:avLst/>
          </a:prstGeom>
        </p:spPr>
      </p:pic>
      <p:sp>
        <p:nvSpPr>
          <p:cNvPr id="13" name="text-290"/>
          <p:cNvSpPr txBox="1"/>
          <p:nvPr/>
        </p:nvSpPr>
        <p:spPr>
          <a:xfrm>
            <a:off x="1325880" y="4434840"/>
            <a:ext cx="9144000" cy="548640"/>
          </a:xfrm>
          <a:prstGeom prst="rect">
            <a:avLst/>
          </a:prstGeom>
          <a:noFill/>
          <a:ln/>
        </p:spPr>
        <p:txBody>
          <a:bodyPr wrap="square" lIns="0" tIns="0" rIns="0" bIns="0" rtlCol="0" anchor="ctr"/>
          <a:lstStyle/>
          <a:p>
            <a:pPr indent="0" marL="0">
              <a:buNone/>
            </a:pPr>
            <a:r>
              <a:rPr lang="en-US" sz="1900" dirty="0">
                <a:solidFill>
                  <a:schemeClr val="tx1"/>
                </a:solidFill>
              </a:rPr>
              <a:t>Write your answer on a sticky note and hand it in on your way to the break.</a:t>
            </a:r>
            <a:endParaRPr lang="en-US" sz="19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1234440"/>
            <a:ext cx="3657600" cy="1554480"/>
          </a:xfrm>
          <a:prstGeom prst="rect">
            <a:avLst/>
          </a:prstGeom>
          <a:noFill/>
          <a:ln/>
        </p:spPr>
        <p:txBody>
          <a:bodyPr wrap="square" lIns="0" tIns="0" rIns="0" bIns="0" rtlCol="0" anchor="b"/>
          <a:lstStyle/>
          <a:p>
            <a:pPr algn="l" indent="0" marL="0">
              <a:buNone/>
            </a:pPr>
            <a:r>
              <a:rPr lang="en-US" sz="11000" b="1" dirty="0">
                <a:solidFill>
                  <a:schemeClr val="accent1"/>
                </a:solidFill>
              </a:rPr>
              <a:t>02</a:t>
            </a:r>
            <a:endParaRPr lang="en-US" sz="11000" dirty="0"/>
          </a:p>
        </p:txBody>
      </p:sp>
      <p:sp>
        <p:nvSpPr>
          <p:cNvPr id="3" name="Text 0"/>
          <p:cNvSpPr/>
          <p:nvPr>
            <p:ph idx="102" type="title" hasCustomPrompt="1"/>
          </p:nvPr>
        </p:nvSpPr>
        <p:spPr>
          <a:xfrm>
            <a:off x="548640" y="2926080"/>
            <a:ext cx="10515600" cy="1005840"/>
          </a:xfrm>
          <a:prstGeom prst="rect">
            <a:avLst/>
          </a:prstGeom>
          <a:noFill/>
          <a:ln/>
        </p:spPr>
        <p:txBody>
          <a:bodyPr wrap="square" lIns="0" tIns="0" rIns="0" bIns="0" rtlCol="0" anchor="t"/>
          <a:lstStyle/>
          <a:p>
            <a:pPr algn="l" indent="0" marL="0">
              <a:buNone/>
            </a:pPr>
            <a:r>
              <a:rPr lang="en-US" sz="5000" b="1" dirty="0">
                <a:solidFill>
                  <a:schemeClr val="bg1"/>
                </a:solidFill>
              </a:rPr>
              <a:t>Core skills</a:t>
            </a:r>
            <a:endParaRPr lang="en-US" sz="5000" dirty="0"/>
          </a:p>
        </p:txBody>
      </p:sp>
      <p:sp>
        <p:nvSpPr>
          <p:cNvPr id="4" name="Text 0"/>
          <p:cNvSpPr/>
          <p:nvPr>
            <p:ph idx="103" type="body" hasCustomPrompt="1"/>
          </p:nvPr>
        </p:nvSpPr>
        <p:spPr>
          <a:xfrm>
            <a:off x="548640" y="3931920"/>
            <a:ext cx="10515600" cy="640080"/>
          </a:xfrm>
          <a:prstGeom prst="rect">
            <a:avLst/>
          </a:prstGeom>
          <a:noFill/>
          <a:ln/>
        </p:spPr>
        <p:txBody>
          <a:bodyPr wrap="square" lIns="0" tIns="0" rIns="0" bIns="0" rtlCol="0" anchor="t"/>
          <a:lstStyle/>
          <a:p>
            <a:pPr algn="l" indent="0" marL="0">
              <a:buNone/>
            </a:pPr>
            <a:r>
              <a:rPr lang="en-US" sz="2600" dirty="0">
                <a:solidFill>
                  <a:schemeClr val="accent3"/>
                </a:solidFill>
              </a:rPr>
              <a:t>Prompt engineering techniques in Gemini</a:t>
            </a:r>
            <a:endParaRPr lang="en-US" sz="2600" dirty="0"/>
          </a:p>
        </p:txBody>
      </p:sp>
      <p:sp>
        <p:nvSpPr>
          <p:cNvPr id="5" name="Text 0"/>
          <p:cNvSpPr/>
          <p:nvPr>
            <p:ph idx="104" type="body" hasCustomPrompt="1"/>
          </p:nvPr>
        </p:nvSpPr>
        <p:spPr>
          <a:xfrm>
            <a:off x="548640" y="4983480"/>
            <a:ext cx="5486400" cy="411480"/>
          </a:xfrm>
          <a:prstGeom prst="rect">
            <a:avLst/>
          </a:prstGeom>
          <a:noFill/>
          <a:ln/>
        </p:spPr>
        <p:txBody>
          <a:bodyPr wrap="square" lIns="0" tIns="0" rIns="0" bIns="0" rtlCol="0" anchor="t"/>
          <a:lstStyle/>
          <a:p>
            <a:pPr algn="l" indent="0" marL="0">
              <a:buNone/>
            </a:pPr>
            <a:r>
              <a:rPr lang="en-US" sz="1600" dirty="0">
                <a:solidFill>
                  <a:schemeClr val="accent3"/>
                </a:solidFill>
              </a:rPr>
              <a:t>10:45 a.m. – 12:00 p.m.</a:t>
            </a:r>
            <a:endParaRPr lang="en-US" sz="1600" dirty="0"/>
          </a:p>
        </p:txBody>
      </p:sp>
      <p:sp>
        <p:nvSpPr>
          <p:cNvPr id="6" name="text-291"/>
          <p:cNvSpPr txBox="1"/>
          <p:nvPr/>
        </p:nvSpPr>
        <p:spPr>
          <a:xfrm>
            <a:off x="5486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00 Welcome</a:t>
            </a:r>
            <a:endParaRPr lang="en-US" sz="1300" dirty="0"/>
          </a:p>
        </p:txBody>
      </p:sp>
      <p:sp>
        <p:nvSpPr>
          <p:cNvPr id="7" name="progress-292"/>
          <p:cNvSpPr/>
          <p:nvPr/>
        </p:nvSpPr>
        <p:spPr>
          <a:xfrm>
            <a:off x="548640" y="5897880"/>
            <a:ext cx="1508760" cy="45720"/>
          </a:xfrm>
          <a:prstGeom prst="rect">
            <a:avLst/>
          </a:prstGeom>
          <a:solidFill>
            <a:schemeClr val="accent2"/>
          </a:solidFill>
          <a:ln/>
        </p:spPr>
      </p:sp>
      <p:sp>
        <p:nvSpPr>
          <p:cNvPr id="8" name="text-293"/>
          <p:cNvSpPr txBox="1"/>
          <p:nvPr/>
        </p:nvSpPr>
        <p:spPr>
          <a:xfrm>
            <a:off x="219456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01 Foundations</a:t>
            </a:r>
            <a:endParaRPr lang="en-US" sz="1300" dirty="0"/>
          </a:p>
        </p:txBody>
      </p:sp>
      <p:sp>
        <p:nvSpPr>
          <p:cNvPr id="9" name="progress-294"/>
          <p:cNvSpPr/>
          <p:nvPr/>
        </p:nvSpPr>
        <p:spPr>
          <a:xfrm>
            <a:off x="2194560" y="5897880"/>
            <a:ext cx="1508760" cy="45720"/>
          </a:xfrm>
          <a:prstGeom prst="rect">
            <a:avLst/>
          </a:prstGeom>
          <a:solidFill>
            <a:schemeClr val="accent2"/>
          </a:solidFill>
          <a:ln/>
        </p:spPr>
      </p:sp>
      <p:sp>
        <p:nvSpPr>
          <p:cNvPr id="10" name="text-295"/>
          <p:cNvSpPr txBox="1"/>
          <p:nvPr/>
        </p:nvSpPr>
        <p:spPr>
          <a:xfrm>
            <a:off x="3840480" y="5989320"/>
            <a:ext cx="1554480" cy="320040"/>
          </a:xfrm>
          <a:prstGeom prst="rect">
            <a:avLst/>
          </a:prstGeom>
          <a:noFill/>
          <a:ln/>
        </p:spPr>
        <p:txBody>
          <a:bodyPr wrap="square" lIns="0" tIns="0" rIns="0" bIns="0" rtlCol="0" anchor="t"/>
          <a:lstStyle/>
          <a:p>
            <a:pPr indent="0" marL="0">
              <a:buNone/>
            </a:pPr>
            <a:r>
              <a:rPr lang="en-US" sz="1300" b="1" dirty="0">
                <a:solidFill>
                  <a:schemeClr val="bg1"/>
                </a:solidFill>
              </a:rPr>
              <a:t>02 Core skills</a:t>
            </a:r>
            <a:endParaRPr lang="en-US" sz="1300" dirty="0"/>
          </a:p>
        </p:txBody>
      </p:sp>
      <p:sp>
        <p:nvSpPr>
          <p:cNvPr id="11" name="progress-296"/>
          <p:cNvSpPr/>
          <p:nvPr/>
        </p:nvSpPr>
        <p:spPr>
          <a:xfrm>
            <a:off x="3840480" y="5897880"/>
            <a:ext cx="1508760" cy="45720"/>
          </a:xfrm>
          <a:prstGeom prst="rect">
            <a:avLst/>
          </a:prstGeom>
          <a:solidFill>
            <a:schemeClr val="accent1"/>
          </a:solidFill>
          <a:ln/>
        </p:spPr>
      </p:sp>
      <p:sp>
        <p:nvSpPr>
          <p:cNvPr id="12" name="text-297"/>
          <p:cNvSpPr txBox="1"/>
          <p:nvPr/>
        </p:nvSpPr>
        <p:spPr>
          <a:xfrm>
            <a:off x="548640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03 Applied practice</a:t>
            </a:r>
            <a:endParaRPr lang="en-US" sz="1300" dirty="0"/>
          </a:p>
        </p:txBody>
      </p:sp>
      <p:sp>
        <p:nvSpPr>
          <p:cNvPr id="13" name="progress-298"/>
          <p:cNvSpPr/>
          <p:nvPr/>
        </p:nvSpPr>
        <p:spPr>
          <a:xfrm>
            <a:off x="5486400" y="5897880"/>
            <a:ext cx="1508760" cy="45720"/>
          </a:xfrm>
          <a:prstGeom prst="rect">
            <a:avLst/>
          </a:prstGeom>
          <a:solidFill>
            <a:schemeClr val="accent2"/>
          </a:solidFill>
          <a:ln/>
        </p:spPr>
      </p:sp>
      <p:sp>
        <p:nvSpPr>
          <p:cNvPr id="14" name="text-299"/>
          <p:cNvSpPr txBox="1"/>
          <p:nvPr/>
        </p:nvSpPr>
        <p:spPr>
          <a:xfrm>
            <a:off x="713232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04 Capstone</a:t>
            </a:r>
            <a:endParaRPr lang="en-US" sz="1300" dirty="0"/>
          </a:p>
        </p:txBody>
      </p:sp>
      <p:sp>
        <p:nvSpPr>
          <p:cNvPr id="15" name="progress-300"/>
          <p:cNvSpPr/>
          <p:nvPr/>
        </p:nvSpPr>
        <p:spPr>
          <a:xfrm>
            <a:off x="7132320" y="5897880"/>
            <a:ext cx="1508760" cy="45720"/>
          </a:xfrm>
          <a:prstGeom prst="rect">
            <a:avLst/>
          </a:prstGeom>
          <a:solidFill>
            <a:schemeClr val="accent2"/>
          </a:solidFill>
          <a:ln/>
        </p:spPr>
      </p:sp>
      <p:sp>
        <p:nvSpPr>
          <p:cNvPr id="16" name="text-301"/>
          <p:cNvSpPr txBox="1"/>
          <p:nvPr/>
        </p:nvSpPr>
        <p:spPr>
          <a:xfrm>
            <a:off x="87782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05 Wrap-up</a:t>
            </a:r>
            <a:endParaRPr lang="en-US" sz="1300" dirty="0"/>
          </a:p>
        </p:txBody>
      </p:sp>
      <p:sp>
        <p:nvSpPr>
          <p:cNvPr id="17" name="progress-302"/>
          <p:cNvSpPr/>
          <p:nvPr/>
        </p:nvSpPr>
        <p:spPr>
          <a:xfrm>
            <a:off x="8778240" y="5897880"/>
            <a:ext cx="1508760" cy="45720"/>
          </a:xfrm>
          <a:prstGeom prst="rect">
            <a:avLst/>
          </a:prstGeom>
          <a:solidFill>
            <a:schemeClr val="accent2"/>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Show and ground: four techniques</a:t>
            </a:r>
            <a:endParaRPr lang="en-US" sz="3400" dirty="0"/>
          </a:p>
        </p:txBody>
      </p:sp>
      <p:sp>
        <p:nvSpPr>
          <p:cNvPr id="3" name="card-303"/>
          <p:cNvSpPr/>
          <p:nvPr/>
        </p:nvSpPr>
        <p:spPr>
          <a:xfrm>
            <a:off x="548640" y="1463040"/>
            <a:ext cx="2567864" cy="4572000"/>
          </a:xfrm>
          <a:prstGeom prst="roundRect">
            <a:avLst>
              <a:gd name="adj" fmla="val 4273"/>
            </a:avLst>
          </a:prstGeom>
          <a:solidFill>
            <a:schemeClr val="bg2"/>
          </a:solidFill>
          <a:ln/>
        </p:spPr>
      </p:sp>
      <p:sp>
        <p:nvSpPr>
          <p:cNvPr id="4" name="dot-304"/>
          <p:cNvSpPr/>
          <p:nvPr/>
        </p:nvSpPr>
        <p:spPr>
          <a:xfrm>
            <a:off x="822960" y="1737360"/>
            <a:ext cx="685800" cy="685800"/>
          </a:xfrm>
          <a:prstGeom prst="ellipse">
            <a:avLst/>
          </a:prstGeom>
          <a:solidFill>
            <a:schemeClr val="tx1"/>
          </a:solidFill>
          <a:ln/>
        </p:spPr>
      </p:sp>
      <p:pic>
        <p:nvPicPr>
          <p:cNvPr id="5" name="icon-305" descr="preencoded.png">    </p:cNvPr>
          <p:cNvPicPr>
            <a:picLocks noChangeAspect="1"/>
          </p:cNvPicPr>
          <p:nvPr/>
        </p:nvPicPr>
        <p:blipFill>
          <a:blip r:embed="rId1"/>
          <a:stretch>
            <a:fillRect/>
          </a:stretch>
        </p:blipFill>
        <p:spPr>
          <a:xfrm>
            <a:off x="973836" y="1888236"/>
            <a:ext cx="384048" cy="384048"/>
          </a:xfrm>
          <a:prstGeom prst="rect">
            <a:avLst/>
          </a:prstGeom>
        </p:spPr>
      </p:pic>
      <p:sp>
        <p:nvSpPr>
          <p:cNvPr id="6" name="text-306"/>
          <p:cNvSpPr txBox="1"/>
          <p:nvPr/>
        </p:nvSpPr>
        <p:spPr>
          <a:xfrm>
            <a:off x="822960" y="2606040"/>
            <a:ext cx="2110664" cy="457200"/>
          </a:xfrm>
          <a:prstGeom prst="rect">
            <a:avLst/>
          </a:prstGeom>
          <a:noFill/>
          <a:ln/>
        </p:spPr>
        <p:txBody>
          <a:bodyPr wrap="square" lIns="0" tIns="0" rIns="0" bIns="0" rtlCol="0" anchor="t"/>
          <a:lstStyle/>
          <a:p>
            <a:pPr indent="0" marL="0">
              <a:buNone/>
            </a:pPr>
            <a:r>
              <a:rPr lang="en-US" sz="2100" b="1" dirty="0">
                <a:solidFill>
                  <a:schemeClr val="tx1"/>
                </a:solidFill>
              </a:rPr>
              <a:t>Give an example</a:t>
            </a:r>
            <a:endParaRPr lang="en-US" sz="2100" dirty="0"/>
          </a:p>
        </p:txBody>
      </p:sp>
      <p:sp>
        <p:nvSpPr>
          <p:cNvPr id="7" name="text-307"/>
          <p:cNvSpPr txBox="1"/>
          <p:nvPr/>
        </p:nvSpPr>
        <p:spPr>
          <a:xfrm>
            <a:off x="822960" y="3154680"/>
            <a:ext cx="2110664" cy="1188720"/>
          </a:xfrm>
          <a:prstGeom prst="rect">
            <a:avLst/>
          </a:prstGeom>
          <a:noFill/>
          <a:ln/>
        </p:spPr>
        <p:txBody>
          <a:bodyPr wrap="square" lIns="0" tIns="0" rIns="0" bIns="0" rtlCol="0" anchor="t"/>
          <a:lstStyle/>
          <a:p>
            <a:pPr indent="0" marL="0">
              <a:buNone/>
            </a:pPr>
            <a:r>
              <a:rPr lang="en-US" sz="1600" dirty="0">
                <a:solidFill>
                  <a:schemeClr val="tx2"/>
                </a:solidFill>
              </a:rPr>
              <a:t>Show one to three samples of what you want.</a:t>
            </a:r>
            <a:endParaRPr lang="en-US" sz="1600" dirty="0"/>
          </a:p>
        </p:txBody>
      </p:sp>
      <p:sp>
        <p:nvSpPr>
          <p:cNvPr id="8" name="card-308"/>
          <p:cNvSpPr/>
          <p:nvPr/>
        </p:nvSpPr>
        <p:spPr>
          <a:xfrm>
            <a:off x="777240" y="4526280"/>
            <a:ext cx="2110664" cy="1234440"/>
          </a:xfrm>
          <a:prstGeom prst="roundRect">
            <a:avLst>
              <a:gd name="adj" fmla="val 5926"/>
            </a:avLst>
          </a:prstGeom>
          <a:solidFill>
            <a:schemeClr val="tx1"/>
          </a:solidFill>
          <a:ln/>
        </p:spPr>
      </p:sp>
      <p:sp>
        <p:nvSpPr>
          <p:cNvPr id="9" name="text-309"/>
          <p:cNvSpPr txBox="1"/>
          <p:nvPr/>
        </p:nvSpPr>
        <p:spPr>
          <a:xfrm>
            <a:off x="960120" y="4663440"/>
            <a:ext cx="1744904" cy="10058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Example: …</a:t>
            </a:r>
            <a:endParaRPr lang="en-US" sz="1400" dirty="0"/>
          </a:p>
        </p:txBody>
      </p:sp>
      <p:sp>
        <p:nvSpPr>
          <p:cNvPr id="10" name="card-310"/>
          <p:cNvSpPr/>
          <p:nvPr/>
        </p:nvSpPr>
        <p:spPr>
          <a:xfrm>
            <a:off x="3390824" y="1463040"/>
            <a:ext cx="2567864" cy="4572000"/>
          </a:xfrm>
          <a:prstGeom prst="roundRect">
            <a:avLst>
              <a:gd name="adj" fmla="val 4273"/>
            </a:avLst>
          </a:prstGeom>
          <a:solidFill>
            <a:schemeClr val="bg2"/>
          </a:solidFill>
          <a:ln/>
        </p:spPr>
      </p:sp>
      <p:sp>
        <p:nvSpPr>
          <p:cNvPr id="11" name="dot-311"/>
          <p:cNvSpPr/>
          <p:nvPr/>
        </p:nvSpPr>
        <p:spPr>
          <a:xfrm>
            <a:off x="3665144" y="1737360"/>
            <a:ext cx="685800" cy="685800"/>
          </a:xfrm>
          <a:prstGeom prst="ellipse">
            <a:avLst/>
          </a:prstGeom>
          <a:solidFill>
            <a:schemeClr val="tx1"/>
          </a:solidFill>
          <a:ln/>
        </p:spPr>
      </p:sp>
      <p:pic>
        <p:nvPicPr>
          <p:cNvPr id="12" name="icon-312" descr="preencoded.png">    </p:cNvPr>
          <p:cNvPicPr>
            <a:picLocks noChangeAspect="1"/>
          </p:cNvPicPr>
          <p:nvPr/>
        </p:nvPicPr>
        <p:blipFill>
          <a:blip r:embed="rId2"/>
          <a:stretch>
            <a:fillRect/>
          </a:stretch>
        </p:blipFill>
        <p:spPr>
          <a:xfrm>
            <a:off x="3816020" y="1888236"/>
            <a:ext cx="384048" cy="384048"/>
          </a:xfrm>
          <a:prstGeom prst="rect">
            <a:avLst/>
          </a:prstGeom>
        </p:spPr>
      </p:pic>
      <p:sp>
        <p:nvSpPr>
          <p:cNvPr id="13" name="text-313"/>
          <p:cNvSpPr txBox="1"/>
          <p:nvPr/>
        </p:nvSpPr>
        <p:spPr>
          <a:xfrm>
            <a:off x="3665144" y="2606040"/>
            <a:ext cx="2110664" cy="457200"/>
          </a:xfrm>
          <a:prstGeom prst="rect">
            <a:avLst/>
          </a:prstGeom>
          <a:noFill/>
          <a:ln/>
        </p:spPr>
        <p:txBody>
          <a:bodyPr wrap="square" lIns="0" tIns="0" rIns="0" bIns="0" rtlCol="0" anchor="t"/>
          <a:lstStyle/>
          <a:p>
            <a:pPr indent="0" marL="0">
              <a:buNone/>
            </a:pPr>
            <a:r>
              <a:rPr lang="en-US" sz="2100" b="1" dirty="0">
                <a:solidFill>
                  <a:schemeClr val="tx1"/>
                </a:solidFill>
              </a:rPr>
              <a:t>Fence the source</a:t>
            </a:r>
            <a:endParaRPr lang="en-US" sz="2100" dirty="0"/>
          </a:p>
        </p:txBody>
      </p:sp>
      <p:sp>
        <p:nvSpPr>
          <p:cNvPr id="14" name="text-314"/>
          <p:cNvSpPr txBox="1"/>
          <p:nvPr/>
        </p:nvSpPr>
        <p:spPr>
          <a:xfrm>
            <a:off x="3665144" y="3154680"/>
            <a:ext cx="2110664" cy="1188720"/>
          </a:xfrm>
          <a:prstGeom prst="rect">
            <a:avLst/>
          </a:prstGeom>
          <a:noFill/>
          <a:ln/>
        </p:spPr>
        <p:txBody>
          <a:bodyPr wrap="square" lIns="0" tIns="0" rIns="0" bIns="0" rtlCol="0" anchor="t"/>
          <a:lstStyle/>
          <a:p>
            <a:pPr indent="0" marL="0">
              <a:buNone/>
            </a:pPr>
            <a:r>
              <a:rPr lang="en-US" sz="1600" dirty="0">
                <a:solidFill>
                  <a:schemeClr val="tx2"/>
                </a:solidFill>
              </a:rPr>
              <a:t>Put pasted material between clear markers.</a:t>
            </a:r>
            <a:endParaRPr lang="en-US" sz="1600" dirty="0"/>
          </a:p>
        </p:txBody>
      </p:sp>
      <p:sp>
        <p:nvSpPr>
          <p:cNvPr id="15" name="card-315"/>
          <p:cNvSpPr/>
          <p:nvPr/>
        </p:nvSpPr>
        <p:spPr>
          <a:xfrm>
            <a:off x="3619424" y="4526280"/>
            <a:ext cx="2110664" cy="1234440"/>
          </a:xfrm>
          <a:prstGeom prst="roundRect">
            <a:avLst>
              <a:gd name="adj" fmla="val 5926"/>
            </a:avLst>
          </a:prstGeom>
          <a:solidFill>
            <a:schemeClr val="tx1"/>
          </a:solidFill>
          <a:ln/>
        </p:spPr>
      </p:sp>
      <p:sp>
        <p:nvSpPr>
          <p:cNvPr id="16" name="text-316"/>
          <p:cNvSpPr txBox="1"/>
          <p:nvPr/>
        </p:nvSpPr>
        <p:spPr>
          <a:xfrm>
            <a:off x="3802304" y="4663440"/>
            <a:ext cx="1744904" cy="10058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17" name="card-317"/>
          <p:cNvSpPr/>
          <p:nvPr/>
        </p:nvSpPr>
        <p:spPr>
          <a:xfrm>
            <a:off x="6233008" y="1463040"/>
            <a:ext cx="2567864" cy="4572000"/>
          </a:xfrm>
          <a:prstGeom prst="roundRect">
            <a:avLst>
              <a:gd name="adj" fmla="val 4273"/>
            </a:avLst>
          </a:prstGeom>
          <a:solidFill>
            <a:schemeClr val="bg2"/>
          </a:solidFill>
          <a:ln/>
        </p:spPr>
      </p:sp>
      <p:sp>
        <p:nvSpPr>
          <p:cNvPr id="18" name="dot-318"/>
          <p:cNvSpPr/>
          <p:nvPr/>
        </p:nvSpPr>
        <p:spPr>
          <a:xfrm>
            <a:off x="6507328" y="1737360"/>
            <a:ext cx="685800" cy="685800"/>
          </a:xfrm>
          <a:prstGeom prst="ellipse">
            <a:avLst/>
          </a:prstGeom>
          <a:solidFill>
            <a:schemeClr val="accent1"/>
          </a:solidFill>
          <a:ln/>
        </p:spPr>
      </p:sp>
      <p:pic>
        <p:nvPicPr>
          <p:cNvPr id="19" name="icon-319" descr="preencoded.png">    </p:cNvPr>
          <p:cNvPicPr>
            <a:picLocks noChangeAspect="1"/>
          </p:cNvPicPr>
          <p:nvPr/>
        </p:nvPicPr>
        <p:blipFill>
          <a:blip r:embed="rId3"/>
          <a:stretch>
            <a:fillRect/>
          </a:stretch>
        </p:blipFill>
        <p:spPr>
          <a:xfrm>
            <a:off x="6658204" y="1888236"/>
            <a:ext cx="384048" cy="384048"/>
          </a:xfrm>
          <a:prstGeom prst="rect">
            <a:avLst/>
          </a:prstGeom>
        </p:spPr>
      </p:pic>
      <p:sp>
        <p:nvSpPr>
          <p:cNvPr id="20" name="text-320"/>
          <p:cNvSpPr txBox="1"/>
          <p:nvPr/>
        </p:nvSpPr>
        <p:spPr>
          <a:xfrm>
            <a:off x="6507328" y="2606040"/>
            <a:ext cx="2110664" cy="457200"/>
          </a:xfrm>
          <a:prstGeom prst="rect">
            <a:avLst/>
          </a:prstGeom>
          <a:noFill/>
          <a:ln/>
        </p:spPr>
        <p:txBody>
          <a:bodyPr wrap="square" lIns="0" tIns="0" rIns="0" bIns="0" rtlCol="0" anchor="t"/>
          <a:lstStyle/>
          <a:p>
            <a:pPr indent="0" marL="0">
              <a:buNone/>
            </a:pPr>
            <a:r>
              <a:rPr lang="en-US" sz="2100" b="1" dirty="0">
                <a:solidFill>
                  <a:schemeClr val="tx1"/>
                </a:solidFill>
              </a:rPr>
              <a:t>Ground it</a:t>
            </a:r>
            <a:endParaRPr lang="en-US" sz="2100" dirty="0"/>
          </a:p>
        </p:txBody>
      </p:sp>
      <p:sp>
        <p:nvSpPr>
          <p:cNvPr id="21" name="text-321"/>
          <p:cNvSpPr txBox="1"/>
          <p:nvPr/>
        </p:nvSpPr>
        <p:spPr>
          <a:xfrm>
            <a:off x="6507328" y="3154680"/>
            <a:ext cx="2110664" cy="1188720"/>
          </a:xfrm>
          <a:prstGeom prst="rect">
            <a:avLst/>
          </a:prstGeom>
          <a:noFill/>
          <a:ln/>
        </p:spPr>
        <p:txBody>
          <a:bodyPr wrap="square" lIns="0" tIns="0" rIns="0" bIns="0" rtlCol="0" anchor="t"/>
          <a:lstStyle/>
          <a:p>
            <a:pPr indent="0" marL="0">
              <a:buNone/>
            </a:pPr>
            <a:r>
              <a:rPr lang="en-US" sz="1600" dirty="0">
                <a:solidFill>
                  <a:schemeClr val="tx2"/>
                </a:solidFill>
              </a:rPr>
              <a:t>Say: use only my material, and what to do if something's missing.</a:t>
            </a:r>
            <a:endParaRPr lang="en-US" sz="1600" dirty="0"/>
          </a:p>
        </p:txBody>
      </p:sp>
      <p:sp>
        <p:nvSpPr>
          <p:cNvPr id="22" name="card-322"/>
          <p:cNvSpPr/>
          <p:nvPr/>
        </p:nvSpPr>
        <p:spPr>
          <a:xfrm>
            <a:off x="6461608" y="4526280"/>
            <a:ext cx="2110664" cy="1234440"/>
          </a:xfrm>
          <a:prstGeom prst="roundRect">
            <a:avLst>
              <a:gd name="adj" fmla="val 5926"/>
            </a:avLst>
          </a:prstGeom>
          <a:solidFill>
            <a:schemeClr val="tx1"/>
          </a:solidFill>
          <a:ln/>
        </p:spPr>
      </p:sp>
      <p:sp>
        <p:nvSpPr>
          <p:cNvPr id="23" name="text-323"/>
          <p:cNvSpPr txBox="1"/>
          <p:nvPr/>
        </p:nvSpPr>
        <p:spPr>
          <a:xfrm>
            <a:off x="6644488" y="4663440"/>
            <a:ext cx="1744904" cy="10058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If it's not there,</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write "Not stated."</a:t>
            </a:r>
            <a:endParaRPr lang="en-US" sz="1400" dirty="0"/>
          </a:p>
        </p:txBody>
      </p:sp>
      <p:sp>
        <p:nvSpPr>
          <p:cNvPr id="24" name="card-324"/>
          <p:cNvSpPr/>
          <p:nvPr/>
        </p:nvSpPr>
        <p:spPr>
          <a:xfrm>
            <a:off x="9075191" y="1463040"/>
            <a:ext cx="2567864" cy="4572000"/>
          </a:xfrm>
          <a:prstGeom prst="roundRect">
            <a:avLst>
              <a:gd name="adj" fmla="val 4273"/>
            </a:avLst>
          </a:prstGeom>
          <a:solidFill>
            <a:schemeClr val="bg2"/>
          </a:solidFill>
          <a:ln/>
        </p:spPr>
      </p:sp>
      <p:sp>
        <p:nvSpPr>
          <p:cNvPr id="25" name="dot-325"/>
          <p:cNvSpPr/>
          <p:nvPr/>
        </p:nvSpPr>
        <p:spPr>
          <a:xfrm>
            <a:off x="9349511" y="1737360"/>
            <a:ext cx="685800" cy="685800"/>
          </a:xfrm>
          <a:prstGeom prst="ellipse">
            <a:avLst/>
          </a:prstGeom>
          <a:solidFill>
            <a:schemeClr val="tx1"/>
          </a:solidFill>
          <a:ln/>
        </p:spPr>
      </p:sp>
      <p:pic>
        <p:nvPicPr>
          <p:cNvPr id="26" name="icon-326" descr="preencoded.png">    </p:cNvPr>
          <p:cNvPicPr>
            <a:picLocks noChangeAspect="1"/>
          </p:cNvPicPr>
          <p:nvPr/>
        </p:nvPicPr>
        <p:blipFill>
          <a:blip r:embed="rId4"/>
          <a:stretch>
            <a:fillRect/>
          </a:stretch>
        </p:blipFill>
        <p:spPr>
          <a:xfrm>
            <a:off x="9500387" y="1888236"/>
            <a:ext cx="384048" cy="384048"/>
          </a:xfrm>
          <a:prstGeom prst="rect">
            <a:avLst/>
          </a:prstGeom>
        </p:spPr>
      </p:pic>
      <p:sp>
        <p:nvSpPr>
          <p:cNvPr id="27" name="text-327"/>
          <p:cNvSpPr txBox="1"/>
          <p:nvPr/>
        </p:nvSpPr>
        <p:spPr>
          <a:xfrm>
            <a:off x="9349511" y="2606040"/>
            <a:ext cx="2110664" cy="457200"/>
          </a:xfrm>
          <a:prstGeom prst="rect">
            <a:avLst/>
          </a:prstGeom>
          <a:noFill/>
          <a:ln/>
        </p:spPr>
        <p:txBody>
          <a:bodyPr wrap="square" lIns="0" tIns="0" rIns="0" bIns="0" rtlCol="0" anchor="t"/>
          <a:lstStyle/>
          <a:p>
            <a:pPr indent="0" marL="0">
              <a:buNone/>
            </a:pPr>
            <a:r>
              <a:rPr lang="en-US" sz="2100" b="1" dirty="0">
                <a:solidFill>
                  <a:schemeClr val="tx1"/>
                </a:solidFill>
              </a:rPr>
              <a:t>Set the structure</a:t>
            </a:r>
            <a:endParaRPr lang="en-US" sz="2100" dirty="0"/>
          </a:p>
        </p:txBody>
      </p:sp>
      <p:sp>
        <p:nvSpPr>
          <p:cNvPr id="28" name="text-328"/>
          <p:cNvSpPr txBox="1"/>
          <p:nvPr/>
        </p:nvSpPr>
        <p:spPr>
          <a:xfrm>
            <a:off x="9349511" y="3154680"/>
            <a:ext cx="2110664" cy="1188720"/>
          </a:xfrm>
          <a:prstGeom prst="rect">
            <a:avLst/>
          </a:prstGeom>
          <a:noFill/>
          <a:ln/>
        </p:spPr>
        <p:txBody>
          <a:bodyPr wrap="square" lIns="0" tIns="0" rIns="0" bIns="0" rtlCol="0" anchor="t"/>
          <a:lstStyle/>
          <a:p>
            <a:pPr indent="0" marL="0">
              <a:buNone/>
            </a:pPr>
            <a:r>
              <a:rPr lang="en-US" sz="1600" dirty="0">
                <a:solidFill>
                  <a:schemeClr val="tx2"/>
                </a:solidFill>
              </a:rPr>
              <a:t>Columns, headings, bullet count, length.</a:t>
            </a:r>
            <a:endParaRPr lang="en-US" sz="1600" dirty="0"/>
          </a:p>
        </p:txBody>
      </p:sp>
      <p:sp>
        <p:nvSpPr>
          <p:cNvPr id="29" name="card-329"/>
          <p:cNvSpPr/>
          <p:nvPr/>
        </p:nvSpPr>
        <p:spPr>
          <a:xfrm>
            <a:off x="9303791" y="4526280"/>
            <a:ext cx="2110664" cy="1234440"/>
          </a:xfrm>
          <a:prstGeom prst="roundRect">
            <a:avLst>
              <a:gd name="adj" fmla="val 5926"/>
            </a:avLst>
          </a:prstGeom>
          <a:solidFill>
            <a:schemeClr val="tx1"/>
          </a:solidFill>
          <a:ln/>
        </p:spPr>
      </p:sp>
      <p:sp>
        <p:nvSpPr>
          <p:cNvPr id="30" name="text-330"/>
          <p:cNvSpPr txBox="1"/>
          <p:nvPr/>
        </p:nvSpPr>
        <p:spPr>
          <a:xfrm>
            <a:off x="9486671" y="4663440"/>
            <a:ext cx="1744904" cy="10058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Table: Action |</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Owner | Due</a:t>
            </a:r>
            <a:endParaRPr lang="en-US" sz="14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Demo: from rough notes to an action table</a:t>
            </a:r>
            <a:endParaRPr lang="en-US" sz="3400" dirty="0"/>
          </a:p>
        </p:txBody>
      </p:sp>
      <p:sp>
        <p:nvSpPr>
          <p:cNvPr id="3" name="card-331"/>
          <p:cNvSpPr/>
          <p:nvPr/>
        </p:nvSpPr>
        <p:spPr>
          <a:xfrm>
            <a:off x="548640" y="1417320"/>
            <a:ext cx="5760720" cy="4663440"/>
          </a:xfrm>
          <a:prstGeom prst="roundRect">
            <a:avLst>
              <a:gd name="adj" fmla="val 2353"/>
            </a:avLst>
          </a:prstGeom>
          <a:solidFill>
            <a:schemeClr val="tx1"/>
          </a:solidFill>
          <a:ln/>
        </p:spPr>
      </p:sp>
      <p:sp>
        <p:nvSpPr>
          <p:cNvPr id="4" name="text-332"/>
          <p:cNvSpPr txBox="1"/>
          <p:nvPr/>
        </p:nvSpPr>
        <p:spPr>
          <a:xfrm>
            <a:off x="822960" y="1618488"/>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PROMPT (TYPED LIVE)</a:t>
            </a:r>
            <a:endParaRPr lang="en-US" sz="1200" dirty="0"/>
          </a:p>
        </p:txBody>
      </p:sp>
      <p:sp>
        <p:nvSpPr>
          <p:cNvPr id="5" name="text-333"/>
          <p:cNvSpPr txBox="1"/>
          <p:nvPr/>
        </p:nvSpPr>
        <p:spPr>
          <a:xfrm>
            <a:off x="822960" y="1947672"/>
            <a:ext cx="5212080" cy="3950208"/>
          </a:xfrm>
          <a:prstGeom prst="rect">
            <a:avLst/>
          </a:prstGeom>
          <a:noFill/>
          <a:ln/>
        </p:spPr>
        <p:txBody>
          <a:bodyPr wrap="square" lIns="0" tIns="0" rIns="0" bIns="0" rtlCol="0" anchor="t"/>
          <a:lstStyle/>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Turn these meeting notes into an action list.</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Use only the notes between the &lt;notes&gt; tags.</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If an owner or due date isn't stated, write</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"Not stated". Do not guess.</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Return a table: Action | Owner | Due date.</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Example row:</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Send revised budget | Maria | Friday</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&lt;notes&gt;</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Ops sync 3/4. Dev said the vendor contract</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renewal needs legal review before the 15th.</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Priya will draft the onboarding checklist for</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new drivers. Need someone to book the training</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room for April. Sam to circulate the safety</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survey results by next Tues.</a:t>
            </a:r>
            <a:endParaRPr lang="en-US" sz="1350" dirty="0"/>
          </a:p>
          <a:p>
            <a:pPr indent="0" marL="0">
              <a:spcAft>
                <a:spcPts val="200"/>
              </a:spcAft>
              <a:buNone/>
            </a:pPr>
            <a:r>
              <a:rPr lang="en-US" sz="1350" dirty="0">
                <a:solidFill>
                  <a:schemeClr val="bg1"/>
                </a:solidFill>
                <a:latin typeface="Courier New" pitchFamily="34" charset="0"/>
                <a:ea typeface="Courier New" pitchFamily="34" charset="-122"/>
                <a:cs typeface="Courier New" pitchFamily="34" charset="-120"/>
              </a:rPr>
              <a:t>&lt;/notes&gt;</a:t>
            </a:r>
            <a:endParaRPr lang="en-US" sz="1350" dirty="0"/>
          </a:p>
        </p:txBody>
      </p:sp>
      <p:graphicFrame>
        <p:nvGraphicFramePr>
          <p:cNvPr id="20" name="demo-output-table"/>
          <p:cNvGraphicFramePr>
            <a:graphicFrameLocks noGrp="1"/>
          </p:cNvGraphicFramePr>
          <p:nvPr>
            <p:extLst>
              <p:ext uri="{D42A27DB-BD31-4B8C-83A1-F6EECF244321}">
                <p14:modId xmlns:p14="http://schemas.microsoft.com/office/powerpoint/2010/main" val="1579011935"/>
              </p:ext>
            </p:extLst>
          </p:nvPr>
        </p:nvGraphicFramePr>
        <p:xfrm>
          <a:off x="6583680" y="1463040"/>
          <a:ext cx="5056632" cy="914400"/>
        </p:xfrm>
        <a:graphic>
          <a:graphicData uri="http://schemas.openxmlformats.org/drawingml/2006/table">
            <a:tbl>
              <a:tblPr/>
              <a:tblGrid>
                <a:gridCol w="2514600"/>
                <a:gridCol w="1271016"/>
                <a:gridCol w="1271016"/>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Due date</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tx1"/>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Get legal review of the vendor contract</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Not stated</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Before the 15th</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Draft onboarding checklist for new drivers</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Priya</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Not stated</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Book the training room for April</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Not stated</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Not stated</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Circulate safety survey results</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Sam</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Next Tuesday</a:t>
                      </a:r>
                      <a:endParaRPr lang="en-US" sz="1400" dirty="0">
                        <a:latin typeface="Calibri" charset="0"/>
                        <a:ea typeface="Calibri" charset="0"/>
                        <a:cs typeface="Calibri" charset="0"/>
                      </a:endParaRPr>
                    </a:p>
                  </a:txBody>
                  <a:tcPr marL="73152" marR="73152" marT="73152" marB="73152"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bl>
          </a:graphicData>
        </a:graphic>
      </p:graphicFrame>
      <p:sp>
        <p:nvSpPr>
          <p:cNvPr id="7" name="text-334"/>
          <p:cNvSpPr txBox="1"/>
          <p:nvPr/>
        </p:nvSpPr>
        <p:spPr>
          <a:xfrm>
            <a:off x="6583680" y="4754880"/>
            <a:ext cx="5056632" cy="822960"/>
          </a:xfrm>
          <a:prstGeom prst="rect">
            <a:avLst/>
          </a:prstGeom>
          <a:noFill/>
          <a:ln/>
        </p:spPr>
        <p:txBody>
          <a:bodyPr wrap="square" lIns="0" tIns="0" rIns="0" bIns="0" rtlCol="0" anchor="t"/>
          <a:lstStyle/>
          <a:p>
            <a:pPr indent="0" marL="0">
              <a:buNone/>
            </a:pPr>
            <a:r>
              <a:rPr lang="en-US" sz="1500" dirty="0">
                <a:solidFill>
                  <a:schemeClr val="tx2"/>
                </a:solidFill>
              </a:rPr>
              <a:t>“Not stated” marks every place Gemini would otherwise have guessed, like making Dev the owner.</a:t>
            </a:r>
            <a:endParaRPr lang="en-US" sz="15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ACTIVITY 2.1  ·  PAIRS</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Grounded summary</a:t>
            </a:r>
            <a:endParaRPr lang="en-US" sz="3800" dirty="0"/>
          </a:p>
        </p:txBody>
      </p:sp>
      <p:sp>
        <p:nvSpPr>
          <p:cNvPr id="4" name="badge-335"/>
          <p:cNvSpPr/>
          <p:nvPr/>
        </p:nvSpPr>
        <p:spPr>
          <a:xfrm>
            <a:off x="10042855" y="502920"/>
            <a:ext cx="1600200" cy="457200"/>
          </a:xfrm>
          <a:prstGeom prst="roundRect">
            <a:avLst>
              <a:gd name="adj" fmla="val 50000"/>
            </a:avLst>
          </a:prstGeom>
          <a:solidFill>
            <a:schemeClr val="bg1"/>
          </a:solidFill>
          <a:ln/>
        </p:spPr>
      </p:sp>
      <p:sp>
        <p:nvSpPr>
          <p:cNvPr id="5" name="text-336"/>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17 min</a:t>
            </a:r>
            <a:endParaRPr lang="en-US" sz="1600" dirty="0"/>
          </a:p>
        </p:txBody>
      </p:sp>
      <p:sp>
        <p:nvSpPr>
          <p:cNvPr id="6" name="text-337"/>
          <p:cNvSpPr txBox="1"/>
          <p:nvPr/>
        </p:nvSpPr>
        <p:spPr>
          <a:xfrm>
            <a:off x="548640" y="1783080"/>
            <a:ext cx="9265615" cy="457200"/>
          </a:xfrm>
          <a:prstGeom prst="rect">
            <a:avLst/>
          </a:prstGeom>
          <a:noFill/>
          <a:ln/>
        </p:spPr>
        <p:txBody>
          <a:bodyPr wrap="square" lIns="0" tIns="0" rIns="0" bIns="0" rtlCol="0" anchor="t"/>
          <a:lstStyle/>
          <a:p>
            <a:pPr indent="0" marL="0">
              <a:buNone/>
            </a:pPr>
            <a:r>
              <a:rPr lang="en-US" sz="1900" dirty="0">
                <a:solidFill>
                  <a:schemeClr val="bg1"/>
                </a:solidFill>
              </a:rPr>
              <a:t>Summarize the Prairie Point travel memo (in your workbook) for new employees.</a:t>
            </a:r>
            <a:endParaRPr lang="en-US" sz="1900" dirty="0"/>
          </a:p>
        </p:txBody>
      </p:sp>
      <p:sp>
        <p:nvSpPr>
          <p:cNvPr id="7" name="num-338"/>
          <p:cNvSpPr/>
          <p:nvPr/>
        </p:nvSpPr>
        <p:spPr>
          <a:xfrm>
            <a:off x="548640" y="2468880"/>
            <a:ext cx="457200" cy="457200"/>
          </a:xfrm>
          <a:prstGeom prst="ellipse">
            <a:avLst/>
          </a:prstGeom>
          <a:solidFill>
            <a:schemeClr val="bg1"/>
          </a:solidFill>
          <a:ln/>
        </p:spPr>
      </p:sp>
      <p:sp>
        <p:nvSpPr>
          <p:cNvPr id="8" name="text-339"/>
          <p:cNvSpPr txBox="1"/>
          <p:nvPr/>
        </p:nvSpPr>
        <p:spPr>
          <a:xfrm>
            <a:off x="548640" y="24688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 name="text-340"/>
          <p:cNvSpPr txBox="1"/>
          <p:nvPr/>
        </p:nvSpPr>
        <p:spPr>
          <a:xfrm>
            <a:off x="1188720" y="2432304"/>
            <a:ext cx="4632808" cy="685800"/>
          </a:xfrm>
          <a:prstGeom prst="rect">
            <a:avLst/>
          </a:prstGeom>
          <a:noFill/>
          <a:ln/>
        </p:spPr>
        <p:txBody>
          <a:bodyPr wrap="square" lIns="0" tIns="0" rIns="0" bIns="0" rtlCol="0" anchor="t"/>
          <a:lstStyle/>
          <a:p>
            <a:pPr indent="0" marL="0">
              <a:buNone/>
            </a:pPr>
            <a:r>
              <a:rPr lang="en-US" sz="1600" dirty="0">
                <a:solidFill>
                  <a:schemeClr val="bg1"/>
                </a:solidFill>
              </a:rPr>
              <a:t>Paste the memo inside ### markers</a:t>
            </a:r>
            <a:endParaRPr lang="en-US" sz="1600" dirty="0"/>
          </a:p>
        </p:txBody>
      </p:sp>
      <p:sp>
        <p:nvSpPr>
          <p:cNvPr id="10" name="num-341"/>
          <p:cNvSpPr/>
          <p:nvPr/>
        </p:nvSpPr>
        <p:spPr>
          <a:xfrm>
            <a:off x="548640" y="3218688"/>
            <a:ext cx="457200" cy="457200"/>
          </a:xfrm>
          <a:prstGeom prst="ellipse">
            <a:avLst/>
          </a:prstGeom>
          <a:solidFill>
            <a:schemeClr val="bg1"/>
          </a:solidFill>
          <a:ln/>
        </p:spPr>
      </p:sp>
      <p:sp>
        <p:nvSpPr>
          <p:cNvPr id="11" name="text-342"/>
          <p:cNvSpPr txBox="1"/>
          <p:nvPr/>
        </p:nvSpPr>
        <p:spPr>
          <a:xfrm>
            <a:off x="548640" y="32186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2" name="text-343"/>
          <p:cNvSpPr txBox="1"/>
          <p:nvPr/>
        </p:nvSpPr>
        <p:spPr>
          <a:xfrm>
            <a:off x="1188720" y="3182112"/>
            <a:ext cx="4632808" cy="685800"/>
          </a:xfrm>
          <a:prstGeom prst="rect">
            <a:avLst/>
          </a:prstGeom>
          <a:noFill/>
          <a:ln/>
        </p:spPr>
        <p:txBody>
          <a:bodyPr wrap="square" lIns="0" tIns="0" rIns="0" bIns="0" rtlCol="0" anchor="t"/>
          <a:lstStyle/>
          <a:p>
            <a:pPr indent="0" marL="0">
              <a:buNone/>
            </a:pPr>
            <a:r>
              <a:rPr lang="en-US" sz="1600" dirty="0">
                <a:solidFill>
                  <a:schemeClr val="bg1"/>
                </a:solidFill>
              </a:rPr>
              <a:t>Say who the summary is for, and why</a:t>
            </a:r>
            <a:endParaRPr lang="en-US" sz="1600" dirty="0"/>
          </a:p>
        </p:txBody>
      </p:sp>
      <p:sp>
        <p:nvSpPr>
          <p:cNvPr id="13" name="num-344"/>
          <p:cNvSpPr/>
          <p:nvPr/>
        </p:nvSpPr>
        <p:spPr>
          <a:xfrm>
            <a:off x="548640" y="3968496"/>
            <a:ext cx="457200" cy="457200"/>
          </a:xfrm>
          <a:prstGeom prst="ellipse">
            <a:avLst/>
          </a:prstGeom>
          <a:solidFill>
            <a:schemeClr val="bg1"/>
          </a:solidFill>
          <a:ln/>
        </p:spPr>
      </p:sp>
      <p:sp>
        <p:nvSpPr>
          <p:cNvPr id="14" name="text-345"/>
          <p:cNvSpPr txBox="1"/>
          <p:nvPr/>
        </p:nvSpPr>
        <p:spPr>
          <a:xfrm>
            <a:off x="548640" y="3968496"/>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5" name="text-346"/>
          <p:cNvSpPr txBox="1"/>
          <p:nvPr/>
        </p:nvSpPr>
        <p:spPr>
          <a:xfrm>
            <a:off x="1188720" y="3931920"/>
            <a:ext cx="4632808" cy="685800"/>
          </a:xfrm>
          <a:prstGeom prst="rect">
            <a:avLst/>
          </a:prstGeom>
          <a:noFill/>
          <a:ln/>
        </p:spPr>
        <p:txBody>
          <a:bodyPr wrap="square" lIns="0" tIns="0" rIns="0" bIns="0" rtlCol="0" anchor="t"/>
          <a:lstStyle/>
          <a:p>
            <a:pPr indent="0" marL="0">
              <a:buNone/>
            </a:pPr>
            <a:r>
              <a:rPr lang="en-US" sz="1600" dirty="0">
                <a:solidFill>
                  <a:schemeClr val="bg1"/>
                </a:solidFill>
              </a:rPr>
              <a:t>Add: “Use only the memo. If it's not there, write Not stated.”</a:t>
            </a:r>
            <a:endParaRPr lang="en-US" sz="1600" dirty="0"/>
          </a:p>
        </p:txBody>
      </p:sp>
      <p:sp>
        <p:nvSpPr>
          <p:cNvPr id="16" name="num-347"/>
          <p:cNvSpPr/>
          <p:nvPr/>
        </p:nvSpPr>
        <p:spPr>
          <a:xfrm>
            <a:off x="548640" y="4718304"/>
            <a:ext cx="457200" cy="457200"/>
          </a:xfrm>
          <a:prstGeom prst="ellipse">
            <a:avLst/>
          </a:prstGeom>
          <a:solidFill>
            <a:schemeClr val="bg1"/>
          </a:solidFill>
          <a:ln/>
        </p:spPr>
      </p:sp>
      <p:sp>
        <p:nvSpPr>
          <p:cNvPr id="17" name="text-348"/>
          <p:cNvSpPr txBox="1"/>
          <p:nvPr/>
        </p:nvSpPr>
        <p:spPr>
          <a:xfrm>
            <a:off x="548640" y="4718304"/>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349"/>
          <p:cNvSpPr txBox="1"/>
          <p:nvPr/>
        </p:nvSpPr>
        <p:spPr>
          <a:xfrm>
            <a:off x="1188720" y="4681728"/>
            <a:ext cx="4632808" cy="685800"/>
          </a:xfrm>
          <a:prstGeom prst="rect">
            <a:avLst/>
          </a:prstGeom>
          <a:noFill/>
          <a:ln/>
        </p:spPr>
        <p:txBody>
          <a:bodyPr wrap="square" lIns="0" tIns="0" rIns="0" bIns="0" rtlCol="0" anchor="t"/>
          <a:lstStyle/>
          <a:p>
            <a:pPr indent="0" marL="0">
              <a:buNone/>
            </a:pPr>
            <a:r>
              <a:rPr lang="en-US" sz="1600" dirty="0">
                <a:solidFill>
                  <a:schemeClr val="bg1"/>
                </a:solidFill>
              </a:rPr>
              <a:t>Format: max 5 bullets, then a line starting “What you need to do:”</a:t>
            </a:r>
            <a:endParaRPr lang="en-US" sz="1600" dirty="0"/>
          </a:p>
        </p:txBody>
      </p:sp>
      <p:sp>
        <p:nvSpPr>
          <p:cNvPr id="19" name="num-350"/>
          <p:cNvSpPr/>
          <p:nvPr/>
        </p:nvSpPr>
        <p:spPr>
          <a:xfrm>
            <a:off x="6278728" y="2468880"/>
            <a:ext cx="457200" cy="457200"/>
          </a:xfrm>
          <a:prstGeom prst="ellipse">
            <a:avLst/>
          </a:prstGeom>
          <a:solidFill>
            <a:schemeClr val="bg1"/>
          </a:solidFill>
          <a:ln/>
        </p:spPr>
      </p:sp>
      <p:sp>
        <p:nvSpPr>
          <p:cNvPr id="20" name="text-351"/>
          <p:cNvSpPr txBox="1"/>
          <p:nvPr/>
        </p:nvSpPr>
        <p:spPr>
          <a:xfrm>
            <a:off x="6278728" y="24688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1" name="text-352"/>
          <p:cNvSpPr txBox="1"/>
          <p:nvPr/>
        </p:nvSpPr>
        <p:spPr>
          <a:xfrm>
            <a:off x="6918808" y="2432304"/>
            <a:ext cx="4632808" cy="685800"/>
          </a:xfrm>
          <a:prstGeom prst="rect">
            <a:avLst/>
          </a:prstGeom>
          <a:noFill/>
          <a:ln/>
        </p:spPr>
        <p:txBody>
          <a:bodyPr wrap="square" lIns="0" tIns="0" rIns="0" bIns="0" rtlCol="0" anchor="t"/>
          <a:lstStyle/>
          <a:p>
            <a:pPr indent="0" marL="0">
              <a:buNone/>
            </a:pPr>
            <a:r>
              <a:rPr lang="en-US" sz="1600" dirty="0">
                <a:solidFill>
                  <a:schemeClr val="bg1"/>
                </a:solidFill>
              </a:rPr>
              <a:t>Give one example bullet to set the style</a:t>
            </a:r>
            <a:endParaRPr lang="en-US" sz="1600" dirty="0"/>
          </a:p>
        </p:txBody>
      </p:sp>
      <p:sp>
        <p:nvSpPr>
          <p:cNvPr id="22" name="num-353"/>
          <p:cNvSpPr/>
          <p:nvPr/>
        </p:nvSpPr>
        <p:spPr>
          <a:xfrm>
            <a:off x="6278728" y="3218688"/>
            <a:ext cx="457200" cy="457200"/>
          </a:xfrm>
          <a:prstGeom prst="ellipse">
            <a:avLst/>
          </a:prstGeom>
          <a:solidFill>
            <a:schemeClr val="bg1"/>
          </a:solidFill>
          <a:ln/>
        </p:spPr>
      </p:sp>
      <p:sp>
        <p:nvSpPr>
          <p:cNvPr id="23" name="text-354"/>
          <p:cNvSpPr txBox="1"/>
          <p:nvPr/>
        </p:nvSpPr>
        <p:spPr>
          <a:xfrm>
            <a:off x="6278728" y="321868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24" name="text-355"/>
          <p:cNvSpPr txBox="1"/>
          <p:nvPr/>
        </p:nvSpPr>
        <p:spPr>
          <a:xfrm>
            <a:off x="6918808" y="3182112"/>
            <a:ext cx="4632808" cy="685800"/>
          </a:xfrm>
          <a:prstGeom prst="rect">
            <a:avLst/>
          </a:prstGeom>
          <a:noFill/>
          <a:ln/>
        </p:spPr>
        <p:txBody>
          <a:bodyPr wrap="square" lIns="0" tIns="0" rIns="0" bIns="0" rtlCol="0" anchor="t"/>
          <a:lstStyle/>
          <a:p>
            <a:pPr indent="0" marL="0">
              <a:buNone/>
            </a:pPr>
            <a:r>
              <a:rPr lang="en-US" sz="1600" dirty="0">
                <a:solidFill>
                  <a:schemeClr val="bg1"/>
                </a:solidFill>
              </a:rPr>
              <a:t>Run it, and check every bullet against the memo</a:t>
            </a:r>
            <a:endParaRPr lang="en-US" sz="1600" dirty="0"/>
          </a:p>
        </p:txBody>
      </p:sp>
      <p:sp>
        <p:nvSpPr>
          <p:cNvPr id="25" name="num-356"/>
          <p:cNvSpPr/>
          <p:nvPr/>
        </p:nvSpPr>
        <p:spPr>
          <a:xfrm>
            <a:off x="6278728" y="3968496"/>
            <a:ext cx="457200" cy="457200"/>
          </a:xfrm>
          <a:prstGeom prst="ellipse">
            <a:avLst/>
          </a:prstGeom>
          <a:solidFill>
            <a:schemeClr val="accent1"/>
          </a:solidFill>
          <a:ln/>
        </p:spPr>
      </p:sp>
      <p:sp>
        <p:nvSpPr>
          <p:cNvPr id="26" name="text-357"/>
          <p:cNvSpPr txBox="1"/>
          <p:nvPr/>
        </p:nvSpPr>
        <p:spPr>
          <a:xfrm>
            <a:off x="6278728" y="39684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7" name="text-358"/>
          <p:cNvSpPr txBox="1"/>
          <p:nvPr/>
        </p:nvSpPr>
        <p:spPr>
          <a:xfrm>
            <a:off x="6918808" y="3931920"/>
            <a:ext cx="4632808" cy="685800"/>
          </a:xfrm>
          <a:prstGeom prst="rect">
            <a:avLst/>
          </a:prstGeom>
          <a:noFill/>
          <a:ln/>
        </p:spPr>
        <p:txBody>
          <a:bodyPr wrap="square" lIns="0" tIns="0" rIns="0" bIns="0" rtlCol="0" anchor="t"/>
          <a:lstStyle/>
          <a:p>
            <a:pPr indent="0" marL="0">
              <a:buNone/>
            </a:pPr>
            <a:r>
              <a:rPr lang="en-US" sz="1600" dirty="0">
                <a:solidFill>
                  <a:schemeClr val="bg1"/>
                </a:solidFill>
              </a:rPr>
              <a:t>Test it: “Can I expense a rideshare to the airport?”</a:t>
            </a:r>
            <a:endParaRPr lang="en-US" sz="1600" dirty="0"/>
          </a:p>
        </p:txBody>
      </p:sp>
      <p:sp>
        <p:nvSpPr>
          <p:cNvPr id="28" name="text-359"/>
          <p:cNvSpPr txBox="1"/>
          <p:nvPr/>
        </p:nvSpPr>
        <p:spPr>
          <a:xfrm>
            <a:off x="6278728" y="4800600"/>
            <a:ext cx="5364328" cy="365760"/>
          </a:xfrm>
          <a:prstGeom prst="rect">
            <a:avLst/>
          </a:prstGeom>
          <a:noFill/>
          <a:ln/>
        </p:spPr>
        <p:txBody>
          <a:bodyPr wrap="square" lIns="0" tIns="0" rIns="0" bIns="0" rtlCol="0" anchor="t"/>
          <a:lstStyle/>
          <a:p>
            <a:pPr indent="0" marL="0">
              <a:buNone/>
            </a:pPr>
            <a:r>
              <a:rPr lang="en-US" sz="1600" i="1" dirty="0">
                <a:solidFill>
                  <a:schemeClr val="accent3"/>
                </a:solidFill>
              </a:rPr>
              <a:t>Swap typist and director halfway.</a:t>
            </a:r>
            <a:endParaRPr lang="en-US" sz="1600" dirty="0"/>
          </a:p>
        </p:txBody>
      </p:sp>
      <p:sp>
        <p:nvSpPr>
          <p:cNvPr id="29" name="text-360"/>
          <p:cNvSpPr txBox="1"/>
          <p:nvPr/>
        </p:nvSpPr>
        <p:spPr>
          <a:xfrm>
            <a:off x="548640" y="5715000"/>
            <a:ext cx="10180015" cy="411480"/>
          </a:xfrm>
          <a:prstGeom prst="rect">
            <a:avLst/>
          </a:prstGeom>
          <a:noFill/>
          <a:ln/>
        </p:spPr>
        <p:txBody>
          <a:bodyPr wrap="square" lIns="0" tIns="0" rIns="0" bIns="0" rtlCol="0" anchor="t"/>
          <a:lstStyle/>
          <a:p>
            <a:pPr indent="0" marL="0">
              <a:buNone/>
            </a:pPr>
            <a:r>
              <a:rPr lang="en-US" sz="1700" b="1" dirty="0">
                <a:solidFill>
                  <a:schemeClr val="accent1"/>
                </a:solidFill>
              </a:rPr>
              <a:t>Done when: </a:t>
            </a:r>
            <a:pPr indent="0" marL="0">
              <a:buNone/>
            </a:pPr>
            <a:r>
              <a:rPr lang="en-US" sz="1700" dirty="0">
                <a:solidFill>
                  <a:schemeClr val="bg1"/>
                </a:solidFill>
              </a:rPr>
              <a:t>every bullet traces back to the memo, and Gemini doesn't invent a rideshare rule.</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Five follow-up moves</a:t>
            </a:r>
            <a:endParaRPr lang="en-US" sz="3400" dirty="0"/>
          </a:p>
        </p:txBody>
      </p:sp>
      <p:sp>
        <p:nvSpPr>
          <p:cNvPr id="3" name="text-36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2000" dirty="0">
                <a:solidFill>
                  <a:schemeClr val="tx2"/>
                </a:solidFill>
              </a:rPr>
              <a:t>Treat Gemini's first answer as a first draft. Then:</a:t>
            </a:r>
            <a:endParaRPr lang="en-US" sz="2000" dirty="0"/>
          </a:p>
        </p:txBody>
      </p:sp>
      <p:sp>
        <p:nvSpPr>
          <p:cNvPr id="4" name="num-362"/>
          <p:cNvSpPr/>
          <p:nvPr/>
        </p:nvSpPr>
        <p:spPr>
          <a:xfrm>
            <a:off x="548640" y="2066544"/>
            <a:ext cx="530352" cy="530352"/>
          </a:xfrm>
          <a:prstGeom prst="ellipse">
            <a:avLst/>
          </a:prstGeom>
          <a:solidFill>
            <a:schemeClr val="tx1"/>
          </a:solidFill>
          <a:ln/>
        </p:spPr>
      </p:sp>
      <p:sp>
        <p:nvSpPr>
          <p:cNvPr id="5" name="text-363"/>
          <p:cNvSpPr txBox="1"/>
          <p:nvPr/>
        </p:nvSpPr>
        <p:spPr>
          <a:xfrm>
            <a:off x="548640" y="2066544"/>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364"/>
          <p:cNvSpPr txBox="1"/>
          <p:nvPr/>
        </p:nvSpPr>
        <p:spPr>
          <a:xfrm>
            <a:off x="1325880" y="1965960"/>
            <a:ext cx="2834640" cy="731520"/>
          </a:xfrm>
          <a:prstGeom prst="rect">
            <a:avLst/>
          </a:prstGeom>
          <a:noFill/>
          <a:ln/>
        </p:spPr>
        <p:txBody>
          <a:bodyPr wrap="square" lIns="0" tIns="0" rIns="0" bIns="0" rtlCol="0" anchor="ctr"/>
          <a:lstStyle/>
          <a:p>
            <a:pPr indent="0" marL="0">
              <a:buNone/>
            </a:pPr>
            <a:r>
              <a:rPr lang="en-US" sz="2000" b="1" dirty="0">
                <a:solidFill>
                  <a:schemeClr val="tx1"/>
                </a:solidFill>
              </a:rPr>
              <a:t>Interview me</a:t>
            </a:r>
            <a:endParaRPr lang="en-US" sz="2000" dirty="0"/>
          </a:p>
        </p:txBody>
      </p:sp>
      <p:sp>
        <p:nvSpPr>
          <p:cNvPr id="7" name="card-365"/>
          <p:cNvSpPr/>
          <p:nvPr/>
        </p:nvSpPr>
        <p:spPr>
          <a:xfrm>
            <a:off x="4206240" y="1965960"/>
            <a:ext cx="7436815" cy="731520"/>
          </a:xfrm>
          <a:prstGeom prst="roundRect">
            <a:avLst>
              <a:gd name="adj" fmla="val 15000"/>
            </a:avLst>
          </a:prstGeom>
          <a:solidFill>
            <a:schemeClr val="bg2"/>
          </a:solidFill>
          <a:ln/>
        </p:spPr>
      </p:sp>
      <p:sp>
        <p:nvSpPr>
          <p:cNvPr id="8" name="text-366"/>
          <p:cNvSpPr txBox="1"/>
          <p:nvPr/>
        </p:nvSpPr>
        <p:spPr>
          <a:xfrm>
            <a:off x="4480560" y="1965960"/>
            <a:ext cx="6888175" cy="731520"/>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Before you start, ask me up to 5 questions you need answered.</a:t>
            </a:r>
            <a:endParaRPr lang="en-US" sz="1500" dirty="0"/>
          </a:p>
        </p:txBody>
      </p:sp>
      <p:sp>
        <p:nvSpPr>
          <p:cNvPr id="9" name="num-367"/>
          <p:cNvSpPr/>
          <p:nvPr/>
        </p:nvSpPr>
        <p:spPr>
          <a:xfrm>
            <a:off x="548640" y="2907792"/>
            <a:ext cx="530352" cy="530352"/>
          </a:xfrm>
          <a:prstGeom prst="ellipse">
            <a:avLst/>
          </a:prstGeom>
          <a:solidFill>
            <a:schemeClr val="tx1"/>
          </a:solidFill>
          <a:ln/>
        </p:spPr>
      </p:sp>
      <p:sp>
        <p:nvSpPr>
          <p:cNvPr id="10" name="text-368"/>
          <p:cNvSpPr txBox="1"/>
          <p:nvPr/>
        </p:nvSpPr>
        <p:spPr>
          <a:xfrm>
            <a:off x="548640" y="2907792"/>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369"/>
          <p:cNvSpPr txBox="1"/>
          <p:nvPr/>
        </p:nvSpPr>
        <p:spPr>
          <a:xfrm>
            <a:off x="1325880" y="2807208"/>
            <a:ext cx="2834640" cy="731520"/>
          </a:xfrm>
          <a:prstGeom prst="rect">
            <a:avLst/>
          </a:prstGeom>
          <a:noFill/>
          <a:ln/>
        </p:spPr>
        <p:txBody>
          <a:bodyPr wrap="square" lIns="0" tIns="0" rIns="0" bIns="0" rtlCol="0" anchor="ctr"/>
          <a:lstStyle/>
          <a:p>
            <a:pPr indent="0" marL="0">
              <a:buNone/>
            </a:pPr>
            <a:r>
              <a:rPr lang="en-US" sz="2000" b="1" dirty="0">
                <a:solidFill>
                  <a:schemeClr val="tx1"/>
                </a:solidFill>
              </a:rPr>
              <a:t>Adjust</a:t>
            </a:r>
            <a:endParaRPr lang="en-US" sz="2000" dirty="0"/>
          </a:p>
        </p:txBody>
      </p:sp>
      <p:sp>
        <p:nvSpPr>
          <p:cNvPr id="12" name="card-370"/>
          <p:cNvSpPr/>
          <p:nvPr/>
        </p:nvSpPr>
        <p:spPr>
          <a:xfrm>
            <a:off x="4206240" y="2807208"/>
            <a:ext cx="7436815" cy="731520"/>
          </a:xfrm>
          <a:prstGeom prst="roundRect">
            <a:avLst>
              <a:gd name="adj" fmla="val 15000"/>
            </a:avLst>
          </a:prstGeom>
          <a:solidFill>
            <a:schemeClr val="bg2"/>
          </a:solidFill>
          <a:ln/>
        </p:spPr>
      </p:sp>
      <p:sp>
        <p:nvSpPr>
          <p:cNvPr id="13" name="text-371"/>
          <p:cNvSpPr txBox="1"/>
          <p:nvPr/>
        </p:nvSpPr>
        <p:spPr>
          <a:xfrm>
            <a:off x="4480560" y="2807208"/>
            <a:ext cx="6888175" cy="731520"/>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Make it half as long and more conversational.</a:t>
            </a:r>
            <a:endParaRPr lang="en-US" sz="1500" dirty="0"/>
          </a:p>
        </p:txBody>
      </p:sp>
      <p:sp>
        <p:nvSpPr>
          <p:cNvPr id="14" name="num-372"/>
          <p:cNvSpPr/>
          <p:nvPr/>
        </p:nvSpPr>
        <p:spPr>
          <a:xfrm>
            <a:off x="548640" y="3749040"/>
            <a:ext cx="530352" cy="530352"/>
          </a:xfrm>
          <a:prstGeom prst="ellipse">
            <a:avLst/>
          </a:prstGeom>
          <a:solidFill>
            <a:schemeClr val="tx1"/>
          </a:solidFill>
          <a:ln/>
        </p:spPr>
      </p:sp>
      <p:sp>
        <p:nvSpPr>
          <p:cNvPr id="15" name="text-373"/>
          <p:cNvSpPr txBox="1"/>
          <p:nvPr/>
        </p:nvSpPr>
        <p:spPr>
          <a:xfrm>
            <a:off x="548640" y="3749040"/>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374"/>
          <p:cNvSpPr txBox="1"/>
          <p:nvPr/>
        </p:nvSpPr>
        <p:spPr>
          <a:xfrm>
            <a:off x="1325880" y="3648456"/>
            <a:ext cx="2834640" cy="731520"/>
          </a:xfrm>
          <a:prstGeom prst="rect">
            <a:avLst/>
          </a:prstGeom>
          <a:noFill/>
          <a:ln/>
        </p:spPr>
        <p:txBody>
          <a:bodyPr wrap="square" lIns="0" tIns="0" rIns="0" bIns="0" rtlCol="0" anchor="ctr"/>
          <a:lstStyle/>
          <a:p>
            <a:pPr indent="0" marL="0">
              <a:buNone/>
            </a:pPr>
            <a:r>
              <a:rPr lang="en-US" sz="2000" b="1" dirty="0">
                <a:solidFill>
                  <a:schemeClr val="tx1"/>
                </a:solidFill>
              </a:rPr>
              <a:t>Critique, then revise</a:t>
            </a:r>
            <a:endParaRPr lang="en-US" sz="2000" dirty="0"/>
          </a:p>
        </p:txBody>
      </p:sp>
      <p:sp>
        <p:nvSpPr>
          <p:cNvPr id="17" name="card-375"/>
          <p:cNvSpPr/>
          <p:nvPr/>
        </p:nvSpPr>
        <p:spPr>
          <a:xfrm>
            <a:off x="4206240" y="3648456"/>
            <a:ext cx="7436815" cy="731520"/>
          </a:xfrm>
          <a:prstGeom prst="roundRect">
            <a:avLst>
              <a:gd name="adj" fmla="val 15000"/>
            </a:avLst>
          </a:prstGeom>
          <a:solidFill>
            <a:schemeClr val="bg2"/>
          </a:solidFill>
          <a:ln/>
        </p:spPr>
      </p:sp>
      <p:sp>
        <p:nvSpPr>
          <p:cNvPr id="18" name="text-376"/>
          <p:cNvSpPr txBox="1"/>
          <p:nvPr/>
        </p:nvSpPr>
        <p:spPr>
          <a:xfrm>
            <a:off x="4480560" y="3648456"/>
            <a:ext cx="6888175" cy="731520"/>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Check your draft against these criteria: … List the weaknesses, then rewrite it.</a:t>
            </a:r>
            <a:endParaRPr lang="en-US" sz="1500" dirty="0"/>
          </a:p>
        </p:txBody>
      </p:sp>
      <p:sp>
        <p:nvSpPr>
          <p:cNvPr id="19" name="num-377"/>
          <p:cNvSpPr/>
          <p:nvPr/>
        </p:nvSpPr>
        <p:spPr>
          <a:xfrm>
            <a:off x="548640" y="4590288"/>
            <a:ext cx="530352" cy="530352"/>
          </a:xfrm>
          <a:prstGeom prst="ellipse">
            <a:avLst/>
          </a:prstGeom>
          <a:solidFill>
            <a:schemeClr val="tx1"/>
          </a:solidFill>
          <a:ln/>
        </p:spPr>
      </p:sp>
      <p:sp>
        <p:nvSpPr>
          <p:cNvPr id="20" name="text-378"/>
          <p:cNvSpPr txBox="1"/>
          <p:nvPr/>
        </p:nvSpPr>
        <p:spPr>
          <a:xfrm>
            <a:off x="548640" y="4590288"/>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379"/>
          <p:cNvSpPr txBox="1"/>
          <p:nvPr/>
        </p:nvSpPr>
        <p:spPr>
          <a:xfrm>
            <a:off x="1325880" y="4489704"/>
            <a:ext cx="2834640" cy="731520"/>
          </a:xfrm>
          <a:prstGeom prst="rect">
            <a:avLst/>
          </a:prstGeom>
          <a:noFill/>
          <a:ln/>
        </p:spPr>
        <p:txBody>
          <a:bodyPr wrap="square" lIns="0" tIns="0" rIns="0" bIns="0" rtlCol="0" anchor="ctr"/>
          <a:lstStyle/>
          <a:p>
            <a:pPr indent="0" marL="0">
              <a:buNone/>
            </a:pPr>
            <a:r>
              <a:rPr lang="en-US" sz="2000" b="1" dirty="0">
                <a:solidFill>
                  <a:schemeClr val="tx1"/>
                </a:solidFill>
              </a:rPr>
              <a:t>Break it into steps</a:t>
            </a:r>
            <a:endParaRPr lang="en-US" sz="2000" dirty="0"/>
          </a:p>
        </p:txBody>
      </p:sp>
      <p:sp>
        <p:nvSpPr>
          <p:cNvPr id="22" name="card-380"/>
          <p:cNvSpPr/>
          <p:nvPr/>
        </p:nvSpPr>
        <p:spPr>
          <a:xfrm>
            <a:off x="4206240" y="4489704"/>
            <a:ext cx="7436815" cy="731520"/>
          </a:xfrm>
          <a:prstGeom prst="roundRect">
            <a:avLst>
              <a:gd name="adj" fmla="val 15000"/>
            </a:avLst>
          </a:prstGeom>
          <a:solidFill>
            <a:schemeClr val="bg2"/>
          </a:solidFill>
          <a:ln/>
        </p:spPr>
      </p:sp>
      <p:sp>
        <p:nvSpPr>
          <p:cNvPr id="23" name="text-381"/>
          <p:cNvSpPr txBox="1"/>
          <p:nvPr/>
        </p:nvSpPr>
        <p:spPr>
          <a:xfrm>
            <a:off x="4480560" y="4489704"/>
            <a:ext cx="6888175" cy="731520"/>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First give me an outline. Wait for my OK before drafting.</a:t>
            </a:r>
            <a:endParaRPr lang="en-US" sz="1500" dirty="0"/>
          </a:p>
        </p:txBody>
      </p:sp>
      <p:sp>
        <p:nvSpPr>
          <p:cNvPr id="24" name="num-382"/>
          <p:cNvSpPr/>
          <p:nvPr/>
        </p:nvSpPr>
        <p:spPr>
          <a:xfrm>
            <a:off x="548640" y="5431536"/>
            <a:ext cx="530352" cy="530352"/>
          </a:xfrm>
          <a:prstGeom prst="ellipse">
            <a:avLst/>
          </a:prstGeom>
          <a:solidFill>
            <a:schemeClr val="tx1"/>
          </a:solidFill>
          <a:ln/>
        </p:spPr>
      </p:sp>
      <p:sp>
        <p:nvSpPr>
          <p:cNvPr id="25" name="text-383"/>
          <p:cNvSpPr txBox="1"/>
          <p:nvPr/>
        </p:nvSpPr>
        <p:spPr>
          <a:xfrm>
            <a:off x="548640" y="5431536"/>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384"/>
          <p:cNvSpPr txBox="1"/>
          <p:nvPr/>
        </p:nvSpPr>
        <p:spPr>
          <a:xfrm>
            <a:off x="1325880" y="5330952"/>
            <a:ext cx="2834640" cy="731520"/>
          </a:xfrm>
          <a:prstGeom prst="rect">
            <a:avLst/>
          </a:prstGeom>
          <a:noFill/>
          <a:ln/>
        </p:spPr>
        <p:txBody>
          <a:bodyPr wrap="square" lIns="0" tIns="0" rIns="0" bIns="0" rtlCol="0" anchor="ctr"/>
          <a:lstStyle/>
          <a:p>
            <a:pPr indent="0" marL="0">
              <a:buNone/>
            </a:pPr>
            <a:r>
              <a:rPr lang="en-US" sz="2000" b="1" dirty="0">
                <a:solidFill>
                  <a:schemeClr val="tx1"/>
                </a:solidFill>
              </a:rPr>
              <a:t>Ask for options</a:t>
            </a:r>
            <a:endParaRPr lang="en-US" sz="2000" dirty="0"/>
          </a:p>
        </p:txBody>
      </p:sp>
      <p:sp>
        <p:nvSpPr>
          <p:cNvPr id="27" name="card-385"/>
          <p:cNvSpPr/>
          <p:nvPr/>
        </p:nvSpPr>
        <p:spPr>
          <a:xfrm>
            <a:off x="4206240" y="5330952"/>
            <a:ext cx="7436815" cy="731520"/>
          </a:xfrm>
          <a:prstGeom prst="roundRect">
            <a:avLst>
              <a:gd name="adj" fmla="val 15000"/>
            </a:avLst>
          </a:prstGeom>
          <a:solidFill>
            <a:schemeClr val="bg2"/>
          </a:solidFill>
          <a:ln/>
        </p:spPr>
      </p:sp>
      <p:sp>
        <p:nvSpPr>
          <p:cNvPr id="28" name="text-386"/>
          <p:cNvSpPr txBox="1"/>
          <p:nvPr/>
        </p:nvSpPr>
        <p:spPr>
          <a:xfrm>
            <a:off x="4480560" y="5330952"/>
            <a:ext cx="6888175" cy="731520"/>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Give me three versions: direct, warm, and persuasive.</a:t>
            </a:r>
            <a:endParaRPr lang="en-US" sz="15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Demo: four turns to a better announcement</a:t>
            </a:r>
            <a:endParaRPr lang="en-US" sz="3400" dirty="0"/>
          </a:p>
        </p:txBody>
      </p:sp>
      <p:sp>
        <p:nvSpPr>
          <p:cNvPr id="3" name="card-387"/>
          <p:cNvSpPr/>
          <p:nvPr/>
        </p:nvSpPr>
        <p:spPr>
          <a:xfrm>
            <a:off x="548640" y="1463040"/>
            <a:ext cx="2533574" cy="3657600"/>
          </a:xfrm>
          <a:prstGeom prst="roundRect">
            <a:avLst>
              <a:gd name="adj" fmla="val 4331"/>
            </a:avLst>
          </a:prstGeom>
          <a:solidFill>
            <a:schemeClr val="tx1"/>
          </a:solidFill>
          <a:ln/>
        </p:spPr>
      </p:sp>
      <p:sp>
        <p:nvSpPr>
          <p:cNvPr id="4" name="text-388"/>
          <p:cNvSpPr txBox="1"/>
          <p:nvPr/>
        </p:nvSpPr>
        <p:spPr>
          <a:xfrm>
            <a:off x="822960" y="1737360"/>
            <a:ext cx="1984934"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TURN 1</a:t>
            </a:r>
            <a:endParaRPr lang="en-US" sz="1300" dirty="0"/>
          </a:p>
        </p:txBody>
      </p:sp>
      <p:sp>
        <p:nvSpPr>
          <p:cNvPr id="5" name="text-389"/>
          <p:cNvSpPr txBox="1"/>
          <p:nvPr/>
        </p:nvSpPr>
        <p:spPr>
          <a:xfrm>
            <a:off x="822960" y="2103120"/>
            <a:ext cx="1984934" cy="731520"/>
          </a:xfrm>
          <a:prstGeom prst="rect">
            <a:avLst/>
          </a:prstGeom>
          <a:noFill/>
          <a:ln/>
        </p:spPr>
        <p:txBody>
          <a:bodyPr wrap="square" lIns="0" tIns="0" rIns="0" bIns="0" rtlCol="0" anchor="t"/>
          <a:lstStyle/>
          <a:p>
            <a:pPr indent="0" marL="0">
              <a:buNone/>
            </a:pPr>
            <a:r>
              <a:rPr lang="en-US" sz="2000" b="1" dirty="0">
                <a:solidFill>
                  <a:schemeClr val="bg1"/>
                </a:solidFill>
              </a:rPr>
              <a:t>Brief + interview me</a:t>
            </a:r>
            <a:endParaRPr lang="en-US" sz="2000" dirty="0"/>
          </a:p>
        </p:txBody>
      </p:sp>
      <p:sp>
        <p:nvSpPr>
          <p:cNvPr id="6" name="text-390"/>
          <p:cNvSpPr txBox="1"/>
          <p:nvPr/>
        </p:nvSpPr>
        <p:spPr>
          <a:xfrm>
            <a:off x="822960" y="2926080"/>
            <a:ext cx="2076374" cy="205740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…Draft a staff announcement. Before you start, ask me up to 4 questions.</a:t>
            </a:r>
            <a:endParaRPr lang="en-US" sz="1500" dirty="0"/>
          </a:p>
        </p:txBody>
      </p:sp>
      <p:pic>
        <p:nvPicPr>
          <p:cNvPr id="7" name="icon-391" descr="preencoded.png">    </p:cNvPr>
          <p:cNvPicPr>
            <a:picLocks noChangeAspect="1"/>
          </p:cNvPicPr>
          <p:nvPr/>
        </p:nvPicPr>
        <p:blipFill>
          <a:blip r:embed="rId1"/>
          <a:stretch>
            <a:fillRect/>
          </a:stretch>
        </p:blipFill>
        <p:spPr>
          <a:xfrm>
            <a:off x="3118790" y="3291840"/>
            <a:ext cx="246888" cy="246888"/>
          </a:xfrm>
          <a:prstGeom prst="rect">
            <a:avLst/>
          </a:prstGeom>
        </p:spPr>
      </p:pic>
      <p:sp>
        <p:nvSpPr>
          <p:cNvPr id="8" name="card-392"/>
          <p:cNvSpPr/>
          <p:nvPr/>
        </p:nvSpPr>
        <p:spPr>
          <a:xfrm>
            <a:off x="3402254" y="1463040"/>
            <a:ext cx="2533574" cy="3657600"/>
          </a:xfrm>
          <a:prstGeom prst="roundRect">
            <a:avLst>
              <a:gd name="adj" fmla="val 4331"/>
            </a:avLst>
          </a:prstGeom>
          <a:solidFill>
            <a:schemeClr val="bg2"/>
          </a:solidFill>
          <a:ln/>
        </p:spPr>
      </p:sp>
      <p:sp>
        <p:nvSpPr>
          <p:cNvPr id="9" name="text-393"/>
          <p:cNvSpPr txBox="1"/>
          <p:nvPr/>
        </p:nvSpPr>
        <p:spPr>
          <a:xfrm>
            <a:off x="3676574" y="1737360"/>
            <a:ext cx="1984934"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TURN 2</a:t>
            </a:r>
            <a:endParaRPr lang="en-US" sz="1300" dirty="0"/>
          </a:p>
        </p:txBody>
      </p:sp>
      <p:sp>
        <p:nvSpPr>
          <p:cNvPr id="10" name="text-394"/>
          <p:cNvSpPr txBox="1"/>
          <p:nvPr/>
        </p:nvSpPr>
        <p:spPr>
          <a:xfrm>
            <a:off x="3676574" y="2103120"/>
            <a:ext cx="1984934" cy="731520"/>
          </a:xfrm>
          <a:prstGeom prst="rect">
            <a:avLst/>
          </a:prstGeom>
          <a:noFill/>
          <a:ln/>
        </p:spPr>
        <p:txBody>
          <a:bodyPr wrap="square" lIns="0" tIns="0" rIns="0" bIns="0" rtlCol="0" anchor="t"/>
          <a:lstStyle/>
          <a:p>
            <a:pPr indent="0" marL="0">
              <a:buNone/>
            </a:pPr>
            <a:r>
              <a:rPr lang="en-US" sz="2000" b="1" dirty="0">
                <a:solidFill>
                  <a:schemeClr val="tx1"/>
                </a:solidFill>
              </a:rPr>
              <a:t>Answer its questions</a:t>
            </a:r>
            <a:endParaRPr lang="en-US" sz="2000" dirty="0"/>
          </a:p>
        </p:txBody>
      </p:sp>
      <p:sp>
        <p:nvSpPr>
          <p:cNvPr id="11" name="text-395"/>
          <p:cNvSpPr txBox="1"/>
          <p:nvPr/>
        </p:nvSpPr>
        <p:spPr>
          <a:xfrm>
            <a:off x="3676574" y="2926080"/>
            <a:ext cx="2076374" cy="205740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Starts July 1. Log hours in the HR portal. Any registered nonprofit.</a:t>
            </a:r>
            <a:endParaRPr lang="en-US" sz="1500" dirty="0"/>
          </a:p>
        </p:txBody>
      </p:sp>
      <p:pic>
        <p:nvPicPr>
          <p:cNvPr id="12" name="icon-396" descr="preencoded.png">    </p:cNvPr>
          <p:cNvPicPr>
            <a:picLocks noChangeAspect="1"/>
          </p:cNvPicPr>
          <p:nvPr/>
        </p:nvPicPr>
        <p:blipFill>
          <a:blip r:embed="rId2"/>
          <a:stretch>
            <a:fillRect/>
          </a:stretch>
        </p:blipFill>
        <p:spPr>
          <a:xfrm>
            <a:off x="5972404" y="3291840"/>
            <a:ext cx="246888" cy="246888"/>
          </a:xfrm>
          <a:prstGeom prst="rect">
            <a:avLst/>
          </a:prstGeom>
        </p:spPr>
      </p:pic>
      <p:sp>
        <p:nvSpPr>
          <p:cNvPr id="13" name="card-397"/>
          <p:cNvSpPr/>
          <p:nvPr/>
        </p:nvSpPr>
        <p:spPr>
          <a:xfrm>
            <a:off x="6255868" y="1463040"/>
            <a:ext cx="2533574" cy="3657600"/>
          </a:xfrm>
          <a:prstGeom prst="roundRect">
            <a:avLst>
              <a:gd name="adj" fmla="val 4331"/>
            </a:avLst>
          </a:prstGeom>
          <a:solidFill>
            <a:schemeClr val="bg2"/>
          </a:solidFill>
          <a:ln/>
        </p:spPr>
      </p:sp>
      <p:sp>
        <p:nvSpPr>
          <p:cNvPr id="14" name="text-398"/>
          <p:cNvSpPr txBox="1"/>
          <p:nvPr/>
        </p:nvSpPr>
        <p:spPr>
          <a:xfrm>
            <a:off x="6530188" y="1737360"/>
            <a:ext cx="1984934"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TURN 3</a:t>
            </a:r>
            <a:endParaRPr lang="en-US" sz="1300" dirty="0"/>
          </a:p>
        </p:txBody>
      </p:sp>
      <p:sp>
        <p:nvSpPr>
          <p:cNvPr id="15" name="text-399"/>
          <p:cNvSpPr txBox="1"/>
          <p:nvPr/>
        </p:nvSpPr>
        <p:spPr>
          <a:xfrm>
            <a:off x="6530188" y="2103120"/>
            <a:ext cx="1984934" cy="731520"/>
          </a:xfrm>
          <a:prstGeom prst="rect">
            <a:avLst/>
          </a:prstGeom>
          <a:noFill/>
          <a:ln/>
        </p:spPr>
        <p:txBody>
          <a:bodyPr wrap="square" lIns="0" tIns="0" rIns="0" bIns="0" rtlCol="0" anchor="t"/>
          <a:lstStyle/>
          <a:p>
            <a:pPr indent="0" marL="0">
              <a:buNone/>
            </a:pPr>
            <a:r>
              <a:rPr lang="en-US" sz="2000" b="1" dirty="0">
                <a:solidFill>
                  <a:schemeClr val="tx1"/>
                </a:solidFill>
              </a:rPr>
              <a:t>Critique, then revise</a:t>
            </a:r>
            <a:endParaRPr lang="en-US" sz="2000" dirty="0"/>
          </a:p>
        </p:txBody>
      </p:sp>
      <p:sp>
        <p:nvSpPr>
          <p:cNvPr id="16" name="text-400"/>
          <p:cNvSpPr txBox="1"/>
          <p:nvPr/>
        </p:nvSpPr>
        <p:spPr>
          <a:xfrm>
            <a:off x="6530188" y="2926080"/>
            <a:ext cx="2076374" cy="205740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Check it: under 120 words, one call to action, no jargon. List weaknesses, then rewrite.</a:t>
            </a:r>
            <a:endParaRPr lang="en-US" sz="1500" dirty="0"/>
          </a:p>
        </p:txBody>
      </p:sp>
      <p:pic>
        <p:nvPicPr>
          <p:cNvPr id="17" name="icon-401" descr="preencoded.png">    </p:cNvPr>
          <p:cNvPicPr>
            <a:picLocks noChangeAspect="1"/>
          </p:cNvPicPr>
          <p:nvPr/>
        </p:nvPicPr>
        <p:blipFill>
          <a:blip r:embed="rId3"/>
          <a:stretch>
            <a:fillRect/>
          </a:stretch>
        </p:blipFill>
        <p:spPr>
          <a:xfrm>
            <a:off x="8826017" y="3291840"/>
            <a:ext cx="246888" cy="246888"/>
          </a:xfrm>
          <a:prstGeom prst="rect">
            <a:avLst/>
          </a:prstGeom>
        </p:spPr>
      </p:pic>
      <p:sp>
        <p:nvSpPr>
          <p:cNvPr id="18" name="card-402"/>
          <p:cNvSpPr/>
          <p:nvPr/>
        </p:nvSpPr>
        <p:spPr>
          <a:xfrm>
            <a:off x="9109481" y="1463040"/>
            <a:ext cx="2533574" cy="3657600"/>
          </a:xfrm>
          <a:prstGeom prst="roundRect">
            <a:avLst>
              <a:gd name="adj" fmla="val 4331"/>
            </a:avLst>
          </a:prstGeom>
          <a:solidFill>
            <a:schemeClr val="bg2"/>
          </a:solidFill>
          <a:ln/>
        </p:spPr>
      </p:sp>
      <p:sp>
        <p:nvSpPr>
          <p:cNvPr id="19" name="text-403"/>
          <p:cNvSpPr txBox="1"/>
          <p:nvPr/>
        </p:nvSpPr>
        <p:spPr>
          <a:xfrm>
            <a:off x="9383801" y="1737360"/>
            <a:ext cx="1984934"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TURN 4</a:t>
            </a:r>
            <a:endParaRPr lang="en-US" sz="1300" dirty="0"/>
          </a:p>
        </p:txBody>
      </p:sp>
      <p:sp>
        <p:nvSpPr>
          <p:cNvPr id="20" name="text-404"/>
          <p:cNvSpPr txBox="1"/>
          <p:nvPr/>
        </p:nvSpPr>
        <p:spPr>
          <a:xfrm>
            <a:off x="9383801" y="2103120"/>
            <a:ext cx="1984934" cy="731520"/>
          </a:xfrm>
          <a:prstGeom prst="rect">
            <a:avLst/>
          </a:prstGeom>
          <a:noFill/>
          <a:ln/>
        </p:spPr>
        <p:txBody>
          <a:bodyPr wrap="square" lIns="0" tIns="0" rIns="0" bIns="0" rtlCol="0" anchor="t"/>
          <a:lstStyle/>
          <a:p>
            <a:pPr indent="0" marL="0">
              <a:buNone/>
            </a:pPr>
            <a:r>
              <a:rPr lang="en-US" sz="2000" b="1" dirty="0">
                <a:solidFill>
                  <a:schemeClr val="tx1"/>
                </a:solidFill>
              </a:rPr>
              <a:t>Ask for options</a:t>
            </a:r>
            <a:endParaRPr lang="en-US" sz="2000" dirty="0"/>
          </a:p>
        </p:txBody>
      </p:sp>
      <p:sp>
        <p:nvSpPr>
          <p:cNvPr id="21" name="text-405"/>
          <p:cNvSpPr txBox="1"/>
          <p:nvPr/>
        </p:nvSpPr>
        <p:spPr>
          <a:xfrm>
            <a:off x="9383801" y="2926080"/>
            <a:ext cx="2076374" cy="205740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Give me three subject lines: direct, warm, and playful.</a:t>
            </a:r>
            <a:endParaRPr lang="en-US" sz="1500" dirty="0"/>
          </a:p>
        </p:txBody>
      </p:sp>
      <p:sp>
        <p:nvSpPr>
          <p:cNvPr id="22" name="text-406"/>
          <p:cNvSpPr txBox="1"/>
          <p:nvPr/>
        </p:nvSpPr>
        <p:spPr>
          <a:xfrm>
            <a:off x="548640" y="5440680"/>
            <a:ext cx="11094415" cy="411480"/>
          </a:xfrm>
          <a:prstGeom prst="rect">
            <a:avLst/>
          </a:prstGeom>
          <a:noFill/>
          <a:ln/>
        </p:spPr>
        <p:txBody>
          <a:bodyPr wrap="square" lIns="0" tIns="0" rIns="0" bIns="0" rtlCol="0" anchor="t"/>
          <a:lstStyle/>
          <a:p>
            <a:pPr indent="0" marL="0">
              <a:buNone/>
            </a:pPr>
            <a:r>
              <a:rPr lang="en-US" sz="1600" dirty="0">
                <a:solidFill>
                  <a:schemeClr val="tx2"/>
                </a:solidFill>
              </a:rPr>
              <a:t>Scenario: Prairie Point gives every employee 8 paid volunteer hours a year.</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ACTIVITY 2.2  ·  PAIRS OR SOLO</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Four turns to great</a:t>
            </a:r>
            <a:endParaRPr lang="en-US" sz="3800" dirty="0"/>
          </a:p>
        </p:txBody>
      </p:sp>
      <p:sp>
        <p:nvSpPr>
          <p:cNvPr id="4" name="badge-407"/>
          <p:cNvSpPr/>
          <p:nvPr/>
        </p:nvSpPr>
        <p:spPr>
          <a:xfrm>
            <a:off x="10042855" y="502920"/>
            <a:ext cx="1600200" cy="457200"/>
          </a:xfrm>
          <a:prstGeom prst="roundRect">
            <a:avLst>
              <a:gd name="adj" fmla="val 50000"/>
            </a:avLst>
          </a:prstGeom>
          <a:solidFill>
            <a:schemeClr val="bg1"/>
          </a:solidFill>
          <a:ln/>
        </p:spPr>
      </p:sp>
      <p:sp>
        <p:nvSpPr>
          <p:cNvPr id="5" name="text-408"/>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22 min</a:t>
            </a:r>
            <a:endParaRPr lang="en-US" sz="1600" dirty="0"/>
          </a:p>
        </p:txBody>
      </p:sp>
      <p:sp>
        <p:nvSpPr>
          <p:cNvPr id="6" name="text-409"/>
          <p:cNvSpPr txBox="1"/>
          <p:nvPr/>
        </p:nvSpPr>
        <p:spPr>
          <a:xfrm>
            <a:off x="548640" y="1783080"/>
            <a:ext cx="5486400" cy="365760"/>
          </a:xfrm>
          <a:prstGeom prst="rect">
            <a:avLst/>
          </a:prstGeom>
          <a:noFill/>
          <a:ln/>
        </p:spPr>
        <p:txBody>
          <a:bodyPr wrap="square" lIns="0" tIns="0" rIns="0" bIns="0" rtlCol="0" anchor="t"/>
          <a:lstStyle/>
          <a:p>
            <a:pPr indent="0" marL="0">
              <a:buNone/>
            </a:pPr>
            <a:r>
              <a:rPr lang="en-US" sz="1700" dirty="0">
                <a:solidFill>
                  <a:schemeClr val="accent3"/>
                </a:solidFill>
              </a:rPr>
              <a:t>Choose one scenario:</a:t>
            </a:r>
            <a:endParaRPr lang="en-US" sz="1700" dirty="0"/>
          </a:p>
        </p:txBody>
      </p:sp>
      <p:sp>
        <p:nvSpPr>
          <p:cNvPr id="7" name="card-410"/>
          <p:cNvSpPr/>
          <p:nvPr/>
        </p:nvSpPr>
        <p:spPr>
          <a:xfrm>
            <a:off x="548640" y="2240280"/>
            <a:ext cx="6035040" cy="978408"/>
          </a:xfrm>
          <a:prstGeom prst="roundRect">
            <a:avLst>
              <a:gd name="adj" fmla="val 11215"/>
            </a:avLst>
          </a:prstGeom>
          <a:solidFill>
            <a:schemeClr val="accent2"/>
          </a:solidFill>
          <a:ln/>
        </p:spPr>
      </p:sp>
      <p:sp>
        <p:nvSpPr>
          <p:cNvPr id="8" name="text-411"/>
          <p:cNvSpPr txBox="1"/>
          <p:nvPr/>
        </p:nvSpPr>
        <p:spPr>
          <a:xfrm>
            <a:off x="822960" y="2240280"/>
            <a:ext cx="457200" cy="978408"/>
          </a:xfrm>
          <a:prstGeom prst="rect">
            <a:avLst/>
          </a:prstGeom>
          <a:noFill/>
          <a:ln/>
        </p:spPr>
        <p:txBody>
          <a:bodyPr wrap="square" lIns="0" tIns="0" rIns="0" bIns="0" rtlCol="0" anchor="ctr"/>
          <a:lstStyle/>
          <a:p>
            <a:pPr indent="0" marL="0">
              <a:buNone/>
            </a:pPr>
            <a:r>
              <a:rPr lang="en-US" sz="2600" b="1" dirty="0">
                <a:solidFill>
                  <a:schemeClr val="accent1"/>
                </a:solidFill>
              </a:rPr>
              <a:t>A</a:t>
            </a:r>
            <a:endParaRPr lang="en-US" sz="2600" dirty="0"/>
          </a:p>
        </p:txBody>
      </p:sp>
      <p:sp>
        <p:nvSpPr>
          <p:cNvPr id="9" name="text-412"/>
          <p:cNvSpPr txBox="1"/>
          <p:nvPr/>
        </p:nvSpPr>
        <p:spPr>
          <a:xfrm>
            <a:off x="1371600" y="2240280"/>
            <a:ext cx="5029200" cy="978408"/>
          </a:xfrm>
          <a:prstGeom prst="rect">
            <a:avLst/>
          </a:prstGeom>
          <a:noFill/>
          <a:ln/>
        </p:spPr>
        <p:txBody>
          <a:bodyPr wrap="square" lIns="0" tIns="0" rIns="0" bIns="0" rtlCol="0" anchor="ctr"/>
          <a:lstStyle/>
          <a:p>
            <a:pPr indent="0" marL="0">
              <a:buNone/>
            </a:pPr>
            <a:r>
              <a:rPr lang="en-US" sz="1500" dirty="0">
                <a:solidFill>
                  <a:schemeClr val="bg1"/>
                </a:solidFill>
              </a:rPr>
              <a:t>Announce a new office recycling program to staff who were frustrated by the last workplace change.</a:t>
            </a:r>
            <a:endParaRPr lang="en-US" sz="1500" dirty="0"/>
          </a:p>
        </p:txBody>
      </p:sp>
      <p:sp>
        <p:nvSpPr>
          <p:cNvPr id="10" name="card-413"/>
          <p:cNvSpPr/>
          <p:nvPr/>
        </p:nvSpPr>
        <p:spPr>
          <a:xfrm>
            <a:off x="548640" y="3355848"/>
            <a:ext cx="6035040" cy="978408"/>
          </a:xfrm>
          <a:prstGeom prst="roundRect">
            <a:avLst>
              <a:gd name="adj" fmla="val 11215"/>
            </a:avLst>
          </a:prstGeom>
          <a:solidFill>
            <a:schemeClr val="accent2"/>
          </a:solidFill>
          <a:ln/>
        </p:spPr>
      </p:sp>
      <p:sp>
        <p:nvSpPr>
          <p:cNvPr id="11" name="text-414"/>
          <p:cNvSpPr txBox="1"/>
          <p:nvPr/>
        </p:nvSpPr>
        <p:spPr>
          <a:xfrm>
            <a:off x="822960" y="3355848"/>
            <a:ext cx="457200" cy="978408"/>
          </a:xfrm>
          <a:prstGeom prst="rect">
            <a:avLst/>
          </a:prstGeom>
          <a:noFill/>
          <a:ln/>
        </p:spPr>
        <p:txBody>
          <a:bodyPr wrap="square" lIns="0" tIns="0" rIns="0" bIns="0" rtlCol="0" anchor="ctr"/>
          <a:lstStyle/>
          <a:p>
            <a:pPr indent="0" marL="0">
              <a:buNone/>
            </a:pPr>
            <a:r>
              <a:rPr lang="en-US" sz="2600" b="1" dirty="0">
                <a:solidFill>
                  <a:schemeClr val="accent1"/>
                </a:solidFill>
              </a:rPr>
              <a:t>B</a:t>
            </a:r>
            <a:endParaRPr lang="en-US" sz="2600" dirty="0"/>
          </a:p>
        </p:txBody>
      </p:sp>
      <p:sp>
        <p:nvSpPr>
          <p:cNvPr id="12" name="text-415"/>
          <p:cNvSpPr txBox="1"/>
          <p:nvPr/>
        </p:nvSpPr>
        <p:spPr>
          <a:xfrm>
            <a:off x="1371600" y="3355848"/>
            <a:ext cx="5029200" cy="978408"/>
          </a:xfrm>
          <a:prstGeom prst="rect">
            <a:avLst/>
          </a:prstGeom>
          <a:noFill/>
          <a:ln/>
        </p:spPr>
        <p:txBody>
          <a:bodyPr wrap="square" lIns="0" tIns="0" rIns="0" bIns="0" rtlCol="0" anchor="ctr"/>
          <a:lstStyle/>
          <a:p>
            <a:pPr indent="0" marL="0">
              <a:buNone/>
            </a:pPr>
            <a:r>
              <a:rPr lang="en-US" sz="1500" dirty="0">
                <a:solidFill>
                  <a:schemeClr val="bg1"/>
                </a:solidFill>
              </a:rPr>
              <a:t>Reply to a customer whose delivery was two days late and who wants a full refund. Policy: refund shipping, plus 10% off the next order.</a:t>
            </a:r>
            <a:endParaRPr lang="en-US" sz="1500" dirty="0"/>
          </a:p>
        </p:txBody>
      </p:sp>
      <p:sp>
        <p:nvSpPr>
          <p:cNvPr id="13" name="card-416"/>
          <p:cNvSpPr/>
          <p:nvPr/>
        </p:nvSpPr>
        <p:spPr>
          <a:xfrm>
            <a:off x="548640" y="4471416"/>
            <a:ext cx="6035040" cy="978408"/>
          </a:xfrm>
          <a:prstGeom prst="roundRect">
            <a:avLst>
              <a:gd name="adj" fmla="val 11215"/>
            </a:avLst>
          </a:prstGeom>
          <a:solidFill>
            <a:schemeClr val="accent2"/>
          </a:solidFill>
          <a:ln/>
        </p:spPr>
      </p:sp>
      <p:sp>
        <p:nvSpPr>
          <p:cNvPr id="14" name="text-417"/>
          <p:cNvSpPr txBox="1"/>
          <p:nvPr/>
        </p:nvSpPr>
        <p:spPr>
          <a:xfrm>
            <a:off x="822960" y="4471416"/>
            <a:ext cx="457200" cy="978408"/>
          </a:xfrm>
          <a:prstGeom prst="rect">
            <a:avLst/>
          </a:prstGeom>
          <a:noFill/>
          <a:ln/>
        </p:spPr>
        <p:txBody>
          <a:bodyPr wrap="square" lIns="0" tIns="0" rIns="0" bIns="0" rtlCol="0" anchor="ctr"/>
          <a:lstStyle/>
          <a:p>
            <a:pPr indent="0" marL="0">
              <a:buNone/>
            </a:pPr>
            <a:r>
              <a:rPr lang="en-US" sz="2600" b="1" dirty="0">
                <a:solidFill>
                  <a:schemeClr val="accent1"/>
                </a:solidFill>
              </a:rPr>
              <a:t>C</a:t>
            </a:r>
            <a:endParaRPr lang="en-US" sz="2600" dirty="0"/>
          </a:p>
        </p:txBody>
      </p:sp>
      <p:sp>
        <p:nvSpPr>
          <p:cNvPr id="15" name="text-418"/>
          <p:cNvSpPr txBox="1"/>
          <p:nvPr/>
        </p:nvSpPr>
        <p:spPr>
          <a:xfrm>
            <a:off x="1371600" y="4471416"/>
            <a:ext cx="5029200" cy="978408"/>
          </a:xfrm>
          <a:prstGeom prst="rect">
            <a:avLst/>
          </a:prstGeom>
          <a:noFill/>
          <a:ln/>
        </p:spPr>
        <p:txBody>
          <a:bodyPr wrap="square" lIns="0" tIns="0" rIns="0" bIns="0" rtlCol="0" anchor="ctr"/>
          <a:lstStyle/>
          <a:p>
            <a:pPr indent="0" marL="0">
              <a:buNone/>
            </a:pPr>
            <a:r>
              <a:rPr lang="en-US" sz="1500" dirty="0">
                <a:solidFill>
                  <a:schemeClr val="bg1"/>
                </a:solidFill>
              </a:rPr>
              <a:t>Write a short LinkedIn post celebrating your team for finishing a big project.</a:t>
            </a:r>
            <a:endParaRPr lang="en-US" sz="1500" dirty="0"/>
          </a:p>
        </p:txBody>
      </p:sp>
      <p:sp>
        <p:nvSpPr>
          <p:cNvPr id="16" name="text-419"/>
          <p:cNvSpPr txBox="1"/>
          <p:nvPr/>
        </p:nvSpPr>
        <p:spPr>
          <a:xfrm>
            <a:off x="7086600" y="1783080"/>
            <a:ext cx="4572000" cy="411480"/>
          </a:xfrm>
          <a:prstGeom prst="rect">
            <a:avLst/>
          </a:prstGeom>
          <a:noFill/>
          <a:ln/>
        </p:spPr>
        <p:txBody>
          <a:bodyPr wrap="square" lIns="0" tIns="0" rIns="0" bIns="0" rtlCol="0" anchor="t"/>
          <a:lstStyle/>
          <a:p>
            <a:pPr indent="0" marL="0">
              <a:buNone/>
            </a:pPr>
            <a:r>
              <a:rPr lang="en-US" sz="2100" b="1" dirty="0">
                <a:solidFill>
                  <a:schemeClr val="bg1"/>
                </a:solidFill>
              </a:rPr>
              <a:t>Rules</a:t>
            </a:r>
            <a:endParaRPr lang="en-US" sz="2100" dirty="0"/>
          </a:p>
        </p:txBody>
      </p:sp>
      <p:pic>
        <p:nvPicPr>
          <p:cNvPr id="17" name="icon-420" descr="preencoded.png">    </p:cNvPr>
          <p:cNvPicPr>
            <a:picLocks noChangeAspect="1"/>
          </p:cNvPicPr>
          <p:nvPr/>
        </p:nvPicPr>
        <p:blipFill>
          <a:blip r:embed="rId1"/>
          <a:stretch>
            <a:fillRect/>
          </a:stretch>
        </p:blipFill>
        <p:spPr>
          <a:xfrm>
            <a:off x="7086600" y="2377440"/>
            <a:ext cx="365760" cy="365760"/>
          </a:xfrm>
          <a:prstGeom prst="rect">
            <a:avLst/>
          </a:prstGeom>
        </p:spPr>
      </p:pic>
      <p:sp>
        <p:nvSpPr>
          <p:cNvPr id="18" name="text-421"/>
          <p:cNvSpPr txBox="1"/>
          <p:nvPr/>
        </p:nvSpPr>
        <p:spPr>
          <a:xfrm>
            <a:off x="7635240" y="2331720"/>
            <a:ext cx="4023360" cy="457200"/>
          </a:xfrm>
          <a:prstGeom prst="rect">
            <a:avLst/>
          </a:prstGeom>
          <a:noFill/>
          <a:ln/>
        </p:spPr>
        <p:txBody>
          <a:bodyPr wrap="square" lIns="0" tIns="0" rIns="0" bIns="0" rtlCol="0" anchor="ctr"/>
          <a:lstStyle/>
          <a:p>
            <a:pPr indent="0" marL="0">
              <a:buNone/>
            </a:pPr>
            <a:r>
              <a:rPr lang="en-US" sz="1800" dirty="0">
                <a:solidFill>
                  <a:schemeClr val="bg1"/>
                </a:solidFill>
              </a:rPr>
              <a:t>Four turns or fewer</a:t>
            </a:r>
            <a:endParaRPr lang="en-US" sz="1800" dirty="0"/>
          </a:p>
        </p:txBody>
      </p:sp>
      <p:pic>
        <p:nvPicPr>
          <p:cNvPr id="19" name="icon-422" descr="preencoded.png">    </p:cNvPr>
          <p:cNvPicPr>
            <a:picLocks noChangeAspect="1"/>
          </p:cNvPicPr>
          <p:nvPr/>
        </p:nvPicPr>
        <p:blipFill>
          <a:blip r:embed="rId2"/>
          <a:stretch>
            <a:fillRect/>
          </a:stretch>
        </p:blipFill>
        <p:spPr>
          <a:xfrm>
            <a:off x="7086600" y="3035808"/>
            <a:ext cx="365760" cy="365760"/>
          </a:xfrm>
          <a:prstGeom prst="rect">
            <a:avLst/>
          </a:prstGeom>
        </p:spPr>
      </p:pic>
      <p:sp>
        <p:nvSpPr>
          <p:cNvPr id="20" name="text-423"/>
          <p:cNvSpPr txBox="1"/>
          <p:nvPr/>
        </p:nvSpPr>
        <p:spPr>
          <a:xfrm>
            <a:off x="7635240" y="2990088"/>
            <a:ext cx="4023360" cy="457200"/>
          </a:xfrm>
          <a:prstGeom prst="rect">
            <a:avLst/>
          </a:prstGeom>
          <a:noFill/>
          <a:ln/>
        </p:spPr>
        <p:txBody>
          <a:bodyPr wrap="square" lIns="0" tIns="0" rIns="0" bIns="0" rtlCol="0" anchor="ctr"/>
          <a:lstStyle/>
          <a:p>
            <a:pPr indent="0" marL="0">
              <a:buNone/>
            </a:pPr>
            <a:r>
              <a:rPr lang="en-US" sz="1800" dirty="0">
                <a:solidFill>
                  <a:schemeClr val="bg1"/>
                </a:solidFill>
              </a:rPr>
              <a:t>Use at least two follow-up moves</a:t>
            </a:r>
            <a:endParaRPr lang="en-US" sz="1800" dirty="0"/>
          </a:p>
        </p:txBody>
      </p:sp>
      <p:pic>
        <p:nvPicPr>
          <p:cNvPr id="21" name="icon-424" descr="preencoded.png">    </p:cNvPr>
          <p:cNvPicPr>
            <a:picLocks noChangeAspect="1"/>
          </p:cNvPicPr>
          <p:nvPr/>
        </p:nvPicPr>
        <p:blipFill>
          <a:blip r:embed="rId3"/>
          <a:stretch>
            <a:fillRect/>
          </a:stretch>
        </p:blipFill>
        <p:spPr>
          <a:xfrm>
            <a:off x="7086600" y="3694176"/>
            <a:ext cx="365760" cy="365760"/>
          </a:xfrm>
          <a:prstGeom prst="rect">
            <a:avLst/>
          </a:prstGeom>
        </p:spPr>
      </p:pic>
      <p:sp>
        <p:nvSpPr>
          <p:cNvPr id="22" name="text-425"/>
          <p:cNvSpPr txBox="1"/>
          <p:nvPr/>
        </p:nvSpPr>
        <p:spPr>
          <a:xfrm>
            <a:off x="7635240" y="3648456"/>
            <a:ext cx="4023360" cy="457200"/>
          </a:xfrm>
          <a:prstGeom prst="rect">
            <a:avLst/>
          </a:prstGeom>
          <a:noFill/>
          <a:ln/>
        </p:spPr>
        <p:txBody>
          <a:bodyPr wrap="square" lIns="0" tIns="0" rIns="0" bIns="0" rtlCol="0" anchor="ctr"/>
          <a:lstStyle/>
          <a:p>
            <a:pPr indent="0" marL="0">
              <a:buNone/>
            </a:pPr>
            <a:r>
              <a:rPr lang="en-US" sz="1800" dirty="0">
                <a:solidFill>
                  <a:schemeClr val="bg1"/>
                </a:solidFill>
              </a:rPr>
              <a:t>Log each prompt in your workbook</a:t>
            </a:r>
            <a:endParaRPr lang="en-US" sz="1800" dirty="0"/>
          </a:p>
        </p:txBody>
      </p:sp>
      <p:pic>
        <p:nvPicPr>
          <p:cNvPr id="23" name="icon-426" descr="preencoded.png">    </p:cNvPr>
          <p:cNvPicPr>
            <a:picLocks noChangeAspect="1"/>
          </p:cNvPicPr>
          <p:nvPr/>
        </p:nvPicPr>
        <p:blipFill>
          <a:blip r:embed="rId4"/>
          <a:stretch>
            <a:fillRect/>
          </a:stretch>
        </p:blipFill>
        <p:spPr>
          <a:xfrm>
            <a:off x="7086600" y="4352544"/>
            <a:ext cx="365760" cy="365760"/>
          </a:xfrm>
          <a:prstGeom prst="rect">
            <a:avLst/>
          </a:prstGeom>
        </p:spPr>
      </p:pic>
      <p:sp>
        <p:nvSpPr>
          <p:cNvPr id="24" name="text-427"/>
          <p:cNvSpPr txBox="1"/>
          <p:nvPr/>
        </p:nvSpPr>
        <p:spPr>
          <a:xfrm>
            <a:off x="7635240" y="4306824"/>
            <a:ext cx="4023360" cy="457200"/>
          </a:xfrm>
          <a:prstGeom prst="rect">
            <a:avLst/>
          </a:prstGeom>
          <a:noFill/>
          <a:ln/>
        </p:spPr>
        <p:txBody>
          <a:bodyPr wrap="square" lIns="0" tIns="0" rIns="0" bIns="0" rtlCol="0" anchor="ctr"/>
          <a:lstStyle/>
          <a:p>
            <a:pPr indent="0" marL="0">
              <a:buNone/>
            </a:pPr>
            <a:r>
              <a:rPr lang="en-US" sz="1800" dirty="0">
                <a:solidFill>
                  <a:schemeClr val="bg1"/>
                </a:solidFill>
              </a:rPr>
              <a:t>Checkpoint at 11:41</a:t>
            </a:r>
            <a:endParaRPr lang="en-US" sz="1800" dirty="0"/>
          </a:p>
        </p:txBody>
      </p:sp>
      <p:sp>
        <p:nvSpPr>
          <p:cNvPr id="25" name="text-428"/>
          <p:cNvSpPr txBox="1"/>
          <p:nvPr/>
        </p:nvSpPr>
        <p:spPr>
          <a:xfrm>
            <a:off x="548640" y="5623560"/>
            <a:ext cx="10180015" cy="365760"/>
          </a:xfrm>
          <a:prstGeom prst="rect">
            <a:avLst/>
          </a:prstGeom>
          <a:noFill/>
          <a:ln/>
        </p:spPr>
        <p:txBody>
          <a:bodyPr wrap="square" lIns="0" tIns="0" rIns="0" bIns="0" rtlCol="0" anchor="t"/>
          <a:lstStyle/>
          <a:p>
            <a:pPr indent="0" marL="0">
              <a:buNone/>
            </a:pPr>
            <a:r>
              <a:rPr lang="en-US" sz="1700" b="1" dirty="0">
                <a:solidFill>
                  <a:schemeClr val="accent1"/>
                </a:solidFill>
              </a:rPr>
              <a:t>Done when: </a:t>
            </a:r>
            <a:pPr indent="0" marL="0">
              <a:buNone/>
            </a:pPr>
            <a:r>
              <a:rPr lang="en-US" sz="1700" dirty="0">
                <a:solidFill>
                  <a:schemeClr val="bg1"/>
                </a:solidFill>
              </a:rPr>
              <a:t>you have a version you'd actually send, and a log of the moves you used.</a:t>
            </a:r>
            <a:endParaRPr lang="en-US" sz="1700" dirty="0"/>
          </a:p>
        </p:txBody>
      </p:sp>
      <p:sp>
        <p:nvSpPr>
          <p:cNvPr id="26" name="text-429"/>
          <p:cNvSpPr txBox="1"/>
          <p:nvPr/>
        </p:nvSpPr>
        <p:spPr>
          <a:xfrm>
            <a:off x="548640" y="5989320"/>
            <a:ext cx="10180015" cy="365760"/>
          </a:xfrm>
          <a:prstGeom prst="rect">
            <a:avLst/>
          </a:prstGeom>
          <a:noFill/>
          <a:ln/>
        </p:spPr>
        <p:txBody>
          <a:bodyPr wrap="square" lIns="0" tIns="0" rIns="0" bIns="0" rtlCol="0" anchor="t"/>
          <a:lstStyle/>
          <a:p>
            <a:pPr indent="0" marL="0">
              <a:buNone/>
            </a:pPr>
            <a:r>
              <a:rPr lang="en-US" sz="1400" dirty="0">
                <a:solidFill>
                  <a:schemeClr val="accent3"/>
                </a:solidFill>
              </a:rPr>
              <a:t>Finished early? Ask Gemini to turn the whole conversation into one prompt that gets the final result in one go.</a:t>
            </a:r>
            <a:endParaRPr lang="en-US" sz="14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Before lunch</a:t>
            </a:r>
            <a:endParaRPr lang="en-US" sz="3400" dirty="0"/>
          </a:p>
        </p:txBody>
      </p:sp>
      <p:sp>
        <p:nvSpPr>
          <p:cNvPr id="3" name="card-430"/>
          <p:cNvSpPr/>
          <p:nvPr/>
        </p:nvSpPr>
        <p:spPr>
          <a:xfrm>
            <a:off x="548640" y="1463040"/>
            <a:ext cx="6035040" cy="4114800"/>
          </a:xfrm>
          <a:prstGeom prst="roundRect">
            <a:avLst>
              <a:gd name="adj" fmla="val 2667"/>
            </a:avLst>
          </a:prstGeom>
          <a:solidFill>
            <a:schemeClr val="tx1"/>
          </a:solidFill>
          <a:ln/>
        </p:spPr>
      </p:sp>
      <p:sp>
        <p:nvSpPr>
          <p:cNvPr id="4" name="text-431"/>
          <p:cNvSpPr txBox="1"/>
          <p:nvPr/>
        </p:nvSpPr>
        <p:spPr>
          <a:xfrm>
            <a:off x="914400" y="1783080"/>
            <a:ext cx="457200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EXIT QUESTION</a:t>
            </a:r>
            <a:endParaRPr lang="en-US" sz="1300" dirty="0"/>
          </a:p>
        </p:txBody>
      </p:sp>
      <p:sp>
        <p:nvSpPr>
          <p:cNvPr id="5" name="text-432"/>
          <p:cNvSpPr txBox="1"/>
          <p:nvPr/>
        </p:nvSpPr>
        <p:spPr>
          <a:xfrm>
            <a:off x="914400" y="2240280"/>
            <a:ext cx="5303520" cy="1188720"/>
          </a:xfrm>
          <a:prstGeom prst="rect">
            <a:avLst/>
          </a:prstGeom>
          <a:noFill/>
          <a:ln/>
        </p:spPr>
        <p:txBody>
          <a:bodyPr wrap="square" lIns="0" tIns="0" rIns="0" bIns="0" rtlCol="0" anchor="t"/>
          <a:lstStyle/>
          <a:p>
            <a:pPr indent="0" marL="0">
              <a:buNone/>
            </a:pPr>
            <a:r>
              <a:rPr lang="en-US" sz="2200" dirty="0">
                <a:solidFill>
                  <a:schemeClr val="bg1"/>
                </a:solidFill>
              </a:rPr>
              <a:t>Gemini's summary includes a deadline that isn't in the memo you pasted.</a:t>
            </a:r>
            <a:endParaRPr lang="en-US" sz="2200" dirty="0"/>
          </a:p>
        </p:txBody>
      </p:sp>
      <p:sp>
        <p:nvSpPr>
          <p:cNvPr id="6" name="text-433"/>
          <p:cNvSpPr txBox="1"/>
          <p:nvPr/>
        </p:nvSpPr>
        <p:spPr>
          <a:xfrm>
            <a:off x="914400" y="3566160"/>
            <a:ext cx="5303520" cy="1188720"/>
          </a:xfrm>
          <a:prstGeom prst="rect">
            <a:avLst/>
          </a:prstGeom>
          <a:noFill/>
          <a:ln/>
        </p:spPr>
        <p:txBody>
          <a:bodyPr wrap="square" lIns="0" tIns="0" rIns="0" bIns="0" rtlCol="0" anchor="t"/>
          <a:lstStyle/>
          <a:p>
            <a:pPr indent="0" marL="0">
              <a:buNone/>
            </a:pPr>
            <a:r>
              <a:rPr lang="en-US" sz="2200" b="1" dirty="0">
                <a:solidFill>
                  <a:schemeClr val="bg1"/>
                </a:solidFill>
              </a:rPr>
              <a:t>Name two things you could add to your prompt to prevent this.</a:t>
            </a:r>
            <a:endParaRPr lang="en-US" sz="2200" dirty="0"/>
          </a:p>
        </p:txBody>
      </p:sp>
      <p:sp>
        <p:nvSpPr>
          <p:cNvPr id="7" name="text-434"/>
          <p:cNvSpPr txBox="1"/>
          <p:nvPr/>
        </p:nvSpPr>
        <p:spPr>
          <a:xfrm>
            <a:off x="7086600" y="1463040"/>
            <a:ext cx="4572000" cy="457200"/>
          </a:xfrm>
          <a:prstGeom prst="rect">
            <a:avLst/>
          </a:prstGeom>
          <a:noFill/>
          <a:ln/>
        </p:spPr>
        <p:txBody>
          <a:bodyPr wrap="square" lIns="0" tIns="0" rIns="0" bIns="0" rtlCol="0" anchor="t"/>
          <a:lstStyle/>
          <a:p>
            <a:pPr indent="0" marL="0">
              <a:buNone/>
            </a:pPr>
            <a:r>
              <a:rPr lang="en-US" sz="2400" b="1" dirty="0">
                <a:solidFill>
                  <a:schemeClr val="tx1"/>
                </a:solidFill>
              </a:rPr>
              <a:t>This afternoon</a:t>
            </a:r>
            <a:endParaRPr lang="en-US" sz="2400" dirty="0"/>
          </a:p>
        </p:txBody>
      </p:sp>
      <p:sp>
        <p:nvSpPr>
          <p:cNvPr id="8" name="dot-435"/>
          <p:cNvSpPr/>
          <p:nvPr/>
        </p:nvSpPr>
        <p:spPr>
          <a:xfrm>
            <a:off x="7086600" y="2148840"/>
            <a:ext cx="594360" cy="594360"/>
          </a:xfrm>
          <a:prstGeom prst="ellipse">
            <a:avLst/>
          </a:prstGeom>
          <a:solidFill>
            <a:schemeClr val="tx1"/>
          </a:solidFill>
          <a:ln/>
        </p:spPr>
      </p:sp>
      <p:pic>
        <p:nvPicPr>
          <p:cNvPr id="9" name="icon-436" descr="preencoded.png">    </p:cNvPr>
          <p:cNvPicPr>
            <a:picLocks noChangeAspect="1"/>
          </p:cNvPicPr>
          <p:nvPr/>
        </p:nvPicPr>
        <p:blipFill>
          <a:blip r:embed="rId1"/>
          <a:stretch>
            <a:fillRect/>
          </a:stretch>
        </p:blipFill>
        <p:spPr>
          <a:xfrm>
            <a:off x="7217359" y="2279599"/>
            <a:ext cx="332842" cy="332842"/>
          </a:xfrm>
          <a:prstGeom prst="rect">
            <a:avLst/>
          </a:prstGeom>
        </p:spPr>
      </p:pic>
      <p:sp>
        <p:nvSpPr>
          <p:cNvPr id="10" name="text-437"/>
          <p:cNvSpPr txBox="1"/>
          <p:nvPr/>
        </p:nvSpPr>
        <p:spPr>
          <a:xfrm>
            <a:off x="7863840" y="2148840"/>
            <a:ext cx="3776472" cy="685800"/>
          </a:xfrm>
          <a:prstGeom prst="rect">
            <a:avLst/>
          </a:prstGeom>
          <a:noFill/>
          <a:ln/>
        </p:spPr>
        <p:txBody>
          <a:bodyPr wrap="square" lIns="0" tIns="0" rIns="0" bIns="0" rtlCol="0" anchor="ctr"/>
          <a:lstStyle/>
          <a:p>
            <a:pPr indent="0" marL="0">
              <a:buNone/>
            </a:pPr>
            <a:r>
              <a:rPr lang="en-US" sz="1800" dirty="0">
                <a:solidFill>
                  <a:schemeClr val="tx1"/>
                </a:solidFill>
              </a:rPr>
              <a:t>Use Gemini safely on a realistic workplace case</a:t>
            </a:r>
            <a:endParaRPr lang="en-US" sz="1800" dirty="0"/>
          </a:p>
        </p:txBody>
      </p:sp>
      <p:sp>
        <p:nvSpPr>
          <p:cNvPr id="11" name="dot-438"/>
          <p:cNvSpPr/>
          <p:nvPr/>
        </p:nvSpPr>
        <p:spPr>
          <a:xfrm>
            <a:off x="7086600" y="3108960"/>
            <a:ext cx="594360" cy="594360"/>
          </a:xfrm>
          <a:prstGeom prst="ellipse">
            <a:avLst/>
          </a:prstGeom>
          <a:solidFill>
            <a:schemeClr val="tx1"/>
          </a:solidFill>
          <a:ln/>
        </p:spPr>
      </p:sp>
      <p:pic>
        <p:nvPicPr>
          <p:cNvPr id="12" name="icon-439" descr="preencoded.png">    </p:cNvPr>
          <p:cNvPicPr>
            <a:picLocks noChangeAspect="1"/>
          </p:cNvPicPr>
          <p:nvPr/>
        </p:nvPicPr>
        <p:blipFill>
          <a:blip r:embed="rId2"/>
          <a:stretch>
            <a:fillRect/>
          </a:stretch>
        </p:blipFill>
        <p:spPr>
          <a:xfrm>
            <a:off x="7217359" y="3239719"/>
            <a:ext cx="332842" cy="332842"/>
          </a:xfrm>
          <a:prstGeom prst="rect">
            <a:avLst/>
          </a:prstGeom>
        </p:spPr>
      </p:pic>
      <p:sp>
        <p:nvSpPr>
          <p:cNvPr id="13" name="text-440"/>
          <p:cNvSpPr txBox="1"/>
          <p:nvPr/>
        </p:nvSpPr>
        <p:spPr>
          <a:xfrm>
            <a:off x="7863840" y="3108960"/>
            <a:ext cx="3776472" cy="685800"/>
          </a:xfrm>
          <a:prstGeom prst="rect">
            <a:avLst/>
          </a:prstGeom>
          <a:noFill/>
          <a:ln/>
        </p:spPr>
        <p:txBody>
          <a:bodyPr wrap="square" lIns="0" tIns="0" rIns="0" bIns="0" rtlCol="0" anchor="ctr"/>
          <a:lstStyle/>
          <a:p>
            <a:pPr indent="0" marL="0">
              <a:buNone/>
            </a:pPr>
            <a:r>
              <a:rPr lang="en-US" sz="1800" dirty="0">
                <a:solidFill>
                  <a:schemeClr val="tx1"/>
                </a:solidFill>
              </a:rPr>
              <a:t>Build a prompt for your own work, and save it in Gemini</a:t>
            </a:r>
            <a:endParaRPr lang="en-US" sz="1800" dirty="0"/>
          </a:p>
        </p:txBody>
      </p:sp>
      <p:sp>
        <p:nvSpPr>
          <p:cNvPr id="14" name="card-441"/>
          <p:cNvSpPr/>
          <p:nvPr/>
        </p:nvSpPr>
        <p:spPr>
          <a:xfrm>
            <a:off x="7086600" y="4206240"/>
            <a:ext cx="4553712" cy="1371600"/>
          </a:xfrm>
          <a:prstGeom prst="roundRect">
            <a:avLst>
              <a:gd name="adj" fmla="val 8000"/>
            </a:avLst>
          </a:prstGeom>
          <a:solidFill>
            <a:schemeClr val="bg2"/>
          </a:solidFill>
          <a:ln/>
        </p:spPr>
      </p:sp>
      <p:sp>
        <p:nvSpPr>
          <p:cNvPr id="15" name="text-442"/>
          <p:cNvSpPr txBox="1"/>
          <p:nvPr/>
        </p:nvSpPr>
        <p:spPr>
          <a:xfrm>
            <a:off x="7360920" y="4206240"/>
            <a:ext cx="4023360" cy="1371600"/>
          </a:xfrm>
          <a:prstGeom prst="rect">
            <a:avLst/>
          </a:prstGeom>
          <a:noFill/>
          <a:ln/>
        </p:spPr>
        <p:txBody>
          <a:bodyPr wrap="square" lIns="0" tIns="0" rIns="0" bIns="0" rtlCol="0" anchor="ctr"/>
          <a:lstStyle/>
          <a:p>
            <a:pPr indent="0" marL="0">
              <a:buNone/>
            </a:pPr>
            <a:r>
              <a:rPr lang="en-US" sz="1600" i="1" dirty="0">
                <a:solidFill>
                  <a:schemeClr val="tx1"/>
                </a:solidFill>
              </a:rPr>
              <a:t>Over lunch, think of a task you do every week or month that involves writing or summarizing.</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body" hasCustomPrompt="1"/>
          </p:nvPr>
        </p:nvSpPr>
        <p:spPr>
          <a:xfrm>
            <a:off x="548640" y="1234440"/>
            <a:ext cx="3657600" cy="1554480"/>
          </a:xfrm>
          <a:prstGeom prst="rect">
            <a:avLst/>
          </a:prstGeom>
          <a:noFill/>
          <a:ln/>
        </p:spPr>
        <p:txBody>
          <a:bodyPr wrap="square" lIns="0" tIns="0" rIns="0" bIns="0" rtlCol="0" anchor="b"/>
          <a:lstStyle/>
          <a:p>
            <a:pPr algn="l" indent="0" marL="0">
              <a:buNone/>
            </a:pPr>
            <a:r>
              <a:rPr lang="en-US" sz="11000" b="1" dirty="0">
                <a:solidFill>
                  <a:schemeClr val="accent1"/>
                </a:solidFill>
              </a:rPr>
              <a:t>03</a:t>
            </a:r>
            <a:endParaRPr lang="en-US" sz="11000" dirty="0"/>
          </a:p>
        </p:txBody>
      </p:sp>
      <p:sp>
        <p:nvSpPr>
          <p:cNvPr id="3" name="Text 0"/>
          <p:cNvSpPr/>
          <p:nvPr>
            <p:ph idx="102" type="title" hasCustomPrompt="1"/>
          </p:nvPr>
        </p:nvSpPr>
        <p:spPr>
          <a:xfrm>
            <a:off x="548640" y="2926080"/>
            <a:ext cx="10515600" cy="1005840"/>
          </a:xfrm>
          <a:prstGeom prst="rect">
            <a:avLst/>
          </a:prstGeom>
          <a:noFill/>
          <a:ln/>
        </p:spPr>
        <p:txBody>
          <a:bodyPr wrap="square" lIns="0" tIns="0" rIns="0" bIns="0" rtlCol="0" anchor="t"/>
          <a:lstStyle/>
          <a:p>
            <a:pPr algn="l" indent="0" marL="0">
              <a:buNone/>
            </a:pPr>
            <a:r>
              <a:rPr lang="en-US" sz="5000" b="1" dirty="0">
                <a:solidFill>
                  <a:schemeClr val="bg1"/>
                </a:solidFill>
              </a:rPr>
              <a:t>Applied practice</a:t>
            </a:r>
            <a:endParaRPr lang="en-US" sz="5000" dirty="0"/>
          </a:p>
        </p:txBody>
      </p:sp>
      <p:sp>
        <p:nvSpPr>
          <p:cNvPr id="4" name="Text 0"/>
          <p:cNvSpPr/>
          <p:nvPr>
            <p:ph idx="103" type="body" hasCustomPrompt="1"/>
          </p:nvPr>
        </p:nvSpPr>
        <p:spPr>
          <a:xfrm>
            <a:off x="548640" y="3931920"/>
            <a:ext cx="10515600" cy="640080"/>
          </a:xfrm>
          <a:prstGeom prst="rect">
            <a:avLst/>
          </a:prstGeom>
          <a:noFill/>
          <a:ln/>
        </p:spPr>
        <p:txBody>
          <a:bodyPr wrap="square" lIns="0" tIns="0" rIns="0" bIns="0" rtlCol="0" anchor="t"/>
          <a:lstStyle/>
          <a:p>
            <a:pPr algn="l" indent="0" marL="0">
              <a:buNone/>
            </a:pPr>
            <a:r>
              <a:rPr lang="en-US" sz="2600" dirty="0">
                <a:solidFill>
                  <a:schemeClr val="accent3"/>
                </a:solidFill>
              </a:rPr>
              <a:t>Using Gemini responsibly on a realistic case</a:t>
            </a:r>
            <a:endParaRPr lang="en-US" sz="2600" dirty="0"/>
          </a:p>
        </p:txBody>
      </p:sp>
      <p:sp>
        <p:nvSpPr>
          <p:cNvPr id="5" name="Text 0"/>
          <p:cNvSpPr/>
          <p:nvPr>
            <p:ph idx="104" type="body" hasCustomPrompt="1"/>
          </p:nvPr>
        </p:nvSpPr>
        <p:spPr>
          <a:xfrm>
            <a:off x="548640" y="4983480"/>
            <a:ext cx="5486400" cy="411480"/>
          </a:xfrm>
          <a:prstGeom prst="rect">
            <a:avLst/>
          </a:prstGeom>
          <a:noFill/>
          <a:ln/>
        </p:spPr>
        <p:txBody>
          <a:bodyPr wrap="square" lIns="0" tIns="0" rIns="0" bIns="0" rtlCol="0" anchor="t"/>
          <a:lstStyle/>
          <a:p>
            <a:pPr algn="l" indent="0" marL="0">
              <a:buNone/>
            </a:pPr>
            <a:r>
              <a:rPr lang="en-US" sz="1600" dirty="0">
                <a:solidFill>
                  <a:schemeClr val="accent3"/>
                </a:solidFill>
              </a:rPr>
              <a:t>1:00 – 2:15 p.m.</a:t>
            </a:r>
            <a:endParaRPr lang="en-US" sz="1600" dirty="0"/>
          </a:p>
        </p:txBody>
      </p:sp>
      <p:sp>
        <p:nvSpPr>
          <p:cNvPr id="6" name="text-443"/>
          <p:cNvSpPr txBox="1"/>
          <p:nvPr/>
        </p:nvSpPr>
        <p:spPr>
          <a:xfrm>
            <a:off x="5486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00 Welcome</a:t>
            </a:r>
            <a:endParaRPr lang="en-US" sz="1300" dirty="0"/>
          </a:p>
        </p:txBody>
      </p:sp>
      <p:sp>
        <p:nvSpPr>
          <p:cNvPr id="7" name="progress-444"/>
          <p:cNvSpPr/>
          <p:nvPr/>
        </p:nvSpPr>
        <p:spPr>
          <a:xfrm>
            <a:off x="548640" y="5897880"/>
            <a:ext cx="1508760" cy="45720"/>
          </a:xfrm>
          <a:prstGeom prst="rect">
            <a:avLst/>
          </a:prstGeom>
          <a:solidFill>
            <a:schemeClr val="accent2"/>
          </a:solidFill>
          <a:ln/>
        </p:spPr>
      </p:sp>
      <p:sp>
        <p:nvSpPr>
          <p:cNvPr id="8" name="text-445"/>
          <p:cNvSpPr txBox="1"/>
          <p:nvPr/>
        </p:nvSpPr>
        <p:spPr>
          <a:xfrm>
            <a:off x="219456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01 Foundations</a:t>
            </a:r>
            <a:endParaRPr lang="en-US" sz="1300" dirty="0"/>
          </a:p>
        </p:txBody>
      </p:sp>
      <p:sp>
        <p:nvSpPr>
          <p:cNvPr id="9" name="progress-446"/>
          <p:cNvSpPr/>
          <p:nvPr/>
        </p:nvSpPr>
        <p:spPr>
          <a:xfrm>
            <a:off x="2194560" y="5897880"/>
            <a:ext cx="1508760" cy="45720"/>
          </a:xfrm>
          <a:prstGeom prst="rect">
            <a:avLst/>
          </a:prstGeom>
          <a:solidFill>
            <a:schemeClr val="accent2"/>
          </a:solidFill>
          <a:ln/>
        </p:spPr>
      </p:sp>
      <p:sp>
        <p:nvSpPr>
          <p:cNvPr id="10" name="text-447"/>
          <p:cNvSpPr txBox="1"/>
          <p:nvPr/>
        </p:nvSpPr>
        <p:spPr>
          <a:xfrm>
            <a:off x="384048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02 Core skills</a:t>
            </a:r>
            <a:endParaRPr lang="en-US" sz="1300" dirty="0"/>
          </a:p>
        </p:txBody>
      </p:sp>
      <p:sp>
        <p:nvSpPr>
          <p:cNvPr id="11" name="progress-448"/>
          <p:cNvSpPr/>
          <p:nvPr/>
        </p:nvSpPr>
        <p:spPr>
          <a:xfrm>
            <a:off x="3840480" y="5897880"/>
            <a:ext cx="1508760" cy="45720"/>
          </a:xfrm>
          <a:prstGeom prst="rect">
            <a:avLst/>
          </a:prstGeom>
          <a:solidFill>
            <a:schemeClr val="accent2"/>
          </a:solidFill>
          <a:ln/>
        </p:spPr>
      </p:sp>
      <p:sp>
        <p:nvSpPr>
          <p:cNvPr id="12" name="text-449"/>
          <p:cNvSpPr txBox="1"/>
          <p:nvPr/>
        </p:nvSpPr>
        <p:spPr>
          <a:xfrm>
            <a:off x="5486400" y="5989320"/>
            <a:ext cx="1554480" cy="320040"/>
          </a:xfrm>
          <a:prstGeom prst="rect">
            <a:avLst/>
          </a:prstGeom>
          <a:noFill/>
          <a:ln/>
        </p:spPr>
        <p:txBody>
          <a:bodyPr wrap="square" lIns="0" tIns="0" rIns="0" bIns="0" rtlCol="0" anchor="t"/>
          <a:lstStyle/>
          <a:p>
            <a:pPr indent="0" marL="0">
              <a:buNone/>
            </a:pPr>
            <a:r>
              <a:rPr lang="en-US" sz="1300" b="1" dirty="0">
                <a:solidFill>
                  <a:schemeClr val="bg1"/>
                </a:solidFill>
              </a:rPr>
              <a:t>03 Applied practice</a:t>
            </a:r>
            <a:endParaRPr lang="en-US" sz="1300" dirty="0"/>
          </a:p>
        </p:txBody>
      </p:sp>
      <p:sp>
        <p:nvSpPr>
          <p:cNvPr id="13" name="progress-450"/>
          <p:cNvSpPr/>
          <p:nvPr/>
        </p:nvSpPr>
        <p:spPr>
          <a:xfrm>
            <a:off x="5486400" y="5897880"/>
            <a:ext cx="1508760" cy="45720"/>
          </a:xfrm>
          <a:prstGeom prst="rect">
            <a:avLst/>
          </a:prstGeom>
          <a:solidFill>
            <a:schemeClr val="accent1"/>
          </a:solidFill>
          <a:ln/>
        </p:spPr>
      </p:sp>
      <p:sp>
        <p:nvSpPr>
          <p:cNvPr id="14" name="text-451"/>
          <p:cNvSpPr txBox="1"/>
          <p:nvPr/>
        </p:nvSpPr>
        <p:spPr>
          <a:xfrm>
            <a:off x="713232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04 Capstone</a:t>
            </a:r>
            <a:endParaRPr lang="en-US" sz="1300" dirty="0"/>
          </a:p>
        </p:txBody>
      </p:sp>
      <p:sp>
        <p:nvSpPr>
          <p:cNvPr id="15" name="progress-452"/>
          <p:cNvSpPr/>
          <p:nvPr/>
        </p:nvSpPr>
        <p:spPr>
          <a:xfrm>
            <a:off x="7132320" y="5897880"/>
            <a:ext cx="1508760" cy="45720"/>
          </a:xfrm>
          <a:prstGeom prst="rect">
            <a:avLst/>
          </a:prstGeom>
          <a:solidFill>
            <a:schemeClr val="accent2"/>
          </a:solidFill>
          <a:ln/>
        </p:spPr>
      </p:sp>
      <p:sp>
        <p:nvSpPr>
          <p:cNvPr id="16" name="text-453"/>
          <p:cNvSpPr txBox="1"/>
          <p:nvPr/>
        </p:nvSpPr>
        <p:spPr>
          <a:xfrm>
            <a:off x="87782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05 Wrap-up</a:t>
            </a:r>
            <a:endParaRPr lang="en-US" sz="1300" dirty="0"/>
          </a:p>
        </p:txBody>
      </p:sp>
      <p:sp>
        <p:nvSpPr>
          <p:cNvPr id="17" name="progress-454"/>
          <p:cNvSpPr/>
          <p:nvPr/>
        </p:nvSpPr>
        <p:spPr>
          <a:xfrm>
            <a:off x="8778240" y="5897880"/>
            <a:ext cx="1508760" cy="45720"/>
          </a:xfrm>
          <a:prstGeom prst="rect">
            <a:avLst/>
          </a:prstGeom>
          <a:solidFill>
            <a:schemeClr val="accent2"/>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ENERGIZER  ·  TABLE GROUPS</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What do you remember?</a:t>
            </a:r>
            <a:endParaRPr lang="en-US" sz="3800" dirty="0"/>
          </a:p>
        </p:txBody>
      </p:sp>
      <p:sp>
        <p:nvSpPr>
          <p:cNvPr id="4" name="badge-455"/>
          <p:cNvSpPr/>
          <p:nvPr/>
        </p:nvSpPr>
        <p:spPr>
          <a:xfrm>
            <a:off x="10042855" y="502920"/>
            <a:ext cx="1600200" cy="457200"/>
          </a:xfrm>
          <a:prstGeom prst="roundRect">
            <a:avLst>
              <a:gd name="adj" fmla="val 50000"/>
            </a:avLst>
          </a:prstGeom>
          <a:solidFill>
            <a:schemeClr val="bg1"/>
          </a:solidFill>
          <a:ln/>
        </p:spPr>
      </p:sp>
      <p:sp>
        <p:nvSpPr>
          <p:cNvPr id="5" name="text-456"/>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7 min</a:t>
            </a:r>
            <a:endParaRPr lang="en-US" sz="1600" dirty="0"/>
          </a:p>
        </p:txBody>
      </p:sp>
      <p:sp>
        <p:nvSpPr>
          <p:cNvPr id="6" name="card-457"/>
          <p:cNvSpPr/>
          <p:nvPr/>
        </p:nvSpPr>
        <p:spPr>
          <a:xfrm>
            <a:off x="548640" y="1920240"/>
            <a:ext cx="5318608" cy="3108960"/>
          </a:xfrm>
          <a:prstGeom prst="roundRect">
            <a:avLst>
              <a:gd name="adj" fmla="val 3529"/>
            </a:avLst>
          </a:prstGeom>
          <a:solidFill>
            <a:schemeClr val="accent2"/>
          </a:solidFill>
          <a:ln w="25400">
            <a:solidFill>
              <a:srgbClr val="FFFFFF"/>
            </a:solidFill>
            <a:prstDash val="dash"/>
          </a:ln>
        </p:spPr>
      </p:sp>
      <p:sp>
        <p:nvSpPr>
          <p:cNvPr id="7" name="text-458"/>
          <p:cNvSpPr txBox="1"/>
          <p:nvPr/>
        </p:nvSpPr>
        <p:spPr>
          <a:xfrm>
            <a:off x="548640" y="1920240"/>
            <a:ext cx="5318608" cy="3108960"/>
          </a:xfrm>
          <a:prstGeom prst="rect">
            <a:avLst/>
          </a:prstGeom>
          <a:noFill/>
          <a:ln/>
        </p:spPr>
        <p:txBody>
          <a:bodyPr wrap="square" lIns="0" tIns="0" rIns="0" bIns="0" rtlCol="0" anchor="ctr"/>
          <a:lstStyle/>
          <a:p>
            <a:pPr algn="ctr" indent="0" marL="0">
              <a:buNone/>
            </a:pPr>
            <a:r>
              <a:rPr lang="en-US" sz="4000" b="1" dirty="0">
                <a:solidFill>
                  <a:schemeClr val="bg1"/>
                </a:solidFill>
              </a:rPr>
              <a:t>CRAFT</a:t>
            </a:r>
            <a:endParaRPr lang="en-US" sz="4000" dirty="0"/>
          </a:p>
        </p:txBody>
      </p:sp>
      <p:sp>
        <p:nvSpPr>
          <p:cNvPr id="8" name="card-459"/>
          <p:cNvSpPr/>
          <p:nvPr/>
        </p:nvSpPr>
        <p:spPr>
          <a:xfrm>
            <a:off x="6324448" y="1920240"/>
            <a:ext cx="5318608" cy="3108960"/>
          </a:xfrm>
          <a:prstGeom prst="roundRect">
            <a:avLst>
              <a:gd name="adj" fmla="val 3529"/>
            </a:avLst>
          </a:prstGeom>
          <a:solidFill>
            <a:schemeClr val="accent2"/>
          </a:solidFill>
          <a:ln w="25400">
            <a:solidFill>
              <a:srgbClr val="FFFFFF"/>
            </a:solidFill>
            <a:prstDash val="dash"/>
          </a:ln>
        </p:spPr>
      </p:sp>
      <p:sp>
        <p:nvSpPr>
          <p:cNvPr id="9" name="text-460"/>
          <p:cNvSpPr txBox="1"/>
          <p:nvPr/>
        </p:nvSpPr>
        <p:spPr>
          <a:xfrm>
            <a:off x="6324448" y="1920240"/>
            <a:ext cx="5318608" cy="3108960"/>
          </a:xfrm>
          <a:prstGeom prst="rect">
            <a:avLst/>
          </a:prstGeom>
          <a:noFill/>
          <a:ln/>
        </p:spPr>
        <p:txBody>
          <a:bodyPr wrap="square" lIns="0" tIns="0" rIns="0" bIns="0" rtlCol="0" anchor="ctr"/>
          <a:lstStyle/>
          <a:p>
            <a:pPr algn="ctr" indent="0" marL="0">
              <a:buNone/>
            </a:pPr>
            <a:r>
              <a:rPr lang="en-US" sz="4000" b="1" dirty="0">
                <a:solidFill>
                  <a:schemeClr val="bg1"/>
                </a:solidFill>
              </a:rPr>
              <a:t>Techniques</a:t>
            </a:r>
            <a:endParaRPr lang="en-US" sz="4000" dirty="0"/>
          </a:p>
        </p:txBody>
      </p:sp>
      <p:sp>
        <p:nvSpPr>
          <p:cNvPr id="10" name="text-461"/>
          <p:cNvSpPr txBox="1"/>
          <p:nvPr/>
        </p:nvSpPr>
        <p:spPr>
          <a:xfrm>
            <a:off x="548640" y="5303520"/>
            <a:ext cx="10180015" cy="822960"/>
          </a:xfrm>
          <a:prstGeom prst="rect">
            <a:avLst/>
          </a:prstGeom>
          <a:noFill/>
          <a:ln/>
        </p:spPr>
        <p:txBody>
          <a:bodyPr wrap="square" lIns="0" tIns="0" rIns="0" bIns="0" rtlCol="0" anchor="t"/>
          <a:lstStyle/>
          <a:p>
            <a:pPr indent="0" marL="0">
              <a:buNone/>
            </a:pPr>
            <a:r>
              <a:rPr lang="en-US" sz="1800" b="1" dirty="0">
                <a:solidFill>
                  <a:schemeClr val="bg1"/>
                </a:solidFill>
              </a:rPr>
              <a:t>Stand at your flipchart and write everything you remember, without notes.</a:t>
            </a:r>
            <a:endParaRPr lang="en-US" sz="1800" dirty="0"/>
          </a:p>
          <a:p>
            <a:pPr indent="0" marL="0">
              <a:buNone/>
            </a:pPr>
            <a:r>
              <a:rPr lang="en-US" sz="1800" dirty="0">
                <a:solidFill>
                  <a:schemeClr val="accent3"/>
                </a:solidFill>
              </a:rPr>
              <a:t>5 minutes writing, then 2 minutes looking at the other tables.</a:t>
            </a:r>
            <a:endParaRPr lang="en-US" sz="1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Which account are you signed in with?</a:t>
            </a:r>
            <a:endParaRPr lang="en-US" sz="3400" dirty="0"/>
          </a:p>
        </p:txBody>
      </p:sp>
      <p:sp>
        <p:nvSpPr>
          <p:cNvPr id="3" name="card-462"/>
          <p:cNvSpPr/>
          <p:nvPr/>
        </p:nvSpPr>
        <p:spPr>
          <a:xfrm>
            <a:off x="548640" y="1463040"/>
            <a:ext cx="5364328" cy="3886200"/>
          </a:xfrm>
          <a:prstGeom prst="roundRect">
            <a:avLst>
              <a:gd name="adj" fmla="val 2824"/>
            </a:avLst>
          </a:prstGeom>
          <a:solidFill>
            <a:schemeClr val="tx1"/>
          </a:solidFill>
          <a:ln/>
        </p:spPr>
      </p:sp>
      <p:sp>
        <p:nvSpPr>
          <p:cNvPr id="4" name="dot-463"/>
          <p:cNvSpPr/>
          <p:nvPr/>
        </p:nvSpPr>
        <p:spPr>
          <a:xfrm>
            <a:off x="914400" y="1783080"/>
            <a:ext cx="685800" cy="685800"/>
          </a:xfrm>
          <a:prstGeom prst="ellipse">
            <a:avLst/>
          </a:prstGeom>
          <a:solidFill>
            <a:schemeClr val="accent1"/>
          </a:solidFill>
          <a:ln/>
        </p:spPr>
      </p:sp>
      <p:pic>
        <p:nvPicPr>
          <p:cNvPr id="5" name="icon-464"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6" name="text-465"/>
          <p:cNvSpPr txBox="1"/>
          <p:nvPr/>
        </p:nvSpPr>
        <p:spPr>
          <a:xfrm>
            <a:off x="1783080" y="1783080"/>
            <a:ext cx="3901288" cy="411480"/>
          </a:xfrm>
          <a:prstGeom prst="rect">
            <a:avLst/>
          </a:prstGeom>
          <a:noFill/>
          <a:ln/>
        </p:spPr>
        <p:txBody>
          <a:bodyPr wrap="square" lIns="0" tIns="0" rIns="0" bIns="0" rtlCol="0" anchor="t"/>
          <a:lstStyle/>
          <a:p>
            <a:pPr indent="0" marL="0">
              <a:buNone/>
            </a:pPr>
            <a:r>
              <a:rPr lang="en-US" sz="2200" b="1" dirty="0">
                <a:solidFill>
                  <a:schemeClr val="bg1"/>
                </a:solidFill>
              </a:rPr>
              <a:t>Work or school account</a:t>
            </a:r>
            <a:endParaRPr lang="en-US" sz="2200" dirty="0"/>
          </a:p>
        </p:txBody>
      </p:sp>
      <p:sp>
        <p:nvSpPr>
          <p:cNvPr id="7" name="text-466"/>
          <p:cNvSpPr txBox="1"/>
          <p:nvPr/>
        </p:nvSpPr>
        <p:spPr>
          <a:xfrm>
            <a:off x="1783080" y="2194560"/>
            <a:ext cx="3901288" cy="365760"/>
          </a:xfrm>
          <a:prstGeom prst="rect">
            <a:avLst/>
          </a:prstGeom>
          <a:noFill/>
          <a:ln/>
        </p:spPr>
        <p:txBody>
          <a:bodyPr wrap="square" lIns="0" tIns="0" rIns="0" bIns="0" rtlCol="0" anchor="t"/>
          <a:lstStyle/>
          <a:p>
            <a:pPr indent="0" marL="0">
              <a:buNone/>
            </a:pPr>
            <a:r>
              <a:rPr lang="en-US" sz="1500" dirty="0">
                <a:solidFill>
                  <a:schemeClr val="accent3"/>
                </a:solidFill>
              </a:rPr>
              <a:t>With your organization's Gemini license</a:t>
            </a:r>
            <a:endParaRPr lang="en-US" sz="1500" dirty="0"/>
          </a:p>
        </p:txBody>
      </p:sp>
      <p:pic>
        <p:nvPicPr>
          <p:cNvPr id="8" name="icon-467" descr="preencoded.png">    </p:cNvPr>
          <p:cNvPicPr>
            <a:picLocks noChangeAspect="1"/>
          </p:cNvPicPr>
          <p:nvPr/>
        </p:nvPicPr>
        <p:blipFill>
          <a:blip r:embed="rId2"/>
          <a:stretch>
            <a:fillRect/>
          </a:stretch>
        </p:blipFill>
        <p:spPr>
          <a:xfrm>
            <a:off x="914400" y="2898648"/>
            <a:ext cx="365760" cy="365760"/>
          </a:xfrm>
          <a:prstGeom prst="rect">
            <a:avLst/>
          </a:prstGeom>
        </p:spPr>
      </p:pic>
      <p:sp>
        <p:nvSpPr>
          <p:cNvPr id="9" name="text-468"/>
          <p:cNvSpPr txBox="1"/>
          <p:nvPr/>
        </p:nvSpPr>
        <p:spPr>
          <a:xfrm>
            <a:off x="1417320" y="2880360"/>
            <a:ext cx="4175608" cy="685800"/>
          </a:xfrm>
          <a:prstGeom prst="rect">
            <a:avLst/>
          </a:prstGeom>
          <a:noFill/>
          <a:ln/>
        </p:spPr>
        <p:txBody>
          <a:bodyPr wrap="square" lIns="0" tIns="0" rIns="0" bIns="0" rtlCol="0" anchor="t"/>
          <a:lstStyle/>
          <a:p>
            <a:pPr indent="0" marL="0">
              <a:buNone/>
            </a:pPr>
            <a:r>
              <a:rPr lang="en-US" sz="1700" dirty="0">
                <a:solidFill>
                  <a:schemeClr val="bg1"/>
                </a:solidFill>
              </a:rPr>
              <a:t>Chats aren't used to train Google's models</a:t>
            </a:r>
            <a:endParaRPr lang="en-US" sz="1700" dirty="0"/>
          </a:p>
        </p:txBody>
      </p:sp>
      <p:pic>
        <p:nvPicPr>
          <p:cNvPr id="10" name="icon-469" descr="preencoded.png">    </p:cNvPr>
          <p:cNvPicPr>
            <a:picLocks noChangeAspect="1"/>
          </p:cNvPicPr>
          <p:nvPr/>
        </p:nvPicPr>
        <p:blipFill>
          <a:blip r:embed="rId3"/>
          <a:stretch>
            <a:fillRect/>
          </a:stretch>
        </p:blipFill>
        <p:spPr>
          <a:xfrm>
            <a:off x="914400" y="3675888"/>
            <a:ext cx="365760" cy="365760"/>
          </a:xfrm>
          <a:prstGeom prst="rect">
            <a:avLst/>
          </a:prstGeom>
        </p:spPr>
      </p:pic>
      <p:sp>
        <p:nvSpPr>
          <p:cNvPr id="11" name="text-470"/>
          <p:cNvSpPr txBox="1"/>
          <p:nvPr/>
        </p:nvSpPr>
        <p:spPr>
          <a:xfrm>
            <a:off x="1417320" y="3657600"/>
            <a:ext cx="4175608" cy="685800"/>
          </a:xfrm>
          <a:prstGeom prst="rect">
            <a:avLst/>
          </a:prstGeom>
          <a:noFill/>
          <a:ln/>
        </p:spPr>
        <p:txBody>
          <a:bodyPr wrap="square" lIns="0" tIns="0" rIns="0" bIns="0" rtlCol="0" anchor="t"/>
          <a:lstStyle/>
          <a:p>
            <a:pPr indent="0" marL="0">
              <a:buNone/>
            </a:pPr>
            <a:r>
              <a:rPr lang="en-US" sz="1700" dirty="0">
                <a:solidFill>
                  <a:schemeClr val="bg1"/>
                </a:solidFill>
              </a:rPr>
              <a:t>Chats aren't reviewed by people</a:t>
            </a:r>
            <a:endParaRPr lang="en-US" sz="1700" dirty="0"/>
          </a:p>
        </p:txBody>
      </p:sp>
      <p:pic>
        <p:nvPicPr>
          <p:cNvPr id="12" name="icon-471" descr="preencoded.png">    </p:cNvPr>
          <p:cNvPicPr>
            <a:picLocks noChangeAspect="1"/>
          </p:cNvPicPr>
          <p:nvPr/>
        </p:nvPicPr>
        <p:blipFill>
          <a:blip r:embed="rId4"/>
          <a:stretch>
            <a:fillRect/>
          </a:stretch>
        </p:blipFill>
        <p:spPr>
          <a:xfrm>
            <a:off x="914400" y="4453128"/>
            <a:ext cx="365760" cy="365760"/>
          </a:xfrm>
          <a:prstGeom prst="rect">
            <a:avLst/>
          </a:prstGeom>
        </p:spPr>
      </p:pic>
      <p:sp>
        <p:nvSpPr>
          <p:cNvPr id="13" name="text-472"/>
          <p:cNvSpPr txBox="1"/>
          <p:nvPr/>
        </p:nvSpPr>
        <p:spPr>
          <a:xfrm>
            <a:off x="1417320" y="4434840"/>
            <a:ext cx="4175608" cy="685800"/>
          </a:xfrm>
          <a:prstGeom prst="rect">
            <a:avLst/>
          </a:prstGeom>
          <a:noFill/>
          <a:ln/>
        </p:spPr>
        <p:txBody>
          <a:bodyPr wrap="square" lIns="0" tIns="0" rIns="0" bIns="0" rtlCol="0" anchor="t"/>
          <a:lstStyle/>
          <a:p>
            <a:pPr indent="0" marL="0">
              <a:buNone/>
            </a:pPr>
            <a:r>
              <a:rPr lang="en-US" sz="1700" b="1" dirty="0">
                <a:solidFill>
                  <a:schemeClr val="bg1"/>
                </a:solidFill>
              </a:rPr>
              <a:t>OK for internal work your organization allows</a:t>
            </a:r>
            <a:endParaRPr lang="en-US" sz="1700" dirty="0"/>
          </a:p>
        </p:txBody>
      </p:sp>
      <p:sp>
        <p:nvSpPr>
          <p:cNvPr id="14" name="card-473"/>
          <p:cNvSpPr/>
          <p:nvPr/>
        </p:nvSpPr>
        <p:spPr>
          <a:xfrm>
            <a:off x="6278728" y="1463040"/>
            <a:ext cx="5364328" cy="3886200"/>
          </a:xfrm>
          <a:prstGeom prst="roundRect">
            <a:avLst>
              <a:gd name="adj" fmla="val 2824"/>
            </a:avLst>
          </a:prstGeom>
          <a:solidFill>
            <a:schemeClr val="bg2"/>
          </a:solidFill>
          <a:ln/>
        </p:spPr>
      </p:sp>
      <p:sp>
        <p:nvSpPr>
          <p:cNvPr id="15" name="dot-474"/>
          <p:cNvSpPr/>
          <p:nvPr/>
        </p:nvSpPr>
        <p:spPr>
          <a:xfrm>
            <a:off x="6644488" y="1783080"/>
            <a:ext cx="685800" cy="685800"/>
          </a:xfrm>
          <a:prstGeom prst="ellipse">
            <a:avLst/>
          </a:prstGeom>
          <a:solidFill>
            <a:schemeClr val="tx1"/>
          </a:solidFill>
          <a:ln/>
        </p:spPr>
      </p:sp>
      <p:pic>
        <p:nvPicPr>
          <p:cNvPr id="16" name="icon-475" descr="preencoded.png">    </p:cNvPr>
          <p:cNvPicPr>
            <a:picLocks noChangeAspect="1"/>
          </p:cNvPicPr>
          <p:nvPr/>
        </p:nvPicPr>
        <p:blipFill>
          <a:blip r:embed="rId5"/>
          <a:stretch>
            <a:fillRect/>
          </a:stretch>
        </p:blipFill>
        <p:spPr>
          <a:xfrm>
            <a:off x="6795364" y="1933956"/>
            <a:ext cx="384048" cy="384048"/>
          </a:xfrm>
          <a:prstGeom prst="rect">
            <a:avLst/>
          </a:prstGeom>
        </p:spPr>
      </p:pic>
      <p:sp>
        <p:nvSpPr>
          <p:cNvPr id="17" name="text-476"/>
          <p:cNvSpPr txBox="1"/>
          <p:nvPr/>
        </p:nvSpPr>
        <p:spPr>
          <a:xfrm>
            <a:off x="7513168" y="1783080"/>
            <a:ext cx="3901288" cy="411480"/>
          </a:xfrm>
          <a:prstGeom prst="rect">
            <a:avLst/>
          </a:prstGeom>
          <a:noFill/>
          <a:ln/>
        </p:spPr>
        <p:txBody>
          <a:bodyPr wrap="square" lIns="0" tIns="0" rIns="0" bIns="0" rtlCol="0" anchor="t"/>
          <a:lstStyle/>
          <a:p>
            <a:pPr indent="0" marL="0">
              <a:buNone/>
            </a:pPr>
            <a:r>
              <a:rPr lang="en-US" sz="2200" b="1" dirty="0">
                <a:solidFill>
                  <a:schemeClr val="tx1"/>
                </a:solidFill>
              </a:rPr>
              <a:t>Personal Google account</a:t>
            </a:r>
            <a:endParaRPr lang="en-US" sz="2200" dirty="0"/>
          </a:p>
        </p:txBody>
      </p:sp>
      <p:sp>
        <p:nvSpPr>
          <p:cNvPr id="18" name="text-477"/>
          <p:cNvSpPr txBox="1"/>
          <p:nvPr/>
        </p:nvSpPr>
        <p:spPr>
          <a:xfrm>
            <a:off x="7513168" y="2194560"/>
            <a:ext cx="3901288" cy="365760"/>
          </a:xfrm>
          <a:prstGeom prst="rect">
            <a:avLst/>
          </a:prstGeom>
          <a:noFill/>
          <a:ln/>
        </p:spPr>
        <p:txBody>
          <a:bodyPr wrap="square" lIns="0" tIns="0" rIns="0" bIns="0" rtlCol="0" anchor="t"/>
          <a:lstStyle/>
          <a:p>
            <a:pPr indent="0" marL="0">
              <a:buNone/>
            </a:pPr>
            <a:r>
              <a:rPr lang="en-US" sz="1500" dirty="0">
                <a:solidFill>
                  <a:schemeClr val="tx2"/>
                </a:solidFill>
              </a:rPr>
              <a:t>The free consumer version</a:t>
            </a:r>
            <a:endParaRPr lang="en-US" sz="1500" dirty="0"/>
          </a:p>
        </p:txBody>
      </p:sp>
      <p:pic>
        <p:nvPicPr>
          <p:cNvPr id="19" name="icon-478" descr="preencoded.png">    </p:cNvPr>
          <p:cNvPicPr>
            <a:picLocks noChangeAspect="1"/>
          </p:cNvPicPr>
          <p:nvPr/>
        </p:nvPicPr>
        <p:blipFill>
          <a:blip r:embed="rId6"/>
          <a:stretch>
            <a:fillRect/>
          </a:stretch>
        </p:blipFill>
        <p:spPr>
          <a:xfrm>
            <a:off x="6644488" y="2898648"/>
            <a:ext cx="365760" cy="365760"/>
          </a:xfrm>
          <a:prstGeom prst="rect">
            <a:avLst/>
          </a:prstGeom>
        </p:spPr>
      </p:pic>
      <p:sp>
        <p:nvSpPr>
          <p:cNvPr id="20" name="text-479"/>
          <p:cNvSpPr txBox="1"/>
          <p:nvPr/>
        </p:nvSpPr>
        <p:spPr>
          <a:xfrm>
            <a:off x="7147408" y="2880360"/>
            <a:ext cx="4175608" cy="685800"/>
          </a:xfrm>
          <a:prstGeom prst="rect">
            <a:avLst/>
          </a:prstGeom>
          <a:noFill/>
          <a:ln/>
        </p:spPr>
        <p:txBody>
          <a:bodyPr wrap="square" lIns="0" tIns="0" rIns="0" bIns="0" rtlCol="0" anchor="t"/>
          <a:lstStyle/>
          <a:p>
            <a:pPr indent="0" marL="0">
              <a:buNone/>
            </a:pPr>
            <a:r>
              <a:rPr lang="en-US" sz="1700" dirty="0">
                <a:solidFill>
                  <a:schemeClr val="tx1"/>
                </a:solidFill>
              </a:rPr>
              <a:t>Chats may be read by human reviewers</a:t>
            </a:r>
            <a:endParaRPr lang="en-US" sz="1700" dirty="0"/>
          </a:p>
        </p:txBody>
      </p:sp>
      <p:pic>
        <p:nvPicPr>
          <p:cNvPr id="21" name="icon-480" descr="preencoded.png">    </p:cNvPr>
          <p:cNvPicPr>
            <a:picLocks noChangeAspect="1"/>
          </p:cNvPicPr>
          <p:nvPr/>
        </p:nvPicPr>
        <p:blipFill>
          <a:blip r:embed="rId7"/>
          <a:stretch>
            <a:fillRect/>
          </a:stretch>
        </p:blipFill>
        <p:spPr>
          <a:xfrm>
            <a:off x="6644488" y="3675888"/>
            <a:ext cx="365760" cy="365760"/>
          </a:xfrm>
          <a:prstGeom prst="rect">
            <a:avLst/>
          </a:prstGeom>
        </p:spPr>
      </p:pic>
      <p:sp>
        <p:nvSpPr>
          <p:cNvPr id="22" name="text-481"/>
          <p:cNvSpPr txBox="1"/>
          <p:nvPr/>
        </p:nvSpPr>
        <p:spPr>
          <a:xfrm>
            <a:off x="7147408" y="3657600"/>
            <a:ext cx="4175608" cy="685800"/>
          </a:xfrm>
          <a:prstGeom prst="rect">
            <a:avLst/>
          </a:prstGeom>
          <a:noFill/>
          <a:ln/>
        </p:spPr>
        <p:txBody>
          <a:bodyPr wrap="square" lIns="0" tIns="0" rIns="0" bIns="0" rtlCol="0" anchor="t"/>
          <a:lstStyle/>
          <a:p>
            <a:pPr indent="0" marL="0">
              <a:buNone/>
            </a:pPr>
            <a:r>
              <a:rPr lang="en-US" sz="1700" dirty="0">
                <a:solidFill>
                  <a:schemeClr val="tx1"/>
                </a:solidFill>
              </a:rPr>
              <a:t>Reviewed chats are kept up to 3 years, even if you delete them</a:t>
            </a:r>
            <a:endParaRPr lang="en-US" sz="1700" dirty="0"/>
          </a:p>
        </p:txBody>
      </p:sp>
      <p:pic>
        <p:nvPicPr>
          <p:cNvPr id="23" name="icon-482" descr="preencoded.png">    </p:cNvPr>
          <p:cNvPicPr>
            <a:picLocks noChangeAspect="1"/>
          </p:cNvPicPr>
          <p:nvPr/>
        </p:nvPicPr>
        <p:blipFill>
          <a:blip r:embed="rId8"/>
          <a:stretch>
            <a:fillRect/>
          </a:stretch>
        </p:blipFill>
        <p:spPr>
          <a:xfrm>
            <a:off x="6644488" y="4453128"/>
            <a:ext cx="365760" cy="365760"/>
          </a:xfrm>
          <a:prstGeom prst="rect">
            <a:avLst/>
          </a:prstGeom>
        </p:spPr>
      </p:pic>
      <p:sp>
        <p:nvSpPr>
          <p:cNvPr id="24" name="text-483"/>
          <p:cNvSpPr txBox="1"/>
          <p:nvPr/>
        </p:nvSpPr>
        <p:spPr>
          <a:xfrm>
            <a:off x="7147408" y="4434840"/>
            <a:ext cx="4175608" cy="685800"/>
          </a:xfrm>
          <a:prstGeom prst="rect">
            <a:avLst/>
          </a:prstGeom>
          <a:noFill/>
          <a:ln/>
        </p:spPr>
        <p:txBody>
          <a:bodyPr wrap="square" lIns="0" tIns="0" rIns="0" bIns="0" rtlCol="0" anchor="t"/>
          <a:lstStyle/>
          <a:p>
            <a:pPr indent="0" marL="0">
              <a:buNone/>
            </a:pPr>
            <a:r>
              <a:rPr lang="en-US" sz="1700" b="1" dirty="0">
                <a:solidFill>
                  <a:schemeClr val="tx1"/>
                </a:solidFill>
              </a:rPr>
              <a:t>Public or fictional information only</a:t>
            </a:r>
            <a:endParaRPr lang="en-US" sz="1700" dirty="0"/>
          </a:p>
        </p:txBody>
      </p:sp>
      <p:sp>
        <p:nvSpPr>
          <p:cNvPr id="25" name="text-484"/>
          <p:cNvSpPr txBox="1"/>
          <p:nvPr/>
        </p:nvSpPr>
        <p:spPr>
          <a:xfrm>
            <a:off x="548640" y="5577840"/>
            <a:ext cx="11094415" cy="457200"/>
          </a:xfrm>
          <a:prstGeom prst="rect">
            <a:avLst/>
          </a:prstGeom>
          <a:noFill/>
          <a:ln/>
        </p:spPr>
        <p:txBody>
          <a:bodyPr wrap="square" lIns="0" tIns="0" rIns="0" bIns="0" rtlCol="0" anchor="t"/>
          <a:lstStyle/>
          <a:p>
            <a:pPr indent="0" marL="0">
              <a:buNone/>
            </a:pPr>
            <a:r>
              <a:rPr lang="en-US" sz="1600" dirty="0">
                <a:solidFill>
                  <a:schemeClr val="tx2"/>
                </a:solidFill>
              </a:rPr>
              <a:t>Not sure? Click the account picture, top right in Gemini, and ask your IT team which accounts are covered.</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Before you paste: the data traffic light</a:t>
            </a:r>
            <a:endParaRPr lang="en-US" sz="3400" dirty="0"/>
          </a:p>
        </p:txBody>
      </p:sp>
      <p:sp>
        <p:nvSpPr>
          <p:cNvPr id="3" name="card-485"/>
          <p:cNvSpPr/>
          <p:nvPr/>
        </p:nvSpPr>
        <p:spPr>
          <a:xfrm>
            <a:off x="548640" y="1463040"/>
            <a:ext cx="3515258" cy="4572000"/>
          </a:xfrm>
          <a:prstGeom prst="roundRect">
            <a:avLst>
              <a:gd name="adj" fmla="val 3121"/>
            </a:avLst>
          </a:prstGeom>
          <a:solidFill>
            <a:schemeClr val="bg2"/>
          </a:solidFill>
          <a:ln/>
        </p:spPr>
      </p:sp>
      <p:sp>
        <p:nvSpPr>
          <p:cNvPr id="4" name="light-486"/>
          <p:cNvSpPr/>
          <p:nvPr/>
        </p:nvSpPr>
        <p:spPr>
          <a:xfrm>
            <a:off x="868680" y="1783080"/>
            <a:ext cx="640080" cy="640080"/>
          </a:xfrm>
          <a:prstGeom prst="ellipse">
            <a:avLst/>
          </a:prstGeom>
          <a:solidFill>
            <a:srgbClr val="2E8540"/>
          </a:solidFill>
          <a:ln/>
        </p:spPr>
      </p:sp>
      <p:sp>
        <p:nvSpPr>
          <p:cNvPr id="5" name="text-487"/>
          <p:cNvSpPr txBox="1"/>
          <p:nvPr/>
        </p:nvSpPr>
        <p:spPr>
          <a:xfrm>
            <a:off x="1691640" y="1783080"/>
            <a:ext cx="2143658" cy="640080"/>
          </a:xfrm>
          <a:prstGeom prst="rect">
            <a:avLst/>
          </a:prstGeom>
          <a:noFill/>
          <a:ln/>
        </p:spPr>
        <p:txBody>
          <a:bodyPr wrap="square" lIns="0" tIns="0" rIns="0" bIns="0" rtlCol="0" anchor="ctr"/>
          <a:lstStyle/>
          <a:p>
            <a:pPr indent="0" marL="0">
              <a:buNone/>
            </a:pPr>
            <a:r>
              <a:rPr lang="en-US" sz="2600" b="1" dirty="0">
                <a:solidFill>
                  <a:schemeClr val="tx1"/>
                </a:solidFill>
              </a:rPr>
              <a:t>Green</a:t>
            </a:r>
            <a:endParaRPr lang="en-US" sz="2600" dirty="0"/>
          </a:p>
        </p:txBody>
      </p:sp>
      <p:sp>
        <p:nvSpPr>
          <p:cNvPr id="6" name="text-488"/>
          <p:cNvSpPr txBox="1"/>
          <p:nvPr/>
        </p:nvSpPr>
        <p:spPr>
          <a:xfrm>
            <a:off x="868680" y="2697480"/>
            <a:ext cx="2875178" cy="685800"/>
          </a:xfrm>
          <a:prstGeom prst="rect">
            <a:avLst/>
          </a:prstGeom>
          <a:noFill/>
          <a:ln/>
        </p:spPr>
        <p:txBody>
          <a:bodyPr wrap="square" lIns="0" tIns="0" rIns="0" bIns="0" rtlCol="0" anchor="t"/>
          <a:lstStyle/>
          <a:p>
            <a:pPr indent="0" marL="0">
              <a:buNone/>
            </a:pPr>
            <a:r>
              <a:rPr lang="en-US" sz="1900" b="1" dirty="0">
                <a:solidFill>
                  <a:schemeClr val="tx1"/>
                </a:solidFill>
              </a:rPr>
              <a:t>Public or fictional</a:t>
            </a:r>
            <a:endParaRPr lang="en-US" sz="1900" dirty="0"/>
          </a:p>
        </p:txBody>
      </p:sp>
      <p:sp>
        <p:nvSpPr>
          <p:cNvPr id="7" name="text-489"/>
          <p:cNvSpPr txBox="1"/>
          <p:nvPr/>
        </p:nvSpPr>
        <p:spPr>
          <a:xfrm>
            <a:off x="868680" y="3429000"/>
            <a:ext cx="2875178" cy="1280160"/>
          </a:xfrm>
          <a:prstGeom prst="rect">
            <a:avLst/>
          </a:prstGeom>
          <a:noFill/>
          <a:ln/>
        </p:spPr>
        <p:txBody>
          <a:bodyPr wrap="square" lIns="0" tIns="0" rIns="0" bIns="0" rtlCol="0" anchor="t"/>
          <a:lstStyle/>
          <a:p>
            <a:pPr indent="0" marL="0">
              <a:buNone/>
            </a:pPr>
            <a:r>
              <a:rPr lang="en-US" sz="1500" dirty="0">
                <a:solidFill>
                  <a:schemeClr val="tx2"/>
                </a:solidFill>
              </a:rPr>
              <a:t>Published information, general questions, fictional test examples</a:t>
            </a:r>
            <a:endParaRPr lang="en-US" sz="1500" dirty="0"/>
          </a:p>
        </p:txBody>
      </p:sp>
      <p:sp>
        <p:nvSpPr>
          <p:cNvPr id="8" name="text-490"/>
          <p:cNvSpPr txBox="1"/>
          <p:nvPr/>
        </p:nvSpPr>
        <p:spPr>
          <a:xfrm>
            <a:off x="868680" y="4754880"/>
            <a:ext cx="2875178" cy="1097280"/>
          </a:xfrm>
          <a:prstGeom prst="rect">
            <a:avLst/>
          </a:prstGeom>
          <a:noFill/>
          <a:ln/>
        </p:spPr>
        <p:txBody>
          <a:bodyPr wrap="square" lIns="0" tIns="0" rIns="0" bIns="0" rtlCol="0" anchor="t"/>
          <a:lstStyle/>
          <a:p>
            <a:pPr indent="0" marL="0">
              <a:buNone/>
            </a:pPr>
            <a:r>
              <a:rPr lang="en-US" sz="1600" b="1" dirty="0">
                <a:solidFill>
                  <a:schemeClr val="tx1"/>
                </a:solidFill>
              </a:rPr>
              <a:t>Fine in any account</a:t>
            </a:r>
            <a:endParaRPr lang="en-US" sz="1600" dirty="0"/>
          </a:p>
        </p:txBody>
      </p:sp>
      <p:sp>
        <p:nvSpPr>
          <p:cNvPr id="9" name="card-491"/>
          <p:cNvSpPr/>
          <p:nvPr/>
        </p:nvSpPr>
        <p:spPr>
          <a:xfrm>
            <a:off x="4338218" y="1463040"/>
            <a:ext cx="3515258" cy="4572000"/>
          </a:xfrm>
          <a:prstGeom prst="roundRect">
            <a:avLst>
              <a:gd name="adj" fmla="val 3121"/>
            </a:avLst>
          </a:prstGeom>
          <a:solidFill>
            <a:schemeClr val="bg2"/>
          </a:solidFill>
          <a:ln/>
        </p:spPr>
      </p:sp>
      <p:sp>
        <p:nvSpPr>
          <p:cNvPr id="10" name="light-492"/>
          <p:cNvSpPr/>
          <p:nvPr/>
        </p:nvSpPr>
        <p:spPr>
          <a:xfrm>
            <a:off x="4658258" y="1783080"/>
            <a:ext cx="640080" cy="640080"/>
          </a:xfrm>
          <a:prstGeom prst="ellipse">
            <a:avLst/>
          </a:prstGeom>
          <a:solidFill>
            <a:srgbClr val="E8A317"/>
          </a:solidFill>
          <a:ln/>
        </p:spPr>
      </p:sp>
      <p:sp>
        <p:nvSpPr>
          <p:cNvPr id="11" name="text-493"/>
          <p:cNvSpPr txBox="1"/>
          <p:nvPr/>
        </p:nvSpPr>
        <p:spPr>
          <a:xfrm>
            <a:off x="5481218" y="1783080"/>
            <a:ext cx="2143658" cy="640080"/>
          </a:xfrm>
          <a:prstGeom prst="rect">
            <a:avLst/>
          </a:prstGeom>
          <a:noFill/>
          <a:ln/>
        </p:spPr>
        <p:txBody>
          <a:bodyPr wrap="square" lIns="0" tIns="0" rIns="0" bIns="0" rtlCol="0" anchor="ctr"/>
          <a:lstStyle/>
          <a:p>
            <a:pPr indent="0" marL="0">
              <a:buNone/>
            </a:pPr>
            <a:r>
              <a:rPr lang="en-US" sz="2600" b="1" dirty="0">
                <a:solidFill>
                  <a:schemeClr val="tx1"/>
                </a:solidFill>
              </a:rPr>
              <a:t>Yellow</a:t>
            </a:r>
            <a:endParaRPr lang="en-US" sz="2600" dirty="0"/>
          </a:p>
        </p:txBody>
      </p:sp>
      <p:sp>
        <p:nvSpPr>
          <p:cNvPr id="12" name="text-494"/>
          <p:cNvSpPr txBox="1"/>
          <p:nvPr/>
        </p:nvSpPr>
        <p:spPr>
          <a:xfrm>
            <a:off x="4658258" y="2697480"/>
            <a:ext cx="2875178" cy="685800"/>
          </a:xfrm>
          <a:prstGeom prst="rect">
            <a:avLst/>
          </a:prstGeom>
          <a:noFill/>
          <a:ln/>
        </p:spPr>
        <p:txBody>
          <a:bodyPr wrap="square" lIns="0" tIns="0" rIns="0" bIns="0" rtlCol="0" anchor="t"/>
          <a:lstStyle/>
          <a:p>
            <a:pPr indent="0" marL="0">
              <a:buNone/>
            </a:pPr>
            <a:r>
              <a:rPr lang="en-US" sz="1900" b="1" dirty="0">
                <a:solidFill>
                  <a:schemeClr val="tx1"/>
                </a:solidFill>
              </a:rPr>
              <a:t>Internal, not sensitive</a:t>
            </a:r>
            <a:endParaRPr lang="en-US" sz="1900" dirty="0"/>
          </a:p>
        </p:txBody>
      </p:sp>
      <p:sp>
        <p:nvSpPr>
          <p:cNvPr id="13" name="text-495"/>
          <p:cNvSpPr txBox="1"/>
          <p:nvPr/>
        </p:nvSpPr>
        <p:spPr>
          <a:xfrm>
            <a:off x="4658258" y="3429000"/>
            <a:ext cx="2875178" cy="1280160"/>
          </a:xfrm>
          <a:prstGeom prst="rect">
            <a:avLst/>
          </a:prstGeom>
          <a:noFill/>
          <a:ln/>
        </p:spPr>
        <p:txBody>
          <a:bodyPr wrap="square" lIns="0" tIns="0" rIns="0" bIns="0" rtlCol="0" anchor="t"/>
          <a:lstStyle/>
          <a:p>
            <a:pPr indent="0" marL="0">
              <a:buNone/>
            </a:pPr>
            <a:r>
              <a:rPr lang="en-US" sz="1500" dirty="0">
                <a:solidFill>
                  <a:schemeClr val="tx2"/>
                </a:solidFill>
              </a:rPr>
              <a:t>Draft agendas, generic processes, non-confidential documents</a:t>
            </a:r>
            <a:endParaRPr lang="en-US" sz="1500" dirty="0"/>
          </a:p>
        </p:txBody>
      </p:sp>
      <p:sp>
        <p:nvSpPr>
          <p:cNvPr id="14" name="text-496"/>
          <p:cNvSpPr txBox="1"/>
          <p:nvPr/>
        </p:nvSpPr>
        <p:spPr>
          <a:xfrm>
            <a:off x="4658258" y="4754880"/>
            <a:ext cx="2875178" cy="1097280"/>
          </a:xfrm>
          <a:prstGeom prst="rect">
            <a:avLst/>
          </a:prstGeom>
          <a:noFill/>
          <a:ln/>
        </p:spPr>
        <p:txBody>
          <a:bodyPr wrap="square" lIns="0" tIns="0" rIns="0" bIns="0" rtlCol="0" anchor="t"/>
          <a:lstStyle/>
          <a:p>
            <a:pPr indent="0" marL="0">
              <a:buNone/>
            </a:pPr>
            <a:r>
              <a:rPr lang="en-US" sz="1600" b="1" dirty="0">
                <a:solidFill>
                  <a:schemeClr val="tx1"/>
                </a:solidFill>
              </a:rPr>
              <a:t>Only in your organization's work or school account</a:t>
            </a:r>
            <a:endParaRPr lang="en-US" sz="1600" dirty="0"/>
          </a:p>
        </p:txBody>
      </p:sp>
      <p:sp>
        <p:nvSpPr>
          <p:cNvPr id="15" name="card-497"/>
          <p:cNvSpPr/>
          <p:nvPr/>
        </p:nvSpPr>
        <p:spPr>
          <a:xfrm>
            <a:off x="8127797" y="1463040"/>
            <a:ext cx="3515258" cy="4572000"/>
          </a:xfrm>
          <a:prstGeom prst="roundRect">
            <a:avLst>
              <a:gd name="adj" fmla="val 3121"/>
            </a:avLst>
          </a:prstGeom>
          <a:solidFill>
            <a:schemeClr val="tx1"/>
          </a:solidFill>
          <a:ln/>
        </p:spPr>
      </p:sp>
      <p:sp>
        <p:nvSpPr>
          <p:cNvPr id="16" name="light-498"/>
          <p:cNvSpPr/>
          <p:nvPr/>
        </p:nvSpPr>
        <p:spPr>
          <a:xfrm>
            <a:off x="8447837" y="1783080"/>
            <a:ext cx="640080" cy="640080"/>
          </a:xfrm>
          <a:prstGeom prst="ellipse">
            <a:avLst/>
          </a:prstGeom>
          <a:solidFill>
            <a:srgbClr val="D71920"/>
          </a:solidFill>
          <a:ln/>
        </p:spPr>
      </p:sp>
      <p:sp>
        <p:nvSpPr>
          <p:cNvPr id="17" name="text-499"/>
          <p:cNvSpPr txBox="1"/>
          <p:nvPr/>
        </p:nvSpPr>
        <p:spPr>
          <a:xfrm>
            <a:off x="9270797" y="1783080"/>
            <a:ext cx="2143658" cy="640080"/>
          </a:xfrm>
          <a:prstGeom prst="rect">
            <a:avLst/>
          </a:prstGeom>
          <a:noFill/>
          <a:ln/>
        </p:spPr>
        <p:txBody>
          <a:bodyPr wrap="square" lIns="0" tIns="0" rIns="0" bIns="0" rtlCol="0" anchor="ctr"/>
          <a:lstStyle/>
          <a:p>
            <a:pPr indent="0" marL="0">
              <a:buNone/>
            </a:pPr>
            <a:r>
              <a:rPr lang="en-US" sz="2600" b="1" dirty="0">
                <a:solidFill>
                  <a:schemeClr val="bg1"/>
                </a:solidFill>
              </a:rPr>
              <a:t>Red</a:t>
            </a:r>
            <a:endParaRPr lang="en-US" sz="2600" dirty="0"/>
          </a:p>
        </p:txBody>
      </p:sp>
      <p:sp>
        <p:nvSpPr>
          <p:cNvPr id="18" name="text-500"/>
          <p:cNvSpPr txBox="1"/>
          <p:nvPr/>
        </p:nvSpPr>
        <p:spPr>
          <a:xfrm>
            <a:off x="8447837" y="2697480"/>
            <a:ext cx="2875178" cy="685800"/>
          </a:xfrm>
          <a:prstGeom prst="rect">
            <a:avLst/>
          </a:prstGeom>
          <a:noFill/>
          <a:ln/>
        </p:spPr>
        <p:txBody>
          <a:bodyPr wrap="square" lIns="0" tIns="0" rIns="0" bIns="0" rtlCol="0" anchor="t"/>
          <a:lstStyle/>
          <a:p>
            <a:pPr indent="0" marL="0">
              <a:buNone/>
            </a:pPr>
            <a:r>
              <a:rPr lang="en-US" sz="1900" b="1" dirty="0">
                <a:solidFill>
                  <a:schemeClr val="bg1"/>
                </a:solidFill>
              </a:rPr>
              <a:t>Personal, confidential, or regulated</a:t>
            </a:r>
            <a:endParaRPr lang="en-US" sz="1900" dirty="0"/>
          </a:p>
        </p:txBody>
      </p:sp>
      <p:sp>
        <p:nvSpPr>
          <p:cNvPr id="19" name="text-501"/>
          <p:cNvSpPr txBox="1"/>
          <p:nvPr/>
        </p:nvSpPr>
        <p:spPr>
          <a:xfrm>
            <a:off x="8447837" y="3429000"/>
            <a:ext cx="2875178" cy="1280160"/>
          </a:xfrm>
          <a:prstGeom prst="rect">
            <a:avLst/>
          </a:prstGeom>
          <a:noFill/>
          <a:ln/>
        </p:spPr>
        <p:txBody>
          <a:bodyPr wrap="square" lIns="0" tIns="0" rIns="0" bIns="0" rtlCol="0" anchor="t"/>
          <a:lstStyle/>
          <a:p>
            <a:pPr indent="0" marL="0">
              <a:buNone/>
            </a:pPr>
            <a:r>
              <a:rPr lang="en-US" sz="1500" dirty="0">
                <a:solidFill>
                  <a:schemeClr val="accent3"/>
                </a:solidFill>
              </a:rPr>
              <a:t>Names tied to performance or health, student or customer records, financials, passwords</a:t>
            </a:r>
            <a:endParaRPr lang="en-US" sz="1500" dirty="0"/>
          </a:p>
        </p:txBody>
      </p:sp>
      <p:sp>
        <p:nvSpPr>
          <p:cNvPr id="20" name="text-502"/>
          <p:cNvSpPr txBox="1"/>
          <p:nvPr/>
        </p:nvSpPr>
        <p:spPr>
          <a:xfrm>
            <a:off x="8447837" y="4754880"/>
            <a:ext cx="2875178" cy="1097280"/>
          </a:xfrm>
          <a:prstGeom prst="rect">
            <a:avLst/>
          </a:prstGeom>
          <a:noFill/>
          <a:ln/>
        </p:spPr>
        <p:txBody>
          <a:bodyPr wrap="square" lIns="0" tIns="0" rIns="0" bIns="0" rtlCol="0" anchor="t"/>
          <a:lstStyle/>
          <a:p>
            <a:pPr indent="0" marL="0">
              <a:buNone/>
            </a:pPr>
            <a:r>
              <a:rPr lang="en-US" sz="1600" b="1" dirty="0">
                <a:solidFill>
                  <a:schemeClr val="bg1"/>
                </a:solidFill>
              </a:rPr>
              <a:t>Never paste. Describe the situation in general terms instead.</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After you get output: verify</a:t>
            </a:r>
            <a:endParaRPr lang="en-US" sz="3400" dirty="0"/>
          </a:p>
        </p:txBody>
      </p:sp>
      <p:sp>
        <p:nvSpPr>
          <p:cNvPr id="3" name="dot-503"/>
          <p:cNvSpPr/>
          <p:nvPr/>
        </p:nvSpPr>
        <p:spPr>
          <a:xfrm>
            <a:off x="548640" y="1554480"/>
            <a:ext cx="566928" cy="566928"/>
          </a:xfrm>
          <a:prstGeom prst="ellipse">
            <a:avLst/>
          </a:prstGeom>
          <a:solidFill>
            <a:schemeClr val="tx1"/>
          </a:solidFill>
          <a:ln/>
        </p:spPr>
      </p:sp>
      <p:pic>
        <p:nvPicPr>
          <p:cNvPr id="4" name="icon-504" descr="preencoded.png">    </p:cNvPr>
          <p:cNvPicPr>
            <a:picLocks noChangeAspect="1"/>
          </p:cNvPicPr>
          <p:nvPr/>
        </p:nvPicPr>
        <p:blipFill>
          <a:blip r:embed="rId1"/>
          <a:stretch>
            <a:fillRect/>
          </a:stretch>
        </p:blipFill>
        <p:spPr>
          <a:xfrm>
            <a:off x="673364" y="1679204"/>
            <a:ext cx="317480" cy="317480"/>
          </a:xfrm>
          <a:prstGeom prst="rect">
            <a:avLst/>
          </a:prstGeom>
        </p:spPr>
      </p:pic>
      <p:sp>
        <p:nvSpPr>
          <p:cNvPr id="5" name="text-505"/>
          <p:cNvSpPr txBox="1"/>
          <p:nvPr/>
        </p:nvSpPr>
        <p:spPr>
          <a:xfrm>
            <a:off x="1371600" y="1481328"/>
            <a:ext cx="5486400" cy="384048"/>
          </a:xfrm>
          <a:prstGeom prst="rect">
            <a:avLst/>
          </a:prstGeom>
          <a:noFill/>
          <a:ln/>
        </p:spPr>
        <p:txBody>
          <a:bodyPr wrap="square" lIns="0" tIns="0" rIns="0" bIns="0" rtlCol="0" anchor="t"/>
          <a:lstStyle/>
          <a:p>
            <a:pPr indent="0" marL="0">
              <a:buNone/>
            </a:pPr>
            <a:r>
              <a:rPr lang="en-US" sz="2000" b="1" dirty="0">
                <a:solidFill>
                  <a:schemeClr val="tx1"/>
                </a:solidFill>
              </a:rPr>
              <a:t>Accurate?</a:t>
            </a:r>
            <a:endParaRPr lang="en-US" sz="2000" dirty="0"/>
          </a:p>
        </p:txBody>
      </p:sp>
      <p:sp>
        <p:nvSpPr>
          <p:cNvPr id="6" name="text-506"/>
          <p:cNvSpPr txBox="1"/>
          <p:nvPr/>
        </p:nvSpPr>
        <p:spPr>
          <a:xfrm>
            <a:off x="1371600" y="1865376"/>
            <a:ext cx="5486400" cy="365760"/>
          </a:xfrm>
          <a:prstGeom prst="rect">
            <a:avLst/>
          </a:prstGeom>
          <a:noFill/>
          <a:ln/>
        </p:spPr>
        <p:txBody>
          <a:bodyPr wrap="square" lIns="0" tIns="0" rIns="0" bIns="0" rtlCol="0" anchor="t"/>
          <a:lstStyle/>
          <a:p>
            <a:pPr indent="0" marL="0">
              <a:buNone/>
            </a:pPr>
            <a:r>
              <a:rPr lang="en-US" sz="1600" dirty="0">
                <a:solidFill>
                  <a:schemeClr val="tx2"/>
                </a:solidFill>
              </a:rPr>
              <a:t>Facts, numbers, and dates match your source</a:t>
            </a:r>
            <a:endParaRPr lang="en-US" sz="1600" dirty="0"/>
          </a:p>
        </p:txBody>
      </p:sp>
      <p:sp>
        <p:nvSpPr>
          <p:cNvPr id="7" name="dot-507"/>
          <p:cNvSpPr/>
          <p:nvPr/>
        </p:nvSpPr>
        <p:spPr>
          <a:xfrm>
            <a:off x="548640" y="2468880"/>
            <a:ext cx="566928" cy="566928"/>
          </a:xfrm>
          <a:prstGeom prst="ellipse">
            <a:avLst/>
          </a:prstGeom>
          <a:solidFill>
            <a:schemeClr val="tx1"/>
          </a:solidFill>
          <a:ln/>
        </p:spPr>
      </p:sp>
      <p:pic>
        <p:nvPicPr>
          <p:cNvPr id="8" name="icon-508" descr="preencoded.png">    </p:cNvPr>
          <p:cNvPicPr>
            <a:picLocks noChangeAspect="1"/>
          </p:cNvPicPr>
          <p:nvPr/>
        </p:nvPicPr>
        <p:blipFill>
          <a:blip r:embed="rId2"/>
          <a:stretch>
            <a:fillRect/>
          </a:stretch>
        </p:blipFill>
        <p:spPr>
          <a:xfrm>
            <a:off x="673364" y="2593604"/>
            <a:ext cx="317480" cy="317480"/>
          </a:xfrm>
          <a:prstGeom prst="rect">
            <a:avLst/>
          </a:prstGeom>
        </p:spPr>
      </p:pic>
      <p:sp>
        <p:nvSpPr>
          <p:cNvPr id="9" name="text-509"/>
          <p:cNvSpPr txBox="1"/>
          <p:nvPr/>
        </p:nvSpPr>
        <p:spPr>
          <a:xfrm>
            <a:off x="1371600" y="2395728"/>
            <a:ext cx="5486400" cy="384048"/>
          </a:xfrm>
          <a:prstGeom prst="rect">
            <a:avLst/>
          </a:prstGeom>
          <a:noFill/>
          <a:ln/>
        </p:spPr>
        <p:txBody>
          <a:bodyPr wrap="square" lIns="0" tIns="0" rIns="0" bIns="0" rtlCol="0" anchor="t"/>
          <a:lstStyle/>
          <a:p>
            <a:pPr indent="0" marL="0">
              <a:buNone/>
            </a:pPr>
            <a:r>
              <a:rPr lang="en-US" sz="2000" b="1" dirty="0">
                <a:solidFill>
                  <a:schemeClr val="tx1"/>
                </a:solidFill>
              </a:rPr>
              <a:t>Complete?</a:t>
            </a:r>
            <a:endParaRPr lang="en-US" sz="2000" dirty="0"/>
          </a:p>
        </p:txBody>
      </p:sp>
      <p:sp>
        <p:nvSpPr>
          <p:cNvPr id="10" name="text-510"/>
          <p:cNvSpPr txBox="1"/>
          <p:nvPr/>
        </p:nvSpPr>
        <p:spPr>
          <a:xfrm>
            <a:off x="1371600" y="2779776"/>
            <a:ext cx="5486400" cy="365760"/>
          </a:xfrm>
          <a:prstGeom prst="rect">
            <a:avLst/>
          </a:prstGeom>
          <a:noFill/>
          <a:ln/>
        </p:spPr>
        <p:txBody>
          <a:bodyPr wrap="square" lIns="0" tIns="0" rIns="0" bIns="0" rtlCol="0" anchor="t"/>
          <a:lstStyle/>
          <a:p>
            <a:pPr indent="0" marL="0">
              <a:buNone/>
            </a:pPr>
            <a:r>
              <a:rPr lang="en-US" sz="1600" dirty="0">
                <a:solidFill>
                  <a:schemeClr val="tx2"/>
                </a:solidFill>
              </a:rPr>
              <a:t>Nothing important is missing</a:t>
            </a:r>
            <a:endParaRPr lang="en-US" sz="1600" dirty="0"/>
          </a:p>
        </p:txBody>
      </p:sp>
      <p:sp>
        <p:nvSpPr>
          <p:cNvPr id="11" name="dot-511"/>
          <p:cNvSpPr/>
          <p:nvPr/>
        </p:nvSpPr>
        <p:spPr>
          <a:xfrm>
            <a:off x="548640" y="3383280"/>
            <a:ext cx="566928" cy="566928"/>
          </a:xfrm>
          <a:prstGeom prst="ellipse">
            <a:avLst/>
          </a:prstGeom>
          <a:solidFill>
            <a:schemeClr val="accent1"/>
          </a:solidFill>
          <a:ln/>
        </p:spPr>
      </p:sp>
      <p:pic>
        <p:nvPicPr>
          <p:cNvPr id="12" name="icon-512" descr="preencoded.png">    </p:cNvPr>
          <p:cNvPicPr>
            <a:picLocks noChangeAspect="1"/>
          </p:cNvPicPr>
          <p:nvPr/>
        </p:nvPicPr>
        <p:blipFill>
          <a:blip r:embed="rId3"/>
          <a:stretch>
            <a:fillRect/>
          </a:stretch>
        </p:blipFill>
        <p:spPr>
          <a:xfrm>
            <a:off x="673364" y="3508004"/>
            <a:ext cx="317480" cy="317480"/>
          </a:xfrm>
          <a:prstGeom prst="rect">
            <a:avLst/>
          </a:prstGeom>
        </p:spPr>
      </p:pic>
      <p:sp>
        <p:nvSpPr>
          <p:cNvPr id="13" name="text-513"/>
          <p:cNvSpPr txBox="1"/>
          <p:nvPr/>
        </p:nvSpPr>
        <p:spPr>
          <a:xfrm>
            <a:off x="1371600" y="3310128"/>
            <a:ext cx="5486400" cy="384048"/>
          </a:xfrm>
          <a:prstGeom prst="rect">
            <a:avLst/>
          </a:prstGeom>
          <a:noFill/>
          <a:ln/>
        </p:spPr>
        <p:txBody>
          <a:bodyPr wrap="square" lIns="0" tIns="0" rIns="0" bIns="0" rtlCol="0" anchor="t"/>
          <a:lstStyle/>
          <a:p>
            <a:pPr indent="0" marL="0">
              <a:buNone/>
            </a:pPr>
            <a:r>
              <a:rPr lang="en-US" sz="2000" b="1" dirty="0">
                <a:solidFill>
                  <a:schemeClr val="tx1"/>
                </a:solidFill>
              </a:rPr>
              <a:t>Invented?</a:t>
            </a:r>
            <a:endParaRPr lang="en-US" sz="2000" dirty="0"/>
          </a:p>
        </p:txBody>
      </p:sp>
      <p:sp>
        <p:nvSpPr>
          <p:cNvPr id="14" name="text-514"/>
          <p:cNvSpPr txBox="1"/>
          <p:nvPr/>
        </p:nvSpPr>
        <p:spPr>
          <a:xfrm>
            <a:off x="1371600" y="3694176"/>
            <a:ext cx="5486400" cy="365760"/>
          </a:xfrm>
          <a:prstGeom prst="rect">
            <a:avLst/>
          </a:prstGeom>
          <a:noFill/>
          <a:ln/>
        </p:spPr>
        <p:txBody>
          <a:bodyPr wrap="square" lIns="0" tIns="0" rIns="0" bIns="0" rtlCol="0" anchor="t"/>
          <a:lstStyle/>
          <a:p>
            <a:pPr indent="0" marL="0">
              <a:buNone/>
            </a:pPr>
            <a:r>
              <a:rPr lang="en-US" sz="1600" dirty="0">
                <a:solidFill>
                  <a:schemeClr val="tx2"/>
                </a:solidFill>
              </a:rPr>
              <a:t>No names, policies, or quotes you didn't provide</a:t>
            </a:r>
            <a:endParaRPr lang="en-US" sz="1600" dirty="0"/>
          </a:p>
        </p:txBody>
      </p:sp>
      <p:sp>
        <p:nvSpPr>
          <p:cNvPr id="15" name="dot-515"/>
          <p:cNvSpPr/>
          <p:nvPr/>
        </p:nvSpPr>
        <p:spPr>
          <a:xfrm>
            <a:off x="548640" y="4297680"/>
            <a:ext cx="566928" cy="566928"/>
          </a:xfrm>
          <a:prstGeom prst="ellipse">
            <a:avLst/>
          </a:prstGeom>
          <a:solidFill>
            <a:schemeClr val="tx1"/>
          </a:solidFill>
          <a:ln/>
        </p:spPr>
      </p:sp>
      <p:pic>
        <p:nvPicPr>
          <p:cNvPr id="16" name="icon-516" descr="preencoded.png">    </p:cNvPr>
          <p:cNvPicPr>
            <a:picLocks noChangeAspect="1"/>
          </p:cNvPicPr>
          <p:nvPr/>
        </p:nvPicPr>
        <p:blipFill>
          <a:blip r:embed="rId4"/>
          <a:stretch>
            <a:fillRect/>
          </a:stretch>
        </p:blipFill>
        <p:spPr>
          <a:xfrm>
            <a:off x="673364" y="4422404"/>
            <a:ext cx="317480" cy="317480"/>
          </a:xfrm>
          <a:prstGeom prst="rect">
            <a:avLst/>
          </a:prstGeom>
        </p:spPr>
      </p:pic>
      <p:sp>
        <p:nvSpPr>
          <p:cNvPr id="17" name="text-517"/>
          <p:cNvSpPr txBox="1"/>
          <p:nvPr/>
        </p:nvSpPr>
        <p:spPr>
          <a:xfrm>
            <a:off x="1371600" y="4224528"/>
            <a:ext cx="5486400" cy="384048"/>
          </a:xfrm>
          <a:prstGeom prst="rect">
            <a:avLst/>
          </a:prstGeom>
          <a:noFill/>
          <a:ln/>
        </p:spPr>
        <p:txBody>
          <a:bodyPr wrap="square" lIns="0" tIns="0" rIns="0" bIns="0" rtlCol="0" anchor="t"/>
          <a:lstStyle/>
          <a:p>
            <a:pPr indent="0" marL="0">
              <a:buNone/>
            </a:pPr>
            <a:r>
              <a:rPr lang="en-US" sz="2000" b="1" dirty="0">
                <a:solidFill>
                  <a:schemeClr val="tx1"/>
                </a:solidFill>
              </a:rPr>
              <a:t>Fair and appropriate?</a:t>
            </a:r>
            <a:endParaRPr lang="en-US" sz="2000" dirty="0"/>
          </a:p>
        </p:txBody>
      </p:sp>
      <p:sp>
        <p:nvSpPr>
          <p:cNvPr id="18" name="text-518"/>
          <p:cNvSpPr txBox="1"/>
          <p:nvPr/>
        </p:nvSpPr>
        <p:spPr>
          <a:xfrm>
            <a:off x="1371600" y="4608576"/>
            <a:ext cx="5486400" cy="365760"/>
          </a:xfrm>
          <a:prstGeom prst="rect">
            <a:avLst/>
          </a:prstGeom>
          <a:noFill/>
          <a:ln/>
        </p:spPr>
        <p:txBody>
          <a:bodyPr wrap="square" lIns="0" tIns="0" rIns="0" bIns="0" rtlCol="0" anchor="t"/>
          <a:lstStyle/>
          <a:p>
            <a:pPr indent="0" marL="0">
              <a:buNone/>
            </a:pPr>
            <a:r>
              <a:rPr lang="en-US" sz="1600" dirty="0">
                <a:solidFill>
                  <a:schemeClr val="tx2"/>
                </a:solidFill>
              </a:rPr>
              <a:t>Tone and bias. Would you sign it?</a:t>
            </a:r>
            <a:endParaRPr lang="en-US" sz="1600" dirty="0"/>
          </a:p>
        </p:txBody>
      </p:sp>
      <p:sp>
        <p:nvSpPr>
          <p:cNvPr id="19" name="dot-519"/>
          <p:cNvSpPr/>
          <p:nvPr/>
        </p:nvSpPr>
        <p:spPr>
          <a:xfrm>
            <a:off x="548640" y="5212080"/>
            <a:ext cx="566928" cy="566928"/>
          </a:xfrm>
          <a:prstGeom prst="ellipse">
            <a:avLst/>
          </a:prstGeom>
          <a:solidFill>
            <a:schemeClr val="tx1"/>
          </a:solidFill>
          <a:ln/>
        </p:spPr>
      </p:sp>
      <p:pic>
        <p:nvPicPr>
          <p:cNvPr id="20" name="icon-520" descr="preencoded.png">    </p:cNvPr>
          <p:cNvPicPr>
            <a:picLocks noChangeAspect="1"/>
          </p:cNvPicPr>
          <p:nvPr/>
        </p:nvPicPr>
        <p:blipFill>
          <a:blip r:embed="rId5"/>
          <a:stretch>
            <a:fillRect/>
          </a:stretch>
        </p:blipFill>
        <p:spPr>
          <a:xfrm>
            <a:off x="673364" y="5336804"/>
            <a:ext cx="317480" cy="317480"/>
          </a:xfrm>
          <a:prstGeom prst="rect">
            <a:avLst/>
          </a:prstGeom>
        </p:spPr>
      </p:pic>
      <p:sp>
        <p:nvSpPr>
          <p:cNvPr id="21" name="text-521"/>
          <p:cNvSpPr txBox="1"/>
          <p:nvPr/>
        </p:nvSpPr>
        <p:spPr>
          <a:xfrm>
            <a:off x="1371600" y="5138928"/>
            <a:ext cx="5486400" cy="384048"/>
          </a:xfrm>
          <a:prstGeom prst="rect">
            <a:avLst/>
          </a:prstGeom>
          <a:noFill/>
          <a:ln/>
        </p:spPr>
        <p:txBody>
          <a:bodyPr wrap="square" lIns="0" tIns="0" rIns="0" bIns="0" rtlCol="0" anchor="t"/>
          <a:lstStyle/>
          <a:p>
            <a:pPr indent="0" marL="0">
              <a:buNone/>
            </a:pPr>
            <a:r>
              <a:rPr lang="en-US" sz="2000" b="1" dirty="0">
                <a:solidFill>
                  <a:schemeClr val="tx1"/>
                </a:solidFill>
              </a:rPr>
              <a:t>Fit for purpose?</a:t>
            </a:r>
            <a:endParaRPr lang="en-US" sz="2000" dirty="0"/>
          </a:p>
        </p:txBody>
      </p:sp>
      <p:sp>
        <p:nvSpPr>
          <p:cNvPr id="22" name="text-522"/>
          <p:cNvSpPr txBox="1"/>
          <p:nvPr/>
        </p:nvSpPr>
        <p:spPr>
          <a:xfrm>
            <a:off x="1371600" y="5522976"/>
            <a:ext cx="5486400" cy="365760"/>
          </a:xfrm>
          <a:prstGeom prst="rect">
            <a:avLst/>
          </a:prstGeom>
          <a:noFill/>
          <a:ln/>
        </p:spPr>
        <p:txBody>
          <a:bodyPr wrap="square" lIns="0" tIns="0" rIns="0" bIns="0" rtlCol="0" anchor="t"/>
          <a:lstStyle/>
          <a:p>
            <a:pPr indent="0" marL="0">
              <a:buNone/>
            </a:pPr>
            <a:r>
              <a:rPr lang="en-US" sz="1600" dirty="0">
                <a:solidFill>
                  <a:schemeClr val="tx2"/>
                </a:solidFill>
              </a:rPr>
              <a:t>Right for this audience and this job</a:t>
            </a:r>
            <a:endParaRPr lang="en-US" sz="1600" dirty="0"/>
          </a:p>
        </p:txBody>
      </p:sp>
      <p:sp>
        <p:nvSpPr>
          <p:cNvPr id="23" name="card-523"/>
          <p:cNvSpPr/>
          <p:nvPr/>
        </p:nvSpPr>
        <p:spPr>
          <a:xfrm>
            <a:off x="7315200" y="1463040"/>
            <a:ext cx="4325112" cy="4572000"/>
          </a:xfrm>
          <a:prstGeom prst="roundRect">
            <a:avLst>
              <a:gd name="adj" fmla="val 2537"/>
            </a:avLst>
          </a:prstGeom>
          <a:solidFill>
            <a:schemeClr val="tx1"/>
          </a:solidFill>
          <a:ln/>
        </p:spPr>
      </p:sp>
      <p:sp>
        <p:nvSpPr>
          <p:cNvPr id="24" name="text-524"/>
          <p:cNvSpPr txBox="1"/>
          <p:nvPr/>
        </p:nvSpPr>
        <p:spPr>
          <a:xfrm>
            <a:off x="7680960" y="1828800"/>
            <a:ext cx="3657600" cy="1463040"/>
          </a:xfrm>
          <a:prstGeom prst="rect">
            <a:avLst/>
          </a:prstGeom>
          <a:noFill/>
          <a:ln/>
        </p:spPr>
        <p:txBody>
          <a:bodyPr wrap="square" lIns="0" tIns="0" rIns="0" bIns="0" rtlCol="0" anchor="t"/>
          <a:lstStyle/>
          <a:p>
            <a:pPr indent="0" marL="0">
              <a:buNone/>
            </a:pPr>
            <a:r>
              <a:rPr lang="en-US" sz="3000" b="1" dirty="0">
                <a:solidFill>
                  <a:schemeClr val="bg1"/>
                </a:solidFill>
              </a:rPr>
              <a:t>You're the editor, not the audience.</a:t>
            </a:r>
            <a:endParaRPr lang="en-US" sz="3000" dirty="0"/>
          </a:p>
        </p:txBody>
      </p:sp>
      <p:sp>
        <p:nvSpPr>
          <p:cNvPr id="25" name="text-525"/>
          <p:cNvSpPr txBox="1"/>
          <p:nvPr/>
        </p:nvSpPr>
        <p:spPr>
          <a:xfrm>
            <a:off x="7680960" y="3566160"/>
            <a:ext cx="3657600" cy="2011680"/>
          </a:xfrm>
          <a:prstGeom prst="rect">
            <a:avLst/>
          </a:prstGeom>
          <a:noFill/>
          <a:ln/>
        </p:spPr>
        <p:txBody>
          <a:bodyPr wrap="square" lIns="0" tIns="0" rIns="0" bIns="0" rtlCol="0" anchor="t"/>
          <a:lstStyle/>
          <a:p>
            <a:pPr indent="0" marL="0">
              <a:buNone/>
            </a:pPr>
            <a:r>
              <a:rPr lang="en-US" sz="1800" b="1" dirty="0">
                <a:solidFill>
                  <a:schemeClr val="bg1"/>
                </a:solidFill>
              </a:rPr>
              <a:t>In Gemini: </a:t>
            </a:r>
            <a:pPr indent="0" marL="0">
              <a:buNone/>
            </a:pPr>
            <a:r>
              <a:rPr lang="en-US" sz="1800" dirty="0">
                <a:solidFill>
                  <a:schemeClr val="accent3"/>
                </a:solidFill>
              </a:rPr>
              <a:t>when an answer has a Sources button, open the links and check they really say what Gemini claims.</a:t>
            </a:r>
            <a:endParaRPr lang="en-US" sz="1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The case: Prairie Point's hybrid work pilot</a:t>
            </a:r>
            <a:endParaRPr lang="en-US" sz="3400" dirty="0"/>
          </a:p>
        </p:txBody>
      </p:sp>
      <p:sp>
        <p:nvSpPr>
          <p:cNvPr id="3" name="text-526"/>
          <p:cNvSpPr txBox="1"/>
          <p:nvPr/>
        </p:nvSpPr>
        <p:spPr>
          <a:xfrm>
            <a:off x="548640" y="1417320"/>
            <a:ext cx="4572000" cy="274320"/>
          </a:xfrm>
          <a:prstGeom prst="rect">
            <a:avLst/>
          </a:prstGeom>
          <a:noFill/>
          <a:ln/>
        </p:spPr>
        <p:txBody>
          <a:bodyPr wrap="square" lIns="0" tIns="0" rIns="0" bIns="0" rtlCol="0" anchor="t"/>
          <a:lstStyle/>
          <a:p>
            <a:pPr indent="0" marL="0">
              <a:buNone/>
            </a:pPr>
            <a:r>
              <a:rPr lang="en-US" sz="1300" b="1" spc="200" kern="0" dirty="0">
                <a:solidFill>
                  <a:schemeClr val="tx2"/>
                </a:solidFill>
              </a:rPr>
              <a:t>YOU HAVE</a:t>
            </a:r>
            <a:endParaRPr lang="en-US" sz="1300" dirty="0"/>
          </a:p>
        </p:txBody>
      </p:sp>
      <p:sp>
        <p:nvSpPr>
          <p:cNvPr id="4" name="text-527"/>
          <p:cNvSpPr txBox="1"/>
          <p:nvPr/>
        </p:nvSpPr>
        <p:spPr>
          <a:xfrm>
            <a:off x="6537960" y="1417320"/>
            <a:ext cx="457200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YOU PRODUCE</a:t>
            </a:r>
            <a:endParaRPr lang="en-US" sz="1300" dirty="0"/>
          </a:p>
        </p:txBody>
      </p:sp>
      <p:sp>
        <p:nvSpPr>
          <p:cNvPr id="5" name="card-528"/>
          <p:cNvSpPr/>
          <p:nvPr/>
        </p:nvSpPr>
        <p:spPr>
          <a:xfrm>
            <a:off x="548640" y="1783080"/>
            <a:ext cx="5257800" cy="1234440"/>
          </a:xfrm>
          <a:prstGeom prst="roundRect">
            <a:avLst>
              <a:gd name="adj" fmla="val 8889"/>
            </a:avLst>
          </a:prstGeom>
          <a:solidFill>
            <a:schemeClr val="bg2"/>
          </a:solidFill>
          <a:ln/>
        </p:spPr>
      </p:sp>
      <p:pic>
        <p:nvPicPr>
          <p:cNvPr id="6" name="icon-529" descr="preencoded.png">    </p:cNvPr>
          <p:cNvPicPr>
            <a:picLocks noChangeAspect="1"/>
          </p:cNvPicPr>
          <p:nvPr/>
        </p:nvPicPr>
        <p:blipFill>
          <a:blip r:embed="rId1"/>
          <a:stretch>
            <a:fillRect/>
          </a:stretch>
        </p:blipFill>
        <p:spPr>
          <a:xfrm>
            <a:off x="822960" y="2167128"/>
            <a:ext cx="457200" cy="457200"/>
          </a:xfrm>
          <a:prstGeom prst="rect">
            <a:avLst/>
          </a:prstGeom>
        </p:spPr>
      </p:pic>
      <p:sp>
        <p:nvSpPr>
          <p:cNvPr id="7" name="text-530"/>
          <p:cNvSpPr txBox="1"/>
          <p:nvPr/>
        </p:nvSpPr>
        <p:spPr>
          <a:xfrm>
            <a:off x="1508760" y="1947672"/>
            <a:ext cx="4114800" cy="411480"/>
          </a:xfrm>
          <a:prstGeom prst="rect">
            <a:avLst/>
          </a:prstGeom>
          <a:noFill/>
          <a:ln/>
        </p:spPr>
        <p:txBody>
          <a:bodyPr wrap="square" lIns="0" tIns="0" rIns="0" bIns="0" rtlCol="0" anchor="t"/>
          <a:lstStyle/>
          <a:p>
            <a:pPr indent="0" marL="0">
              <a:buNone/>
            </a:pPr>
            <a:r>
              <a:rPr lang="en-US" sz="1900" b="1" dirty="0">
                <a:solidFill>
                  <a:schemeClr val="tx1"/>
                </a:solidFill>
              </a:rPr>
              <a:t>Draft pilot policy</a:t>
            </a:r>
            <a:endParaRPr lang="en-US" sz="1900" dirty="0"/>
          </a:p>
        </p:txBody>
      </p:sp>
      <p:sp>
        <p:nvSpPr>
          <p:cNvPr id="8" name="text-531"/>
          <p:cNvSpPr txBox="1"/>
          <p:nvPr/>
        </p:nvSpPr>
        <p:spPr>
          <a:xfrm>
            <a:off x="1508760" y="2359152"/>
            <a:ext cx="4114800" cy="594360"/>
          </a:xfrm>
          <a:prstGeom prst="rect">
            <a:avLst/>
          </a:prstGeom>
          <a:noFill/>
          <a:ln/>
        </p:spPr>
        <p:txBody>
          <a:bodyPr wrap="square" lIns="0" tIns="0" rIns="0" bIns="0" rtlCol="0" anchor="t"/>
          <a:lstStyle/>
          <a:p>
            <a:pPr indent="0" marL="0">
              <a:buNone/>
            </a:pPr>
            <a:r>
              <a:rPr lang="en-US" sz="1500" dirty="0">
                <a:solidFill>
                  <a:schemeClr val="tx2"/>
                </a:solidFill>
              </a:rPr>
              <a:t>Who's eligible, core days, approval, equipment, 90 days</a:t>
            </a:r>
            <a:endParaRPr lang="en-US" sz="1500" dirty="0"/>
          </a:p>
        </p:txBody>
      </p:sp>
      <p:sp>
        <p:nvSpPr>
          <p:cNvPr id="9" name="card-532"/>
          <p:cNvSpPr/>
          <p:nvPr/>
        </p:nvSpPr>
        <p:spPr>
          <a:xfrm>
            <a:off x="6537960" y="1783080"/>
            <a:ext cx="5102352" cy="1234440"/>
          </a:xfrm>
          <a:prstGeom prst="roundRect">
            <a:avLst>
              <a:gd name="adj" fmla="val 8889"/>
            </a:avLst>
          </a:prstGeom>
          <a:solidFill>
            <a:schemeClr val="tx1"/>
          </a:solidFill>
          <a:ln/>
        </p:spPr>
      </p:sp>
      <p:sp>
        <p:nvSpPr>
          <p:cNvPr id="10" name="text-533"/>
          <p:cNvSpPr txBox="1"/>
          <p:nvPr/>
        </p:nvSpPr>
        <p:spPr>
          <a:xfrm>
            <a:off x="6812280" y="1783080"/>
            <a:ext cx="411480" cy="1234440"/>
          </a:xfrm>
          <a:prstGeom prst="rect">
            <a:avLst/>
          </a:prstGeom>
          <a:noFill/>
          <a:ln/>
        </p:spPr>
        <p:txBody>
          <a:bodyPr wrap="square" lIns="0" tIns="0" rIns="0" bIns="0" rtlCol="0" anchor="ctr"/>
          <a:lstStyle/>
          <a:p>
            <a:pPr indent="0" marL="0">
              <a:buNone/>
            </a:pPr>
            <a:r>
              <a:rPr lang="en-US" sz="3000" b="1" dirty="0">
                <a:solidFill>
                  <a:schemeClr val="accent1"/>
                </a:solidFill>
              </a:rPr>
              <a:t>1</a:t>
            </a:r>
            <a:endParaRPr lang="en-US" sz="3000" dirty="0"/>
          </a:p>
        </p:txBody>
      </p:sp>
      <p:sp>
        <p:nvSpPr>
          <p:cNvPr id="11" name="text-534"/>
          <p:cNvSpPr txBox="1"/>
          <p:nvPr/>
        </p:nvSpPr>
        <p:spPr>
          <a:xfrm>
            <a:off x="7360920" y="1947672"/>
            <a:ext cx="4114800" cy="411480"/>
          </a:xfrm>
          <a:prstGeom prst="rect">
            <a:avLst/>
          </a:prstGeom>
          <a:noFill/>
          <a:ln/>
        </p:spPr>
        <p:txBody>
          <a:bodyPr wrap="square" lIns="0" tIns="0" rIns="0" bIns="0" rtlCol="0" anchor="t"/>
          <a:lstStyle/>
          <a:p>
            <a:pPr indent="0" marL="0">
              <a:buNone/>
            </a:pPr>
            <a:r>
              <a:rPr lang="en-US" sz="1900" b="1" dirty="0">
                <a:solidFill>
                  <a:schemeClr val="bg1"/>
                </a:solidFill>
              </a:rPr>
              <a:t>Staff FAQ</a:t>
            </a:r>
            <a:endParaRPr lang="en-US" sz="1900" dirty="0"/>
          </a:p>
        </p:txBody>
      </p:sp>
      <p:sp>
        <p:nvSpPr>
          <p:cNvPr id="12" name="text-535"/>
          <p:cNvSpPr txBox="1"/>
          <p:nvPr/>
        </p:nvSpPr>
        <p:spPr>
          <a:xfrm>
            <a:off x="7360920" y="2359152"/>
            <a:ext cx="4114800" cy="594360"/>
          </a:xfrm>
          <a:prstGeom prst="rect">
            <a:avLst/>
          </a:prstGeom>
          <a:noFill/>
          <a:ln/>
        </p:spPr>
        <p:txBody>
          <a:bodyPr wrap="square" lIns="0" tIns="0" rIns="0" bIns="0" rtlCol="0" anchor="t"/>
          <a:lstStyle/>
          <a:p>
            <a:pPr indent="0" marL="0">
              <a:buNone/>
            </a:pPr>
            <a:r>
              <a:rPr lang="en-US" sz="1500" dirty="0">
                <a:solidFill>
                  <a:schemeClr val="accent3"/>
                </a:solidFill>
              </a:rPr>
              <a:t>All six questions, using only the policy. Unknowns marked “To confirm with HR”.</a:t>
            </a:r>
            <a:endParaRPr lang="en-US" sz="1500" dirty="0"/>
          </a:p>
        </p:txBody>
      </p:sp>
      <p:sp>
        <p:nvSpPr>
          <p:cNvPr id="13" name="card-536"/>
          <p:cNvSpPr/>
          <p:nvPr/>
        </p:nvSpPr>
        <p:spPr>
          <a:xfrm>
            <a:off x="548640" y="3200400"/>
            <a:ext cx="5257800" cy="1234440"/>
          </a:xfrm>
          <a:prstGeom prst="roundRect">
            <a:avLst>
              <a:gd name="adj" fmla="val 8889"/>
            </a:avLst>
          </a:prstGeom>
          <a:solidFill>
            <a:schemeClr val="bg2"/>
          </a:solidFill>
          <a:ln/>
        </p:spPr>
      </p:sp>
      <p:pic>
        <p:nvPicPr>
          <p:cNvPr id="14" name="icon-537" descr="preencoded.png">    </p:cNvPr>
          <p:cNvPicPr>
            <a:picLocks noChangeAspect="1"/>
          </p:cNvPicPr>
          <p:nvPr/>
        </p:nvPicPr>
        <p:blipFill>
          <a:blip r:embed="rId2"/>
          <a:stretch>
            <a:fillRect/>
          </a:stretch>
        </p:blipFill>
        <p:spPr>
          <a:xfrm>
            <a:off x="822960" y="3584448"/>
            <a:ext cx="457200" cy="457200"/>
          </a:xfrm>
          <a:prstGeom prst="rect">
            <a:avLst/>
          </a:prstGeom>
        </p:spPr>
      </p:pic>
      <p:sp>
        <p:nvSpPr>
          <p:cNvPr id="15" name="text-538"/>
          <p:cNvSpPr txBox="1"/>
          <p:nvPr/>
        </p:nvSpPr>
        <p:spPr>
          <a:xfrm>
            <a:off x="1508760" y="3364992"/>
            <a:ext cx="4114800" cy="411480"/>
          </a:xfrm>
          <a:prstGeom prst="rect">
            <a:avLst/>
          </a:prstGeom>
          <a:noFill/>
          <a:ln/>
        </p:spPr>
        <p:txBody>
          <a:bodyPr wrap="square" lIns="0" tIns="0" rIns="0" bIns="0" rtlCol="0" anchor="t"/>
          <a:lstStyle/>
          <a:p>
            <a:pPr indent="0" marL="0">
              <a:buNone/>
            </a:pPr>
            <a:r>
              <a:rPr lang="en-US" sz="1900" b="1" dirty="0">
                <a:solidFill>
                  <a:schemeClr val="tx1"/>
                </a:solidFill>
              </a:rPr>
              <a:t>Email from a manager</a:t>
            </a:r>
            <a:endParaRPr lang="en-US" sz="1900" dirty="0"/>
          </a:p>
        </p:txBody>
      </p:sp>
      <p:sp>
        <p:nvSpPr>
          <p:cNvPr id="16" name="text-539"/>
          <p:cNvSpPr txBox="1"/>
          <p:nvPr/>
        </p:nvSpPr>
        <p:spPr>
          <a:xfrm>
            <a:off x="1508760" y="3776472"/>
            <a:ext cx="4114800" cy="594360"/>
          </a:xfrm>
          <a:prstGeom prst="rect">
            <a:avLst/>
          </a:prstGeom>
          <a:noFill/>
          <a:ln/>
        </p:spPr>
        <p:txBody>
          <a:bodyPr wrap="square" lIns="0" tIns="0" rIns="0" bIns="0" rtlCol="0" anchor="t"/>
          <a:lstStyle/>
          <a:p>
            <a:pPr indent="0" marL="0">
              <a:buNone/>
            </a:pPr>
            <a:r>
              <a:rPr lang="en-US" sz="1500" dirty="0">
                <a:solidFill>
                  <a:schemeClr val="tx2"/>
                </a:solidFill>
              </a:rPr>
              <a:t>Two real concerns, plus details that shouldn't go into Gemini</a:t>
            </a:r>
            <a:endParaRPr lang="en-US" sz="1500" dirty="0"/>
          </a:p>
        </p:txBody>
      </p:sp>
      <p:sp>
        <p:nvSpPr>
          <p:cNvPr id="17" name="card-540"/>
          <p:cNvSpPr/>
          <p:nvPr/>
        </p:nvSpPr>
        <p:spPr>
          <a:xfrm>
            <a:off x="6537960" y="3200400"/>
            <a:ext cx="5102352" cy="1234440"/>
          </a:xfrm>
          <a:prstGeom prst="roundRect">
            <a:avLst>
              <a:gd name="adj" fmla="val 8889"/>
            </a:avLst>
          </a:prstGeom>
          <a:solidFill>
            <a:schemeClr val="tx1"/>
          </a:solidFill>
          <a:ln/>
        </p:spPr>
      </p:sp>
      <p:sp>
        <p:nvSpPr>
          <p:cNvPr id="18" name="text-541"/>
          <p:cNvSpPr txBox="1"/>
          <p:nvPr/>
        </p:nvSpPr>
        <p:spPr>
          <a:xfrm>
            <a:off x="6812280" y="3200400"/>
            <a:ext cx="411480" cy="1234440"/>
          </a:xfrm>
          <a:prstGeom prst="rect">
            <a:avLst/>
          </a:prstGeom>
          <a:noFill/>
          <a:ln/>
        </p:spPr>
        <p:txBody>
          <a:bodyPr wrap="square" lIns="0" tIns="0" rIns="0" bIns="0" rtlCol="0" anchor="ctr"/>
          <a:lstStyle/>
          <a:p>
            <a:pPr indent="0" marL="0">
              <a:buNone/>
            </a:pPr>
            <a:r>
              <a:rPr lang="en-US" sz="3000" b="1" dirty="0">
                <a:solidFill>
                  <a:schemeClr val="accent1"/>
                </a:solidFill>
              </a:rPr>
              <a:t>2</a:t>
            </a:r>
            <a:endParaRPr lang="en-US" sz="3000" dirty="0"/>
          </a:p>
        </p:txBody>
      </p:sp>
      <p:sp>
        <p:nvSpPr>
          <p:cNvPr id="19" name="text-542"/>
          <p:cNvSpPr txBox="1"/>
          <p:nvPr/>
        </p:nvSpPr>
        <p:spPr>
          <a:xfrm>
            <a:off x="7360920" y="3364992"/>
            <a:ext cx="4114800" cy="411480"/>
          </a:xfrm>
          <a:prstGeom prst="rect">
            <a:avLst/>
          </a:prstGeom>
          <a:noFill/>
          <a:ln/>
        </p:spPr>
        <p:txBody>
          <a:bodyPr wrap="square" lIns="0" tIns="0" rIns="0" bIns="0" rtlCol="0" anchor="t"/>
          <a:lstStyle/>
          <a:p>
            <a:pPr indent="0" marL="0">
              <a:buNone/>
            </a:pPr>
            <a:r>
              <a:rPr lang="en-US" sz="1900" b="1" dirty="0">
                <a:solidFill>
                  <a:schemeClr val="bg1"/>
                </a:solidFill>
              </a:rPr>
              <a:t>Manager talking points</a:t>
            </a:r>
            <a:endParaRPr lang="en-US" sz="1900" dirty="0"/>
          </a:p>
        </p:txBody>
      </p:sp>
      <p:sp>
        <p:nvSpPr>
          <p:cNvPr id="20" name="text-543"/>
          <p:cNvSpPr txBox="1"/>
          <p:nvPr/>
        </p:nvSpPr>
        <p:spPr>
          <a:xfrm>
            <a:off x="7360920" y="3776472"/>
            <a:ext cx="4114800" cy="594360"/>
          </a:xfrm>
          <a:prstGeom prst="rect">
            <a:avLst/>
          </a:prstGeom>
          <a:noFill/>
          <a:ln/>
        </p:spPr>
        <p:txBody>
          <a:bodyPr wrap="square" lIns="0" tIns="0" rIns="0" bIns="0" rtlCol="0" anchor="t"/>
          <a:lstStyle/>
          <a:p>
            <a:pPr indent="0" marL="0">
              <a:buNone/>
            </a:pPr>
            <a:r>
              <a:rPr lang="en-US" sz="1500" dirty="0">
                <a:solidFill>
                  <a:schemeClr val="accent3"/>
                </a:solidFill>
              </a:rPr>
              <a:t>Eight bullets at most. No names.</a:t>
            </a:r>
            <a:endParaRPr lang="en-US" sz="1500" dirty="0"/>
          </a:p>
        </p:txBody>
      </p:sp>
      <p:sp>
        <p:nvSpPr>
          <p:cNvPr id="21" name="card-544"/>
          <p:cNvSpPr/>
          <p:nvPr/>
        </p:nvSpPr>
        <p:spPr>
          <a:xfrm>
            <a:off x="548640" y="4617720"/>
            <a:ext cx="5257800" cy="1234440"/>
          </a:xfrm>
          <a:prstGeom prst="roundRect">
            <a:avLst>
              <a:gd name="adj" fmla="val 8889"/>
            </a:avLst>
          </a:prstGeom>
          <a:solidFill>
            <a:schemeClr val="bg2"/>
          </a:solidFill>
          <a:ln/>
        </p:spPr>
      </p:sp>
      <p:pic>
        <p:nvPicPr>
          <p:cNvPr id="22" name="icon-545" descr="preencoded.png">    </p:cNvPr>
          <p:cNvPicPr>
            <a:picLocks noChangeAspect="1"/>
          </p:cNvPicPr>
          <p:nvPr/>
        </p:nvPicPr>
        <p:blipFill>
          <a:blip r:embed="rId3"/>
          <a:stretch>
            <a:fillRect/>
          </a:stretch>
        </p:blipFill>
        <p:spPr>
          <a:xfrm>
            <a:off x="822960" y="5001768"/>
            <a:ext cx="457200" cy="457200"/>
          </a:xfrm>
          <a:prstGeom prst="rect">
            <a:avLst/>
          </a:prstGeom>
        </p:spPr>
      </p:pic>
      <p:sp>
        <p:nvSpPr>
          <p:cNvPr id="23" name="text-546"/>
          <p:cNvSpPr txBox="1"/>
          <p:nvPr/>
        </p:nvSpPr>
        <p:spPr>
          <a:xfrm>
            <a:off x="1508760" y="4782312"/>
            <a:ext cx="4114800" cy="411480"/>
          </a:xfrm>
          <a:prstGeom prst="rect">
            <a:avLst/>
          </a:prstGeom>
          <a:noFill/>
          <a:ln/>
        </p:spPr>
        <p:txBody>
          <a:bodyPr wrap="square" lIns="0" tIns="0" rIns="0" bIns="0" rtlCol="0" anchor="t"/>
          <a:lstStyle/>
          <a:p>
            <a:pPr indent="0" marL="0">
              <a:buNone/>
            </a:pPr>
            <a:r>
              <a:rPr lang="en-US" sz="1900" b="1" dirty="0">
                <a:solidFill>
                  <a:schemeClr val="tx1"/>
                </a:solidFill>
              </a:rPr>
              <a:t>Six town-hall questions</a:t>
            </a:r>
            <a:endParaRPr lang="en-US" sz="1900" dirty="0"/>
          </a:p>
        </p:txBody>
      </p:sp>
      <p:sp>
        <p:nvSpPr>
          <p:cNvPr id="24" name="text-547"/>
          <p:cNvSpPr txBox="1"/>
          <p:nvPr/>
        </p:nvSpPr>
        <p:spPr>
          <a:xfrm>
            <a:off x="1508760" y="5193792"/>
            <a:ext cx="4114800" cy="594360"/>
          </a:xfrm>
          <a:prstGeom prst="rect">
            <a:avLst/>
          </a:prstGeom>
          <a:noFill/>
          <a:ln/>
        </p:spPr>
        <p:txBody>
          <a:bodyPr wrap="square" lIns="0" tIns="0" rIns="0" bIns="0" rtlCol="0" anchor="t"/>
          <a:lstStyle/>
          <a:p>
            <a:pPr indent="0" marL="0">
              <a:buNone/>
            </a:pPr>
            <a:r>
              <a:rPr lang="en-US" sz="1500" dirty="0">
                <a:solidFill>
                  <a:schemeClr val="tx2"/>
                </a:solidFill>
              </a:rPr>
              <a:t>Three of them the policy doesn't answer</a:t>
            </a:r>
            <a:endParaRPr lang="en-US" sz="1500" dirty="0"/>
          </a:p>
        </p:txBody>
      </p:sp>
      <p:sp>
        <p:nvSpPr>
          <p:cNvPr id="25" name="card-548"/>
          <p:cNvSpPr/>
          <p:nvPr/>
        </p:nvSpPr>
        <p:spPr>
          <a:xfrm>
            <a:off x="6537960" y="4617720"/>
            <a:ext cx="5102352" cy="1234440"/>
          </a:xfrm>
          <a:prstGeom prst="roundRect">
            <a:avLst>
              <a:gd name="adj" fmla="val 8889"/>
            </a:avLst>
          </a:prstGeom>
          <a:solidFill>
            <a:schemeClr val="tx1"/>
          </a:solidFill>
          <a:ln/>
        </p:spPr>
      </p:sp>
      <p:sp>
        <p:nvSpPr>
          <p:cNvPr id="26" name="text-549"/>
          <p:cNvSpPr txBox="1"/>
          <p:nvPr/>
        </p:nvSpPr>
        <p:spPr>
          <a:xfrm>
            <a:off x="6812280" y="4617720"/>
            <a:ext cx="411480" cy="1234440"/>
          </a:xfrm>
          <a:prstGeom prst="rect">
            <a:avLst/>
          </a:prstGeom>
          <a:noFill/>
          <a:ln/>
        </p:spPr>
        <p:txBody>
          <a:bodyPr wrap="square" lIns="0" tIns="0" rIns="0" bIns="0" rtlCol="0" anchor="ctr"/>
          <a:lstStyle/>
          <a:p>
            <a:pPr indent="0" marL="0">
              <a:buNone/>
            </a:pPr>
            <a:r>
              <a:rPr lang="en-US" sz="3000" b="1" dirty="0">
                <a:solidFill>
                  <a:schemeClr val="accent1"/>
                </a:solidFill>
              </a:rPr>
              <a:t>3</a:t>
            </a:r>
            <a:endParaRPr lang="en-US" sz="3000" dirty="0"/>
          </a:p>
        </p:txBody>
      </p:sp>
      <p:sp>
        <p:nvSpPr>
          <p:cNvPr id="27" name="text-550"/>
          <p:cNvSpPr txBox="1"/>
          <p:nvPr/>
        </p:nvSpPr>
        <p:spPr>
          <a:xfrm>
            <a:off x="7360920" y="4782312"/>
            <a:ext cx="4114800" cy="411480"/>
          </a:xfrm>
          <a:prstGeom prst="rect">
            <a:avLst/>
          </a:prstGeom>
          <a:noFill/>
          <a:ln/>
        </p:spPr>
        <p:txBody>
          <a:bodyPr wrap="square" lIns="0" tIns="0" rIns="0" bIns="0" rtlCol="0" anchor="t"/>
          <a:lstStyle/>
          <a:p>
            <a:pPr indent="0" marL="0">
              <a:buNone/>
            </a:pPr>
            <a:r>
              <a:rPr lang="en-US" sz="1900" b="1" dirty="0">
                <a:solidFill>
                  <a:schemeClr val="bg1"/>
                </a:solidFill>
              </a:rPr>
              <a:t>Verification note</a:t>
            </a:r>
            <a:endParaRPr lang="en-US" sz="1900" dirty="0"/>
          </a:p>
        </p:txBody>
      </p:sp>
      <p:sp>
        <p:nvSpPr>
          <p:cNvPr id="28" name="text-551"/>
          <p:cNvSpPr txBox="1"/>
          <p:nvPr/>
        </p:nvSpPr>
        <p:spPr>
          <a:xfrm>
            <a:off x="7360920" y="5193792"/>
            <a:ext cx="4114800" cy="594360"/>
          </a:xfrm>
          <a:prstGeom prst="rect">
            <a:avLst/>
          </a:prstGeom>
          <a:noFill/>
          <a:ln/>
        </p:spPr>
        <p:txBody>
          <a:bodyPr wrap="square" lIns="0" tIns="0" rIns="0" bIns="0" rtlCol="0" anchor="t"/>
          <a:lstStyle/>
          <a:p>
            <a:pPr indent="0" marL="0">
              <a:buNone/>
            </a:pPr>
            <a:r>
              <a:rPr lang="en-US" sz="1500" dirty="0">
                <a:solidFill>
                  <a:schemeClr val="accent3"/>
                </a:solidFill>
              </a:rPr>
              <a:t>What Gemini got wrong, and what you chose not to paste</a:t>
            </a:r>
            <a:endParaRPr lang="en-US" sz="1500" dirty="0"/>
          </a:p>
        </p:txBody>
      </p:sp>
      <p:pic>
        <p:nvPicPr>
          <p:cNvPr id="29" name="icon-552" descr="preencoded.png">    </p:cNvPr>
          <p:cNvPicPr>
            <a:picLocks noChangeAspect="1"/>
          </p:cNvPicPr>
          <p:nvPr/>
        </p:nvPicPr>
        <p:blipFill>
          <a:blip r:embed="rId4"/>
          <a:stretch>
            <a:fillRect/>
          </a:stretch>
        </p:blipFill>
        <p:spPr>
          <a:xfrm>
            <a:off x="5943600" y="3520440"/>
            <a:ext cx="457200" cy="457200"/>
          </a:xfrm>
          <a:prstGeom prst="rect">
            <a:avLst/>
          </a:prstGeom>
        </p:spPr>
      </p:pic>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body" hasCustomPrompt="1"/>
          </p:nvPr>
        </p:nvSpPr>
        <p:spPr>
          <a:xfrm>
            <a:off x="548640" y="411480"/>
            <a:ext cx="82296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rPr>
              <a:t>ACTIVITY 3.1  ·  GROUPS OF 3–4</a:t>
            </a:r>
            <a:endParaRPr lang="en-US" sz="1400" dirty="0"/>
          </a:p>
        </p:txBody>
      </p:sp>
      <p:sp>
        <p:nvSpPr>
          <p:cNvPr id="3" name="Text 1"/>
          <p:cNvSpPr/>
          <p:nvPr>
            <p:ph idx="103" type="title" hasCustomPrompt="1"/>
          </p:nvPr>
        </p:nvSpPr>
        <p:spPr>
          <a:xfrm>
            <a:off x="548640" y="777240"/>
            <a:ext cx="8778240" cy="822960"/>
          </a:xfrm>
          <a:prstGeom prst="rect">
            <a:avLst/>
          </a:prstGeom>
          <a:noFill/>
          <a:ln/>
        </p:spPr>
        <p:txBody>
          <a:bodyPr wrap="square" lIns="0" tIns="0" rIns="0" bIns="0" rtlCol="0" anchor="ctr"/>
          <a:lstStyle/>
          <a:p>
            <a:pPr algn="l" indent="0" marL="0">
              <a:buNone/>
            </a:pPr>
            <a:r>
              <a:rPr lang="en-US" sz="3800" b="1" dirty="0">
                <a:solidFill>
                  <a:schemeClr val="bg1"/>
                </a:solidFill>
              </a:rPr>
              <a:t>Hybrid pilot case</a:t>
            </a:r>
            <a:endParaRPr lang="en-US" sz="3800" dirty="0"/>
          </a:p>
        </p:txBody>
      </p:sp>
      <p:sp>
        <p:nvSpPr>
          <p:cNvPr id="4" name="badge-553"/>
          <p:cNvSpPr/>
          <p:nvPr/>
        </p:nvSpPr>
        <p:spPr>
          <a:xfrm>
            <a:off x="10042855" y="502920"/>
            <a:ext cx="1600200" cy="457200"/>
          </a:xfrm>
          <a:prstGeom prst="roundRect">
            <a:avLst>
              <a:gd name="adj" fmla="val 50000"/>
            </a:avLst>
          </a:prstGeom>
          <a:solidFill>
            <a:schemeClr val="bg1"/>
          </a:solidFill>
          <a:ln/>
        </p:spPr>
      </p:sp>
      <p:sp>
        <p:nvSpPr>
          <p:cNvPr id="5" name="text-554"/>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35 min</a:t>
            </a:r>
            <a:endParaRPr lang="en-US" sz="1600" dirty="0"/>
          </a:p>
        </p:txBody>
      </p:sp>
      <p:sp>
        <p:nvSpPr>
          <p:cNvPr id="6" name="text-555"/>
          <p:cNvSpPr txBox="1"/>
          <p:nvPr/>
        </p:nvSpPr>
        <p:spPr>
          <a:xfrm>
            <a:off x="548640" y="1783080"/>
            <a:ext cx="4572000" cy="411480"/>
          </a:xfrm>
          <a:prstGeom prst="rect">
            <a:avLst/>
          </a:prstGeom>
          <a:noFill/>
          <a:ln/>
        </p:spPr>
        <p:txBody>
          <a:bodyPr wrap="square" lIns="0" tIns="0" rIns="0" bIns="0" rtlCol="0" anchor="t"/>
          <a:lstStyle/>
          <a:p>
            <a:pPr indent="0" marL="0">
              <a:buNone/>
            </a:pPr>
            <a:r>
              <a:rPr lang="en-US" sz="2100" b="1" dirty="0">
                <a:solidFill>
                  <a:schemeClr val="bg1"/>
                </a:solidFill>
              </a:rPr>
              <a:t>Roles</a:t>
            </a:r>
            <a:endParaRPr lang="en-US" sz="2100" dirty="0"/>
          </a:p>
        </p:txBody>
      </p:sp>
      <p:sp>
        <p:nvSpPr>
          <p:cNvPr id="7" name="dot-556"/>
          <p:cNvSpPr/>
          <p:nvPr/>
        </p:nvSpPr>
        <p:spPr>
          <a:xfrm>
            <a:off x="548640" y="2331720"/>
            <a:ext cx="594360" cy="594360"/>
          </a:xfrm>
          <a:prstGeom prst="ellipse">
            <a:avLst/>
          </a:prstGeom>
          <a:solidFill>
            <a:schemeClr val="bg1"/>
          </a:solidFill>
          <a:ln/>
        </p:spPr>
      </p:sp>
      <p:pic>
        <p:nvPicPr>
          <p:cNvPr id="8" name="icon-557" descr="preencoded.png">    </p:cNvPr>
          <p:cNvPicPr>
            <a:picLocks noChangeAspect="1"/>
          </p:cNvPicPr>
          <p:nvPr/>
        </p:nvPicPr>
        <p:blipFill>
          <a:blip r:embed="rId1"/>
          <a:stretch>
            <a:fillRect/>
          </a:stretch>
        </p:blipFill>
        <p:spPr>
          <a:xfrm>
            <a:off x="679399" y="2462479"/>
            <a:ext cx="332842" cy="332842"/>
          </a:xfrm>
          <a:prstGeom prst="rect">
            <a:avLst/>
          </a:prstGeom>
        </p:spPr>
      </p:pic>
      <p:sp>
        <p:nvSpPr>
          <p:cNvPr id="9" name="text-558"/>
          <p:cNvSpPr txBox="1"/>
          <p:nvPr/>
        </p:nvSpPr>
        <p:spPr>
          <a:xfrm>
            <a:off x="1371600" y="2331720"/>
            <a:ext cx="4480560" cy="914400"/>
          </a:xfrm>
          <a:prstGeom prst="rect">
            <a:avLst/>
          </a:prstGeom>
          <a:noFill/>
          <a:ln/>
        </p:spPr>
        <p:txBody>
          <a:bodyPr wrap="square" lIns="0" tIns="0" rIns="0" bIns="0" rtlCol="0" anchor="t"/>
          <a:lstStyle/>
          <a:p>
            <a:pPr indent="0" marL="0">
              <a:buNone/>
            </a:pPr>
            <a:r>
              <a:rPr lang="en-US" sz="1700" b="1" dirty="0">
                <a:solidFill>
                  <a:schemeClr val="bg1"/>
                </a:solidFill>
              </a:rPr>
              <a:t>Navigator  </a:t>
            </a:r>
            <a:pPr indent="0" marL="0">
              <a:buNone/>
            </a:pPr>
            <a:r>
              <a:rPr lang="en-US" sz="1700" dirty="0">
                <a:solidFill>
                  <a:schemeClr val="accent3"/>
                </a:solidFill>
              </a:rPr>
              <a:t>writes the prompts</a:t>
            </a:r>
            <a:endParaRPr lang="en-US" sz="1700" dirty="0"/>
          </a:p>
        </p:txBody>
      </p:sp>
      <p:sp>
        <p:nvSpPr>
          <p:cNvPr id="10" name="dot-559"/>
          <p:cNvSpPr/>
          <p:nvPr/>
        </p:nvSpPr>
        <p:spPr>
          <a:xfrm>
            <a:off x="548640" y="3355848"/>
            <a:ext cx="594360" cy="594360"/>
          </a:xfrm>
          <a:prstGeom prst="ellipse">
            <a:avLst/>
          </a:prstGeom>
          <a:solidFill>
            <a:schemeClr val="bg1"/>
          </a:solidFill>
          <a:ln/>
        </p:spPr>
      </p:sp>
      <p:pic>
        <p:nvPicPr>
          <p:cNvPr id="11" name="icon-560" descr="preencoded.png">    </p:cNvPr>
          <p:cNvPicPr>
            <a:picLocks noChangeAspect="1"/>
          </p:cNvPicPr>
          <p:nvPr/>
        </p:nvPicPr>
        <p:blipFill>
          <a:blip r:embed="rId2"/>
          <a:stretch>
            <a:fillRect/>
          </a:stretch>
        </p:blipFill>
        <p:spPr>
          <a:xfrm>
            <a:off x="679399" y="3486607"/>
            <a:ext cx="332842" cy="332842"/>
          </a:xfrm>
          <a:prstGeom prst="rect">
            <a:avLst/>
          </a:prstGeom>
        </p:spPr>
      </p:pic>
      <p:sp>
        <p:nvSpPr>
          <p:cNvPr id="12" name="text-561"/>
          <p:cNvSpPr txBox="1"/>
          <p:nvPr/>
        </p:nvSpPr>
        <p:spPr>
          <a:xfrm>
            <a:off x="1371600" y="3355848"/>
            <a:ext cx="4480560" cy="914400"/>
          </a:xfrm>
          <a:prstGeom prst="rect">
            <a:avLst/>
          </a:prstGeom>
          <a:noFill/>
          <a:ln/>
        </p:spPr>
        <p:txBody>
          <a:bodyPr wrap="square" lIns="0" tIns="0" rIns="0" bIns="0" rtlCol="0" anchor="t"/>
          <a:lstStyle/>
          <a:p>
            <a:pPr indent="0" marL="0">
              <a:buNone/>
            </a:pPr>
            <a:r>
              <a:rPr lang="en-US" sz="1700" b="1" dirty="0">
                <a:solidFill>
                  <a:schemeClr val="bg1"/>
                </a:solidFill>
              </a:rPr>
              <a:t>Driver  </a:t>
            </a:r>
            <a:pPr indent="0" marL="0">
              <a:buNone/>
            </a:pPr>
            <a:r>
              <a:rPr lang="en-US" sz="1700" dirty="0">
                <a:solidFill>
                  <a:schemeClr val="accent3"/>
                </a:solidFill>
              </a:rPr>
              <a:t>types them into Gemini</a:t>
            </a:r>
            <a:endParaRPr lang="en-US" sz="1700" dirty="0"/>
          </a:p>
        </p:txBody>
      </p:sp>
      <p:sp>
        <p:nvSpPr>
          <p:cNvPr id="13" name="dot-562"/>
          <p:cNvSpPr/>
          <p:nvPr/>
        </p:nvSpPr>
        <p:spPr>
          <a:xfrm>
            <a:off x="548640" y="4379976"/>
            <a:ext cx="594360" cy="594360"/>
          </a:xfrm>
          <a:prstGeom prst="ellipse">
            <a:avLst/>
          </a:prstGeom>
          <a:solidFill>
            <a:schemeClr val="accent1"/>
          </a:solidFill>
          <a:ln/>
        </p:spPr>
      </p:sp>
      <p:pic>
        <p:nvPicPr>
          <p:cNvPr id="14" name="icon-563" descr="preencoded.png">    </p:cNvPr>
          <p:cNvPicPr>
            <a:picLocks noChangeAspect="1"/>
          </p:cNvPicPr>
          <p:nvPr/>
        </p:nvPicPr>
        <p:blipFill>
          <a:blip r:embed="rId3"/>
          <a:stretch>
            <a:fillRect/>
          </a:stretch>
        </p:blipFill>
        <p:spPr>
          <a:xfrm>
            <a:off x="679399" y="4510735"/>
            <a:ext cx="332842" cy="332842"/>
          </a:xfrm>
          <a:prstGeom prst="rect">
            <a:avLst/>
          </a:prstGeom>
        </p:spPr>
      </p:pic>
      <p:sp>
        <p:nvSpPr>
          <p:cNvPr id="15" name="text-564"/>
          <p:cNvSpPr txBox="1"/>
          <p:nvPr/>
        </p:nvSpPr>
        <p:spPr>
          <a:xfrm>
            <a:off x="1371600" y="4379976"/>
            <a:ext cx="4480560" cy="914400"/>
          </a:xfrm>
          <a:prstGeom prst="rect">
            <a:avLst/>
          </a:prstGeom>
          <a:noFill/>
          <a:ln/>
        </p:spPr>
        <p:txBody>
          <a:bodyPr wrap="square" lIns="0" tIns="0" rIns="0" bIns="0" rtlCol="0" anchor="t"/>
          <a:lstStyle/>
          <a:p>
            <a:pPr indent="0" marL="0">
              <a:buNone/>
            </a:pPr>
            <a:r>
              <a:rPr lang="en-US" sz="1700" b="1" dirty="0">
                <a:solidFill>
                  <a:schemeClr val="bg1"/>
                </a:solidFill>
              </a:rPr>
              <a:t>Checker  </a:t>
            </a:r>
            <a:pPr indent="0" marL="0">
              <a:buNone/>
            </a:pPr>
            <a:r>
              <a:rPr lang="en-US" sz="1700" dirty="0">
                <a:solidFill>
                  <a:schemeClr val="accent3"/>
                </a:solidFill>
              </a:rPr>
              <a:t>compares every answer with the source, and watches for personal information</a:t>
            </a:r>
            <a:endParaRPr lang="en-US" sz="1700" dirty="0"/>
          </a:p>
        </p:txBody>
      </p:sp>
      <p:sp>
        <p:nvSpPr>
          <p:cNvPr id="16" name="text-565"/>
          <p:cNvSpPr txBox="1"/>
          <p:nvPr/>
        </p:nvSpPr>
        <p:spPr>
          <a:xfrm>
            <a:off x="6263640" y="1783080"/>
            <a:ext cx="4572000" cy="411480"/>
          </a:xfrm>
          <a:prstGeom prst="rect">
            <a:avLst/>
          </a:prstGeom>
          <a:noFill/>
          <a:ln/>
        </p:spPr>
        <p:txBody>
          <a:bodyPr wrap="square" lIns="0" tIns="0" rIns="0" bIns="0" rtlCol="0" anchor="t"/>
          <a:lstStyle/>
          <a:p>
            <a:pPr indent="0" marL="0">
              <a:buNone/>
            </a:pPr>
            <a:r>
              <a:rPr lang="en-US" sz="2100" b="1" dirty="0">
                <a:solidFill>
                  <a:schemeClr val="bg1"/>
                </a:solidFill>
              </a:rPr>
              <a:t>Done when</a:t>
            </a:r>
            <a:endParaRPr lang="en-US" sz="2100" dirty="0"/>
          </a:p>
        </p:txBody>
      </p:sp>
      <p:pic>
        <p:nvPicPr>
          <p:cNvPr id="17" name="icon-566" descr="preencoded.png">    </p:cNvPr>
          <p:cNvPicPr>
            <a:picLocks noChangeAspect="1"/>
          </p:cNvPicPr>
          <p:nvPr/>
        </p:nvPicPr>
        <p:blipFill>
          <a:blip r:embed="rId4"/>
          <a:stretch>
            <a:fillRect/>
          </a:stretch>
        </p:blipFill>
        <p:spPr>
          <a:xfrm>
            <a:off x="6263640" y="2359152"/>
            <a:ext cx="384048" cy="384048"/>
          </a:xfrm>
          <a:prstGeom prst="rect">
            <a:avLst/>
          </a:prstGeom>
        </p:spPr>
      </p:pic>
      <p:sp>
        <p:nvSpPr>
          <p:cNvPr id="18" name="text-567"/>
          <p:cNvSpPr txBox="1"/>
          <p:nvPr/>
        </p:nvSpPr>
        <p:spPr>
          <a:xfrm>
            <a:off x="6812280" y="2331720"/>
            <a:ext cx="4828032" cy="731520"/>
          </a:xfrm>
          <a:prstGeom prst="rect">
            <a:avLst/>
          </a:prstGeom>
          <a:noFill/>
          <a:ln/>
        </p:spPr>
        <p:txBody>
          <a:bodyPr wrap="square" lIns="0" tIns="0" rIns="0" bIns="0" rtlCol="0" anchor="t"/>
          <a:lstStyle/>
          <a:p>
            <a:pPr indent="0" marL="0">
              <a:buNone/>
            </a:pPr>
            <a:r>
              <a:rPr lang="en-US" sz="1700" dirty="0">
                <a:solidFill>
                  <a:schemeClr val="bg1"/>
                </a:solidFill>
              </a:rPr>
              <a:t>Every FAQ answer traced to the policy, or flagged “To confirm with HR”</a:t>
            </a:r>
            <a:endParaRPr lang="en-US" sz="1700" dirty="0"/>
          </a:p>
        </p:txBody>
      </p:sp>
      <p:pic>
        <p:nvPicPr>
          <p:cNvPr id="19" name="icon-568" descr="preencoded.png">    </p:cNvPr>
          <p:cNvPicPr>
            <a:picLocks noChangeAspect="1"/>
          </p:cNvPicPr>
          <p:nvPr/>
        </p:nvPicPr>
        <p:blipFill>
          <a:blip r:embed="rId5"/>
          <a:stretch>
            <a:fillRect/>
          </a:stretch>
        </p:blipFill>
        <p:spPr>
          <a:xfrm>
            <a:off x="6263640" y="3136392"/>
            <a:ext cx="384048" cy="384048"/>
          </a:xfrm>
          <a:prstGeom prst="rect">
            <a:avLst/>
          </a:prstGeom>
        </p:spPr>
      </p:pic>
      <p:sp>
        <p:nvSpPr>
          <p:cNvPr id="20" name="text-569"/>
          <p:cNvSpPr txBox="1"/>
          <p:nvPr/>
        </p:nvSpPr>
        <p:spPr>
          <a:xfrm>
            <a:off x="6812280" y="3108960"/>
            <a:ext cx="4828032" cy="731520"/>
          </a:xfrm>
          <a:prstGeom prst="rect">
            <a:avLst/>
          </a:prstGeom>
          <a:noFill/>
          <a:ln/>
        </p:spPr>
        <p:txBody>
          <a:bodyPr wrap="square" lIns="0" tIns="0" rIns="0" bIns="0" rtlCol="0" anchor="t"/>
          <a:lstStyle/>
          <a:p>
            <a:pPr indent="0" marL="0">
              <a:buNone/>
            </a:pPr>
            <a:r>
              <a:rPr lang="en-US" sz="1700" dirty="0">
                <a:solidFill>
                  <a:schemeClr val="bg1"/>
                </a:solidFill>
              </a:rPr>
              <a:t>No personal information went into Gemini</a:t>
            </a:r>
            <a:endParaRPr lang="en-US" sz="1700" dirty="0"/>
          </a:p>
        </p:txBody>
      </p:sp>
      <p:pic>
        <p:nvPicPr>
          <p:cNvPr id="21" name="icon-570" descr="preencoded.png">    </p:cNvPr>
          <p:cNvPicPr>
            <a:picLocks noChangeAspect="1"/>
          </p:cNvPicPr>
          <p:nvPr/>
        </p:nvPicPr>
        <p:blipFill>
          <a:blip r:embed="rId6"/>
          <a:stretch>
            <a:fillRect/>
          </a:stretch>
        </p:blipFill>
        <p:spPr>
          <a:xfrm>
            <a:off x="6263640" y="3913632"/>
            <a:ext cx="384048" cy="384048"/>
          </a:xfrm>
          <a:prstGeom prst="rect">
            <a:avLst/>
          </a:prstGeom>
        </p:spPr>
      </p:pic>
      <p:sp>
        <p:nvSpPr>
          <p:cNvPr id="22" name="text-571"/>
          <p:cNvSpPr txBox="1"/>
          <p:nvPr/>
        </p:nvSpPr>
        <p:spPr>
          <a:xfrm>
            <a:off x="6812280" y="3886200"/>
            <a:ext cx="4828032" cy="731520"/>
          </a:xfrm>
          <a:prstGeom prst="rect">
            <a:avLst/>
          </a:prstGeom>
          <a:noFill/>
          <a:ln/>
        </p:spPr>
        <p:txBody>
          <a:bodyPr wrap="square" lIns="0" tIns="0" rIns="0" bIns="0" rtlCol="0" anchor="t"/>
          <a:lstStyle/>
          <a:p>
            <a:pPr indent="0" marL="0">
              <a:buNone/>
            </a:pPr>
            <a:r>
              <a:rPr lang="en-US" sz="1700" dirty="0">
                <a:solidFill>
                  <a:schemeClr val="bg1"/>
                </a:solidFill>
              </a:rPr>
              <a:t>Prompts use CRAFT and at least two techniques</a:t>
            </a:r>
            <a:endParaRPr lang="en-US" sz="1700" dirty="0"/>
          </a:p>
        </p:txBody>
      </p:sp>
      <p:pic>
        <p:nvPicPr>
          <p:cNvPr id="23" name="icon-572" descr="preencoded.png">    </p:cNvPr>
          <p:cNvPicPr>
            <a:picLocks noChangeAspect="1"/>
          </p:cNvPicPr>
          <p:nvPr/>
        </p:nvPicPr>
        <p:blipFill>
          <a:blip r:embed="rId7"/>
          <a:stretch>
            <a:fillRect/>
          </a:stretch>
        </p:blipFill>
        <p:spPr>
          <a:xfrm>
            <a:off x="6263640" y="4690872"/>
            <a:ext cx="384048" cy="384048"/>
          </a:xfrm>
          <a:prstGeom prst="rect">
            <a:avLst/>
          </a:prstGeom>
        </p:spPr>
      </p:pic>
      <p:sp>
        <p:nvSpPr>
          <p:cNvPr id="24" name="text-573"/>
          <p:cNvSpPr txBox="1"/>
          <p:nvPr/>
        </p:nvSpPr>
        <p:spPr>
          <a:xfrm>
            <a:off x="6812280" y="4663440"/>
            <a:ext cx="4828032" cy="731520"/>
          </a:xfrm>
          <a:prstGeom prst="rect">
            <a:avLst/>
          </a:prstGeom>
          <a:noFill/>
          <a:ln/>
        </p:spPr>
        <p:txBody>
          <a:bodyPr wrap="square" lIns="0" tIns="0" rIns="0" bIns="0" rtlCol="0" anchor="t"/>
          <a:lstStyle/>
          <a:p>
            <a:pPr indent="0" marL="0">
              <a:buNone/>
            </a:pPr>
            <a:r>
              <a:rPr lang="en-US" sz="1700" dirty="0">
                <a:solidFill>
                  <a:schemeClr val="bg1"/>
                </a:solidFill>
              </a:rPr>
              <a:t>Verification note complete</a:t>
            </a:r>
            <a:endParaRPr lang="en-US" sz="1700" dirty="0"/>
          </a:p>
        </p:txBody>
      </p:sp>
      <p:sp>
        <p:nvSpPr>
          <p:cNvPr id="25" name="text-574"/>
          <p:cNvSpPr txBox="1"/>
          <p:nvPr/>
        </p:nvSpPr>
        <p:spPr>
          <a:xfrm>
            <a:off x="548640" y="5715000"/>
            <a:ext cx="10180015" cy="411480"/>
          </a:xfrm>
          <a:prstGeom prst="rect">
            <a:avLst/>
          </a:prstGeom>
          <a:noFill/>
          <a:ln/>
        </p:spPr>
        <p:txBody>
          <a:bodyPr wrap="square" lIns="0" tIns="0" rIns="0" bIns="0" rtlCol="0" anchor="t"/>
          <a:lstStyle/>
          <a:p>
            <a:pPr indent="0" marL="0">
              <a:buNone/>
            </a:pPr>
            <a:r>
              <a:rPr lang="en-US" sz="1700" b="1" dirty="0">
                <a:solidFill>
                  <a:schemeClr val="accent1"/>
                </a:solidFill>
              </a:rPr>
              <a:t>Checkpoint at 1:32: </a:t>
            </a:r>
            <a:pPr indent="0" marL="0">
              <a:buNone/>
            </a:pPr>
            <a:r>
              <a:rPr lang="en-US" sz="1700" dirty="0">
                <a:solidFill>
                  <a:schemeClr val="bg1"/>
                </a:solidFill>
              </a:rPr>
              <a:t>one sentence from each group on where you are.</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CBBBA"/>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Gallery walk</a:t>
            </a:r>
            <a:endParaRPr lang="en-US" sz="3400" dirty="0"/>
          </a:p>
        </p:txBody>
      </p:sp>
      <p:sp>
        <p:nvSpPr>
          <p:cNvPr id="3" name="badge-575"/>
          <p:cNvSpPr/>
          <p:nvPr/>
        </p:nvSpPr>
        <p:spPr>
          <a:xfrm>
            <a:off x="10042855" y="502920"/>
            <a:ext cx="1600200" cy="457200"/>
          </a:xfrm>
          <a:prstGeom prst="roundRect">
            <a:avLst>
              <a:gd name="adj" fmla="val 50000"/>
            </a:avLst>
          </a:prstGeom>
          <a:solidFill>
            <a:schemeClr val="bg2"/>
          </a:solidFill>
          <a:ln/>
        </p:spPr>
      </p:sp>
      <p:sp>
        <p:nvSpPr>
          <p:cNvPr id="4" name="text-576"/>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15 min</a:t>
            </a:r>
            <a:endParaRPr lang="en-US" sz="1600" dirty="0"/>
          </a:p>
        </p:txBody>
      </p:sp>
      <p:sp>
        <p:nvSpPr>
          <p:cNvPr id="5" name="num-577"/>
          <p:cNvSpPr/>
          <p:nvPr/>
        </p:nvSpPr>
        <p:spPr>
          <a:xfrm>
            <a:off x="548640" y="1600200"/>
            <a:ext cx="566928" cy="566928"/>
          </a:xfrm>
          <a:prstGeom prst="ellipse">
            <a:avLst/>
          </a:prstGeom>
          <a:solidFill>
            <a:schemeClr val="tx1"/>
          </a:solidFill>
          <a:ln/>
        </p:spPr>
      </p:sp>
      <p:sp>
        <p:nvSpPr>
          <p:cNvPr id="6" name="text-578"/>
          <p:cNvSpPr txBox="1"/>
          <p:nvPr/>
        </p:nvSpPr>
        <p:spPr>
          <a:xfrm>
            <a:off x="548640" y="16002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579"/>
          <p:cNvSpPr txBox="1"/>
          <p:nvPr/>
        </p:nvSpPr>
        <p:spPr>
          <a:xfrm>
            <a:off x="1417320" y="1563624"/>
            <a:ext cx="5760720" cy="914400"/>
          </a:xfrm>
          <a:prstGeom prst="rect">
            <a:avLst/>
          </a:prstGeom>
          <a:noFill/>
          <a:ln/>
        </p:spPr>
        <p:txBody>
          <a:bodyPr wrap="square" lIns="0" tIns="0" rIns="0" bIns="0" rtlCol="0" anchor="t"/>
          <a:lstStyle/>
          <a:p>
            <a:pPr indent="0" marL="0">
              <a:buNone/>
            </a:pPr>
            <a:r>
              <a:rPr lang="en-US" sz="2000" dirty="0">
                <a:solidFill>
                  <a:schemeClr val="tx1"/>
                </a:solidFill>
              </a:rPr>
              <a:t>Leave your FAQ open on screen</a:t>
            </a:r>
            <a:endParaRPr lang="en-US" sz="2000" dirty="0"/>
          </a:p>
        </p:txBody>
      </p:sp>
      <p:sp>
        <p:nvSpPr>
          <p:cNvPr id="8" name="num-580"/>
          <p:cNvSpPr/>
          <p:nvPr/>
        </p:nvSpPr>
        <p:spPr>
          <a:xfrm>
            <a:off x="548640" y="2651760"/>
            <a:ext cx="566928" cy="566928"/>
          </a:xfrm>
          <a:prstGeom prst="ellipse">
            <a:avLst/>
          </a:prstGeom>
          <a:solidFill>
            <a:schemeClr val="tx1"/>
          </a:solidFill>
          <a:ln/>
        </p:spPr>
      </p:sp>
      <p:sp>
        <p:nvSpPr>
          <p:cNvPr id="9" name="text-581"/>
          <p:cNvSpPr txBox="1"/>
          <p:nvPr/>
        </p:nvSpPr>
        <p:spPr>
          <a:xfrm>
            <a:off x="548640" y="265176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582"/>
          <p:cNvSpPr txBox="1"/>
          <p:nvPr/>
        </p:nvSpPr>
        <p:spPr>
          <a:xfrm>
            <a:off x="1417320" y="2615184"/>
            <a:ext cx="5760720" cy="914400"/>
          </a:xfrm>
          <a:prstGeom prst="rect">
            <a:avLst/>
          </a:prstGeom>
          <a:noFill/>
          <a:ln/>
        </p:spPr>
        <p:txBody>
          <a:bodyPr wrap="square" lIns="0" tIns="0" rIns="0" bIns="0" rtlCol="0" anchor="t"/>
          <a:lstStyle/>
          <a:p>
            <a:pPr indent="0" marL="0">
              <a:buNone/>
            </a:pPr>
            <a:r>
              <a:rPr lang="en-US" sz="2000" dirty="0">
                <a:solidFill>
                  <a:schemeClr val="tx1"/>
                </a:solidFill>
              </a:rPr>
              <a:t>Move clockwise to the next table</a:t>
            </a:r>
            <a:endParaRPr lang="en-US" sz="2000" dirty="0"/>
          </a:p>
        </p:txBody>
      </p:sp>
      <p:sp>
        <p:nvSpPr>
          <p:cNvPr id="11" name="num-583"/>
          <p:cNvSpPr/>
          <p:nvPr/>
        </p:nvSpPr>
        <p:spPr>
          <a:xfrm>
            <a:off x="548640" y="3703320"/>
            <a:ext cx="566928" cy="566928"/>
          </a:xfrm>
          <a:prstGeom prst="ellipse">
            <a:avLst/>
          </a:prstGeom>
          <a:solidFill>
            <a:schemeClr val="tx1"/>
          </a:solidFill>
          <a:ln/>
        </p:spPr>
      </p:sp>
      <p:sp>
        <p:nvSpPr>
          <p:cNvPr id="12" name="text-584"/>
          <p:cNvSpPr txBox="1"/>
          <p:nvPr/>
        </p:nvSpPr>
        <p:spPr>
          <a:xfrm>
            <a:off x="548640" y="370332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585"/>
          <p:cNvSpPr txBox="1"/>
          <p:nvPr/>
        </p:nvSpPr>
        <p:spPr>
          <a:xfrm>
            <a:off x="1417320" y="3666744"/>
            <a:ext cx="5760720" cy="914400"/>
          </a:xfrm>
          <a:prstGeom prst="rect">
            <a:avLst/>
          </a:prstGeom>
          <a:noFill/>
          <a:ln/>
        </p:spPr>
        <p:txBody>
          <a:bodyPr wrap="square" lIns="0" tIns="0" rIns="0" bIns="0" rtlCol="0" anchor="t"/>
          <a:lstStyle/>
          <a:p>
            <a:pPr indent="0" marL="0">
              <a:buNone/>
            </a:pPr>
            <a:r>
              <a:rPr lang="en-US" sz="2000" dirty="0">
                <a:solidFill>
                  <a:schemeClr val="tx1"/>
                </a:solidFill>
              </a:rPr>
              <a:t>Leave one sticky note: one thing done well, and one answer you'd double-check</a:t>
            </a:r>
            <a:endParaRPr lang="en-US" sz="2000" dirty="0"/>
          </a:p>
        </p:txBody>
      </p:sp>
      <p:sp>
        <p:nvSpPr>
          <p:cNvPr id="14" name="num-586"/>
          <p:cNvSpPr/>
          <p:nvPr/>
        </p:nvSpPr>
        <p:spPr>
          <a:xfrm>
            <a:off x="548640" y="4754880"/>
            <a:ext cx="566928" cy="566928"/>
          </a:xfrm>
          <a:prstGeom prst="ellipse">
            <a:avLst/>
          </a:prstGeom>
          <a:solidFill>
            <a:schemeClr val="tx1"/>
          </a:solidFill>
          <a:ln/>
        </p:spPr>
      </p:sp>
      <p:sp>
        <p:nvSpPr>
          <p:cNvPr id="15" name="text-587"/>
          <p:cNvSpPr txBox="1"/>
          <p:nvPr/>
        </p:nvSpPr>
        <p:spPr>
          <a:xfrm>
            <a:off x="548640" y="475488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588"/>
          <p:cNvSpPr txBox="1"/>
          <p:nvPr/>
        </p:nvSpPr>
        <p:spPr>
          <a:xfrm>
            <a:off x="1417320" y="4718304"/>
            <a:ext cx="5760720" cy="914400"/>
          </a:xfrm>
          <a:prstGeom prst="rect">
            <a:avLst/>
          </a:prstGeom>
          <a:noFill/>
          <a:ln/>
        </p:spPr>
        <p:txBody>
          <a:bodyPr wrap="square" lIns="0" tIns="0" rIns="0" bIns="0" rtlCol="0" anchor="t"/>
          <a:lstStyle/>
          <a:p>
            <a:pPr indent="0" marL="0">
              <a:buNone/>
            </a:pPr>
            <a:r>
              <a:rPr lang="en-US" sz="2000" dirty="0">
                <a:solidFill>
                  <a:schemeClr val="tx1"/>
                </a:solidFill>
              </a:rPr>
              <a:t>After three stops, go back and read your notes</a:t>
            </a:r>
            <a:endParaRPr lang="en-US" sz="2000" dirty="0"/>
          </a:p>
        </p:txBody>
      </p:sp>
      <p:sp>
        <p:nvSpPr>
          <p:cNvPr id="17" name="sticky"/>
          <p:cNvSpPr/>
          <p:nvPr/>
        </p:nvSpPr>
        <p:spPr>
          <a:xfrm rot="180000">
            <a:off x="7955280" y="1828800"/>
            <a:ext cx="3291840" cy="3291840"/>
          </a:xfrm>
          <a:prstGeom prst="rect">
            <a:avLst/>
          </a:prstGeom>
          <a:solidFill>
            <a:schemeClr val="bg2"/>
          </a:solidFill>
          <a:ln/>
          <a:effectLst>
            <a:outerShdw sx="100000" sy="100000" kx="0" ky="0" algn="bl" rotWithShape="0" blurRad="101600" dist="38100" dir="5400000">
              <a:srgbClr val="000000">
                <a:alpha val="18000"/>
              </a:srgbClr>
            </a:outerShdw>
          </a:effectLst>
        </p:spPr>
      </p:sp>
      <p:sp>
        <p:nvSpPr>
          <p:cNvPr id="18" name="text-589"/>
          <p:cNvSpPr txBox="1"/>
          <p:nvPr/>
        </p:nvSpPr>
        <p:spPr>
          <a:xfrm rot="180000">
            <a:off x="8229600" y="2103120"/>
            <a:ext cx="2743200" cy="2743200"/>
          </a:xfrm>
          <a:prstGeom prst="rect">
            <a:avLst/>
          </a:prstGeom>
          <a:noFill/>
          <a:ln/>
        </p:spPr>
        <p:txBody>
          <a:bodyPr wrap="square" lIns="0" tIns="0" rIns="0" bIns="0" rtlCol="0" anchor="t"/>
          <a:lstStyle/>
          <a:p>
            <a:pPr indent="0" marL="0">
              <a:buNone/>
            </a:pPr>
            <a:r>
              <a:rPr lang="en-US" sz="1700" b="1" dirty="0">
                <a:solidFill>
                  <a:schemeClr val="tx1"/>
                </a:solidFill>
              </a:rPr>
              <a:t>Done well:</a:t>
            </a:r>
            <a:endParaRPr lang="en-US" sz="1700" dirty="0"/>
          </a:p>
          <a:p>
            <a:pPr indent="0" marL="0">
              <a:buNone/>
            </a:pPr>
            <a:r>
              <a:rPr lang="en-US" sz="1700" dirty="0">
                <a:solidFill>
                  <a:schemeClr val="tx1"/>
                </a:solidFill>
              </a:rPr>
              <a:t>Flagged question 6 instead of guessing</a:t>
            </a:r>
            <a:endParaRPr lang="en-US" sz="1700" dirty="0"/>
          </a:p>
          <a:p>
            <a:pPr indent="0" marL="0">
              <a:buNone/>
            </a:pPr>
            <a:r>
              <a:rPr lang="en-US" sz="1700" dirty="0">
                <a:solidFill>
                  <a:schemeClr val="tx1"/>
                </a:solidFill>
              </a:rPr>
              <a:t> </a:t>
            </a:r>
            <a:endParaRPr lang="en-US" sz="1700" dirty="0"/>
          </a:p>
          <a:p>
            <a:pPr indent="0" marL="0">
              <a:buNone/>
            </a:pPr>
            <a:r>
              <a:rPr lang="en-US" sz="1700" b="1" dirty="0">
                <a:solidFill>
                  <a:schemeClr val="tx1"/>
                </a:solidFill>
              </a:rPr>
              <a:t>Double-check:</a:t>
            </a:r>
            <a:endParaRPr lang="en-US" sz="1700" dirty="0"/>
          </a:p>
          <a:p>
            <a:pPr indent="0" marL="0">
              <a:buNone/>
            </a:pPr>
            <a:r>
              <a:rPr lang="en-US" sz="1700" dirty="0">
                <a:solidFill>
                  <a:schemeClr val="tx1"/>
                </a:solidFill>
              </a:rPr>
              <a:t>Is question 1 really in the policy?</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What strong solutions had in common</a:t>
            </a:r>
            <a:endParaRPr lang="en-US" sz="3400" dirty="0"/>
          </a:p>
        </p:txBody>
      </p:sp>
      <p:sp>
        <p:nvSpPr>
          <p:cNvPr id="3" name="dot-590"/>
          <p:cNvSpPr/>
          <p:nvPr/>
        </p:nvSpPr>
        <p:spPr>
          <a:xfrm>
            <a:off x="548640" y="1508760"/>
            <a:ext cx="548640" cy="548640"/>
          </a:xfrm>
          <a:prstGeom prst="ellipse">
            <a:avLst/>
          </a:prstGeom>
          <a:solidFill>
            <a:schemeClr val="tx1"/>
          </a:solidFill>
          <a:ln/>
        </p:spPr>
      </p:sp>
      <p:pic>
        <p:nvPicPr>
          <p:cNvPr id="4" name="icon-591" descr="preencoded.png">    </p:cNvPr>
          <p:cNvPicPr>
            <a:picLocks noChangeAspect="1"/>
          </p:cNvPicPr>
          <p:nvPr/>
        </p:nvPicPr>
        <p:blipFill>
          <a:blip r:embed="rId1"/>
          <a:stretch>
            <a:fillRect/>
          </a:stretch>
        </p:blipFill>
        <p:spPr>
          <a:xfrm>
            <a:off x="669341" y="1629461"/>
            <a:ext cx="307238" cy="307238"/>
          </a:xfrm>
          <a:prstGeom prst="rect">
            <a:avLst/>
          </a:prstGeom>
        </p:spPr>
      </p:pic>
      <p:sp>
        <p:nvSpPr>
          <p:cNvPr id="5" name="text-592"/>
          <p:cNvSpPr txBox="1"/>
          <p:nvPr/>
        </p:nvSpPr>
        <p:spPr>
          <a:xfrm>
            <a:off x="1325880" y="1508760"/>
            <a:ext cx="5760720" cy="548640"/>
          </a:xfrm>
          <a:prstGeom prst="rect">
            <a:avLst/>
          </a:prstGeom>
          <a:noFill/>
          <a:ln/>
        </p:spPr>
        <p:txBody>
          <a:bodyPr wrap="square" lIns="0" tIns="0" rIns="0" bIns="0" rtlCol="0" anchor="ctr"/>
          <a:lstStyle/>
          <a:p>
            <a:pPr indent="0" marL="0">
              <a:buNone/>
            </a:pPr>
            <a:r>
              <a:rPr lang="en-US" sz="2000" dirty="0">
                <a:solidFill>
                  <a:schemeClr val="tx1"/>
                </a:solidFill>
              </a:rPr>
              <a:t>Fenced the policy and said “use only”</a:t>
            </a:r>
            <a:endParaRPr lang="en-US" sz="2000" dirty="0"/>
          </a:p>
        </p:txBody>
      </p:sp>
      <p:sp>
        <p:nvSpPr>
          <p:cNvPr id="6" name="dot-593"/>
          <p:cNvSpPr/>
          <p:nvPr/>
        </p:nvSpPr>
        <p:spPr>
          <a:xfrm>
            <a:off x="548640" y="2377440"/>
            <a:ext cx="548640" cy="548640"/>
          </a:xfrm>
          <a:prstGeom prst="ellipse">
            <a:avLst/>
          </a:prstGeom>
          <a:solidFill>
            <a:schemeClr val="tx1"/>
          </a:solidFill>
          <a:ln/>
        </p:spPr>
      </p:sp>
      <p:pic>
        <p:nvPicPr>
          <p:cNvPr id="7" name="icon-594" descr="preencoded.png">    </p:cNvPr>
          <p:cNvPicPr>
            <a:picLocks noChangeAspect="1"/>
          </p:cNvPicPr>
          <p:nvPr/>
        </p:nvPicPr>
        <p:blipFill>
          <a:blip r:embed="rId2"/>
          <a:stretch>
            <a:fillRect/>
          </a:stretch>
        </p:blipFill>
        <p:spPr>
          <a:xfrm>
            <a:off x="669341" y="2498141"/>
            <a:ext cx="307238" cy="307238"/>
          </a:xfrm>
          <a:prstGeom prst="rect">
            <a:avLst/>
          </a:prstGeom>
        </p:spPr>
      </p:pic>
      <p:sp>
        <p:nvSpPr>
          <p:cNvPr id="8" name="text-595"/>
          <p:cNvSpPr txBox="1"/>
          <p:nvPr/>
        </p:nvSpPr>
        <p:spPr>
          <a:xfrm>
            <a:off x="1325880" y="2377440"/>
            <a:ext cx="5760720" cy="548640"/>
          </a:xfrm>
          <a:prstGeom prst="rect">
            <a:avLst/>
          </a:prstGeom>
          <a:noFill/>
          <a:ln/>
        </p:spPr>
        <p:txBody>
          <a:bodyPr wrap="square" lIns="0" tIns="0" rIns="0" bIns="0" rtlCol="0" anchor="ctr"/>
          <a:lstStyle/>
          <a:p>
            <a:pPr indent="0" marL="0">
              <a:buNone/>
            </a:pPr>
            <a:r>
              <a:rPr lang="en-US" sz="2000" dirty="0">
                <a:solidFill>
                  <a:schemeClr val="tx1"/>
                </a:solidFill>
              </a:rPr>
              <a:t>Flagged unknowns instead of guessing</a:t>
            </a:r>
            <a:endParaRPr lang="en-US" sz="2000" dirty="0"/>
          </a:p>
        </p:txBody>
      </p:sp>
      <p:sp>
        <p:nvSpPr>
          <p:cNvPr id="9" name="dot-596"/>
          <p:cNvSpPr/>
          <p:nvPr/>
        </p:nvSpPr>
        <p:spPr>
          <a:xfrm>
            <a:off x="548640" y="3246120"/>
            <a:ext cx="548640" cy="548640"/>
          </a:xfrm>
          <a:prstGeom prst="ellipse">
            <a:avLst/>
          </a:prstGeom>
          <a:solidFill>
            <a:schemeClr val="tx1"/>
          </a:solidFill>
          <a:ln/>
        </p:spPr>
      </p:sp>
      <p:pic>
        <p:nvPicPr>
          <p:cNvPr id="10" name="icon-597" descr="preencoded.png">    </p:cNvPr>
          <p:cNvPicPr>
            <a:picLocks noChangeAspect="1"/>
          </p:cNvPicPr>
          <p:nvPr/>
        </p:nvPicPr>
        <p:blipFill>
          <a:blip r:embed="rId3"/>
          <a:stretch>
            <a:fillRect/>
          </a:stretch>
        </p:blipFill>
        <p:spPr>
          <a:xfrm>
            <a:off x="669341" y="3366821"/>
            <a:ext cx="307238" cy="307238"/>
          </a:xfrm>
          <a:prstGeom prst="rect">
            <a:avLst/>
          </a:prstGeom>
        </p:spPr>
      </p:pic>
      <p:sp>
        <p:nvSpPr>
          <p:cNvPr id="11" name="text-598"/>
          <p:cNvSpPr txBox="1"/>
          <p:nvPr/>
        </p:nvSpPr>
        <p:spPr>
          <a:xfrm>
            <a:off x="1325880" y="3246120"/>
            <a:ext cx="5760720" cy="548640"/>
          </a:xfrm>
          <a:prstGeom prst="rect">
            <a:avLst/>
          </a:prstGeom>
          <a:noFill/>
          <a:ln/>
        </p:spPr>
        <p:txBody>
          <a:bodyPr wrap="square" lIns="0" tIns="0" rIns="0" bIns="0" rtlCol="0" anchor="ctr"/>
          <a:lstStyle/>
          <a:p>
            <a:pPr indent="0" marL="0">
              <a:buNone/>
            </a:pPr>
            <a:r>
              <a:rPr lang="en-US" sz="2000" dirty="0">
                <a:solidFill>
                  <a:schemeClr val="tx1"/>
                </a:solidFill>
              </a:rPr>
              <a:t>Gave a format and an example answer</a:t>
            </a:r>
            <a:endParaRPr lang="en-US" sz="2000" dirty="0"/>
          </a:p>
        </p:txBody>
      </p:sp>
      <p:sp>
        <p:nvSpPr>
          <p:cNvPr id="12" name="dot-599"/>
          <p:cNvSpPr/>
          <p:nvPr/>
        </p:nvSpPr>
        <p:spPr>
          <a:xfrm>
            <a:off x="548640" y="4114800"/>
            <a:ext cx="548640" cy="548640"/>
          </a:xfrm>
          <a:prstGeom prst="ellipse">
            <a:avLst/>
          </a:prstGeom>
          <a:solidFill>
            <a:schemeClr val="tx1"/>
          </a:solidFill>
          <a:ln/>
        </p:spPr>
      </p:sp>
      <p:pic>
        <p:nvPicPr>
          <p:cNvPr id="13" name="icon-600" descr="preencoded.png">    </p:cNvPr>
          <p:cNvPicPr>
            <a:picLocks noChangeAspect="1"/>
          </p:cNvPicPr>
          <p:nvPr/>
        </p:nvPicPr>
        <p:blipFill>
          <a:blip r:embed="rId4"/>
          <a:stretch>
            <a:fillRect/>
          </a:stretch>
        </p:blipFill>
        <p:spPr>
          <a:xfrm>
            <a:off x="669341" y="4235501"/>
            <a:ext cx="307238" cy="307238"/>
          </a:xfrm>
          <a:prstGeom prst="rect">
            <a:avLst/>
          </a:prstGeom>
        </p:spPr>
      </p:pic>
      <p:sp>
        <p:nvSpPr>
          <p:cNvPr id="14" name="text-601"/>
          <p:cNvSpPr txBox="1"/>
          <p:nvPr/>
        </p:nvSpPr>
        <p:spPr>
          <a:xfrm>
            <a:off x="1325880" y="4114800"/>
            <a:ext cx="5760720" cy="548640"/>
          </a:xfrm>
          <a:prstGeom prst="rect">
            <a:avLst/>
          </a:prstGeom>
          <a:noFill/>
          <a:ln/>
        </p:spPr>
        <p:txBody>
          <a:bodyPr wrap="square" lIns="0" tIns="0" rIns="0" bIns="0" rtlCol="0" anchor="ctr"/>
          <a:lstStyle/>
          <a:p>
            <a:pPr indent="0" marL="0">
              <a:buNone/>
            </a:pPr>
            <a:r>
              <a:rPr lang="en-US" sz="2000" dirty="0">
                <a:solidFill>
                  <a:schemeClr val="tx1"/>
                </a:solidFill>
              </a:rPr>
              <a:t>Iterated: two or three turns, not one</a:t>
            </a:r>
            <a:endParaRPr lang="en-US" sz="2000" dirty="0"/>
          </a:p>
        </p:txBody>
      </p:sp>
      <p:sp>
        <p:nvSpPr>
          <p:cNvPr id="15" name="dot-602"/>
          <p:cNvSpPr/>
          <p:nvPr/>
        </p:nvSpPr>
        <p:spPr>
          <a:xfrm>
            <a:off x="548640" y="4983480"/>
            <a:ext cx="548640" cy="548640"/>
          </a:xfrm>
          <a:prstGeom prst="ellipse">
            <a:avLst/>
          </a:prstGeom>
          <a:solidFill>
            <a:schemeClr val="tx1"/>
          </a:solidFill>
          <a:ln/>
        </p:spPr>
      </p:sp>
      <p:pic>
        <p:nvPicPr>
          <p:cNvPr id="16" name="icon-603" descr="preencoded.png">    </p:cNvPr>
          <p:cNvPicPr>
            <a:picLocks noChangeAspect="1"/>
          </p:cNvPicPr>
          <p:nvPr/>
        </p:nvPicPr>
        <p:blipFill>
          <a:blip r:embed="rId5"/>
          <a:stretch>
            <a:fillRect/>
          </a:stretch>
        </p:blipFill>
        <p:spPr>
          <a:xfrm>
            <a:off x="669341" y="5104181"/>
            <a:ext cx="307238" cy="307238"/>
          </a:xfrm>
          <a:prstGeom prst="rect">
            <a:avLst/>
          </a:prstGeom>
        </p:spPr>
      </p:pic>
      <p:sp>
        <p:nvSpPr>
          <p:cNvPr id="17" name="text-604"/>
          <p:cNvSpPr txBox="1"/>
          <p:nvPr/>
        </p:nvSpPr>
        <p:spPr>
          <a:xfrm>
            <a:off x="1325880" y="4983480"/>
            <a:ext cx="5760720" cy="548640"/>
          </a:xfrm>
          <a:prstGeom prst="rect">
            <a:avLst/>
          </a:prstGeom>
          <a:noFill/>
          <a:ln/>
        </p:spPr>
        <p:txBody>
          <a:bodyPr wrap="square" lIns="0" tIns="0" rIns="0" bIns="0" rtlCol="0" anchor="ctr"/>
          <a:lstStyle/>
          <a:p>
            <a:pPr indent="0" marL="0">
              <a:buNone/>
            </a:pPr>
            <a:r>
              <a:rPr lang="en-US" sz="2000" dirty="0">
                <a:solidFill>
                  <a:schemeClr val="tx1"/>
                </a:solidFill>
              </a:rPr>
              <a:t>The checker caught at least one invented answer</a:t>
            </a:r>
            <a:endParaRPr lang="en-US" sz="2000" dirty="0"/>
          </a:p>
        </p:txBody>
      </p:sp>
      <p:sp>
        <p:nvSpPr>
          <p:cNvPr id="18" name="card-605"/>
          <p:cNvSpPr/>
          <p:nvPr/>
        </p:nvSpPr>
        <p:spPr>
          <a:xfrm>
            <a:off x="7406640" y="1463040"/>
            <a:ext cx="4233672" cy="4572000"/>
          </a:xfrm>
          <a:prstGeom prst="roundRect">
            <a:avLst>
              <a:gd name="adj" fmla="val 2592"/>
            </a:avLst>
          </a:prstGeom>
          <a:solidFill>
            <a:schemeClr val="tx1"/>
          </a:solidFill>
          <a:ln/>
        </p:spPr>
      </p:sp>
      <p:pic>
        <p:nvPicPr>
          <p:cNvPr id="19" name="icon-606" descr="preencoded.png">    </p:cNvPr>
          <p:cNvPicPr>
            <a:picLocks noChangeAspect="1"/>
          </p:cNvPicPr>
          <p:nvPr/>
        </p:nvPicPr>
        <p:blipFill>
          <a:blip r:embed="rId6"/>
          <a:stretch>
            <a:fillRect/>
          </a:stretch>
        </p:blipFill>
        <p:spPr>
          <a:xfrm>
            <a:off x="7772400" y="1783080"/>
            <a:ext cx="548640" cy="548640"/>
          </a:xfrm>
          <a:prstGeom prst="rect">
            <a:avLst/>
          </a:prstGeom>
        </p:spPr>
      </p:pic>
      <p:sp>
        <p:nvSpPr>
          <p:cNvPr id="20" name="text-607"/>
          <p:cNvSpPr txBox="1"/>
          <p:nvPr/>
        </p:nvSpPr>
        <p:spPr>
          <a:xfrm>
            <a:off x="7772400" y="2514600"/>
            <a:ext cx="3657600" cy="457200"/>
          </a:xfrm>
          <a:prstGeom prst="rect">
            <a:avLst/>
          </a:prstGeom>
          <a:noFill/>
          <a:ln/>
        </p:spPr>
        <p:txBody>
          <a:bodyPr wrap="square" lIns="0" tIns="0" rIns="0" bIns="0" rtlCol="0" anchor="t"/>
          <a:lstStyle/>
          <a:p>
            <a:pPr indent="0" marL="0">
              <a:buNone/>
            </a:pPr>
            <a:r>
              <a:rPr lang="en-US" sz="2200" b="1" dirty="0">
                <a:solidFill>
                  <a:schemeClr val="bg1"/>
                </a:solidFill>
              </a:rPr>
              <a:t>The privacy trap</a:t>
            </a:r>
            <a:endParaRPr lang="en-US" sz="2200" dirty="0"/>
          </a:p>
        </p:txBody>
      </p:sp>
      <p:sp>
        <p:nvSpPr>
          <p:cNvPr id="21" name="text-608"/>
          <p:cNvSpPr txBox="1"/>
          <p:nvPr/>
        </p:nvSpPr>
        <p:spPr>
          <a:xfrm>
            <a:off x="7772400" y="3017520"/>
            <a:ext cx="3611880" cy="1554480"/>
          </a:xfrm>
          <a:prstGeom prst="rect">
            <a:avLst/>
          </a:prstGeom>
          <a:noFill/>
          <a:ln/>
        </p:spPr>
        <p:txBody>
          <a:bodyPr wrap="square" lIns="0" tIns="0" rIns="0" bIns="0" rtlCol="0" anchor="t"/>
          <a:lstStyle/>
          <a:p>
            <a:pPr indent="0" marL="0">
              <a:buNone/>
            </a:pPr>
            <a:r>
              <a:rPr lang="en-US" sz="1600" dirty="0">
                <a:solidFill>
                  <a:schemeClr val="accent3"/>
                </a:solidFill>
              </a:rPr>
              <a:t>The manager's email named an employee and their performance plan. Strong groups described the concern in general terms instead:</a:t>
            </a:r>
            <a:endParaRPr lang="en-US" sz="1600" dirty="0"/>
          </a:p>
        </p:txBody>
      </p:sp>
      <p:sp>
        <p:nvSpPr>
          <p:cNvPr id="22" name="text-609"/>
          <p:cNvSpPr txBox="1"/>
          <p:nvPr/>
        </p:nvSpPr>
        <p:spPr>
          <a:xfrm>
            <a:off x="7772400" y="4617720"/>
            <a:ext cx="3611880" cy="1097280"/>
          </a:xfrm>
          <a:prstGeom prst="rect">
            <a:avLst/>
          </a:prstGeom>
          <a:noFill/>
          <a:ln/>
        </p:spPr>
        <p:txBody>
          <a:bodyPr wrap="square" lIns="0" tIns="0" rIns="0" bIns="0" rtlCol="0" anchor="t"/>
          <a:lstStyle/>
          <a:p>
            <a:pPr indent="0" marL="0">
              <a:buNone/>
            </a:pPr>
            <a:r>
              <a:rPr lang="en-US" sz="1700" i="1" dirty="0">
                <a:solidFill>
                  <a:schemeClr val="bg1"/>
                </a:solidFill>
              </a:rPr>
              <a:t>“Can performance be a factor in approving remote work?”</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body" hasCustomPrompt="1"/>
          </p:nvPr>
        </p:nvSpPr>
        <p:spPr>
          <a:xfrm>
            <a:off x="548640" y="1234440"/>
            <a:ext cx="3657600" cy="1554480"/>
          </a:xfrm>
          <a:prstGeom prst="rect">
            <a:avLst/>
          </a:prstGeom>
          <a:noFill/>
          <a:ln/>
        </p:spPr>
        <p:txBody>
          <a:bodyPr wrap="square" lIns="0" tIns="0" rIns="0" bIns="0" rtlCol="0" anchor="b"/>
          <a:lstStyle/>
          <a:p>
            <a:pPr algn="l" indent="0" marL="0">
              <a:buNone/>
            </a:pPr>
            <a:r>
              <a:rPr lang="en-US" sz="11000" b="1" dirty="0">
                <a:solidFill>
                  <a:schemeClr val="accent1"/>
                </a:solidFill>
              </a:rPr>
              <a:t>04</a:t>
            </a:r>
            <a:endParaRPr lang="en-US" sz="11000" dirty="0"/>
          </a:p>
        </p:txBody>
      </p:sp>
      <p:sp>
        <p:nvSpPr>
          <p:cNvPr id="3" name="Text 0"/>
          <p:cNvSpPr/>
          <p:nvPr>
            <p:ph idx="102" type="title" hasCustomPrompt="1"/>
          </p:nvPr>
        </p:nvSpPr>
        <p:spPr>
          <a:xfrm>
            <a:off x="548640" y="2926080"/>
            <a:ext cx="10515600" cy="1005840"/>
          </a:xfrm>
          <a:prstGeom prst="rect">
            <a:avLst/>
          </a:prstGeom>
          <a:noFill/>
          <a:ln/>
        </p:spPr>
        <p:txBody>
          <a:bodyPr wrap="square" lIns="0" tIns="0" rIns="0" bIns="0" rtlCol="0" anchor="t"/>
          <a:lstStyle/>
          <a:p>
            <a:pPr algn="l" indent="0" marL="0">
              <a:buNone/>
            </a:pPr>
            <a:r>
              <a:rPr lang="en-US" sz="5000" b="1" dirty="0">
                <a:solidFill>
                  <a:schemeClr val="bg1"/>
                </a:solidFill>
              </a:rPr>
              <a:t>Capstone</a:t>
            </a:r>
            <a:endParaRPr lang="en-US" sz="5000" dirty="0"/>
          </a:p>
        </p:txBody>
      </p:sp>
      <p:sp>
        <p:nvSpPr>
          <p:cNvPr id="4" name="Text 0"/>
          <p:cNvSpPr/>
          <p:nvPr>
            <p:ph idx="103" type="body" hasCustomPrompt="1"/>
          </p:nvPr>
        </p:nvSpPr>
        <p:spPr>
          <a:xfrm>
            <a:off x="548640" y="3931920"/>
            <a:ext cx="10515600" cy="640080"/>
          </a:xfrm>
          <a:prstGeom prst="rect">
            <a:avLst/>
          </a:prstGeom>
          <a:noFill/>
          <a:ln/>
        </p:spPr>
        <p:txBody>
          <a:bodyPr wrap="square" lIns="0" tIns="0" rIns="0" bIns="0" rtlCol="0" anchor="t"/>
          <a:lstStyle/>
          <a:p>
            <a:pPr algn="l" indent="0" marL="0">
              <a:buNone/>
            </a:pPr>
            <a:r>
              <a:rPr lang="en-US" sz="2600" dirty="0">
                <a:solidFill>
                  <a:schemeClr val="accent3"/>
                </a:solidFill>
              </a:rPr>
              <a:t>Build a prompt you'll reuse, and save it in Gemini</a:t>
            </a:r>
            <a:endParaRPr lang="en-US" sz="2600" dirty="0"/>
          </a:p>
        </p:txBody>
      </p:sp>
      <p:sp>
        <p:nvSpPr>
          <p:cNvPr id="5" name="Text 0"/>
          <p:cNvSpPr/>
          <p:nvPr>
            <p:ph idx="104" type="body" hasCustomPrompt="1"/>
          </p:nvPr>
        </p:nvSpPr>
        <p:spPr>
          <a:xfrm>
            <a:off x="548640" y="4983480"/>
            <a:ext cx="5486400" cy="411480"/>
          </a:xfrm>
          <a:prstGeom prst="rect">
            <a:avLst/>
          </a:prstGeom>
          <a:noFill/>
          <a:ln/>
        </p:spPr>
        <p:txBody>
          <a:bodyPr wrap="square" lIns="0" tIns="0" rIns="0" bIns="0" rtlCol="0" anchor="t"/>
          <a:lstStyle/>
          <a:p>
            <a:pPr algn="l" indent="0" marL="0">
              <a:buNone/>
            </a:pPr>
            <a:r>
              <a:rPr lang="en-US" sz="1600" dirty="0">
                <a:solidFill>
                  <a:schemeClr val="accent3"/>
                </a:solidFill>
              </a:rPr>
              <a:t>2:30 – 3:30 p.m.</a:t>
            </a:r>
            <a:endParaRPr lang="en-US" sz="1600" dirty="0"/>
          </a:p>
        </p:txBody>
      </p:sp>
      <p:sp>
        <p:nvSpPr>
          <p:cNvPr id="6" name="text-610"/>
          <p:cNvSpPr txBox="1"/>
          <p:nvPr/>
        </p:nvSpPr>
        <p:spPr>
          <a:xfrm>
            <a:off x="5486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00 Welcome</a:t>
            </a:r>
            <a:endParaRPr lang="en-US" sz="1300" dirty="0"/>
          </a:p>
        </p:txBody>
      </p:sp>
      <p:sp>
        <p:nvSpPr>
          <p:cNvPr id="7" name="progress-611"/>
          <p:cNvSpPr/>
          <p:nvPr/>
        </p:nvSpPr>
        <p:spPr>
          <a:xfrm>
            <a:off x="548640" y="5897880"/>
            <a:ext cx="1508760" cy="45720"/>
          </a:xfrm>
          <a:prstGeom prst="rect">
            <a:avLst/>
          </a:prstGeom>
          <a:solidFill>
            <a:schemeClr val="accent2"/>
          </a:solidFill>
          <a:ln/>
        </p:spPr>
      </p:sp>
      <p:sp>
        <p:nvSpPr>
          <p:cNvPr id="8" name="text-612"/>
          <p:cNvSpPr txBox="1"/>
          <p:nvPr/>
        </p:nvSpPr>
        <p:spPr>
          <a:xfrm>
            <a:off x="219456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01 Foundations</a:t>
            </a:r>
            <a:endParaRPr lang="en-US" sz="1300" dirty="0"/>
          </a:p>
        </p:txBody>
      </p:sp>
      <p:sp>
        <p:nvSpPr>
          <p:cNvPr id="9" name="progress-613"/>
          <p:cNvSpPr/>
          <p:nvPr/>
        </p:nvSpPr>
        <p:spPr>
          <a:xfrm>
            <a:off x="2194560" y="5897880"/>
            <a:ext cx="1508760" cy="45720"/>
          </a:xfrm>
          <a:prstGeom prst="rect">
            <a:avLst/>
          </a:prstGeom>
          <a:solidFill>
            <a:schemeClr val="accent2"/>
          </a:solidFill>
          <a:ln/>
        </p:spPr>
      </p:sp>
      <p:sp>
        <p:nvSpPr>
          <p:cNvPr id="10" name="text-614"/>
          <p:cNvSpPr txBox="1"/>
          <p:nvPr/>
        </p:nvSpPr>
        <p:spPr>
          <a:xfrm>
            <a:off x="384048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02 Core skills</a:t>
            </a:r>
            <a:endParaRPr lang="en-US" sz="1300" dirty="0"/>
          </a:p>
        </p:txBody>
      </p:sp>
      <p:sp>
        <p:nvSpPr>
          <p:cNvPr id="11" name="progress-615"/>
          <p:cNvSpPr/>
          <p:nvPr/>
        </p:nvSpPr>
        <p:spPr>
          <a:xfrm>
            <a:off x="3840480" y="5897880"/>
            <a:ext cx="1508760" cy="45720"/>
          </a:xfrm>
          <a:prstGeom prst="rect">
            <a:avLst/>
          </a:prstGeom>
          <a:solidFill>
            <a:schemeClr val="accent2"/>
          </a:solidFill>
          <a:ln/>
        </p:spPr>
      </p:sp>
      <p:sp>
        <p:nvSpPr>
          <p:cNvPr id="12" name="text-616"/>
          <p:cNvSpPr txBox="1"/>
          <p:nvPr/>
        </p:nvSpPr>
        <p:spPr>
          <a:xfrm>
            <a:off x="548640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03 Applied practice</a:t>
            </a:r>
            <a:endParaRPr lang="en-US" sz="1300" dirty="0"/>
          </a:p>
        </p:txBody>
      </p:sp>
      <p:sp>
        <p:nvSpPr>
          <p:cNvPr id="13" name="progress-617"/>
          <p:cNvSpPr/>
          <p:nvPr/>
        </p:nvSpPr>
        <p:spPr>
          <a:xfrm>
            <a:off x="5486400" y="5897880"/>
            <a:ext cx="1508760" cy="45720"/>
          </a:xfrm>
          <a:prstGeom prst="rect">
            <a:avLst/>
          </a:prstGeom>
          <a:solidFill>
            <a:schemeClr val="accent2"/>
          </a:solidFill>
          <a:ln/>
        </p:spPr>
      </p:sp>
      <p:sp>
        <p:nvSpPr>
          <p:cNvPr id="14" name="text-618"/>
          <p:cNvSpPr txBox="1"/>
          <p:nvPr/>
        </p:nvSpPr>
        <p:spPr>
          <a:xfrm>
            <a:off x="7132320" y="5989320"/>
            <a:ext cx="1554480" cy="320040"/>
          </a:xfrm>
          <a:prstGeom prst="rect">
            <a:avLst/>
          </a:prstGeom>
          <a:noFill/>
          <a:ln/>
        </p:spPr>
        <p:txBody>
          <a:bodyPr wrap="square" lIns="0" tIns="0" rIns="0" bIns="0" rtlCol="0" anchor="t"/>
          <a:lstStyle/>
          <a:p>
            <a:pPr indent="0" marL="0">
              <a:buNone/>
            </a:pPr>
            <a:r>
              <a:rPr lang="en-US" sz="1300" b="1" dirty="0">
                <a:solidFill>
                  <a:schemeClr val="bg1"/>
                </a:solidFill>
              </a:rPr>
              <a:t>04 Capstone</a:t>
            </a:r>
            <a:endParaRPr lang="en-US" sz="1300" dirty="0"/>
          </a:p>
        </p:txBody>
      </p:sp>
      <p:sp>
        <p:nvSpPr>
          <p:cNvPr id="15" name="progress-619"/>
          <p:cNvSpPr/>
          <p:nvPr/>
        </p:nvSpPr>
        <p:spPr>
          <a:xfrm>
            <a:off x="7132320" y="5897880"/>
            <a:ext cx="1508760" cy="45720"/>
          </a:xfrm>
          <a:prstGeom prst="rect">
            <a:avLst/>
          </a:prstGeom>
          <a:solidFill>
            <a:schemeClr val="accent1"/>
          </a:solidFill>
          <a:ln/>
        </p:spPr>
      </p:sp>
      <p:sp>
        <p:nvSpPr>
          <p:cNvPr id="16" name="text-620"/>
          <p:cNvSpPr txBox="1"/>
          <p:nvPr/>
        </p:nvSpPr>
        <p:spPr>
          <a:xfrm>
            <a:off x="8778240" y="5989320"/>
            <a:ext cx="1554480" cy="320040"/>
          </a:xfrm>
          <a:prstGeom prst="rect">
            <a:avLst/>
          </a:prstGeom>
          <a:noFill/>
          <a:ln/>
        </p:spPr>
        <p:txBody>
          <a:bodyPr wrap="square" lIns="0" tIns="0" rIns="0" bIns="0" rtlCol="0" anchor="t"/>
          <a:lstStyle/>
          <a:p>
            <a:pPr indent="0" marL="0">
              <a:buNone/>
            </a:pPr>
            <a:r>
              <a:rPr lang="en-US" sz="1300" dirty="0">
                <a:solidFill>
                  <a:schemeClr val="tx2"/>
                </a:solidFill>
              </a:rPr>
              <a:t>05 Wrap-up</a:t>
            </a:r>
            <a:endParaRPr lang="en-US" sz="1300" dirty="0"/>
          </a:p>
        </p:txBody>
      </p:sp>
      <p:sp>
        <p:nvSpPr>
          <p:cNvPr id="17" name="progress-621"/>
          <p:cNvSpPr/>
          <p:nvPr/>
        </p:nvSpPr>
        <p:spPr>
          <a:xfrm>
            <a:off x="8778240" y="5897880"/>
            <a:ext cx="1508760" cy="45720"/>
          </a:xfrm>
          <a:prstGeom prst="rect">
            <a:avLst/>
          </a:prstGeom>
          <a:solidFill>
            <a:schemeClr val="accent2"/>
          </a:solidFill>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Build a prompt you'll actually reuse</a:t>
            </a:r>
            <a:endParaRPr lang="en-US" sz="3400" dirty="0"/>
          </a:p>
        </p:txBody>
      </p:sp>
      <p:sp>
        <p:nvSpPr>
          <p:cNvPr id="3" name="badge-622"/>
          <p:cNvSpPr/>
          <p:nvPr/>
        </p:nvSpPr>
        <p:spPr>
          <a:xfrm>
            <a:off x="10042855" y="502920"/>
            <a:ext cx="1600200" cy="457200"/>
          </a:xfrm>
          <a:prstGeom prst="roundRect">
            <a:avLst>
              <a:gd name="adj" fmla="val 50000"/>
            </a:avLst>
          </a:prstGeom>
          <a:solidFill>
            <a:schemeClr val="bg2"/>
          </a:solidFill>
          <a:ln/>
        </p:spPr>
      </p:sp>
      <p:sp>
        <p:nvSpPr>
          <p:cNvPr id="4" name="text-623"/>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35 min build</a:t>
            </a:r>
            <a:endParaRPr lang="en-US" sz="1600" dirty="0"/>
          </a:p>
        </p:txBody>
      </p:sp>
      <p:sp>
        <p:nvSpPr>
          <p:cNvPr id="5" name="stepper-line"/>
          <p:cNvSpPr/>
          <p:nvPr/>
        </p:nvSpPr>
        <p:spPr>
          <a:xfrm>
            <a:off x="1566642" y="1874520"/>
            <a:ext cx="9058412" cy="0"/>
          </a:xfrm>
          <a:prstGeom prst="line">
            <a:avLst/>
          </a:prstGeom>
          <a:noFill/>
          <a:ln w="25400">
            <a:solidFill>
              <a:srgbClr val="BCBBBA"/>
            </a:solidFill>
            <a:prstDash val="solid"/>
          </a:ln>
        </p:spPr>
      </p:sp>
      <p:sp>
        <p:nvSpPr>
          <p:cNvPr id="6" name="num-624"/>
          <p:cNvSpPr/>
          <p:nvPr/>
        </p:nvSpPr>
        <p:spPr>
          <a:xfrm>
            <a:off x="1246602" y="1554480"/>
            <a:ext cx="640080" cy="640080"/>
          </a:xfrm>
          <a:prstGeom prst="ellipse">
            <a:avLst/>
          </a:prstGeom>
          <a:solidFill>
            <a:schemeClr val="tx1"/>
          </a:solidFill>
          <a:ln/>
        </p:spPr>
      </p:sp>
      <p:sp>
        <p:nvSpPr>
          <p:cNvPr id="7" name="text-625"/>
          <p:cNvSpPr txBox="1"/>
          <p:nvPr/>
        </p:nvSpPr>
        <p:spPr>
          <a:xfrm>
            <a:off x="1246602" y="15544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626"/>
          <p:cNvSpPr txBox="1"/>
          <p:nvPr/>
        </p:nvSpPr>
        <p:spPr>
          <a:xfrm>
            <a:off x="548640" y="2377440"/>
            <a:ext cx="2036003" cy="411480"/>
          </a:xfrm>
          <a:prstGeom prst="rect">
            <a:avLst/>
          </a:prstGeom>
          <a:noFill/>
          <a:ln/>
        </p:spPr>
        <p:txBody>
          <a:bodyPr wrap="square" lIns="0" tIns="0" rIns="0" bIns="0" rtlCol="0" anchor="t"/>
          <a:lstStyle/>
          <a:p>
            <a:pPr algn="ctr" indent="0" marL="0">
              <a:buNone/>
            </a:pPr>
            <a:r>
              <a:rPr lang="en-US" sz="1900" b="1" dirty="0">
                <a:solidFill>
                  <a:schemeClr val="tx1"/>
                </a:solidFill>
              </a:rPr>
              <a:t>Pick a task</a:t>
            </a:r>
            <a:endParaRPr lang="en-US" sz="1900" dirty="0"/>
          </a:p>
        </p:txBody>
      </p:sp>
      <p:sp>
        <p:nvSpPr>
          <p:cNvPr id="9" name="text-627"/>
          <p:cNvSpPr txBox="1"/>
          <p:nvPr/>
        </p:nvSpPr>
        <p:spPr>
          <a:xfrm>
            <a:off x="594360" y="2834640"/>
            <a:ext cx="1944563" cy="1188720"/>
          </a:xfrm>
          <a:prstGeom prst="rect">
            <a:avLst/>
          </a:prstGeom>
          <a:noFill/>
          <a:ln/>
        </p:spPr>
        <p:txBody>
          <a:bodyPr wrap="square" lIns="0" tIns="0" rIns="0" bIns="0" rtlCol="0" anchor="t"/>
          <a:lstStyle/>
          <a:p>
            <a:pPr algn="ctr" indent="0" marL="0">
              <a:buNone/>
            </a:pPr>
            <a:r>
              <a:rPr lang="en-US" sz="1500" dirty="0">
                <a:solidFill>
                  <a:schemeClr val="tx2"/>
                </a:solidFill>
              </a:rPr>
              <a:t>Something you do at least monthly that involves writing or summarizing</a:t>
            </a:r>
            <a:endParaRPr lang="en-US" sz="1500" dirty="0"/>
          </a:p>
        </p:txBody>
      </p:sp>
      <p:sp>
        <p:nvSpPr>
          <p:cNvPr id="10" name="num-628"/>
          <p:cNvSpPr/>
          <p:nvPr/>
        </p:nvSpPr>
        <p:spPr>
          <a:xfrm>
            <a:off x="3511205" y="1554480"/>
            <a:ext cx="640080" cy="640080"/>
          </a:xfrm>
          <a:prstGeom prst="ellipse">
            <a:avLst/>
          </a:prstGeom>
          <a:solidFill>
            <a:schemeClr val="tx1"/>
          </a:solidFill>
          <a:ln/>
        </p:spPr>
      </p:sp>
      <p:sp>
        <p:nvSpPr>
          <p:cNvPr id="11" name="text-629"/>
          <p:cNvSpPr txBox="1"/>
          <p:nvPr/>
        </p:nvSpPr>
        <p:spPr>
          <a:xfrm>
            <a:off x="3511205" y="15544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text-630"/>
          <p:cNvSpPr txBox="1"/>
          <p:nvPr/>
        </p:nvSpPr>
        <p:spPr>
          <a:xfrm>
            <a:off x="2813243" y="2377440"/>
            <a:ext cx="2036003" cy="411480"/>
          </a:xfrm>
          <a:prstGeom prst="rect">
            <a:avLst/>
          </a:prstGeom>
          <a:noFill/>
          <a:ln/>
        </p:spPr>
        <p:txBody>
          <a:bodyPr wrap="square" lIns="0" tIns="0" rIns="0" bIns="0" rtlCol="0" anchor="t"/>
          <a:lstStyle/>
          <a:p>
            <a:pPr algn="ctr" indent="0" marL="0">
              <a:buNone/>
            </a:pPr>
            <a:r>
              <a:rPr lang="en-US" sz="1900" b="1" dirty="0">
                <a:solidFill>
                  <a:schemeClr val="tx1"/>
                </a:solidFill>
              </a:rPr>
              <a:t>Build it</a:t>
            </a:r>
            <a:endParaRPr lang="en-US" sz="1900" dirty="0"/>
          </a:p>
        </p:txBody>
      </p:sp>
      <p:sp>
        <p:nvSpPr>
          <p:cNvPr id="13" name="text-631"/>
          <p:cNvSpPr txBox="1"/>
          <p:nvPr/>
        </p:nvSpPr>
        <p:spPr>
          <a:xfrm>
            <a:off x="2858963" y="2834640"/>
            <a:ext cx="1944563" cy="1188720"/>
          </a:xfrm>
          <a:prstGeom prst="rect">
            <a:avLst/>
          </a:prstGeom>
          <a:noFill/>
          <a:ln/>
        </p:spPr>
        <p:txBody>
          <a:bodyPr wrap="square" lIns="0" tIns="0" rIns="0" bIns="0" rtlCol="0" anchor="t"/>
          <a:lstStyle/>
          <a:p>
            <a:pPr algn="ctr" indent="0" marL="0">
              <a:buNone/>
            </a:pPr>
            <a:r>
              <a:rPr lang="en-US" sz="1500" dirty="0">
                <a:solidFill>
                  <a:schemeClr val="tx2"/>
                </a:solidFill>
              </a:rPr>
              <a:t>CRAFT plus at least one technique, with [PLACEHOLDERS]</a:t>
            </a:r>
            <a:endParaRPr lang="en-US" sz="1500" dirty="0"/>
          </a:p>
        </p:txBody>
      </p:sp>
      <p:sp>
        <p:nvSpPr>
          <p:cNvPr id="14" name="num-632"/>
          <p:cNvSpPr/>
          <p:nvPr/>
        </p:nvSpPr>
        <p:spPr>
          <a:xfrm>
            <a:off x="5775808" y="1554480"/>
            <a:ext cx="640080" cy="640080"/>
          </a:xfrm>
          <a:prstGeom prst="ellipse">
            <a:avLst/>
          </a:prstGeom>
          <a:solidFill>
            <a:schemeClr val="tx1"/>
          </a:solidFill>
          <a:ln/>
        </p:spPr>
      </p:sp>
      <p:sp>
        <p:nvSpPr>
          <p:cNvPr id="15" name="text-633"/>
          <p:cNvSpPr txBox="1"/>
          <p:nvPr/>
        </p:nvSpPr>
        <p:spPr>
          <a:xfrm>
            <a:off x="5775808" y="15544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text-634"/>
          <p:cNvSpPr txBox="1"/>
          <p:nvPr/>
        </p:nvSpPr>
        <p:spPr>
          <a:xfrm>
            <a:off x="5077846" y="2377440"/>
            <a:ext cx="2036003" cy="411480"/>
          </a:xfrm>
          <a:prstGeom prst="rect">
            <a:avLst/>
          </a:prstGeom>
          <a:noFill/>
          <a:ln/>
        </p:spPr>
        <p:txBody>
          <a:bodyPr wrap="square" lIns="0" tIns="0" rIns="0" bIns="0" rtlCol="0" anchor="t"/>
          <a:lstStyle/>
          <a:p>
            <a:pPr algn="ctr" indent="0" marL="0">
              <a:buNone/>
            </a:pPr>
            <a:r>
              <a:rPr lang="en-US" sz="1900" b="1" dirty="0">
                <a:solidFill>
                  <a:schemeClr val="tx1"/>
                </a:solidFill>
              </a:rPr>
              <a:t>Test it twice</a:t>
            </a:r>
            <a:endParaRPr lang="en-US" sz="1900" dirty="0"/>
          </a:p>
        </p:txBody>
      </p:sp>
      <p:sp>
        <p:nvSpPr>
          <p:cNvPr id="17" name="text-635"/>
          <p:cNvSpPr txBox="1"/>
          <p:nvPr/>
        </p:nvSpPr>
        <p:spPr>
          <a:xfrm>
            <a:off x="5123566" y="2834640"/>
            <a:ext cx="1944563" cy="1188720"/>
          </a:xfrm>
          <a:prstGeom prst="rect">
            <a:avLst/>
          </a:prstGeom>
          <a:noFill/>
          <a:ln/>
        </p:spPr>
        <p:txBody>
          <a:bodyPr wrap="square" lIns="0" tIns="0" rIns="0" bIns="0" rtlCol="0" anchor="t"/>
          <a:lstStyle/>
          <a:p>
            <a:pPr algn="ctr" indent="0" marL="0">
              <a:buNone/>
            </a:pPr>
            <a:r>
              <a:rPr lang="en-US" sz="1500" dirty="0">
                <a:solidFill>
                  <a:schemeClr val="tx2"/>
                </a:solidFill>
              </a:rPr>
              <a:t>Two different inputs: fictional or safe material only</a:t>
            </a:r>
            <a:endParaRPr lang="en-US" sz="1500" dirty="0"/>
          </a:p>
        </p:txBody>
      </p:sp>
      <p:sp>
        <p:nvSpPr>
          <p:cNvPr id="18" name="num-636"/>
          <p:cNvSpPr/>
          <p:nvPr/>
        </p:nvSpPr>
        <p:spPr>
          <a:xfrm>
            <a:off x="8040411" y="1554480"/>
            <a:ext cx="640080" cy="640080"/>
          </a:xfrm>
          <a:prstGeom prst="ellipse">
            <a:avLst/>
          </a:prstGeom>
          <a:solidFill>
            <a:schemeClr val="tx1"/>
          </a:solidFill>
          <a:ln/>
        </p:spPr>
      </p:sp>
      <p:sp>
        <p:nvSpPr>
          <p:cNvPr id="19" name="text-637"/>
          <p:cNvSpPr txBox="1"/>
          <p:nvPr/>
        </p:nvSpPr>
        <p:spPr>
          <a:xfrm>
            <a:off x="8040411" y="15544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text-638"/>
          <p:cNvSpPr txBox="1"/>
          <p:nvPr/>
        </p:nvSpPr>
        <p:spPr>
          <a:xfrm>
            <a:off x="7342449" y="2377440"/>
            <a:ext cx="2036003" cy="411480"/>
          </a:xfrm>
          <a:prstGeom prst="rect">
            <a:avLst/>
          </a:prstGeom>
          <a:noFill/>
          <a:ln/>
        </p:spPr>
        <p:txBody>
          <a:bodyPr wrap="square" lIns="0" tIns="0" rIns="0" bIns="0" rtlCol="0" anchor="t"/>
          <a:lstStyle/>
          <a:p>
            <a:pPr algn="ctr" indent="0" marL="0">
              <a:buNone/>
            </a:pPr>
            <a:r>
              <a:rPr lang="en-US" sz="1900" b="1" dirty="0">
                <a:solidFill>
                  <a:schemeClr val="tx1"/>
                </a:solidFill>
              </a:rPr>
              <a:t>Revise once</a:t>
            </a:r>
            <a:endParaRPr lang="en-US" sz="1900" dirty="0"/>
          </a:p>
        </p:txBody>
      </p:sp>
      <p:sp>
        <p:nvSpPr>
          <p:cNvPr id="21" name="text-639"/>
          <p:cNvSpPr txBox="1"/>
          <p:nvPr/>
        </p:nvSpPr>
        <p:spPr>
          <a:xfrm>
            <a:off x="7388169" y="2834640"/>
            <a:ext cx="1944563" cy="1188720"/>
          </a:xfrm>
          <a:prstGeom prst="rect">
            <a:avLst/>
          </a:prstGeom>
          <a:noFill/>
          <a:ln/>
        </p:spPr>
        <p:txBody>
          <a:bodyPr wrap="square" lIns="0" tIns="0" rIns="0" bIns="0" rtlCol="0" anchor="t"/>
          <a:lstStyle/>
          <a:p>
            <a:pPr algn="ctr" indent="0" marL="0">
              <a:buNone/>
            </a:pPr>
            <a:r>
              <a:rPr lang="en-US" sz="1500" dirty="0">
                <a:solidFill>
                  <a:schemeClr val="tx2"/>
                </a:solidFill>
              </a:rPr>
              <a:t>Fix what the tests showed you</a:t>
            </a:r>
            <a:endParaRPr lang="en-US" sz="1500" dirty="0"/>
          </a:p>
        </p:txBody>
      </p:sp>
      <p:sp>
        <p:nvSpPr>
          <p:cNvPr id="22" name="num-640"/>
          <p:cNvSpPr/>
          <p:nvPr/>
        </p:nvSpPr>
        <p:spPr>
          <a:xfrm>
            <a:off x="10305014" y="1554480"/>
            <a:ext cx="640080" cy="640080"/>
          </a:xfrm>
          <a:prstGeom prst="ellipse">
            <a:avLst/>
          </a:prstGeom>
          <a:solidFill>
            <a:schemeClr val="accent1"/>
          </a:solidFill>
          <a:ln/>
        </p:spPr>
      </p:sp>
      <p:sp>
        <p:nvSpPr>
          <p:cNvPr id="23" name="text-641"/>
          <p:cNvSpPr txBox="1"/>
          <p:nvPr/>
        </p:nvSpPr>
        <p:spPr>
          <a:xfrm>
            <a:off x="10305014" y="15544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text-642"/>
          <p:cNvSpPr txBox="1"/>
          <p:nvPr/>
        </p:nvSpPr>
        <p:spPr>
          <a:xfrm>
            <a:off x="9607052" y="2377440"/>
            <a:ext cx="2036003" cy="411480"/>
          </a:xfrm>
          <a:prstGeom prst="rect">
            <a:avLst/>
          </a:prstGeom>
          <a:noFill/>
          <a:ln/>
        </p:spPr>
        <p:txBody>
          <a:bodyPr wrap="square" lIns="0" tIns="0" rIns="0" bIns="0" rtlCol="0" anchor="t"/>
          <a:lstStyle/>
          <a:p>
            <a:pPr algn="ctr" indent="0" marL="0">
              <a:buNone/>
            </a:pPr>
            <a:r>
              <a:rPr lang="en-US" sz="1900" b="1" dirty="0">
                <a:solidFill>
                  <a:schemeClr val="tx1"/>
                </a:solidFill>
              </a:rPr>
              <a:t>Save it</a:t>
            </a:r>
            <a:endParaRPr lang="en-US" sz="1900" dirty="0"/>
          </a:p>
        </p:txBody>
      </p:sp>
      <p:sp>
        <p:nvSpPr>
          <p:cNvPr id="25" name="text-643"/>
          <p:cNvSpPr txBox="1"/>
          <p:nvPr/>
        </p:nvSpPr>
        <p:spPr>
          <a:xfrm>
            <a:off x="9652772" y="2834640"/>
            <a:ext cx="1944563" cy="1188720"/>
          </a:xfrm>
          <a:prstGeom prst="rect">
            <a:avLst/>
          </a:prstGeom>
          <a:noFill/>
          <a:ln/>
        </p:spPr>
        <p:txBody>
          <a:bodyPr wrap="square" lIns="0" tIns="0" rIns="0" bIns="0" rtlCol="0" anchor="t"/>
          <a:lstStyle/>
          <a:p>
            <a:pPr algn="ctr" indent="0" marL="0">
              <a:buNone/>
            </a:pPr>
            <a:r>
              <a:rPr lang="en-US" sz="1500" dirty="0">
                <a:solidFill>
                  <a:schemeClr val="tx2"/>
                </a:solidFill>
              </a:rPr>
              <a:t>As a Gemini skill, then check it against the rubric</a:t>
            </a:r>
            <a:endParaRPr lang="en-US" sz="1500" dirty="0"/>
          </a:p>
        </p:txBody>
      </p:sp>
      <p:sp>
        <p:nvSpPr>
          <p:cNvPr id="26" name="card-644"/>
          <p:cNvSpPr/>
          <p:nvPr/>
        </p:nvSpPr>
        <p:spPr>
          <a:xfrm>
            <a:off x="548640" y="4297680"/>
            <a:ext cx="5387188" cy="1691640"/>
          </a:xfrm>
          <a:prstGeom prst="roundRect">
            <a:avLst>
              <a:gd name="adj" fmla="val 6486"/>
            </a:avLst>
          </a:prstGeom>
          <a:solidFill>
            <a:schemeClr val="bg2"/>
          </a:solidFill>
          <a:ln/>
        </p:spPr>
      </p:sp>
      <p:sp>
        <p:nvSpPr>
          <p:cNvPr id="27" name="text-645"/>
          <p:cNvSpPr txBox="1"/>
          <p:nvPr/>
        </p:nvSpPr>
        <p:spPr>
          <a:xfrm>
            <a:off x="868680" y="4480560"/>
            <a:ext cx="4747108" cy="1371600"/>
          </a:xfrm>
          <a:prstGeom prst="rect">
            <a:avLst/>
          </a:prstGeom>
          <a:noFill/>
          <a:ln/>
        </p:spPr>
        <p:txBody>
          <a:bodyPr wrap="square" lIns="0" tIns="0" rIns="0" bIns="0" rtlCol="0" anchor="t"/>
          <a:lstStyle/>
          <a:p>
            <a:pPr indent="0" marL="0">
              <a:buNone/>
            </a:pPr>
            <a:r>
              <a:rPr lang="en-US" sz="1600" b="1" dirty="0">
                <a:solidFill>
                  <a:schemeClr val="tx1"/>
                </a:solidFill>
              </a:rPr>
              <a:t>No task in mind?</a:t>
            </a:r>
            <a:endParaRPr lang="en-US" sz="1600" dirty="0"/>
          </a:p>
          <a:p>
            <a:pPr indent="0" marL="0">
              <a:buNone/>
            </a:pPr>
            <a:r>
              <a:rPr lang="en-US" sz="1600" dirty="0">
                <a:solidFill>
                  <a:schemeClr val="tx1"/>
                </a:solidFill>
              </a:rPr>
              <a:t>Use the fallback: a weekly operations update for Prairie Point's warehouse supervisors.</a:t>
            </a:r>
            <a:endParaRPr lang="en-US" sz="1600" dirty="0"/>
          </a:p>
        </p:txBody>
      </p:sp>
      <p:sp>
        <p:nvSpPr>
          <p:cNvPr id="28" name="card-646"/>
          <p:cNvSpPr/>
          <p:nvPr/>
        </p:nvSpPr>
        <p:spPr>
          <a:xfrm>
            <a:off x="6255868" y="4297680"/>
            <a:ext cx="5387188" cy="1691640"/>
          </a:xfrm>
          <a:prstGeom prst="roundRect">
            <a:avLst>
              <a:gd name="adj" fmla="val 6486"/>
            </a:avLst>
          </a:prstGeom>
          <a:solidFill>
            <a:schemeClr val="tx1"/>
          </a:solidFill>
          <a:ln/>
        </p:spPr>
      </p:sp>
      <p:sp>
        <p:nvSpPr>
          <p:cNvPr id="29" name="text-647"/>
          <p:cNvSpPr txBox="1"/>
          <p:nvPr/>
        </p:nvSpPr>
        <p:spPr>
          <a:xfrm>
            <a:off x="6575908" y="4480560"/>
            <a:ext cx="4747108" cy="1371600"/>
          </a:xfrm>
          <a:prstGeom prst="rect">
            <a:avLst/>
          </a:prstGeom>
          <a:noFill/>
          <a:ln/>
        </p:spPr>
        <p:txBody>
          <a:bodyPr wrap="square" lIns="0" tIns="0" rIns="0" bIns="0" rtlCol="0" anchor="t"/>
          <a:lstStyle/>
          <a:p>
            <a:pPr indent="0" marL="0">
              <a:buNone/>
            </a:pPr>
            <a:r>
              <a:rPr lang="en-US" sz="1600" b="1" dirty="0">
                <a:solidFill>
                  <a:schemeClr val="bg1"/>
                </a:solidFill>
              </a:rPr>
              <a:t>Deliverable</a:t>
            </a:r>
            <a:endParaRPr lang="en-US" sz="1600" dirty="0"/>
          </a:p>
          <a:p>
            <a:pPr indent="0" marL="0">
              <a:buNone/>
            </a:pPr>
            <a:r>
              <a:rPr lang="en-US" sz="1600" dirty="0">
                <a:solidFill>
                  <a:schemeClr val="accent3"/>
                </a:solidFill>
              </a:rPr>
              <a:t>Your prompt, saved in Gemini, plus one sentence on what you changed after testing.</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Start from this skeleton</a:t>
            </a:r>
            <a:endParaRPr lang="en-US" sz="3400" dirty="0"/>
          </a:p>
        </p:txBody>
      </p:sp>
      <p:sp>
        <p:nvSpPr>
          <p:cNvPr id="3" name="card-648"/>
          <p:cNvSpPr/>
          <p:nvPr/>
        </p:nvSpPr>
        <p:spPr>
          <a:xfrm>
            <a:off x="548640" y="1417320"/>
            <a:ext cx="7406640" cy="4663440"/>
          </a:xfrm>
          <a:prstGeom prst="roundRect">
            <a:avLst>
              <a:gd name="adj" fmla="val 2353"/>
            </a:avLst>
          </a:prstGeom>
          <a:solidFill>
            <a:schemeClr val="tx1"/>
          </a:solidFill>
          <a:ln/>
        </p:spPr>
      </p:sp>
      <p:sp>
        <p:nvSpPr>
          <p:cNvPr id="4" name="text-649"/>
          <p:cNvSpPr txBox="1"/>
          <p:nvPr/>
        </p:nvSpPr>
        <p:spPr>
          <a:xfrm>
            <a:off x="822960" y="1618488"/>
            <a:ext cx="6858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TEMPLATE</a:t>
            </a:r>
            <a:endParaRPr lang="en-US" sz="1200" dirty="0"/>
          </a:p>
        </p:txBody>
      </p:sp>
      <p:sp>
        <p:nvSpPr>
          <p:cNvPr id="5" name="text-650"/>
          <p:cNvSpPr txBox="1"/>
          <p:nvPr/>
        </p:nvSpPr>
        <p:spPr>
          <a:xfrm>
            <a:off x="822960" y="1947672"/>
            <a:ext cx="6858000" cy="3950208"/>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ROLE: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Act as a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[role]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CONTEXT:</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I am a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[your role]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[type of organization]</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This is for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[purpose]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ASK:</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[Action verb]</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[deliverable]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about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[topic]</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SOURCE: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Use only the text between the ### marks.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If something is missing, write "Not stated."</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[paste source material]</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FORMAT:</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[length]</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[bullets / table / headings]</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TONE &amp; AUDIENCE: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For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[audience]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Tone: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[tone]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EXAMPLE:</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400" dirty="0">
                <a:solidFill>
                  <a:srgbClr val="F2777C"/>
                </a:solidFill>
                <a:latin typeface="Courier New" pitchFamily="34" charset="0"/>
                <a:ea typeface="Courier New" pitchFamily="34" charset="-122"/>
                <a:cs typeface="Courier New" pitchFamily="34" charset="-120"/>
              </a:rPr>
              <a:t>[optional sample of what good looks like]</a:t>
            </a:r>
            <a:endParaRPr lang="en-US" sz="1400" dirty="0"/>
          </a:p>
          <a:p>
            <a:pPr indent="0" marL="0">
              <a:spcAft>
                <a:spcPts val="200"/>
              </a:spcAft>
              <a:buNone/>
            </a:pPr>
            <a:r>
              <a:rPr lang="en-US" sz="1400" b="1" dirty="0">
                <a:solidFill>
                  <a:schemeClr val="bg1"/>
                </a:solidFill>
                <a:latin typeface="Courier New" pitchFamily="34" charset="0"/>
                <a:ea typeface="Courier New" pitchFamily="34" charset="-122"/>
                <a:cs typeface="Courier New" pitchFamily="34" charset="-120"/>
              </a:rPr>
              <a:t>BEFORE YOU START:</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Ask me up to 3 questions if</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anything important is unclear.</a:t>
            </a:r>
            <a:endParaRPr lang="en-US" sz="1400" dirty="0"/>
          </a:p>
        </p:txBody>
      </p:sp>
      <p:sp>
        <p:nvSpPr>
          <p:cNvPr id="6" name="card-651"/>
          <p:cNvSpPr/>
          <p:nvPr/>
        </p:nvSpPr>
        <p:spPr>
          <a:xfrm>
            <a:off x="8275320" y="1508760"/>
            <a:ext cx="3364992" cy="1280160"/>
          </a:xfrm>
          <a:prstGeom prst="roundRect">
            <a:avLst>
              <a:gd name="adj" fmla="val 8571"/>
            </a:avLst>
          </a:prstGeom>
          <a:solidFill>
            <a:schemeClr val="bg2"/>
          </a:solidFill>
          <a:ln/>
        </p:spPr>
      </p:sp>
      <p:sp>
        <p:nvSpPr>
          <p:cNvPr id="7" name="text-652"/>
          <p:cNvSpPr txBox="1"/>
          <p:nvPr/>
        </p:nvSpPr>
        <p:spPr>
          <a:xfrm>
            <a:off x="8503920" y="1618488"/>
            <a:ext cx="2926080" cy="1060704"/>
          </a:xfrm>
          <a:prstGeom prst="rect">
            <a:avLst/>
          </a:prstGeom>
          <a:noFill/>
          <a:ln/>
        </p:spPr>
        <p:txBody>
          <a:bodyPr wrap="square" lIns="0" tIns="0" rIns="0" bIns="0" rtlCol="0" anchor="ctr"/>
          <a:lstStyle/>
          <a:p>
            <a:pPr indent="0" marL="0">
              <a:buNone/>
            </a:pPr>
            <a:r>
              <a:rPr lang="en-US" sz="1500" b="1" dirty="0">
                <a:solidFill>
                  <a:schemeClr val="accent1"/>
                </a:solidFill>
              </a:rPr>
              <a:t>[Brackets] </a:t>
            </a:r>
            <a:pPr indent="0" marL="0">
              <a:buNone/>
            </a:pPr>
            <a:r>
              <a:rPr lang="en-US" sz="1500" dirty="0">
                <a:solidFill>
                  <a:schemeClr val="tx1"/>
                </a:solidFill>
              </a:rPr>
              <a:t>are what changes each time. Delete any line you don't need.</a:t>
            </a:r>
            <a:endParaRPr lang="en-US" sz="1500" dirty="0"/>
          </a:p>
        </p:txBody>
      </p:sp>
      <p:sp>
        <p:nvSpPr>
          <p:cNvPr id="8" name="card-653"/>
          <p:cNvSpPr/>
          <p:nvPr/>
        </p:nvSpPr>
        <p:spPr>
          <a:xfrm>
            <a:off x="8275320" y="2971800"/>
            <a:ext cx="3364992" cy="1280160"/>
          </a:xfrm>
          <a:prstGeom prst="roundRect">
            <a:avLst>
              <a:gd name="adj" fmla="val 8571"/>
            </a:avLst>
          </a:prstGeom>
          <a:solidFill>
            <a:schemeClr val="bg2"/>
          </a:solidFill>
          <a:ln/>
        </p:spPr>
      </p:sp>
      <p:sp>
        <p:nvSpPr>
          <p:cNvPr id="9" name="text-654"/>
          <p:cNvSpPr txBox="1"/>
          <p:nvPr/>
        </p:nvSpPr>
        <p:spPr>
          <a:xfrm>
            <a:off x="8503920" y="3081528"/>
            <a:ext cx="2926080" cy="1060704"/>
          </a:xfrm>
          <a:prstGeom prst="rect">
            <a:avLst/>
          </a:prstGeom>
          <a:noFill/>
          <a:ln/>
        </p:spPr>
        <p:txBody>
          <a:bodyPr wrap="square" lIns="0" tIns="0" rIns="0" bIns="0" rtlCol="0" anchor="ctr"/>
          <a:lstStyle/>
          <a:p>
            <a:pPr indent="0" marL="0">
              <a:buNone/>
            </a:pPr>
            <a:r>
              <a:rPr lang="en-US" sz="1500" b="1" dirty="0">
                <a:solidFill>
                  <a:schemeClr val="tx1"/>
                </a:solidFill>
              </a:rPr>
              <a:t>Save it as a skill. </a:t>
            </a:r>
            <a:pPr indent="0" marL="0">
              <a:buNone/>
            </a:pPr>
            <a:r>
              <a:rPr lang="en-US" sz="1500" dirty="0">
                <a:solidFill>
                  <a:schemeClr val="tx1"/>
                </a:solidFill>
              </a:rPr>
              <a:t>Ask Gemini: “Create a skill from this prompt.” Then type / to use it.</a:t>
            </a:r>
            <a:endParaRPr lang="en-US" sz="1500" dirty="0"/>
          </a:p>
        </p:txBody>
      </p:sp>
      <p:sp>
        <p:nvSpPr>
          <p:cNvPr id="10" name="card-655"/>
          <p:cNvSpPr/>
          <p:nvPr/>
        </p:nvSpPr>
        <p:spPr>
          <a:xfrm>
            <a:off x="8275320" y="4434840"/>
            <a:ext cx="3364992" cy="1280160"/>
          </a:xfrm>
          <a:prstGeom prst="roundRect">
            <a:avLst>
              <a:gd name="adj" fmla="val 8571"/>
            </a:avLst>
          </a:prstGeom>
          <a:solidFill>
            <a:schemeClr val="bg2"/>
          </a:solidFill>
          <a:ln/>
        </p:spPr>
      </p:sp>
      <p:sp>
        <p:nvSpPr>
          <p:cNvPr id="11" name="text-656"/>
          <p:cNvSpPr txBox="1"/>
          <p:nvPr/>
        </p:nvSpPr>
        <p:spPr>
          <a:xfrm>
            <a:off x="8503920" y="4544568"/>
            <a:ext cx="2926080" cy="1060704"/>
          </a:xfrm>
          <a:prstGeom prst="rect">
            <a:avLst/>
          </a:prstGeom>
          <a:noFill/>
          <a:ln/>
        </p:spPr>
        <p:txBody>
          <a:bodyPr wrap="square" lIns="0" tIns="0" rIns="0" bIns="0" rtlCol="0" anchor="ctr"/>
          <a:lstStyle/>
          <a:p>
            <a:pPr indent="0" marL="0">
              <a:buNone/>
            </a:pPr>
            <a:r>
              <a:rPr lang="en-US" sz="1500" b="1" dirty="0">
                <a:solidFill>
                  <a:schemeClr val="tx1"/>
                </a:solidFill>
              </a:rPr>
              <a:t>Still see Gems? </a:t>
            </a:r>
            <a:pPr indent="0" marL="0">
              <a:buNone/>
            </a:pPr>
            <a:r>
              <a:rPr lang="en-US" sz="1500" dirty="0">
                <a:solidFill>
                  <a:schemeClr val="tx1"/>
                </a:solidFill>
              </a:rPr>
              <a:t>Gems → New Gem works the same way. Or keep it in a Google Doc.</a:t>
            </a:r>
            <a:endParaRPr lang="en-US" sz="15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How to check your template</a:t>
            </a:r>
            <a:endParaRPr lang="en-US" sz="3400" dirty="0"/>
          </a:p>
        </p:txBody>
      </p:sp>
      <p:graphicFrame>
        <p:nvGraphicFramePr>
          <p:cNvPr id="38" name="rubric-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377440"/>
                <a:gridCol w="2514600"/>
                <a:gridCol w="3099816"/>
                <a:gridCol w="3099816"/>
              </a:tblGrid>
              <a:tr h="50292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Criterion</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Not yet</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Meets</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Strong</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solidFill>
                      <a:schemeClr val="tx1"/>
                    </a:solidFill>
                  </a:tcPr>
                </a:tc>
              </a:tr>
              <a:tr h="86868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CRAFT elements</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Two or three elements</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All five, each specific to the task</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Specific and tailored throughout; nothing generic</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r h="86868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Techniques</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None used</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At least one, used appropriately</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Two or more, each addressing a likely failure point</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r h="86868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Evaluation and safety</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Outputs not checked</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Both test outputs checked against the source; no sensitive data</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Safeguards built into the template itself</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r h="86868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Reusability</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Only works for one case</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Placeholders for what changes; saved in Gemini</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 colleague could use it without explanation</a:t>
                      </a:r>
                      <a:endParaRPr lang="en-US" sz="1500" dirty="0">
                        <a:latin typeface="Calibri" charset="0"/>
                        <a:ea typeface="Calibri" charset="0"/>
                        <a:cs typeface="Calibri" charset="0"/>
                      </a:endParaRPr>
                    </a:p>
                  </a:txBody>
                  <a:tcPr marL="91440" marR="91440" marT="91440" marB="91440" anchor="ctr">
                    <a:lnL w="9525" cap="flat" cmpd="sng" algn="ctr">
                      <a:solidFill>
                        <a:srgbClr val="BCBBBA"/>
                      </a:solidFill>
                      <a:prstDash val="solid"/>
                      <a:round/>
                      <a:headEnd type="none" w="med" len="med"/>
                      <a:tailEnd type="none" w="med" len="med"/>
                    </a:lnL>
                    <a:lnR w="9525" cap="flat" cmpd="sng" algn="ctr">
                      <a:solidFill>
                        <a:srgbClr val="BCBBBA"/>
                      </a:solidFill>
                      <a:prstDash val="solid"/>
                      <a:round/>
                      <a:headEnd type="none" w="med" len="med"/>
                      <a:tailEnd type="none" w="med" len="med"/>
                    </a:lnR>
                    <a:lnT w="9525" cap="flat" cmpd="sng" algn="ctr">
                      <a:solidFill>
                        <a:srgbClr val="BCBBBA"/>
                      </a:solidFill>
                      <a:prstDash val="solid"/>
                      <a:round/>
                      <a:headEnd type="none" w="med" len="med"/>
                      <a:tailEnd type="none" w="med" len="med"/>
                    </a:lnT>
                    <a:lnB w="9525" cap="flat" cmpd="sng" algn="ctr">
                      <a:solidFill>
                        <a:srgbClr val="BCBBBA"/>
                      </a:solidFill>
                      <a:prstDash val="solid"/>
                      <a:round/>
                      <a:headEnd type="none" w="med" len="med"/>
                      <a:tailEnd type="none" w="med" len="med"/>
                    </a:lnB>
                  </a:tcPr>
                </a:tc>
              </a:tr>
            </a:tbl>
          </a:graphicData>
        </a:graphic>
      </p:graphicFrame>
      <p:sp>
        <p:nvSpPr>
          <p:cNvPr id="4" name="text-657"/>
          <p:cNvSpPr txBox="1"/>
          <p:nvPr/>
        </p:nvSpPr>
        <p:spPr>
          <a:xfrm>
            <a:off x="548640" y="5715000"/>
            <a:ext cx="11094415" cy="365760"/>
          </a:xfrm>
          <a:prstGeom prst="rect">
            <a:avLst/>
          </a:prstGeom>
          <a:noFill/>
          <a:ln/>
        </p:spPr>
        <p:txBody>
          <a:bodyPr wrap="square" lIns="0" tIns="0" rIns="0" bIns="0" rtlCol="0" anchor="t"/>
          <a:lstStyle/>
          <a:p>
            <a:pPr indent="0" marL="0">
              <a:buNone/>
            </a:pPr>
            <a:r>
              <a:rPr lang="en-US" sz="1600" dirty="0">
                <a:solidFill>
                  <a:schemeClr val="tx2"/>
                </a:solidFill>
              </a:rPr>
              <a:t>“Meets” is the bar for today. Aim for it on every row before you polish any one.</a:t>
            </a:r>
            <a:endParaRPr lang="en-US" sz="16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Share-outs</a:t>
            </a:r>
            <a:endParaRPr lang="en-US" sz="3400" dirty="0"/>
          </a:p>
        </p:txBody>
      </p:sp>
      <p:sp>
        <p:nvSpPr>
          <p:cNvPr id="3" name="badge-658"/>
          <p:cNvSpPr/>
          <p:nvPr/>
        </p:nvSpPr>
        <p:spPr>
          <a:xfrm>
            <a:off x="10042855" y="502920"/>
            <a:ext cx="1600200" cy="457200"/>
          </a:xfrm>
          <a:prstGeom prst="roundRect">
            <a:avLst>
              <a:gd name="adj" fmla="val 50000"/>
            </a:avLst>
          </a:prstGeom>
          <a:solidFill>
            <a:schemeClr val="bg2"/>
          </a:solidFill>
          <a:ln/>
        </p:spPr>
      </p:sp>
      <p:sp>
        <p:nvSpPr>
          <p:cNvPr id="4" name="text-659"/>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15 min</a:t>
            </a:r>
            <a:endParaRPr lang="en-US" sz="1600" dirty="0"/>
          </a:p>
        </p:txBody>
      </p:sp>
      <p:sp>
        <p:nvSpPr>
          <p:cNvPr id="5" name="text-660"/>
          <p:cNvSpPr txBox="1"/>
          <p:nvPr/>
        </p:nvSpPr>
        <p:spPr>
          <a:xfrm>
            <a:off x="548640" y="1554480"/>
            <a:ext cx="5943600" cy="640080"/>
          </a:xfrm>
          <a:prstGeom prst="rect">
            <a:avLst/>
          </a:prstGeom>
          <a:noFill/>
          <a:ln/>
        </p:spPr>
        <p:txBody>
          <a:bodyPr wrap="square" lIns="0" tIns="0" rIns="0" bIns="0" rtlCol="0" anchor="t"/>
          <a:lstStyle/>
          <a:p>
            <a:pPr indent="0" marL="0">
              <a:buNone/>
            </a:pPr>
            <a:r>
              <a:rPr lang="en-US" sz="3200" b="1" dirty="0">
                <a:solidFill>
                  <a:schemeClr val="tx1"/>
                </a:solidFill>
              </a:rPr>
              <a:t>3 minutes each</a:t>
            </a:r>
            <a:endParaRPr lang="en-US" sz="3200" dirty="0"/>
          </a:p>
        </p:txBody>
      </p:sp>
      <p:sp>
        <p:nvSpPr>
          <p:cNvPr id="6" name="num-661"/>
          <p:cNvSpPr/>
          <p:nvPr/>
        </p:nvSpPr>
        <p:spPr>
          <a:xfrm>
            <a:off x="548640" y="2514600"/>
            <a:ext cx="548640" cy="548640"/>
          </a:xfrm>
          <a:prstGeom prst="ellipse">
            <a:avLst/>
          </a:prstGeom>
          <a:solidFill>
            <a:schemeClr val="tx1"/>
          </a:solidFill>
          <a:ln/>
        </p:spPr>
      </p:sp>
      <p:sp>
        <p:nvSpPr>
          <p:cNvPr id="7" name="text-662"/>
          <p:cNvSpPr txBox="1"/>
          <p:nvPr/>
        </p:nvSpPr>
        <p:spPr>
          <a:xfrm>
            <a:off x="54864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663"/>
          <p:cNvSpPr txBox="1"/>
          <p:nvPr/>
        </p:nvSpPr>
        <p:spPr>
          <a:xfrm>
            <a:off x="1325880" y="2514600"/>
            <a:ext cx="5486400" cy="548640"/>
          </a:xfrm>
          <a:prstGeom prst="rect">
            <a:avLst/>
          </a:prstGeom>
          <a:noFill/>
          <a:ln/>
        </p:spPr>
        <p:txBody>
          <a:bodyPr wrap="square" lIns="0" tIns="0" rIns="0" bIns="0" rtlCol="0" anchor="ctr"/>
          <a:lstStyle/>
          <a:p>
            <a:pPr indent="0" marL="0">
              <a:buNone/>
            </a:pPr>
            <a:r>
              <a:rPr lang="en-US" sz="2100" dirty="0">
                <a:solidFill>
                  <a:schemeClr val="tx1"/>
                </a:solidFill>
              </a:rPr>
              <a:t>The task your prompt is for</a:t>
            </a:r>
            <a:endParaRPr lang="en-US" sz="2100" dirty="0"/>
          </a:p>
        </p:txBody>
      </p:sp>
      <p:sp>
        <p:nvSpPr>
          <p:cNvPr id="9" name="num-664"/>
          <p:cNvSpPr/>
          <p:nvPr/>
        </p:nvSpPr>
        <p:spPr>
          <a:xfrm>
            <a:off x="548640" y="3429000"/>
            <a:ext cx="548640" cy="548640"/>
          </a:xfrm>
          <a:prstGeom prst="ellipse">
            <a:avLst/>
          </a:prstGeom>
          <a:solidFill>
            <a:schemeClr val="tx1"/>
          </a:solidFill>
          <a:ln/>
        </p:spPr>
      </p:sp>
      <p:sp>
        <p:nvSpPr>
          <p:cNvPr id="10" name="text-665"/>
          <p:cNvSpPr txBox="1"/>
          <p:nvPr/>
        </p:nvSpPr>
        <p:spPr>
          <a:xfrm>
            <a:off x="548640" y="3429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666"/>
          <p:cNvSpPr txBox="1"/>
          <p:nvPr/>
        </p:nvSpPr>
        <p:spPr>
          <a:xfrm>
            <a:off x="1325880" y="3429000"/>
            <a:ext cx="5486400" cy="548640"/>
          </a:xfrm>
          <a:prstGeom prst="rect">
            <a:avLst/>
          </a:prstGeom>
          <a:noFill/>
          <a:ln/>
        </p:spPr>
        <p:txBody>
          <a:bodyPr wrap="square" lIns="0" tIns="0" rIns="0" bIns="0" rtlCol="0" anchor="ctr"/>
          <a:lstStyle/>
          <a:p>
            <a:pPr indent="0" marL="0">
              <a:buNone/>
            </a:pPr>
            <a:r>
              <a:rPr lang="en-US" sz="2100" dirty="0">
                <a:solidFill>
                  <a:schemeClr val="tx1"/>
                </a:solidFill>
              </a:rPr>
              <a:t>The prompt itself</a:t>
            </a:r>
            <a:endParaRPr lang="en-US" sz="2100" dirty="0"/>
          </a:p>
        </p:txBody>
      </p:sp>
      <p:sp>
        <p:nvSpPr>
          <p:cNvPr id="12" name="num-667"/>
          <p:cNvSpPr/>
          <p:nvPr/>
        </p:nvSpPr>
        <p:spPr>
          <a:xfrm>
            <a:off x="548640" y="4343400"/>
            <a:ext cx="548640" cy="548640"/>
          </a:xfrm>
          <a:prstGeom prst="ellipse">
            <a:avLst/>
          </a:prstGeom>
          <a:solidFill>
            <a:schemeClr val="tx1"/>
          </a:solidFill>
          <a:ln/>
        </p:spPr>
      </p:sp>
      <p:sp>
        <p:nvSpPr>
          <p:cNvPr id="13" name="text-668"/>
          <p:cNvSpPr txBox="1"/>
          <p:nvPr/>
        </p:nvSpPr>
        <p:spPr>
          <a:xfrm>
            <a:off x="548640" y="43434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669"/>
          <p:cNvSpPr txBox="1"/>
          <p:nvPr/>
        </p:nvSpPr>
        <p:spPr>
          <a:xfrm>
            <a:off x="1325880" y="4343400"/>
            <a:ext cx="5486400" cy="548640"/>
          </a:xfrm>
          <a:prstGeom prst="rect">
            <a:avLst/>
          </a:prstGeom>
          <a:noFill/>
          <a:ln/>
        </p:spPr>
        <p:txBody>
          <a:bodyPr wrap="square" lIns="0" tIns="0" rIns="0" bIns="0" rtlCol="0" anchor="ctr"/>
          <a:lstStyle/>
          <a:p>
            <a:pPr indent="0" marL="0">
              <a:buNone/>
            </a:pPr>
            <a:r>
              <a:rPr lang="en-US" sz="2100" dirty="0">
                <a:solidFill>
                  <a:schemeClr val="tx1"/>
                </a:solidFill>
              </a:rPr>
              <a:t>What changed after testing</a:t>
            </a:r>
            <a:endParaRPr lang="en-US" sz="2100" dirty="0"/>
          </a:p>
        </p:txBody>
      </p:sp>
      <p:sp>
        <p:nvSpPr>
          <p:cNvPr id="15" name="card-670"/>
          <p:cNvSpPr/>
          <p:nvPr/>
        </p:nvSpPr>
        <p:spPr>
          <a:xfrm>
            <a:off x="7223760" y="1554480"/>
            <a:ext cx="4416552" cy="3657600"/>
          </a:xfrm>
          <a:prstGeom prst="roundRect">
            <a:avLst>
              <a:gd name="adj" fmla="val 3000"/>
            </a:avLst>
          </a:prstGeom>
          <a:solidFill>
            <a:schemeClr val="tx1"/>
          </a:solidFill>
          <a:ln/>
        </p:spPr>
      </p:sp>
      <p:pic>
        <p:nvPicPr>
          <p:cNvPr id="16" name="icon-671" descr="preencoded.png">    </p:cNvPr>
          <p:cNvPicPr>
            <a:picLocks noChangeAspect="1"/>
          </p:cNvPicPr>
          <p:nvPr/>
        </p:nvPicPr>
        <p:blipFill>
          <a:blip r:embed="rId1"/>
          <a:stretch>
            <a:fillRect/>
          </a:stretch>
        </p:blipFill>
        <p:spPr>
          <a:xfrm>
            <a:off x="7589520" y="1920240"/>
            <a:ext cx="640080" cy="640080"/>
          </a:xfrm>
          <a:prstGeom prst="rect">
            <a:avLst/>
          </a:prstGeom>
        </p:spPr>
      </p:pic>
      <p:sp>
        <p:nvSpPr>
          <p:cNvPr id="17" name="text-672"/>
          <p:cNvSpPr txBox="1"/>
          <p:nvPr/>
        </p:nvSpPr>
        <p:spPr>
          <a:xfrm>
            <a:off x="7589520" y="2788920"/>
            <a:ext cx="3749040" cy="457200"/>
          </a:xfrm>
          <a:prstGeom prst="rect">
            <a:avLst/>
          </a:prstGeom>
          <a:noFill/>
          <a:ln/>
        </p:spPr>
        <p:txBody>
          <a:bodyPr wrap="square" lIns="0" tIns="0" rIns="0" bIns="0" rtlCol="0" anchor="t"/>
          <a:lstStyle/>
          <a:p>
            <a:pPr indent="0" marL="0">
              <a:buNone/>
            </a:pPr>
            <a:r>
              <a:rPr lang="en-US" sz="2200" b="1" dirty="0">
                <a:solidFill>
                  <a:schemeClr val="bg1"/>
                </a:solidFill>
              </a:rPr>
              <a:t>While you listen</a:t>
            </a:r>
            <a:endParaRPr lang="en-US" sz="2200" dirty="0"/>
          </a:p>
        </p:txBody>
      </p:sp>
      <p:sp>
        <p:nvSpPr>
          <p:cNvPr id="18" name="text-673"/>
          <p:cNvSpPr txBox="1"/>
          <p:nvPr/>
        </p:nvSpPr>
        <p:spPr>
          <a:xfrm>
            <a:off x="7589520" y="3337560"/>
            <a:ext cx="3749040" cy="1280160"/>
          </a:xfrm>
          <a:prstGeom prst="rect">
            <a:avLst/>
          </a:prstGeom>
          <a:noFill/>
          <a:ln/>
        </p:spPr>
        <p:txBody>
          <a:bodyPr wrap="square" lIns="0" tIns="0" rIns="0" bIns="0" rtlCol="0" anchor="t"/>
          <a:lstStyle/>
          <a:p>
            <a:pPr indent="0" marL="0">
              <a:buNone/>
            </a:pPr>
            <a:r>
              <a:rPr lang="en-US" sz="1900" dirty="0">
                <a:solidFill>
                  <a:schemeClr val="accent3"/>
                </a:solidFill>
              </a:rPr>
              <a:t>Note one idea you'll steal for your own prompt.</a:t>
            </a:r>
            <a:endParaRPr lang="en-US" sz="19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The day on one slide</a:t>
            </a:r>
            <a:endParaRPr lang="en-US" sz="3400" dirty="0"/>
          </a:p>
        </p:txBody>
      </p:sp>
      <p:sp>
        <p:nvSpPr>
          <p:cNvPr id="3" name="card-674"/>
          <p:cNvSpPr/>
          <p:nvPr/>
        </p:nvSpPr>
        <p:spPr>
          <a:xfrm>
            <a:off x="548640" y="1463040"/>
            <a:ext cx="3515258" cy="4572000"/>
          </a:xfrm>
          <a:prstGeom prst="roundRect">
            <a:avLst>
              <a:gd name="adj" fmla="val 3121"/>
            </a:avLst>
          </a:prstGeom>
          <a:solidFill>
            <a:schemeClr val="bg2"/>
          </a:solidFill>
          <a:ln/>
        </p:spPr>
      </p:sp>
      <p:sp>
        <p:nvSpPr>
          <p:cNvPr id="4" name="text-675"/>
          <p:cNvSpPr txBox="1"/>
          <p:nvPr/>
        </p:nvSpPr>
        <p:spPr>
          <a:xfrm>
            <a:off x="868680" y="1737360"/>
            <a:ext cx="2875178" cy="457200"/>
          </a:xfrm>
          <a:prstGeom prst="rect">
            <a:avLst/>
          </a:prstGeom>
          <a:noFill/>
          <a:ln/>
        </p:spPr>
        <p:txBody>
          <a:bodyPr wrap="square" lIns="0" tIns="0" rIns="0" bIns="0" rtlCol="0" anchor="t"/>
          <a:lstStyle/>
          <a:p>
            <a:pPr indent="0" marL="0">
              <a:buNone/>
            </a:pPr>
            <a:r>
              <a:rPr lang="en-US" sz="2200" b="1" dirty="0">
                <a:solidFill>
                  <a:schemeClr val="tx1"/>
                </a:solidFill>
              </a:rPr>
              <a:t>Write it: CRAFT</a:t>
            </a:r>
            <a:endParaRPr lang="en-US" sz="2200" dirty="0"/>
          </a:p>
        </p:txBody>
      </p:sp>
      <p:sp>
        <p:nvSpPr>
          <p:cNvPr id="5" name="text-676"/>
          <p:cNvSpPr txBox="1"/>
          <p:nvPr/>
        </p:nvSpPr>
        <p:spPr>
          <a:xfrm>
            <a:off x="868680" y="2377440"/>
            <a:ext cx="2966618" cy="347472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chemeClr val="tx1"/>
                </a:solidFill>
              </a:rPr>
              <a:t>Context</a:t>
            </a:r>
            <a:endParaRPr lang="en-US" sz="1800" dirty="0"/>
          </a:p>
          <a:p>
            <a:pPr marL="228600" indent="-228600">
              <a:spcAft>
                <a:spcPts val="1200"/>
              </a:spcAft>
              <a:buSzPct val="100000"/>
              <a:buChar char="•"/>
            </a:pPr>
            <a:r>
              <a:rPr lang="en-US" sz="1800" dirty="0">
                <a:solidFill>
                  <a:schemeClr val="tx1"/>
                </a:solidFill>
              </a:rPr>
              <a:t>Role</a:t>
            </a:r>
            <a:endParaRPr lang="en-US" sz="1800" dirty="0"/>
          </a:p>
          <a:p>
            <a:pPr marL="228600" indent="-228600">
              <a:spcAft>
                <a:spcPts val="1200"/>
              </a:spcAft>
              <a:buSzPct val="100000"/>
              <a:buChar char="•"/>
            </a:pPr>
            <a:r>
              <a:rPr lang="en-US" sz="1800" dirty="0">
                <a:solidFill>
                  <a:schemeClr val="tx1"/>
                </a:solidFill>
              </a:rPr>
              <a:t>Ask</a:t>
            </a:r>
            <a:endParaRPr lang="en-US" sz="1800" dirty="0"/>
          </a:p>
          <a:p>
            <a:pPr marL="228600" indent="-228600">
              <a:spcAft>
                <a:spcPts val="1200"/>
              </a:spcAft>
              <a:buSzPct val="100000"/>
              <a:buChar char="•"/>
            </a:pPr>
            <a:r>
              <a:rPr lang="en-US" sz="1800" dirty="0">
                <a:solidFill>
                  <a:schemeClr val="tx1"/>
                </a:solidFill>
              </a:rPr>
              <a:t>Format</a:t>
            </a:r>
            <a:endParaRPr lang="en-US" sz="1800" dirty="0"/>
          </a:p>
          <a:p>
            <a:pPr marL="228600" indent="-228600">
              <a:spcAft>
                <a:spcPts val="1200"/>
              </a:spcAft>
              <a:buSzPct val="100000"/>
              <a:buChar char="•"/>
            </a:pPr>
            <a:r>
              <a:rPr lang="en-US" sz="1800" dirty="0">
                <a:solidFill>
                  <a:schemeClr val="tx1"/>
                </a:solidFill>
              </a:rPr>
              <a:t>Tone &amp; audience</a:t>
            </a:r>
            <a:endParaRPr lang="en-US" sz="1800" dirty="0"/>
          </a:p>
        </p:txBody>
      </p:sp>
      <p:sp>
        <p:nvSpPr>
          <p:cNvPr id="6" name="card-677"/>
          <p:cNvSpPr/>
          <p:nvPr/>
        </p:nvSpPr>
        <p:spPr>
          <a:xfrm>
            <a:off x="4338218" y="1463040"/>
            <a:ext cx="3515258" cy="4572000"/>
          </a:xfrm>
          <a:prstGeom prst="roundRect">
            <a:avLst>
              <a:gd name="adj" fmla="val 3121"/>
            </a:avLst>
          </a:prstGeom>
          <a:solidFill>
            <a:schemeClr val="bg2"/>
          </a:solidFill>
          <a:ln/>
        </p:spPr>
      </p:sp>
      <p:sp>
        <p:nvSpPr>
          <p:cNvPr id="7" name="text-678"/>
          <p:cNvSpPr txBox="1"/>
          <p:nvPr/>
        </p:nvSpPr>
        <p:spPr>
          <a:xfrm>
            <a:off x="4658258" y="1737360"/>
            <a:ext cx="2875178" cy="457200"/>
          </a:xfrm>
          <a:prstGeom prst="rect">
            <a:avLst/>
          </a:prstGeom>
          <a:noFill/>
          <a:ln/>
        </p:spPr>
        <p:txBody>
          <a:bodyPr wrap="square" lIns="0" tIns="0" rIns="0" bIns="0" rtlCol="0" anchor="t"/>
          <a:lstStyle/>
          <a:p>
            <a:pPr indent="0" marL="0">
              <a:buNone/>
            </a:pPr>
            <a:r>
              <a:rPr lang="en-US" sz="2200" b="1" dirty="0">
                <a:solidFill>
                  <a:schemeClr val="tx1"/>
                </a:solidFill>
              </a:rPr>
              <a:t>Strengthen it</a:t>
            </a:r>
            <a:endParaRPr lang="en-US" sz="2200" dirty="0"/>
          </a:p>
        </p:txBody>
      </p:sp>
      <p:sp>
        <p:nvSpPr>
          <p:cNvPr id="8" name="text-679"/>
          <p:cNvSpPr txBox="1"/>
          <p:nvPr/>
        </p:nvSpPr>
        <p:spPr>
          <a:xfrm>
            <a:off x="4658258" y="2377440"/>
            <a:ext cx="2966618" cy="347472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chemeClr val="tx1"/>
                </a:solidFill>
              </a:rPr>
              <a:t>Give an example</a:t>
            </a:r>
            <a:endParaRPr lang="en-US" sz="1800" dirty="0"/>
          </a:p>
          <a:p>
            <a:pPr marL="228600" indent="-228600">
              <a:spcAft>
                <a:spcPts val="1200"/>
              </a:spcAft>
              <a:buSzPct val="100000"/>
              <a:buChar char="•"/>
            </a:pPr>
            <a:r>
              <a:rPr lang="en-US" sz="1800" dirty="0">
                <a:solidFill>
                  <a:schemeClr val="tx1"/>
                </a:solidFill>
              </a:rPr>
              <a:t>Fence the source</a:t>
            </a:r>
            <a:endParaRPr lang="en-US" sz="1800" dirty="0"/>
          </a:p>
          <a:p>
            <a:pPr marL="228600" indent="-228600">
              <a:spcAft>
                <a:spcPts val="1200"/>
              </a:spcAft>
              <a:buSzPct val="100000"/>
              <a:buChar char="•"/>
            </a:pPr>
            <a:r>
              <a:rPr lang="en-US" sz="1800" dirty="0">
                <a:solidFill>
                  <a:schemeClr val="tx1"/>
                </a:solidFill>
              </a:rPr>
              <a:t>Ground it: “Not stated”</a:t>
            </a:r>
            <a:endParaRPr lang="en-US" sz="1800" dirty="0"/>
          </a:p>
          <a:p>
            <a:pPr marL="228600" indent="-228600">
              <a:spcAft>
                <a:spcPts val="1200"/>
              </a:spcAft>
              <a:buSzPct val="100000"/>
              <a:buChar char="•"/>
            </a:pPr>
            <a:r>
              <a:rPr lang="en-US" sz="1800" dirty="0">
                <a:solidFill>
                  <a:schemeClr val="tx1"/>
                </a:solidFill>
              </a:rPr>
              <a:t>Set the structure</a:t>
            </a:r>
            <a:endParaRPr lang="en-US" sz="1800" dirty="0"/>
          </a:p>
          <a:p>
            <a:pPr marL="228600" indent="-228600">
              <a:spcAft>
                <a:spcPts val="1200"/>
              </a:spcAft>
              <a:buSzPct val="100000"/>
              <a:buChar char="•"/>
            </a:pPr>
            <a:r>
              <a:rPr lang="en-US" sz="1800" dirty="0">
                <a:solidFill>
                  <a:schemeClr val="tx1"/>
                </a:solidFill>
              </a:rPr>
              <a:t>Iterate with follow-ups</a:t>
            </a:r>
            <a:endParaRPr lang="en-US" sz="1800" dirty="0"/>
          </a:p>
        </p:txBody>
      </p:sp>
      <p:sp>
        <p:nvSpPr>
          <p:cNvPr id="9" name="card-680"/>
          <p:cNvSpPr/>
          <p:nvPr/>
        </p:nvSpPr>
        <p:spPr>
          <a:xfrm>
            <a:off x="8127797" y="1463040"/>
            <a:ext cx="3515258" cy="4572000"/>
          </a:xfrm>
          <a:prstGeom prst="roundRect">
            <a:avLst>
              <a:gd name="adj" fmla="val 3121"/>
            </a:avLst>
          </a:prstGeom>
          <a:solidFill>
            <a:schemeClr val="tx1"/>
          </a:solidFill>
          <a:ln/>
        </p:spPr>
      </p:sp>
      <p:sp>
        <p:nvSpPr>
          <p:cNvPr id="10" name="text-681"/>
          <p:cNvSpPr txBox="1"/>
          <p:nvPr/>
        </p:nvSpPr>
        <p:spPr>
          <a:xfrm>
            <a:off x="8447837" y="1737360"/>
            <a:ext cx="2875178" cy="457200"/>
          </a:xfrm>
          <a:prstGeom prst="rect">
            <a:avLst/>
          </a:prstGeom>
          <a:noFill/>
          <a:ln/>
        </p:spPr>
        <p:txBody>
          <a:bodyPr wrap="square" lIns="0" tIns="0" rIns="0" bIns="0" rtlCol="0" anchor="t"/>
          <a:lstStyle/>
          <a:p>
            <a:pPr indent="0" marL="0">
              <a:buNone/>
            </a:pPr>
            <a:r>
              <a:rPr lang="en-US" sz="2200" b="1" dirty="0">
                <a:solidFill>
                  <a:schemeClr val="bg1"/>
                </a:solidFill>
              </a:rPr>
              <a:t>Use it responsibly</a:t>
            </a:r>
            <a:endParaRPr lang="en-US" sz="2200" dirty="0"/>
          </a:p>
        </p:txBody>
      </p:sp>
      <p:sp>
        <p:nvSpPr>
          <p:cNvPr id="11" name="text-682"/>
          <p:cNvSpPr txBox="1"/>
          <p:nvPr/>
        </p:nvSpPr>
        <p:spPr>
          <a:xfrm>
            <a:off x="8447837" y="2377440"/>
            <a:ext cx="2966618" cy="347472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chemeClr val="bg1"/>
                </a:solidFill>
              </a:rPr>
              <a:t>Know your account</a:t>
            </a:r>
            <a:endParaRPr lang="en-US" sz="1800" dirty="0"/>
          </a:p>
          <a:p>
            <a:pPr marL="228600" indent="-228600">
              <a:spcAft>
                <a:spcPts val="1200"/>
              </a:spcAft>
              <a:buSzPct val="100000"/>
              <a:buChar char="•"/>
            </a:pPr>
            <a:r>
              <a:rPr lang="en-US" sz="1800" dirty="0">
                <a:solidFill>
                  <a:schemeClr val="bg1"/>
                </a:solidFill>
              </a:rPr>
              <a:t>Check before you paste</a:t>
            </a:r>
            <a:endParaRPr lang="en-US" sz="1800" dirty="0"/>
          </a:p>
          <a:p>
            <a:pPr marL="228600" indent="-228600">
              <a:spcAft>
                <a:spcPts val="1200"/>
              </a:spcAft>
              <a:buSzPct val="100000"/>
              <a:buChar char="•"/>
            </a:pPr>
            <a:r>
              <a:rPr lang="en-US" sz="1800" dirty="0">
                <a:solidFill>
                  <a:schemeClr val="bg1"/>
                </a:solidFill>
              </a:rPr>
              <a:t>Verify every output</a:t>
            </a:r>
            <a:endParaRPr lang="en-US" sz="1800" dirty="0"/>
          </a:p>
          <a:p>
            <a:pPr marL="228600" indent="-228600">
              <a:spcAft>
                <a:spcPts val="1200"/>
              </a:spcAft>
              <a:buSzPct val="100000"/>
              <a:buChar char="•"/>
            </a:pPr>
            <a:r>
              <a:rPr lang="en-US" sz="1800" dirty="0">
                <a:solidFill>
                  <a:schemeClr val="bg1"/>
                </a:solidFill>
              </a:rPr>
              <a:t>You're the editor</a:t>
            </a:r>
            <a:endParaRPr lang="en-US" sz="18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Quick check, again</a:t>
            </a:r>
            <a:endParaRPr lang="en-US" sz="3400" dirty="0"/>
          </a:p>
        </p:txBody>
      </p:sp>
      <p:sp>
        <p:nvSpPr>
          <p:cNvPr id="3" name="badge-683"/>
          <p:cNvSpPr/>
          <p:nvPr/>
        </p:nvSpPr>
        <p:spPr>
          <a:xfrm>
            <a:off x="10042855" y="502920"/>
            <a:ext cx="1600200" cy="457200"/>
          </a:xfrm>
          <a:prstGeom prst="roundRect">
            <a:avLst>
              <a:gd name="adj" fmla="val 50000"/>
            </a:avLst>
          </a:prstGeom>
          <a:solidFill>
            <a:schemeClr val="bg2"/>
          </a:solidFill>
          <a:ln/>
        </p:spPr>
      </p:sp>
      <p:sp>
        <p:nvSpPr>
          <p:cNvPr id="4" name="text-684"/>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7 min</a:t>
            </a:r>
            <a:endParaRPr lang="en-US" sz="1600" dirty="0"/>
          </a:p>
        </p:txBody>
      </p:sp>
      <p:sp>
        <p:nvSpPr>
          <p:cNvPr id="5" name="dot-685"/>
          <p:cNvSpPr/>
          <p:nvPr/>
        </p:nvSpPr>
        <p:spPr>
          <a:xfrm>
            <a:off x="548640" y="1737360"/>
            <a:ext cx="1371600" cy="1371600"/>
          </a:xfrm>
          <a:prstGeom prst="ellipse">
            <a:avLst/>
          </a:prstGeom>
          <a:solidFill>
            <a:schemeClr val="tx1"/>
          </a:solidFill>
          <a:ln/>
        </p:spPr>
      </p:sp>
      <p:pic>
        <p:nvPicPr>
          <p:cNvPr id="6" name="icon-686" descr="preencoded.png">    </p:cNvPr>
          <p:cNvPicPr>
            <a:picLocks noChangeAspect="1"/>
          </p:cNvPicPr>
          <p:nvPr/>
        </p:nvPicPr>
        <p:blipFill>
          <a:blip r:embed="rId1"/>
          <a:stretch>
            <a:fillRect/>
          </a:stretch>
        </p:blipFill>
        <p:spPr>
          <a:xfrm>
            <a:off x="850392" y="2039112"/>
            <a:ext cx="768096" cy="768096"/>
          </a:xfrm>
          <a:prstGeom prst="rect">
            <a:avLst/>
          </a:prstGeom>
        </p:spPr>
      </p:pic>
      <p:sp>
        <p:nvSpPr>
          <p:cNvPr id="7" name="text-687"/>
          <p:cNvSpPr txBox="1"/>
          <p:nvPr/>
        </p:nvSpPr>
        <p:spPr>
          <a:xfrm>
            <a:off x="2377440" y="1783080"/>
            <a:ext cx="8686800" cy="731520"/>
          </a:xfrm>
          <a:prstGeom prst="rect">
            <a:avLst/>
          </a:prstGeom>
          <a:noFill/>
          <a:ln/>
        </p:spPr>
        <p:txBody>
          <a:bodyPr wrap="square" lIns="0" tIns="0" rIns="0" bIns="0" rtlCol="0" anchor="t"/>
          <a:lstStyle/>
          <a:p>
            <a:pPr indent="0" marL="0">
              <a:buNone/>
            </a:pPr>
            <a:r>
              <a:rPr lang="en-US" sz="3200" b="1" dirty="0">
                <a:solidFill>
                  <a:schemeClr val="tx1"/>
                </a:solidFill>
              </a:rPr>
              <a:t>Same 8 questions. Same check code.</a:t>
            </a:r>
            <a:endParaRPr lang="en-US" sz="3200" dirty="0"/>
          </a:p>
        </p:txBody>
      </p:sp>
      <p:sp>
        <p:nvSpPr>
          <p:cNvPr id="8" name="text-688"/>
          <p:cNvSpPr txBox="1"/>
          <p:nvPr/>
        </p:nvSpPr>
        <p:spPr>
          <a:xfrm>
            <a:off x="2377440" y="2606040"/>
            <a:ext cx="8686800" cy="822960"/>
          </a:xfrm>
          <a:prstGeom prst="rect">
            <a:avLst/>
          </a:prstGeom>
          <a:noFill/>
          <a:ln/>
        </p:spPr>
        <p:txBody>
          <a:bodyPr wrap="square" lIns="0" tIns="0" rIns="0" bIns="0" rtlCol="0" anchor="t"/>
          <a:lstStyle/>
          <a:p>
            <a:pPr indent="0" marL="0">
              <a:buNone/>
            </a:pPr>
            <a:r>
              <a:rPr lang="en-US" sz="2200" dirty="0">
                <a:solidFill>
                  <a:schemeClr val="tx2"/>
                </a:solidFill>
              </a:rPr>
              <a:t>Compare with your answers from this morning: that's what today changed.</a:t>
            </a:r>
            <a:endParaRPr lang="en-US" sz="2200" dirty="0"/>
          </a:p>
        </p:txBody>
      </p:sp>
      <p:sp>
        <p:nvSpPr>
          <p:cNvPr id="9" name="card-689"/>
          <p:cNvSpPr/>
          <p:nvPr/>
        </p:nvSpPr>
        <p:spPr>
          <a:xfrm>
            <a:off x="548640" y="3840480"/>
            <a:ext cx="3515258" cy="1828800"/>
          </a:xfrm>
          <a:prstGeom prst="roundRect">
            <a:avLst>
              <a:gd name="adj" fmla="val 6000"/>
            </a:avLst>
          </a:prstGeom>
          <a:solidFill>
            <a:schemeClr val="bg2"/>
          </a:solidFill>
          <a:ln/>
        </p:spPr>
      </p:sp>
      <p:sp>
        <p:nvSpPr>
          <p:cNvPr id="10" name="dot-690"/>
          <p:cNvSpPr/>
          <p:nvPr/>
        </p:nvSpPr>
        <p:spPr>
          <a:xfrm>
            <a:off x="868680" y="4160520"/>
            <a:ext cx="594360" cy="594360"/>
          </a:xfrm>
          <a:prstGeom prst="ellipse">
            <a:avLst/>
          </a:prstGeom>
          <a:solidFill>
            <a:schemeClr val="tx1"/>
          </a:solidFill>
          <a:ln/>
        </p:spPr>
      </p:sp>
      <p:pic>
        <p:nvPicPr>
          <p:cNvPr id="11" name="icon-691" descr="preencoded.png">    </p:cNvPr>
          <p:cNvPicPr>
            <a:picLocks noChangeAspect="1"/>
          </p:cNvPicPr>
          <p:nvPr/>
        </p:nvPicPr>
        <p:blipFill>
          <a:blip r:embed="rId2"/>
          <a:stretch>
            <a:fillRect/>
          </a:stretch>
        </p:blipFill>
        <p:spPr>
          <a:xfrm>
            <a:off x="999439" y="4291279"/>
            <a:ext cx="332842" cy="332842"/>
          </a:xfrm>
          <a:prstGeom prst="rect">
            <a:avLst/>
          </a:prstGeom>
        </p:spPr>
      </p:pic>
      <p:sp>
        <p:nvSpPr>
          <p:cNvPr id="12" name="text-692"/>
          <p:cNvSpPr txBox="1"/>
          <p:nvPr/>
        </p:nvSpPr>
        <p:spPr>
          <a:xfrm>
            <a:off x="868680" y="4800600"/>
            <a:ext cx="2875178" cy="731520"/>
          </a:xfrm>
          <a:prstGeom prst="rect">
            <a:avLst/>
          </a:prstGeom>
          <a:noFill/>
          <a:ln/>
        </p:spPr>
        <p:txBody>
          <a:bodyPr wrap="square" lIns="0" tIns="0" rIns="0" bIns="0" rtlCol="0" anchor="t"/>
          <a:lstStyle/>
          <a:p>
            <a:pPr indent="0" marL="0">
              <a:buNone/>
            </a:pPr>
            <a:r>
              <a:rPr lang="en-US" sz="1700" dirty="0">
                <a:solidFill>
                  <a:schemeClr val="tx1"/>
                </a:solidFill>
              </a:rPr>
              <a:t>Same sheet or link as this morning</a:t>
            </a:r>
            <a:endParaRPr lang="en-US" sz="1700" dirty="0"/>
          </a:p>
        </p:txBody>
      </p:sp>
      <p:sp>
        <p:nvSpPr>
          <p:cNvPr id="13" name="card-693"/>
          <p:cNvSpPr/>
          <p:nvPr/>
        </p:nvSpPr>
        <p:spPr>
          <a:xfrm>
            <a:off x="4338218" y="3840480"/>
            <a:ext cx="3515258" cy="1828800"/>
          </a:xfrm>
          <a:prstGeom prst="roundRect">
            <a:avLst>
              <a:gd name="adj" fmla="val 6000"/>
            </a:avLst>
          </a:prstGeom>
          <a:solidFill>
            <a:schemeClr val="bg2"/>
          </a:solidFill>
          <a:ln/>
        </p:spPr>
      </p:sp>
      <p:sp>
        <p:nvSpPr>
          <p:cNvPr id="14" name="dot-694"/>
          <p:cNvSpPr/>
          <p:nvPr/>
        </p:nvSpPr>
        <p:spPr>
          <a:xfrm>
            <a:off x="4658258" y="4160520"/>
            <a:ext cx="594360" cy="594360"/>
          </a:xfrm>
          <a:prstGeom prst="ellipse">
            <a:avLst/>
          </a:prstGeom>
          <a:solidFill>
            <a:schemeClr val="tx1"/>
          </a:solidFill>
          <a:ln/>
        </p:spPr>
      </p:sp>
      <p:pic>
        <p:nvPicPr>
          <p:cNvPr id="15" name="icon-695" descr="preencoded.png">    </p:cNvPr>
          <p:cNvPicPr>
            <a:picLocks noChangeAspect="1"/>
          </p:cNvPicPr>
          <p:nvPr/>
        </p:nvPicPr>
        <p:blipFill>
          <a:blip r:embed="rId3"/>
          <a:stretch>
            <a:fillRect/>
          </a:stretch>
        </p:blipFill>
        <p:spPr>
          <a:xfrm>
            <a:off x="4789018" y="4291279"/>
            <a:ext cx="332842" cy="332842"/>
          </a:xfrm>
          <a:prstGeom prst="rect">
            <a:avLst/>
          </a:prstGeom>
        </p:spPr>
      </p:pic>
      <p:sp>
        <p:nvSpPr>
          <p:cNvPr id="16" name="text-696"/>
          <p:cNvSpPr txBox="1"/>
          <p:nvPr/>
        </p:nvSpPr>
        <p:spPr>
          <a:xfrm>
            <a:off x="4658258" y="4800600"/>
            <a:ext cx="2875178" cy="731520"/>
          </a:xfrm>
          <a:prstGeom prst="rect">
            <a:avLst/>
          </a:prstGeom>
          <a:noFill/>
          <a:ln/>
        </p:spPr>
        <p:txBody>
          <a:bodyPr wrap="square" lIns="0" tIns="0" rIns="0" bIns="0" rtlCol="0" anchor="t"/>
          <a:lstStyle/>
          <a:p>
            <a:pPr indent="0" marL="0">
              <a:buNone/>
            </a:pPr>
            <a:r>
              <a:rPr lang="en-US" sz="1700" dirty="0">
                <a:solidFill>
                  <a:schemeClr val="tx1"/>
                </a:solidFill>
              </a:rPr>
              <a:t>Still not graded, still anonymous</a:t>
            </a:r>
            <a:endParaRPr lang="en-US" sz="1700" dirty="0"/>
          </a:p>
        </p:txBody>
      </p:sp>
      <p:sp>
        <p:nvSpPr>
          <p:cNvPr id="17" name="card-697"/>
          <p:cNvSpPr/>
          <p:nvPr/>
        </p:nvSpPr>
        <p:spPr>
          <a:xfrm>
            <a:off x="8127797" y="3840480"/>
            <a:ext cx="3515258" cy="1828800"/>
          </a:xfrm>
          <a:prstGeom prst="roundRect">
            <a:avLst>
              <a:gd name="adj" fmla="val 6000"/>
            </a:avLst>
          </a:prstGeom>
          <a:solidFill>
            <a:schemeClr val="bg2"/>
          </a:solidFill>
          <a:ln/>
        </p:spPr>
      </p:sp>
      <p:sp>
        <p:nvSpPr>
          <p:cNvPr id="18" name="dot-698"/>
          <p:cNvSpPr/>
          <p:nvPr/>
        </p:nvSpPr>
        <p:spPr>
          <a:xfrm>
            <a:off x="8447837" y="4160520"/>
            <a:ext cx="594360" cy="594360"/>
          </a:xfrm>
          <a:prstGeom prst="ellipse">
            <a:avLst/>
          </a:prstGeom>
          <a:solidFill>
            <a:schemeClr val="tx1"/>
          </a:solidFill>
          <a:ln/>
        </p:spPr>
      </p:sp>
      <p:pic>
        <p:nvPicPr>
          <p:cNvPr id="19" name="icon-699" descr="preencoded.png">    </p:cNvPr>
          <p:cNvPicPr>
            <a:picLocks noChangeAspect="1"/>
          </p:cNvPicPr>
          <p:nvPr/>
        </p:nvPicPr>
        <p:blipFill>
          <a:blip r:embed="rId4"/>
          <a:stretch>
            <a:fillRect/>
          </a:stretch>
        </p:blipFill>
        <p:spPr>
          <a:xfrm>
            <a:off x="8578596" y="4291279"/>
            <a:ext cx="332842" cy="332842"/>
          </a:xfrm>
          <a:prstGeom prst="rect">
            <a:avLst/>
          </a:prstGeom>
        </p:spPr>
      </p:pic>
      <p:sp>
        <p:nvSpPr>
          <p:cNvPr id="20" name="text-700"/>
          <p:cNvSpPr txBox="1"/>
          <p:nvPr/>
        </p:nvSpPr>
        <p:spPr>
          <a:xfrm>
            <a:off x="8447837" y="4800600"/>
            <a:ext cx="2875178" cy="731520"/>
          </a:xfrm>
          <a:prstGeom prst="rect">
            <a:avLst/>
          </a:prstGeom>
          <a:noFill/>
          <a:ln/>
        </p:spPr>
        <p:txBody>
          <a:bodyPr wrap="square" lIns="0" tIns="0" rIns="0" bIns="0" rtlCol="0" anchor="t"/>
          <a:lstStyle/>
          <a:p>
            <a:pPr indent="0" marL="0">
              <a:buNone/>
            </a:pPr>
            <a:r>
              <a:rPr lang="en-US" sz="1700" dirty="0">
                <a:solidFill>
                  <a:schemeClr val="tx1"/>
                </a:solidFill>
              </a:rPr>
              <a:t>“I don't know yet” is still a fine answer</a:t>
            </a:r>
            <a:endParaRPr lang="en-US" sz="17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Your action plan</a:t>
            </a:r>
            <a:endParaRPr lang="en-US" sz="3400" dirty="0"/>
          </a:p>
        </p:txBody>
      </p:sp>
      <p:sp>
        <p:nvSpPr>
          <p:cNvPr id="3" name="badge-701"/>
          <p:cNvSpPr/>
          <p:nvPr/>
        </p:nvSpPr>
        <p:spPr>
          <a:xfrm>
            <a:off x="10042855" y="502920"/>
            <a:ext cx="1600200" cy="457200"/>
          </a:xfrm>
          <a:prstGeom prst="roundRect">
            <a:avLst>
              <a:gd name="adj" fmla="val 50000"/>
            </a:avLst>
          </a:prstGeom>
          <a:solidFill>
            <a:schemeClr val="bg2"/>
          </a:solidFill>
          <a:ln/>
        </p:spPr>
      </p:sp>
      <p:sp>
        <p:nvSpPr>
          <p:cNvPr id="4" name="text-702"/>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6 min</a:t>
            </a:r>
            <a:endParaRPr lang="en-US" sz="1600" dirty="0"/>
          </a:p>
        </p:txBody>
      </p:sp>
      <p:sp>
        <p:nvSpPr>
          <p:cNvPr id="5" name="card-703"/>
          <p:cNvSpPr/>
          <p:nvPr/>
        </p:nvSpPr>
        <p:spPr>
          <a:xfrm>
            <a:off x="548640" y="1554480"/>
            <a:ext cx="3515258" cy="3566160"/>
          </a:xfrm>
          <a:prstGeom prst="roundRect">
            <a:avLst>
              <a:gd name="adj" fmla="val 3121"/>
            </a:avLst>
          </a:prstGeom>
          <a:solidFill>
            <a:schemeClr val="tx1"/>
          </a:solidFill>
          <a:ln/>
        </p:spPr>
      </p:sp>
      <p:sp>
        <p:nvSpPr>
          <p:cNvPr id="6" name="text-704"/>
          <p:cNvSpPr txBox="1"/>
          <p:nvPr/>
        </p:nvSpPr>
        <p:spPr>
          <a:xfrm>
            <a:off x="868680" y="1783080"/>
            <a:ext cx="914400" cy="731520"/>
          </a:xfrm>
          <a:prstGeom prst="rect">
            <a:avLst/>
          </a:prstGeom>
          <a:noFill/>
          <a:ln/>
        </p:spPr>
        <p:txBody>
          <a:bodyPr wrap="square" lIns="0" tIns="0" rIns="0" bIns="0" rtlCol="0" anchor="t"/>
          <a:lstStyle/>
          <a:p>
            <a:pPr indent="0" marL="0">
              <a:buNone/>
            </a:pPr>
            <a:r>
              <a:rPr lang="en-US" sz="4400" b="1" dirty="0">
                <a:solidFill>
                  <a:schemeClr val="accent1"/>
                </a:solidFill>
              </a:rPr>
              <a:t>1</a:t>
            </a:r>
            <a:endParaRPr lang="en-US" sz="4400" dirty="0"/>
          </a:p>
        </p:txBody>
      </p:sp>
      <p:sp>
        <p:nvSpPr>
          <p:cNvPr id="7" name="text-705"/>
          <p:cNvSpPr txBox="1"/>
          <p:nvPr/>
        </p:nvSpPr>
        <p:spPr>
          <a:xfrm>
            <a:off x="868680" y="2697480"/>
            <a:ext cx="2875178" cy="1645920"/>
          </a:xfrm>
          <a:prstGeom prst="rect">
            <a:avLst/>
          </a:prstGeom>
          <a:noFill/>
          <a:ln/>
        </p:spPr>
        <p:txBody>
          <a:bodyPr wrap="square" lIns="0" tIns="0" rIns="0" bIns="0" rtlCol="0" anchor="t"/>
          <a:lstStyle/>
          <a:p>
            <a:pPr indent="0" marL="0">
              <a:buNone/>
            </a:pPr>
            <a:r>
              <a:rPr lang="en-US" sz="2100" b="1" dirty="0">
                <a:solidFill>
                  <a:schemeClr val="bg1"/>
                </a:solidFill>
              </a:rPr>
              <a:t>One thing I'll do with Gemini in the next week</a:t>
            </a:r>
            <a:endParaRPr lang="en-US" sz="2100" dirty="0"/>
          </a:p>
        </p:txBody>
      </p:sp>
      <p:sp>
        <p:nvSpPr>
          <p:cNvPr id="8" name="card-706"/>
          <p:cNvSpPr/>
          <p:nvPr/>
        </p:nvSpPr>
        <p:spPr>
          <a:xfrm>
            <a:off x="4338218" y="1554480"/>
            <a:ext cx="3515258" cy="3566160"/>
          </a:xfrm>
          <a:prstGeom prst="roundRect">
            <a:avLst>
              <a:gd name="adj" fmla="val 3121"/>
            </a:avLst>
          </a:prstGeom>
          <a:solidFill>
            <a:schemeClr val="bg2"/>
          </a:solidFill>
          <a:ln/>
        </p:spPr>
      </p:sp>
      <p:sp>
        <p:nvSpPr>
          <p:cNvPr id="9" name="text-707"/>
          <p:cNvSpPr txBox="1"/>
          <p:nvPr/>
        </p:nvSpPr>
        <p:spPr>
          <a:xfrm>
            <a:off x="4658258" y="1783080"/>
            <a:ext cx="914400" cy="731520"/>
          </a:xfrm>
          <a:prstGeom prst="rect">
            <a:avLst/>
          </a:prstGeom>
          <a:noFill/>
          <a:ln/>
        </p:spPr>
        <p:txBody>
          <a:bodyPr wrap="square" lIns="0" tIns="0" rIns="0" bIns="0" rtlCol="0" anchor="t"/>
          <a:lstStyle/>
          <a:p>
            <a:pPr indent="0" marL="0">
              <a:buNone/>
            </a:pPr>
            <a:r>
              <a:rPr lang="en-US" sz="4400" b="1" dirty="0">
                <a:solidFill>
                  <a:schemeClr val="accent1"/>
                </a:solidFill>
              </a:rPr>
              <a:t>2</a:t>
            </a:r>
            <a:endParaRPr lang="en-US" sz="4400" dirty="0"/>
          </a:p>
        </p:txBody>
      </p:sp>
      <p:sp>
        <p:nvSpPr>
          <p:cNvPr id="10" name="text-708"/>
          <p:cNvSpPr txBox="1"/>
          <p:nvPr/>
        </p:nvSpPr>
        <p:spPr>
          <a:xfrm>
            <a:off x="4658258" y="2697480"/>
            <a:ext cx="2875178" cy="1645920"/>
          </a:xfrm>
          <a:prstGeom prst="rect">
            <a:avLst/>
          </a:prstGeom>
          <a:noFill/>
          <a:ln/>
        </p:spPr>
        <p:txBody>
          <a:bodyPr wrap="square" lIns="0" tIns="0" rIns="0" bIns="0" rtlCol="0" anchor="t"/>
          <a:lstStyle/>
          <a:p>
            <a:pPr indent="0" marL="0">
              <a:buNone/>
            </a:pPr>
            <a:r>
              <a:rPr lang="en-US" sz="2100" b="1" dirty="0">
                <a:solidFill>
                  <a:schemeClr val="tx1"/>
                </a:solidFill>
              </a:rPr>
              <a:t>What might get in the way</a:t>
            </a:r>
            <a:endParaRPr lang="en-US" sz="2100" dirty="0"/>
          </a:p>
        </p:txBody>
      </p:sp>
      <p:sp>
        <p:nvSpPr>
          <p:cNvPr id="11" name="card-709"/>
          <p:cNvSpPr/>
          <p:nvPr/>
        </p:nvSpPr>
        <p:spPr>
          <a:xfrm>
            <a:off x="8127797" y="1554480"/>
            <a:ext cx="3515258" cy="3566160"/>
          </a:xfrm>
          <a:prstGeom prst="roundRect">
            <a:avLst>
              <a:gd name="adj" fmla="val 3121"/>
            </a:avLst>
          </a:prstGeom>
          <a:solidFill>
            <a:schemeClr val="bg2"/>
          </a:solidFill>
          <a:ln/>
        </p:spPr>
      </p:sp>
      <p:sp>
        <p:nvSpPr>
          <p:cNvPr id="12" name="text-710"/>
          <p:cNvSpPr txBox="1"/>
          <p:nvPr/>
        </p:nvSpPr>
        <p:spPr>
          <a:xfrm>
            <a:off x="8447837" y="1783080"/>
            <a:ext cx="914400" cy="731520"/>
          </a:xfrm>
          <a:prstGeom prst="rect">
            <a:avLst/>
          </a:prstGeom>
          <a:noFill/>
          <a:ln/>
        </p:spPr>
        <p:txBody>
          <a:bodyPr wrap="square" lIns="0" tIns="0" rIns="0" bIns="0" rtlCol="0" anchor="t"/>
          <a:lstStyle/>
          <a:p>
            <a:pPr indent="0" marL="0">
              <a:buNone/>
            </a:pPr>
            <a:r>
              <a:rPr lang="en-US" sz="4400" b="1" dirty="0">
                <a:solidFill>
                  <a:schemeClr val="accent1"/>
                </a:solidFill>
              </a:rPr>
              <a:t>3</a:t>
            </a:r>
            <a:endParaRPr lang="en-US" sz="4400" dirty="0"/>
          </a:p>
        </p:txBody>
      </p:sp>
      <p:sp>
        <p:nvSpPr>
          <p:cNvPr id="13" name="text-711"/>
          <p:cNvSpPr txBox="1"/>
          <p:nvPr/>
        </p:nvSpPr>
        <p:spPr>
          <a:xfrm>
            <a:off x="8447837" y="2697480"/>
            <a:ext cx="2875178" cy="1645920"/>
          </a:xfrm>
          <a:prstGeom prst="rect">
            <a:avLst/>
          </a:prstGeom>
          <a:noFill/>
          <a:ln/>
        </p:spPr>
        <p:txBody>
          <a:bodyPr wrap="square" lIns="0" tIns="0" rIns="0" bIns="0" rtlCol="0" anchor="t"/>
          <a:lstStyle/>
          <a:p>
            <a:pPr indent="0" marL="0">
              <a:buNone/>
            </a:pPr>
            <a:r>
              <a:rPr lang="en-US" sz="2100" b="1" dirty="0">
                <a:solidFill>
                  <a:schemeClr val="tx1"/>
                </a:solidFill>
              </a:rPr>
              <a:t>Who or what will help</a:t>
            </a:r>
            <a:endParaRPr lang="en-US" sz="2100" dirty="0"/>
          </a:p>
        </p:txBody>
      </p:sp>
      <p:sp>
        <p:nvSpPr>
          <p:cNvPr id="14" name="text-712"/>
          <p:cNvSpPr txBox="1"/>
          <p:nvPr/>
        </p:nvSpPr>
        <p:spPr>
          <a:xfrm>
            <a:off x="548640" y="5440680"/>
            <a:ext cx="11094415" cy="457200"/>
          </a:xfrm>
          <a:prstGeom prst="rect">
            <a:avLst/>
          </a:prstGeom>
          <a:noFill/>
          <a:ln/>
        </p:spPr>
        <p:txBody>
          <a:bodyPr wrap="square" lIns="0" tIns="0" rIns="0" bIns="0" rtlCol="0" anchor="t"/>
          <a:lstStyle/>
          <a:p>
            <a:pPr indent="0" marL="0">
              <a:buNone/>
            </a:pPr>
            <a:r>
              <a:rPr lang="en-US" sz="1900" b="1" dirty="0">
                <a:solidFill>
                  <a:schemeClr val="tx1"/>
                </a:solidFill>
              </a:rPr>
              <a:t>Make #1 specific: </a:t>
            </a:r>
            <a:pPr indent="0" marL="0">
              <a:buNone/>
            </a:pPr>
            <a:r>
              <a:rPr lang="en-US" sz="1900" dirty="0">
                <a:solidFill>
                  <a:schemeClr val="tx1"/>
                </a:solidFill>
              </a:rPr>
              <a:t>which task, which saved prompt, which day.</a:t>
            </a:r>
            <a:endParaRPr lang="en-US" sz="1900" dirty="0"/>
          </a:p>
        </p:txBody>
      </p:sp>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548640" y="365760"/>
            <a:ext cx="9082735" cy="868680"/>
          </a:xfrm>
          <a:prstGeom prst="rect">
            <a:avLst/>
          </a:prstGeom>
          <a:noFill/>
          <a:ln/>
        </p:spPr>
        <p:txBody>
          <a:bodyPr wrap="square" lIns="0" tIns="0" rIns="0" bIns="0" rtlCol="0" anchor="ctr"/>
          <a:lstStyle/>
          <a:p>
            <a:pPr algn="l" indent="0" marL="0">
              <a:buNone/>
            </a:pPr>
            <a:r>
              <a:rPr lang="en-US" sz="3400" b="1" dirty="0">
                <a:solidFill>
                  <a:schemeClr val="tx1"/>
                </a:solidFill>
              </a:rPr>
              <a:t>Tell us how it went</a:t>
            </a:r>
            <a:endParaRPr lang="en-US" sz="3400" dirty="0"/>
          </a:p>
        </p:txBody>
      </p:sp>
      <p:sp>
        <p:nvSpPr>
          <p:cNvPr id="3" name="badge-713"/>
          <p:cNvSpPr/>
          <p:nvPr/>
        </p:nvSpPr>
        <p:spPr>
          <a:xfrm>
            <a:off x="10042855" y="502920"/>
            <a:ext cx="1600200" cy="457200"/>
          </a:xfrm>
          <a:prstGeom prst="roundRect">
            <a:avLst>
              <a:gd name="adj" fmla="val 50000"/>
            </a:avLst>
          </a:prstGeom>
          <a:solidFill>
            <a:schemeClr val="bg2"/>
          </a:solidFill>
          <a:ln/>
        </p:spPr>
      </p:sp>
      <p:sp>
        <p:nvSpPr>
          <p:cNvPr id="4" name="text-714"/>
          <p:cNvSpPr txBox="1"/>
          <p:nvPr/>
        </p:nvSpPr>
        <p:spPr>
          <a:xfrm>
            <a:off x="10042855" y="502920"/>
            <a:ext cx="1600200" cy="457200"/>
          </a:xfrm>
          <a:prstGeom prst="rect">
            <a:avLst/>
          </a:prstGeom>
          <a:noFill/>
          <a:ln/>
        </p:spPr>
        <p:txBody>
          <a:bodyPr wrap="square" lIns="0" tIns="0" rIns="0" bIns="0" rtlCol="0" anchor="ctr"/>
          <a:lstStyle/>
          <a:p>
            <a:pPr algn="ctr" indent="0" marL="0">
              <a:buNone/>
            </a:pPr>
            <a:r>
              <a:rPr lang="en-US" sz="1600" b="1" dirty="0">
                <a:solidFill>
                  <a:schemeClr val="tx1"/>
                </a:solidFill>
              </a:rPr>
              <a:t>5 min</a:t>
            </a:r>
            <a:endParaRPr lang="en-US" sz="1600" dirty="0"/>
          </a:p>
        </p:txBody>
      </p:sp>
      <p:sp>
        <p:nvSpPr>
          <p:cNvPr id="5" name="text-715"/>
          <p:cNvSpPr txBox="1"/>
          <p:nvPr/>
        </p:nvSpPr>
        <p:spPr>
          <a:xfrm>
            <a:off x="548640" y="2377440"/>
            <a:ext cx="6858000" cy="640080"/>
          </a:xfrm>
          <a:prstGeom prst="rect">
            <a:avLst/>
          </a:prstGeom>
          <a:noFill/>
          <a:ln/>
        </p:spPr>
        <p:txBody>
          <a:bodyPr wrap="square" lIns="0" tIns="0" rIns="0" bIns="0" rtlCol="0" anchor="t"/>
          <a:lstStyle/>
          <a:p>
            <a:pPr indent="0" marL="0">
              <a:buNone/>
            </a:pPr>
            <a:r>
              <a:rPr lang="en-US" sz="3000" b="1" dirty="0">
                <a:solidFill>
                  <a:schemeClr val="tx1"/>
                </a:solidFill>
              </a:rPr>
              <a:t>One page. Anonymous. Five minutes.</a:t>
            </a:r>
            <a:endParaRPr lang="en-US" sz="3000" dirty="0"/>
          </a:p>
        </p:txBody>
      </p:sp>
      <p:sp>
        <p:nvSpPr>
          <p:cNvPr id="6" name="text-716"/>
          <p:cNvSpPr txBox="1"/>
          <p:nvPr/>
        </p:nvSpPr>
        <p:spPr>
          <a:xfrm>
            <a:off x="548640" y="3200400"/>
            <a:ext cx="6675120" cy="1280160"/>
          </a:xfrm>
          <a:prstGeom prst="rect">
            <a:avLst/>
          </a:prstGeom>
          <a:noFill/>
          <a:ln/>
        </p:spPr>
        <p:txBody>
          <a:bodyPr wrap="square" lIns="0" tIns="0" rIns="0" bIns="0" rtlCol="0" anchor="t"/>
          <a:lstStyle/>
          <a:p>
            <a:pPr indent="0" marL="0">
              <a:buNone/>
            </a:pPr>
            <a:r>
              <a:rPr lang="en-US" sz="2100" dirty="0">
                <a:solidFill>
                  <a:schemeClr val="tx2"/>
                </a:solidFill>
              </a:rPr>
              <a:t>What was most useful? What would you cut? Every form is read, and the course changes because of them.</a:t>
            </a:r>
            <a:endParaRPr lang="en-US" sz="2100" dirty="0"/>
          </a:p>
        </p:txBody>
      </p:sp>
      <p:sp>
        <p:nvSpPr>
          <p:cNvPr id="7" name="dot-717"/>
          <p:cNvSpPr/>
          <p:nvPr/>
        </p:nvSpPr>
        <p:spPr>
          <a:xfrm>
            <a:off x="8503920" y="2194560"/>
            <a:ext cx="2377440" cy="2377440"/>
          </a:xfrm>
          <a:prstGeom prst="ellipse">
            <a:avLst/>
          </a:prstGeom>
          <a:solidFill>
            <a:schemeClr val="accent1"/>
          </a:solidFill>
          <a:ln/>
        </p:spPr>
      </p:sp>
      <p:pic>
        <p:nvPicPr>
          <p:cNvPr id="8" name="icon-718" descr="preencoded.png">    </p:cNvPr>
          <p:cNvPicPr>
            <a:picLocks noChangeAspect="1"/>
          </p:cNvPicPr>
          <p:nvPr/>
        </p:nvPicPr>
        <p:blipFill>
          <a:blip r:embed="rId1"/>
          <a:stretch>
            <a:fillRect/>
          </a:stretch>
        </p:blipFill>
        <p:spPr>
          <a:xfrm>
            <a:off x="9026957" y="2717597"/>
            <a:ext cx="1331366" cy="1331366"/>
          </a:xfrm>
          <a:prstGeom prst="rect">
            <a:avLst/>
          </a:prstGeom>
        </p:spPr>
      </p:pic>
      <p:sp>
        <p:nvSpPr>
          <p:cNvPr id="25" name="Slide Number Placeholder 0"/>
          <p:cNvSpPr>
            <a:spLocks noGrp="1"/>
          </p:cNvSpPr>
          <p:nvPr>
            <p:ph type="sldNum" sz="quarter" idx="4294967295"/>
          </p:nvPr>
        </p:nvSpPr>
        <p:spPr>
          <a:xfrm>
            <a:off x="10362895" y="6382512"/>
            <a:ext cx="7772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56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2" type="title" hasCustomPrompt="1"/>
          </p:nvPr>
        </p:nvSpPr>
        <p:spPr>
          <a:xfrm>
            <a:off x="548640" y="2103120"/>
            <a:ext cx="9875520" cy="155448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0"/>
          <p:cNvSpPr/>
          <p:nvPr>
            <p:ph idx="103" type="body" hasCustomPrompt="1"/>
          </p:nvPr>
        </p:nvSpPr>
        <p:spPr>
          <a:xfrm>
            <a:off x="548640" y="3794760"/>
            <a:ext cx="9875520" cy="731520"/>
          </a:xfrm>
          <a:prstGeom prst="rect">
            <a:avLst/>
          </a:prstGeom>
          <a:noFill/>
          <a:ln/>
        </p:spPr>
        <p:txBody>
          <a:bodyPr wrap="square" lIns="0" tIns="0" rIns="0" bIns="0" rtlCol="0" anchor="t"/>
          <a:lstStyle/>
          <a:p>
            <a:pPr algn="l" indent="0" marL="0">
              <a:buNone/>
            </a:pPr>
            <a:r>
              <a:rPr lang="en-US" sz="2400" dirty="0">
                <a:solidFill>
                  <a:schemeClr val="accent3"/>
                </a:solidFill>
              </a:rPr>
              <a:t>Use your saved prompt on one real task this week.</a:t>
            </a:r>
            <a:endParaRPr lang="en-US" sz="2400" dirty="0"/>
          </a:p>
        </p:txBody>
      </p:sp>
      <p:sp>
        <p:nvSpPr>
          <p:cNvPr id="4" name="Text 0"/>
          <p:cNvSpPr/>
          <p:nvPr>
            <p:ph idx="104" type="body" hasCustomPrompt="1"/>
          </p:nvPr>
        </p:nvSpPr>
        <p:spPr>
          <a:xfrm>
            <a:off x="548640" y="4754880"/>
            <a:ext cx="7863840" cy="822960"/>
          </a:xfrm>
          <a:prstGeom prst="rect">
            <a:avLst/>
          </a:prstGeom>
          <a:noFill/>
          <a:ln/>
        </p:spPr>
        <p:txBody>
          <a:bodyPr wrap="square" lIns="0" tIns="0" rIns="0" bIns="0" rtlCol="0" anchor="t"/>
          <a:lstStyle/>
          <a:p>
            <a:pPr algn="l" indent="0" marL="0">
              <a:buNone/>
            </a:pPr>
            <a:r>
              <a:rPr lang="en-US" sz="1600" dirty="0">
                <a:solidFill>
                  <a:schemeClr val="bg1"/>
                </a:solidFill>
              </a:rPr>
              <a:t>Keep practising: your workbook, your saved Gemini skill, and Google's Gemini prompt guide (linked in the follow-up email).</a:t>
            </a:r>
            <a:endParaRPr lang="en-US" sz="1600" dirty="0"/>
          </a:p>
        </p:txBody>
      </p:sp>
    </p:spTree>
  </p:cSld>
  <p:clrMapOvr>
    <a:masterClrMapping/>
  </p:clrMapOvr>
</p:sld>
</file>

<file path=ppt/theme/theme1.xml><?xml version="1.0" encoding="utf-8"?>
<a:theme xmlns:a="http://schemas.openxmlformats.org/drawingml/2006/main" name="UNO Black and Red">
  <a:themeElements>
    <a:clrScheme name="UNO Black and Red">
      <a:dk1>
        <a:srgbClr val="000000"/>
      </a:dk1>
      <a:lt1>
        <a:srgbClr val="FFFFFF"/>
      </a:lt1>
      <a:dk2>
        <a:srgbClr val="636568"/>
      </a:dk2>
      <a:lt2>
        <a:srgbClr val="EFEFEF"/>
      </a:lt2>
      <a:accent1>
        <a:srgbClr val="D71920"/>
      </a:accent1>
      <a:accent2>
        <a:srgbClr val="262626"/>
      </a:accent2>
      <a:accent3>
        <a:srgbClr val="BCBBBA"/>
      </a:accent3>
      <a:accent4>
        <a:srgbClr val="636568"/>
      </a:accent4>
      <a:accent5>
        <a:srgbClr val="8E8F91"/>
      </a:accent5>
      <a:accent6>
        <a:srgbClr val="000000"/>
      </a:accent6>
      <a:hlink>
        <a:srgbClr val="D71920"/>
      </a:hlink>
      <a:folHlink>
        <a:srgbClr val="636568"/>
      </a:folHlink>
    </a:clrScheme>
    <a:fontScheme name="UNO Black and Re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University of Nebraska at Omaha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Essentials</dc:title>
  <dc:subject>A one-day prompt engineering workshop for professionals</dc:subject>
  <dc:creator>PptxGenJS</dc:creator>
  <cp:lastModifiedBy>PptxGenJS</cp:lastModifiedBy>
  <cp:revision>1</cp:revision>
  <dcterms:created xsi:type="dcterms:W3CDTF">2026-10-16T15:58:02Z</dcterms:created>
  <dcterms:modified xsi:type="dcterms:W3CDTF">2026-10-16T15:58:02Z</dcterms:modified>
</cp:coreProperties>
</file>