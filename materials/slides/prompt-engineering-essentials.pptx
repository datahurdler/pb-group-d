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0 Welcome" id="{8f33813b-f18d-0155-2478-c0bdc1106e07}">
          <p14:sldIdLst>
            <p14:sldId id="256"/>
            <p14:sldId id="257"/>
            <p14:sldId id="258"/>
            <p14:sldId id="259"/>
            <p14:sldId id="260"/>
            <p14:sldId id="261"/>
            <p14:sldId id="262"/>
            <p14:sldId id="263"/>
          </p14:sldIdLst>
        </p14:section>
        <p14:section name="01 Foundations" id="{b56e2ca7-20c0-c93e-605e-55938f0700e4}">
          <p14:sldIdLst>
            <p14:sldId id="264"/>
            <p14:sldId id="265"/>
            <p14:sldId id="266"/>
            <p14:sldId id="267"/>
            <p14:sldId id="268"/>
            <p14:sldId id="269"/>
            <p14:sldId id="270"/>
            <p14:sldId id="271"/>
            <p14:sldId id="272"/>
            <p14:sldId id="273"/>
            <p14:sldId id="274"/>
            <p14:sldId id="275"/>
          </p14:sldIdLst>
        </p14:section>
        <p14:section name="02 Core skills" id="{6aad7874-871f-413f-d3bc-f509455f8256}">
          <p14:sldIdLst>
            <p14:sldId id="276"/>
            <p14:sldId id="277"/>
            <p14:sldId id="278"/>
            <p14:sldId id="279"/>
            <p14:sldId id="280"/>
            <p14:sldId id="281"/>
            <p14:sldId id="282"/>
            <p14:sldId id="283"/>
            <p14:sldId id="284"/>
            <p14:sldId id="285"/>
            <p14:sldId id="286"/>
            <p14:sldId id="287"/>
            <p14:sldId id="288"/>
          </p14:sldIdLst>
        </p14:section>
        <p14:section name="03 Applied practice" id="{b8a91732-8e87-0a64-96df-d2dc9fce07e2}">
          <p14:sldIdLst>
            <p14:sldId id="289"/>
            <p14:sldId id="290"/>
            <p14:sldId id="291"/>
            <p14:sldId id="292"/>
            <p14:sldId id="293"/>
            <p14:sldId id="294"/>
            <p14:sldId id="295"/>
            <p14:sldId id="296"/>
          </p14:sldIdLst>
        </p14:section>
        <p14:section name="04 Capstone" id="{8b0d667e-6cf3-83f1-68ae-5cb27a32b3a5}">
          <p14:sldIdLst>
            <p14:sldId id="297"/>
            <p14:sldId id="298"/>
            <p14:sldId id="299"/>
            <p14:sldId id="300"/>
            <p14:sldId id="301"/>
          </p14:sldIdLst>
        </p14:section>
        <p14:section name="05 Wrap-up" id="{a0571aff-1c84-2b44-4740-f7bdc0140680}">
          <p14:sldIdLst>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Likelihood</c:v>
                </c:pt>
              </c:strCache>
            </c:strRef>
          </c:tx>
          <c:spPr>
            <a:solidFill>
              <a:srgbClr val="000000"/>
            </a:solidFill>
            <a:effectLst/>
          </c:spPr>
          <c:invertIfNegative val="0"/>
          <c:dLbls>
            <c:numFmt formatCode="0&quot;%&quot;"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Thursday</c:v>
                  </c:pt>
                  <c:pt idx="1">
                    <c:v>Friday</c:v>
                  </c:pt>
                  <c:pt idx="2">
                    <c:v>next</c:v>
                  </c:pt>
                  <c:pt idx="3">
                    <c:v>Monday</c:v>
                  </c:pt>
                  <c:pt idx="4">
                    <c:v>the</c:v>
                  </c:pt>
                </c:lvl>
              </c:multiLvlStrCache>
            </c:multiLvlStrRef>
          </c:cat>
          <c:val>
            <c:numRef>
              <c:f>Sheet1!$B$2:$B$6</c:f>
              <c:numCache>
                <c:formatCode>General</c:formatCode>
                <c:ptCount val="5"/>
                <c:pt idx="0">
                  <c:v>38</c:v>
                </c:pt>
                <c:pt idx="1">
                  <c:v>21</c:v>
                </c:pt>
                <c:pt idx="2">
                  <c:v>14</c:v>
                </c:pt>
                <c:pt idx="3">
                  <c:v>9</c:v>
                </c:pt>
                <c:pt idx="4">
                  <c:v>8</c:v>
                </c:pt>
              </c:numCache>
            </c:numRef>
          </c:val>
        </c:ser>
        <c:dLbls>
          <c:numFmt formatCode="0&quot;%&quot;" sourceLinked="0"/>
          <c:txPr>
            <a:bodyPr/>
            <a:lstStyle/>
            <a:p>
              <a:pPr>
                <a:defRPr b="0" i="0" strike="noStrike" sz="1400" u="none">
                  <a:solidFill>
                    <a:srgbClr val="00000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9:00: have this slide up, Wi-Fi details on the table cards, workbook link ready to share.
Add your name and the date to this slide if you like.
9:00 sharp: welcome everyone. Today is about getting AI chat tools to do useful work for you, reliably. No technical background needed: if you can write an email, you can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9:00–9:05. Logistics: restrooms, breaks, lunch, finish time. Say the finish time out loud: 4:00.
Mention the shape of the day: more than half of it is you working with an AI tool, not listening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9:05–9:13. Pairs, two minutes each way. Then 3–4 volunteers share their partner's 'one thing'. Write recurring themes on the flipchart: you'll come back to them at 3:30.
Welcome scepticism as well as enthusiasm: 'a healthy dose of scepticism is exactly the right attitude, and by this afternoon you'll know when to trust it and when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9:13–9:20. Hand out the pre-check (assessment/pre-post-check.md) or share the link. Stress: not graded, blanks are fine. The check code lets us match morning and afternoon without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9:20–9:25 (with the next two slides). These are the five learning outcomes. Read them as plain promises. Number 5 is what you'll take back to work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ideas all come before lunch. The afternoon is practice: a realistic case, then your own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moment on the last one. Fictional data is the first habit of responsible AI use: everything in your workbook is invented for that reason. We'll come back to it after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9:25–9:30. Seeing a response proves the account, browser, and Wi-Fi all work. Anyone stuck: pair them with a neighbour (or lend the backup account) and fix it at the 10:30 break. Don't debug during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Two big ideas this hour: what these tools actually do (and why they fail), and the five elements of a prompt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9:30–9:35. Hook. Show the prompt, ask 'how would you make this better?' before revealing the guesses. Collect a few answers. Promise: by 10:30 you'll be able to fix this.
The response shown is typical. Run it live if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9:35–9:47 (with the next three slides). Keep it non-technical. The key idea: it's a prediction engine for text. It doesn't look things up (unless the tool has web search turned on) and it doesn't know your situation. That's why it's fluent, and why it can be confidently wrong.
The chart numbers are illustrative.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already used it for?' The right-hand column is where people get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 comes with a habit. Limits 1 and 4 come back after lunch as the 'verify' and 'before you paste' habits.
'Hallucination' is the industry word for limit 1. Mention it so people recognise it, but 'makes things up' is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to repeat all day. Most prompting advice follows from it: you'd never hand a new colleague a one-line request with no background and expect a perfect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9:47–9:57. Individually. Walk the room. Common mistake: re-asking in the same chat, which isn't a fresh start.
Debrief in 1 minute: 'Who got an invented parking policy? Who got a refusal?' Both happen, which is exactly the point about inconsistency and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9:57–10:09 (with the next two slides). CRAFT is the framework for the whole day. Order doesn't matter much; clarity does.
Ask the room: which of these did 'Write an email about the meeting' have? Only a vague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five elements. Next slide puts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prompts live if time allows. Point at each letter: every sentence removes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10:09–10:22. Hand out cards A, B, C across the groups. Call the time for each step. In the share, ask one group per card.
Extension for fast groups: remove one element at a time from your rewrite. Which removal hurts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10:22–10:30. Answer: the time, place, and what to bring, so CONTEXT is missing. (It has an Ask, a Format: 'short', and Tone &amp; audience: 'friendly', 'volunteers'.)
Read the stickies during the break. If more than about a third miss it, re-run the before/after slide at 10:45 instead of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Start on time. This is the last block with new material: two families of techniques, each demonstrated and then practised.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10:45–10:48. Retrieval practice. Take 2–3 answers to 'which do you skip?'. It's usually Context or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10:48. Skill A in one slide. 'Ground it' is the single most effective defence against made-up details. Next three slides show each technique, then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outputs. The point: one example does more than a paragraph of style instructions. Useful for anything with a consistent pattern: product blurbs, status updates, email subject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marker works: ###, triple quotes, or tags like &lt;notes&gt;…&lt;/notes&gt;. Consistency matters more than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10:48–10:58. Type the prompt live, narrating each choice: grounding rule, structure, one example row. Prompt and expected output are in materials/data/reference-solutions.md.
If time allows, run it once WITHOUT the 'Not stated' line: the AI usually assigns Dev as owner or invents a date. That makes the point better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10:58–11:15. Pairs: one types, one directs; swap at 11:06. Keep the demo prompt visible on a second screen if possible.
The memo says nothing about rideshares. A good result says it's not stated; a common failure is 'rideshares are typically reimbursable'. Collect examples of both for the debrief.
Extension: same content as a three-question FAQ at an eighth-grade reading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11:15–11:20. Ask: 'Did anyone get an invented rideshare rule? What did your prompt say?' Use real examples from the room in preference to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Skill B: iterating. Most people stop after the first answer, or keep piling corrections into a long, confused chat. Both are fixable.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me' is the most underused move, and the best one when you're not sure what to include. 'Critique, then revise' usually produces the biggest jump in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11:20–11:30. Live demo. Turn 1 already uses CRAFT (role: internal comms specialist; the full prompt is in reference-solutions.md). Narrate which move each turn uses. Turn 3 usually produces the biggest improvement: point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11:30–11:52. Checkpoint at 11:41: show of hands for 'how many turns have you used?' If most are stuck on turn 1, demo the 'interview me' move on screen for one minute.
The extension previews the capstone, so point it out to fast finishers.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11:52–12:00. Good answers: fence the source; 'use only the memo'; 'write Not stated if it's missing'; ask it to quote the line each point comes from. Read answers over lunch.
The lunch question seeds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Nothing new this afternoon. We put the morning's skills to work on a messy, realistic case, and add two habits that make AI safe to use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1:00–1:07. Gets people moving after lunch. Notice gaps on the sheets: that's what to reinforce while circulating during the case. If an exit-question answer was widely missed, fix it here in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1:07–1:15 (with the next two slides). This turns limit 4 ('it isn't a vault') into a habit. Always defer to your organization's AI policy: some organizations provide approved tools with data protections, which changes what's yellow.
Anonymizing isn't just deleting the name: a job title plus a date can still identify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limit 1 ('it makes things up') into a habit. 'Invented?' is highlighted because it's the check people skip: invented details sound just as confident as real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documents are in the workbook. Don't point out the privacy trap in the manager's email: let groups find it. That's what the checker role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1:15–1:50. Circulate. At 1:32, each group gives a one-sentence status. Hand out hint cards (module 03 README) to groups that are stuck.
If a group pastes the manager's whole email, don't stop them. Ask the checker: 'What's in that email?'
Extension: leadership has made Friday a core in-office day too. Update the FAQ in one follow-up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1:50–2:05. If running late, replace this with two groups presenting for 4 minutes each: one that caught an invented answer, one that handled the privacy trap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2:05–2:15. Use examples you saw while circulating, with permission. The reference FAQ is in materials/data/reference-solutions.md. Show it now, not before.
The usual invented answers: 'you can pick any two days', out-of-state work 'with approval', home internet 'typically not reimbursed'. None of these are in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The capstone: each person builds a prompt template for a real task from their own job. Protect the full 35 minutes of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2:30–2:35. Check every learner has a task by 2:40; anyone still deciding gets the fallback.
Learners whose real tasks involve sensitive data (HR, health, student records) test with fictional inputs. Point out that this is exactly how they should test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skeleton is also in the workbook, ready to copy. It's a starting point: the best templates are shorter than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with the rubric. Ask: 'Which row are you working on? How do you know you've met it?' Pick share-out volunteers during the build: a range of professions and techniques, not just the most polished.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3:10–3:25: 3–4 volunteers. 3:25–3:30: name what strong templates had in common (usually a grounding rule, a clear format, and placeholders that make reuse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Bring the 9:05 themes flipchart and the parking lot to the front. For each morning theme, ask: 'Can you do this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3:30–3:37, together with clearing the parking lot. Common parked questions and short answers are in the module 05 README (job impact, which tool, trusting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3:37–3:44. Same sheet or link as the morning. Never cut this, even if running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3:44–3:50. In the workbook. Learners keep it. If the follow-up email will include a reminder, ask them to photograph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3:50–3:55. Collect in the room, before anyone leaves. Leave the link or form on screen until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3:55–4:00. Point to participants/resources.md. Say when the follow-up email will arrive (the next day) and what's in it: slides, resources, parking-lot answers. Finish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0000"/>
        </a:solidFill>
      </p:bgPr>
    </p:bg>
    <p:spTree>
      <p:nvGrpSpPr>
        <p:cNvPr id="1" name=""/>
        <p:cNvGrpSpPr/>
        <p:nvPr/>
      </p:nvGrpSpPr>
      <p:grpSpPr>
        <a:xfrm>
          <a:off x="0" y="0"/>
          <a:ext cx="0" cy="0"/>
          <a:chOff x="0" y="0"/>
          <a:chExt cx="0" cy="0"/>
        </a:xfrm>
      </p:grpSpPr>
      <p:pic>
        <p:nvPicPr>
          <p:cNvPr id="2" name="Image 0" descr="/Users/zijunluo/Documents/GitHub/pb-group-D/materials/brand/uno-o-white.png">    </p:cNvPr>
          <p:cNvPicPr>
            <a:picLocks noChangeAspect="1"/>
          </p:cNvPicPr>
          <p:nvPr/>
        </p:nvPicPr>
        <p:blipFill>
          <a:blip r:embed="rId1"/>
          <a:stretch>
            <a:fillRect/>
          </a:stretch>
        </p:blipFill>
        <p:spPr>
          <a:xfrm>
            <a:off x="548640" y="502920"/>
            <a:ext cx="1143000" cy="1115568"/>
          </a:xfrm>
          <a:prstGeom prst="rect">
            <a:avLst/>
          </a:prstGeom>
        </p:spPr>
      </p:pic>
      <p:pic>
        <p:nvPicPr>
          <p:cNvPr id="3" name="Image 1" descr="/Users/zijunluo/Documents/GitHub/pb-group-D/materials/brand/uno-wordmark-white.png">    </p:cNvPr>
          <p:cNvPicPr>
            <a:picLocks noChangeAspect="1"/>
          </p:cNvPicPr>
          <p:nvPr/>
        </p:nvPicPr>
        <p:blipFill>
          <a:blip r:embed="rId2"/>
          <a:stretch>
            <a:fillRect/>
          </a:stretch>
        </p:blipFill>
        <p:spPr>
          <a:xfrm>
            <a:off x="9539935" y="5486400"/>
            <a:ext cx="2103120" cy="841248"/>
          </a:xfrm>
          <a:prstGeom prst="rect">
            <a:avLst/>
          </a:prstGeom>
        </p:spPr>
      </p:pic>
      <p:sp>
        <p:nvSpPr>
          <p:cNvPr id="4" name="Text 0"/>
          <p:cNvSpPr/>
          <p:nvPr>
            <p:ph idx="102" type="title" hasCustomPrompt="1"/>
          </p:nvPr>
        </p:nvSpPr>
        <p:spPr>
          <a:xfrm>
            <a:off x="548640" y="2103120"/>
            <a:ext cx="9875520" cy="15544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5" name="Text 0"/>
          <p:cNvSpPr/>
          <p:nvPr>
            <p:ph idx="103" type="body" hasCustomPrompt="1"/>
          </p:nvPr>
        </p:nvSpPr>
        <p:spPr>
          <a:xfrm>
            <a:off x="548640" y="3794760"/>
            <a:ext cx="9875520" cy="731520"/>
          </a:xfrm>
          <a:prstGeom prst="rect">
            <a:avLst/>
          </a:prstGeom>
          <a:noFill/>
          <a:ln/>
        </p:spPr>
        <p:txBody>
          <a:bodyPr wrap="square" rtlCol="0"/>
          <a:lstStyle>
            <a:lvl1pPr algn="l" indent="0" marL="0">
              <a:buNone/>
              <a:defRPr lang="en-US" sz="2400" dirty="0">
                <a:solidFill>
                  <a:schemeClr val="accent3"/>
                </a:solidFill>
              </a:defRPr>
            </a:lvl1pPr>
          </a:lstStyle>
          <a:p>
            <a:pPr algn="l" indent="0" marL="0">
              <a:buNone/>
            </a:pPr>
            <a:endParaRPr lang="en-US" sz="2400" dirty="0"/>
          </a:p>
        </p:txBody>
      </p:sp>
      <p:sp>
        <p:nvSpPr>
          <p:cNvPr id="6" name="Text 0"/>
          <p:cNvSpPr/>
          <p:nvPr>
            <p:ph idx="104" type="body" hasCustomPrompt="1"/>
          </p:nvPr>
        </p:nvSpPr>
        <p:spPr>
          <a:xfrm>
            <a:off x="548640" y="4754880"/>
            <a:ext cx="7863840" cy="82296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00000"/>
        </a:solidFill>
      </p:bgPr>
    </p:bg>
    <p:spTree>
      <p:nvGrpSpPr>
        <p:cNvPr id="1" name=""/>
        <p:cNvGrpSpPr/>
        <p:nvPr/>
      </p:nvGrpSpPr>
      <p:grpSpPr>
        <a:xfrm>
          <a:off x="0" y="0"/>
          <a:ext cx="0" cy="0"/>
          <a:chOff x="0" y="0"/>
          <a:chExt cx="0" cy="0"/>
        </a:xfrm>
      </p:grpSpPr>
      <p:pic>
        <p:nvPicPr>
          <p:cNvPr id="2" name="Image 0" descr="/Users/zijunluo/Documents/GitHub/pb-group-D/materials/brand/uno-o-white.png">    </p:cNvPr>
          <p:cNvPicPr>
            <a:picLocks noChangeAspect="1"/>
          </p:cNvPicPr>
          <p:nvPr/>
        </p:nvPicPr>
        <p:blipFill>
          <a:blip r:embed="rId1"/>
          <a:stretch>
            <a:fillRect/>
          </a:stretch>
        </p:blipFill>
        <p:spPr>
          <a:xfrm>
            <a:off x="11140135" y="6172200"/>
            <a:ext cx="502920" cy="493776"/>
          </a:xfrm>
          <a:prstGeom prst="rect">
            <a:avLst/>
          </a:prstGeom>
        </p:spPr>
      </p:pic>
      <p:sp>
        <p:nvSpPr>
          <p:cNvPr id="3" name="Text 0"/>
          <p:cNvSpPr/>
          <p:nvPr>
            <p:ph idx="101" type="body" hasCustomPrompt="1"/>
          </p:nvPr>
        </p:nvSpPr>
        <p:spPr>
          <a:xfrm>
            <a:off x="548640" y="1234440"/>
            <a:ext cx="3657600" cy="1554480"/>
          </a:xfrm>
          <a:prstGeom prst="rect">
            <a:avLst/>
          </a:prstGeom>
          <a:noFill/>
          <a:ln/>
        </p:spPr>
        <p:txBody>
          <a:bodyPr wrap="square" rtlCol="0"/>
          <a:lstStyle>
            <a:lvl1pPr algn="l" indent="0" marL="0">
              <a:buNone/>
              <a:defRPr lang="en-US" sz="11000" b="1" dirty="0">
                <a:solidFill>
                  <a:schemeClr val="accent1"/>
                </a:solidFill>
              </a:defRPr>
            </a:lvl1pPr>
          </a:lstStyle>
          <a:p>
            <a:pPr algn="l" indent="0" marL="0">
              <a:buNone/>
            </a:pPr>
            <a:endParaRPr lang="en-US" sz="11000" dirty="0"/>
          </a:p>
        </p:txBody>
      </p:sp>
      <p:sp>
        <p:nvSpPr>
          <p:cNvPr id="4" name="Text 0"/>
          <p:cNvSpPr/>
          <p:nvPr>
            <p:ph idx="102" type="title" hasCustomPrompt="1"/>
          </p:nvPr>
        </p:nvSpPr>
        <p:spPr>
          <a:xfrm>
            <a:off x="548640" y="2926080"/>
            <a:ext cx="10515600" cy="10058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5" name="Text 0"/>
          <p:cNvSpPr/>
          <p:nvPr>
            <p:ph idx="103" type="body" hasCustomPrompt="1"/>
          </p:nvPr>
        </p:nvSpPr>
        <p:spPr>
          <a:xfrm>
            <a:off x="548640" y="3931920"/>
            <a:ext cx="10515600" cy="640080"/>
          </a:xfrm>
          <a:prstGeom prst="rect">
            <a:avLst/>
          </a:prstGeom>
          <a:noFill/>
          <a:ln/>
        </p:spPr>
        <p:txBody>
          <a:bodyPr wrap="square" rtlCol="0"/>
          <a:lstStyle>
            <a:lvl1pPr algn="l" indent="0" marL="0">
              <a:buNone/>
              <a:defRPr lang="en-US" sz="2600" dirty="0">
                <a:solidFill>
                  <a:schemeClr val="accent3"/>
                </a:solidFill>
              </a:defRPr>
            </a:lvl1pPr>
          </a:lstStyle>
          <a:p>
            <a:pPr algn="l" indent="0" marL="0">
              <a:buNone/>
            </a:pPr>
            <a:endParaRPr lang="en-US" sz="2600" dirty="0"/>
          </a:p>
        </p:txBody>
      </p:sp>
      <p:sp>
        <p:nvSpPr>
          <p:cNvPr id="6" name="Text 0"/>
          <p:cNvSpPr/>
          <p:nvPr>
            <p:ph idx="104" type="body" hasCustomPrompt="1"/>
          </p:nvPr>
        </p:nvSpPr>
        <p:spPr>
          <a:xfrm>
            <a:off x="548640" y="4983480"/>
            <a:ext cx="5486400"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Prompt Engineering Essentials</a:t>
            </a:r>
            <a:endParaRPr lang="en-US" sz="1000" dirty="0"/>
          </a:p>
        </p:txBody>
      </p:sp>
      <p:pic>
        <p:nvPicPr>
          <p:cNvPr id="3" name="Image 0" descr="/Users/zijunluo/Documents/GitHub/pb-group-D/materials/brand/uno-o.png">    </p:cNvPr>
          <p:cNvPicPr>
            <a:picLocks noChangeAspect="1"/>
          </p:cNvPicPr>
          <p:nvPr/>
        </p:nvPicPr>
        <p:blipFill>
          <a:blip r:embed="rId1"/>
          <a:stretch>
            <a:fillRect/>
          </a:stretch>
        </p:blipFill>
        <p:spPr>
          <a:xfrm>
            <a:off x="11277295" y="6309360"/>
            <a:ext cx="365760" cy="356616"/>
          </a:xfrm>
          <a:prstGeom prst="rect">
            <a:avLst/>
          </a:prstGeom>
        </p:spPr>
      </p:pic>
      <p:sp>
        <p:nvSpPr>
          <p:cNvPr id="4" name="Text 1"/>
          <p:cNvSpPr/>
          <p:nvPr>
            <p:ph idx="102" type="title" hasCustomPrompt="1"/>
          </p:nvPr>
        </p:nvSpPr>
        <p:spPr>
          <a:xfrm>
            <a:off x="548640" y="365760"/>
            <a:ext cx="908273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_DARK">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Prompt Engineering Essentials</a:t>
            </a:r>
            <a:endParaRPr lang="en-US" sz="1000" dirty="0"/>
          </a:p>
        </p:txBody>
      </p:sp>
      <p:pic>
        <p:nvPicPr>
          <p:cNvPr id="3" name="Image 0" descr="/Users/zijunluo/Documents/GitHub/pb-group-D/materials/brand/uno-o-white.png">    </p:cNvPr>
          <p:cNvPicPr>
            <a:picLocks noChangeAspect="1"/>
          </p:cNvPicPr>
          <p:nvPr/>
        </p:nvPicPr>
        <p:blipFill>
          <a:blip r:embed="rId1"/>
          <a:stretch>
            <a:fillRect/>
          </a:stretch>
        </p:blipFill>
        <p:spPr>
          <a:xfrm>
            <a:off x="11277295" y="6309360"/>
            <a:ext cx="365760" cy="356616"/>
          </a:xfrm>
          <a:prstGeom prst="rect">
            <a:avLst/>
          </a:prstGeom>
        </p:spPr>
      </p:pic>
      <p:sp>
        <p:nvSpPr>
          <p:cNvPr id="4" name="Text 1"/>
          <p:cNvSpPr/>
          <p:nvPr>
            <p:ph idx="102" type="body" hasCustomPrompt="1"/>
          </p:nvPr>
        </p:nvSpPr>
        <p:spPr>
          <a:xfrm>
            <a:off x="548640" y="411480"/>
            <a:ext cx="8229600" cy="365760"/>
          </a:xfrm>
          <a:prstGeom prst="rect">
            <a:avLst/>
          </a:prstGeom>
          <a:noFill/>
          <a:ln/>
        </p:spPr>
        <p:txBody>
          <a:bodyPr wrap="square" rtlCol="0"/>
          <a:lstStyle>
            <a:lvl1pPr algn="l" indent="0" marL="0">
              <a:buNone/>
              <a:defRPr lang="en-US" sz="1400" b="1" spc="200" kern="0" dirty="0">
                <a:solidFill>
                  <a:schemeClr val="accent1"/>
                </a:solidFill>
              </a:defRPr>
            </a:lvl1pPr>
          </a:lstStyle>
          <a:p>
            <a:pPr algn="l" indent="0" marL="0">
              <a:buNone/>
            </a:pPr>
            <a:endParaRPr lang="en-US" sz="1400" dirty="0"/>
          </a:p>
        </p:txBody>
      </p:sp>
      <p:sp>
        <p:nvSpPr>
          <p:cNvPr id="5" name="Text 1"/>
          <p:cNvSpPr/>
          <p:nvPr>
            <p:ph idx="103" type="title" hasCustomPrompt="1"/>
          </p:nvPr>
        </p:nvSpPr>
        <p:spPr>
          <a:xfrm>
            <a:off x="548640" y="777240"/>
            <a:ext cx="877824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4.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5.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4.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5.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4.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4.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48640" y="2103120"/>
            <a:ext cx="9875520" cy="1554480"/>
          </a:xfrm>
          <a:prstGeom prst="rect">
            <a:avLst/>
          </a:prstGeom>
          <a:noFill/>
          <a:ln/>
        </p:spPr>
        <p:txBody>
          <a:bodyPr wrap="square" lIns="0" tIns="0" rIns="0" bIns="0" rtlCol="0" anchor="b"/>
          <a:lstStyle/>
          <a:p>
            <a:pPr algn="l" indent="0" marL="0">
              <a:buNone/>
            </a:pPr>
            <a:r>
              <a:rPr lang="en-US" sz="5400" b="1" dirty="0">
                <a:solidFill>
                  <a:schemeClr val="bg1"/>
                </a:solidFill>
              </a:rPr>
              <a:t>Prompt Engineering Essentials</a:t>
            </a:r>
            <a:endParaRPr lang="en-US" sz="5400" dirty="0"/>
          </a:p>
        </p:txBody>
      </p:sp>
      <p:sp>
        <p:nvSpPr>
          <p:cNvPr id="3" name="Text 0"/>
          <p:cNvSpPr/>
          <p:nvPr>
            <p:ph idx="103" type="body" hasCustomPrompt="1"/>
          </p:nvPr>
        </p:nvSpPr>
        <p:spPr>
          <a:xfrm>
            <a:off x="548640" y="3794760"/>
            <a:ext cx="9875520" cy="731520"/>
          </a:xfrm>
          <a:prstGeom prst="rect">
            <a:avLst/>
          </a:prstGeom>
          <a:noFill/>
          <a:ln/>
        </p:spPr>
        <p:txBody>
          <a:bodyPr wrap="square" lIns="0" tIns="0" rIns="0" bIns="0" rtlCol="0" anchor="t"/>
          <a:lstStyle/>
          <a:p>
            <a:pPr algn="l" indent="0" marL="0">
              <a:buNone/>
            </a:pPr>
            <a:r>
              <a:rPr lang="en-US" sz="2400" dirty="0">
                <a:solidFill>
                  <a:schemeClr val="accent3"/>
                </a:solidFill>
              </a:rPr>
              <a:t>Getting reliable, useful results from AI chat tools</a:t>
            </a:r>
            <a:endParaRPr lang="en-US" sz="2400" dirty="0"/>
          </a:p>
        </p:txBody>
      </p:sp>
      <p:sp>
        <p:nvSpPr>
          <p:cNvPr id="4" name="Text 0"/>
          <p:cNvSpPr/>
          <p:nvPr>
            <p:ph idx="104" type="body" hasCustomPrompt="1"/>
          </p:nvPr>
        </p:nvSpPr>
        <p:spPr>
          <a:xfrm>
            <a:off x="548640" y="4754880"/>
            <a:ext cx="7863840" cy="822960"/>
          </a:xfrm>
          <a:prstGeom prst="rect">
            <a:avLst/>
          </a:prstGeom>
          <a:noFill/>
          <a:ln/>
        </p:spPr>
        <p:txBody>
          <a:bodyPr wrap="square" lIns="0" tIns="0" rIns="0" bIns="0" rtlCol="0" anchor="t"/>
          <a:lstStyle/>
          <a:p>
            <a:pPr algn="l" indent="0" marL="0">
              <a:buNone/>
            </a:pPr>
            <a:r>
              <a:rPr lang="en-US" sz="1600" dirty="0">
                <a:solidFill>
                  <a:schemeClr val="bg1"/>
                </a:solidFill>
              </a:rPr>
              <a:t>A one-day, hands-on workshop for professionals</a:t>
            </a:r>
            <a:endParaRPr lang="en-US" sz="1600" dirty="0"/>
          </a:p>
          <a:p>
            <a:pPr algn="l" indent="0" marL="0">
              <a:buNone/>
            </a:pPr>
            <a:r>
              <a:rPr lang="en-US" sz="1600" dirty="0">
                <a:solidFill>
                  <a:schemeClr val="bg1"/>
                </a:solidFill>
              </a:rPr>
              <a:t>9:00 a.m. – 4:00 p.m.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Welcome</a:t>
            </a:r>
            <a:endParaRPr lang="en-US" sz="3400" dirty="0"/>
          </a:p>
        </p:txBody>
      </p:sp>
      <p:sp>
        <p:nvSpPr>
          <p:cNvPr id="3" name="card-1"/>
          <p:cNvSpPr/>
          <p:nvPr/>
        </p:nvSpPr>
        <p:spPr>
          <a:xfrm>
            <a:off x="548640" y="1600200"/>
            <a:ext cx="2560320" cy="2514600"/>
          </a:xfrm>
          <a:prstGeom prst="roundRect">
            <a:avLst>
              <a:gd name="adj" fmla="val 4364"/>
            </a:avLst>
          </a:prstGeom>
          <a:solidFill>
            <a:schemeClr val="bg2"/>
          </a:solidFill>
          <a:ln/>
        </p:spPr>
      </p:sp>
      <p:sp>
        <p:nvSpPr>
          <p:cNvPr id="4" name="dot-2"/>
          <p:cNvSpPr/>
          <p:nvPr/>
        </p:nvSpPr>
        <p:spPr>
          <a:xfrm>
            <a:off x="868680" y="1920240"/>
            <a:ext cx="731520" cy="731520"/>
          </a:xfrm>
          <a:prstGeom prst="ellipse">
            <a:avLst/>
          </a:prstGeom>
          <a:solidFill>
            <a:schemeClr val="tx1"/>
          </a:solidFill>
          <a:ln/>
        </p:spPr>
      </p:sp>
      <p:pic>
        <p:nvPicPr>
          <p:cNvPr id="5" name="icon-3" descr="preencoded.png">    </p:cNvPr>
          <p:cNvPicPr>
            <a:picLocks noChangeAspect="1"/>
          </p:cNvPicPr>
          <p:nvPr/>
        </p:nvPicPr>
        <p:blipFill>
          <a:blip r:embed="rId1"/>
          <a:stretch>
            <a:fillRect/>
          </a:stretch>
        </p:blipFill>
        <p:spPr>
          <a:xfrm>
            <a:off x="1029614" y="2081174"/>
            <a:ext cx="409651" cy="409651"/>
          </a:xfrm>
          <a:prstGeom prst="rect">
            <a:avLst/>
          </a:prstGeom>
        </p:spPr>
      </p:pic>
      <p:sp>
        <p:nvSpPr>
          <p:cNvPr id="6" name="text-4"/>
          <p:cNvSpPr txBox="1"/>
          <p:nvPr/>
        </p:nvSpPr>
        <p:spPr>
          <a:xfrm>
            <a:off x="868680" y="2834640"/>
            <a:ext cx="2011680" cy="502920"/>
          </a:xfrm>
          <a:prstGeom prst="rect">
            <a:avLst/>
          </a:prstGeom>
          <a:noFill/>
          <a:ln/>
        </p:spPr>
        <p:txBody>
          <a:bodyPr wrap="square" lIns="0" tIns="0" rIns="0" bIns="0" rtlCol="0" anchor="t"/>
          <a:lstStyle/>
          <a:p>
            <a:pPr indent="0" marL="0">
              <a:buNone/>
            </a:pPr>
            <a:r>
              <a:rPr lang="en-US" sz="2600" b="1" dirty="0">
                <a:solidFill>
                  <a:schemeClr val="tx1"/>
                </a:solidFill>
              </a:rPr>
              <a:t>9:00 – 4:00</a:t>
            </a:r>
            <a:endParaRPr lang="en-US" sz="2600" dirty="0"/>
          </a:p>
        </p:txBody>
      </p:sp>
      <p:sp>
        <p:nvSpPr>
          <p:cNvPr id="7" name="text-5"/>
          <p:cNvSpPr txBox="1"/>
          <p:nvPr/>
        </p:nvSpPr>
        <p:spPr>
          <a:xfrm>
            <a:off x="868680" y="3383280"/>
            <a:ext cx="2011680" cy="548640"/>
          </a:xfrm>
          <a:prstGeom prst="rect">
            <a:avLst/>
          </a:prstGeom>
          <a:noFill/>
          <a:ln/>
        </p:spPr>
        <p:txBody>
          <a:bodyPr wrap="square" lIns="0" tIns="0" rIns="0" bIns="0" rtlCol="0" anchor="t"/>
          <a:lstStyle/>
          <a:p>
            <a:pPr indent="0" marL="0">
              <a:buNone/>
            </a:pPr>
            <a:r>
              <a:rPr lang="en-US" sz="1500" dirty="0">
                <a:solidFill>
                  <a:schemeClr val="tx2"/>
                </a:solidFill>
              </a:rPr>
              <a:t>Today's schedule</a:t>
            </a:r>
            <a:endParaRPr lang="en-US" sz="1500" dirty="0"/>
          </a:p>
        </p:txBody>
      </p:sp>
      <p:sp>
        <p:nvSpPr>
          <p:cNvPr id="8" name="card-6"/>
          <p:cNvSpPr/>
          <p:nvPr/>
        </p:nvSpPr>
        <p:spPr>
          <a:xfrm>
            <a:off x="3393338" y="1600200"/>
            <a:ext cx="2560320" cy="2514600"/>
          </a:xfrm>
          <a:prstGeom prst="roundRect">
            <a:avLst>
              <a:gd name="adj" fmla="val 4364"/>
            </a:avLst>
          </a:prstGeom>
          <a:solidFill>
            <a:schemeClr val="bg2"/>
          </a:solidFill>
          <a:ln/>
        </p:spPr>
      </p:sp>
      <p:sp>
        <p:nvSpPr>
          <p:cNvPr id="9" name="dot-7"/>
          <p:cNvSpPr/>
          <p:nvPr/>
        </p:nvSpPr>
        <p:spPr>
          <a:xfrm>
            <a:off x="3713378" y="1920240"/>
            <a:ext cx="731520" cy="731520"/>
          </a:xfrm>
          <a:prstGeom prst="ellipse">
            <a:avLst/>
          </a:prstGeom>
          <a:solidFill>
            <a:schemeClr val="tx1"/>
          </a:solidFill>
          <a:ln/>
        </p:spPr>
      </p:sp>
      <p:pic>
        <p:nvPicPr>
          <p:cNvPr id="10" name="icon-8" descr="preencoded.png">    </p:cNvPr>
          <p:cNvPicPr>
            <a:picLocks noChangeAspect="1"/>
          </p:cNvPicPr>
          <p:nvPr/>
        </p:nvPicPr>
        <p:blipFill>
          <a:blip r:embed="rId2"/>
          <a:stretch>
            <a:fillRect/>
          </a:stretch>
        </p:blipFill>
        <p:spPr>
          <a:xfrm>
            <a:off x="3874313" y="2081174"/>
            <a:ext cx="409651" cy="409651"/>
          </a:xfrm>
          <a:prstGeom prst="rect">
            <a:avLst/>
          </a:prstGeom>
        </p:spPr>
      </p:pic>
      <p:sp>
        <p:nvSpPr>
          <p:cNvPr id="11" name="text-9"/>
          <p:cNvSpPr txBox="1"/>
          <p:nvPr/>
        </p:nvSpPr>
        <p:spPr>
          <a:xfrm>
            <a:off x="3713378" y="2834640"/>
            <a:ext cx="2011680" cy="502920"/>
          </a:xfrm>
          <a:prstGeom prst="rect">
            <a:avLst/>
          </a:prstGeom>
          <a:noFill/>
          <a:ln/>
        </p:spPr>
        <p:txBody>
          <a:bodyPr wrap="square" lIns="0" tIns="0" rIns="0" bIns="0" rtlCol="0" anchor="t"/>
          <a:lstStyle/>
          <a:p>
            <a:pPr indent="0" marL="0">
              <a:buNone/>
            </a:pPr>
            <a:r>
              <a:rPr lang="en-US" sz="2600" b="1" dirty="0">
                <a:solidFill>
                  <a:schemeClr val="tx1"/>
                </a:solidFill>
              </a:rPr>
              <a:t>10:30 &amp; 2:15</a:t>
            </a:r>
            <a:endParaRPr lang="en-US" sz="2600" dirty="0"/>
          </a:p>
        </p:txBody>
      </p:sp>
      <p:sp>
        <p:nvSpPr>
          <p:cNvPr id="12" name="text-10"/>
          <p:cNvSpPr txBox="1"/>
          <p:nvPr/>
        </p:nvSpPr>
        <p:spPr>
          <a:xfrm>
            <a:off x="3713378" y="3383280"/>
            <a:ext cx="2011680" cy="548640"/>
          </a:xfrm>
          <a:prstGeom prst="rect">
            <a:avLst/>
          </a:prstGeom>
          <a:noFill/>
          <a:ln/>
        </p:spPr>
        <p:txBody>
          <a:bodyPr wrap="square" lIns="0" tIns="0" rIns="0" bIns="0" rtlCol="0" anchor="t"/>
          <a:lstStyle/>
          <a:p>
            <a:pPr indent="0" marL="0">
              <a:buNone/>
            </a:pPr>
            <a:r>
              <a:rPr lang="en-US" sz="1500" dirty="0">
                <a:solidFill>
                  <a:schemeClr val="tx2"/>
                </a:solidFill>
              </a:rPr>
              <a:t>Two 15-minute breaks</a:t>
            </a:r>
            <a:endParaRPr lang="en-US" sz="1500" dirty="0"/>
          </a:p>
        </p:txBody>
      </p:sp>
      <p:sp>
        <p:nvSpPr>
          <p:cNvPr id="13" name="card-11"/>
          <p:cNvSpPr/>
          <p:nvPr/>
        </p:nvSpPr>
        <p:spPr>
          <a:xfrm>
            <a:off x="6238037" y="1600200"/>
            <a:ext cx="2560320" cy="2514600"/>
          </a:xfrm>
          <a:prstGeom prst="roundRect">
            <a:avLst>
              <a:gd name="adj" fmla="val 4364"/>
            </a:avLst>
          </a:prstGeom>
          <a:solidFill>
            <a:schemeClr val="bg2"/>
          </a:solidFill>
          <a:ln/>
        </p:spPr>
      </p:sp>
      <p:sp>
        <p:nvSpPr>
          <p:cNvPr id="14" name="dot-12"/>
          <p:cNvSpPr/>
          <p:nvPr/>
        </p:nvSpPr>
        <p:spPr>
          <a:xfrm>
            <a:off x="6558077" y="1920240"/>
            <a:ext cx="731520" cy="731520"/>
          </a:xfrm>
          <a:prstGeom prst="ellipse">
            <a:avLst/>
          </a:prstGeom>
          <a:solidFill>
            <a:schemeClr val="tx1"/>
          </a:solidFill>
          <a:ln/>
        </p:spPr>
      </p:sp>
      <p:pic>
        <p:nvPicPr>
          <p:cNvPr id="15" name="icon-13" descr="preencoded.png">    </p:cNvPr>
          <p:cNvPicPr>
            <a:picLocks noChangeAspect="1"/>
          </p:cNvPicPr>
          <p:nvPr/>
        </p:nvPicPr>
        <p:blipFill>
          <a:blip r:embed="rId3"/>
          <a:stretch>
            <a:fillRect/>
          </a:stretch>
        </p:blipFill>
        <p:spPr>
          <a:xfrm>
            <a:off x="6719011" y="2081174"/>
            <a:ext cx="409651" cy="409651"/>
          </a:xfrm>
          <a:prstGeom prst="rect">
            <a:avLst/>
          </a:prstGeom>
        </p:spPr>
      </p:pic>
      <p:sp>
        <p:nvSpPr>
          <p:cNvPr id="16" name="text-14"/>
          <p:cNvSpPr txBox="1"/>
          <p:nvPr/>
        </p:nvSpPr>
        <p:spPr>
          <a:xfrm>
            <a:off x="6558077" y="2834640"/>
            <a:ext cx="2011680" cy="502920"/>
          </a:xfrm>
          <a:prstGeom prst="rect">
            <a:avLst/>
          </a:prstGeom>
          <a:noFill/>
          <a:ln/>
        </p:spPr>
        <p:txBody>
          <a:bodyPr wrap="square" lIns="0" tIns="0" rIns="0" bIns="0" rtlCol="0" anchor="t"/>
          <a:lstStyle/>
          <a:p>
            <a:pPr indent="0" marL="0">
              <a:buNone/>
            </a:pPr>
            <a:r>
              <a:rPr lang="en-US" sz="2600" b="1" dirty="0">
                <a:solidFill>
                  <a:schemeClr val="tx1"/>
                </a:solidFill>
              </a:rPr>
              <a:t>12:00 – 1:00</a:t>
            </a:r>
            <a:endParaRPr lang="en-US" sz="2600" dirty="0"/>
          </a:p>
        </p:txBody>
      </p:sp>
      <p:sp>
        <p:nvSpPr>
          <p:cNvPr id="17" name="text-15"/>
          <p:cNvSpPr txBox="1"/>
          <p:nvPr/>
        </p:nvSpPr>
        <p:spPr>
          <a:xfrm>
            <a:off x="6558077" y="3383280"/>
            <a:ext cx="2011680" cy="548640"/>
          </a:xfrm>
          <a:prstGeom prst="rect">
            <a:avLst/>
          </a:prstGeom>
          <a:noFill/>
          <a:ln/>
        </p:spPr>
        <p:txBody>
          <a:bodyPr wrap="square" lIns="0" tIns="0" rIns="0" bIns="0" rtlCol="0" anchor="t"/>
          <a:lstStyle/>
          <a:p>
            <a:pPr indent="0" marL="0">
              <a:buNone/>
            </a:pPr>
            <a:r>
              <a:rPr lang="en-US" sz="1500" dirty="0">
                <a:solidFill>
                  <a:schemeClr val="tx2"/>
                </a:solidFill>
              </a:rPr>
              <a:t>Lunch</a:t>
            </a:r>
            <a:endParaRPr lang="en-US" sz="1500" dirty="0"/>
          </a:p>
        </p:txBody>
      </p:sp>
      <p:sp>
        <p:nvSpPr>
          <p:cNvPr id="18" name="card-16"/>
          <p:cNvSpPr/>
          <p:nvPr/>
        </p:nvSpPr>
        <p:spPr>
          <a:xfrm>
            <a:off x="9082735" y="1600200"/>
            <a:ext cx="2560320" cy="2514600"/>
          </a:xfrm>
          <a:prstGeom prst="roundRect">
            <a:avLst>
              <a:gd name="adj" fmla="val 4364"/>
            </a:avLst>
          </a:prstGeom>
          <a:solidFill>
            <a:schemeClr val="bg2"/>
          </a:solidFill>
          <a:ln/>
        </p:spPr>
      </p:sp>
      <p:sp>
        <p:nvSpPr>
          <p:cNvPr id="19" name="dot-17"/>
          <p:cNvSpPr/>
          <p:nvPr/>
        </p:nvSpPr>
        <p:spPr>
          <a:xfrm>
            <a:off x="9402775" y="1920240"/>
            <a:ext cx="731520" cy="731520"/>
          </a:xfrm>
          <a:prstGeom prst="ellipse">
            <a:avLst/>
          </a:prstGeom>
          <a:solidFill>
            <a:schemeClr val="tx1"/>
          </a:solidFill>
          <a:ln/>
        </p:spPr>
      </p:sp>
      <p:pic>
        <p:nvPicPr>
          <p:cNvPr id="20" name="icon-18" descr="preencoded.png">    </p:cNvPr>
          <p:cNvPicPr>
            <a:picLocks noChangeAspect="1"/>
          </p:cNvPicPr>
          <p:nvPr/>
        </p:nvPicPr>
        <p:blipFill>
          <a:blip r:embed="rId4"/>
          <a:stretch>
            <a:fillRect/>
          </a:stretch>
        </p:blipFill>
        <p:spPr>
          <a:xfrm>
            <a:off x="9563710" y="2081174"/>
            <a:ext cx="409651" cy="409651"/>
          </a:xfrm>
          <a:prstGeom prst="rect">
            <a:avLst/>
          </a:prstGeom>
        </p:spPr>
      </p:pic>
      <p:sp>
        <p:nvSpPr>
          <p:cNvPr id="21" name="text-19"/>
          <p:cNvSpPr txBox="1"/>
          <p:nvPr/>
        </p:nvSpPr>
        <p:spPr>
          <a:xfrm>
            <a:off x="9402775" y="2834640"/>
            <a:ext cx="2011680" cy="502920"/>
          </a:xfrm>
          <a:prstGeom prst="rect">
            <a:avLst/>
          </a:prstGeom>
          <a:noFill/>
          <a:ln/>
        </p:spPr>
        <p:txBody>
          <a:bodyPr wrap="square" lIns="0" tIns="0" rIns="0" bIns="0" rtlCol="0" anchor="t"/>
          <a:lstStyle/>
          <a:p>
            <a:pPr indent="0" marL="0">
              <a:buNone/>
            </a:pPr>
            <a:r>
              <a:rPr lang="en-US" sz="2600" b="1" dirty="0">
                <a:solidFill>
                  <a:schemeClr val="tx1"/>
                </a:solidFill>
              </a:rPr>
              <a:t>Wi-Fi</a:t>
            </a:r>
            <a:endParaRPr lang="en-US" sz="2600" dirty="0"/>
          </a:p>
        </p:txBody>
      </p:sp>
      <p:sp>
        <p:nvSpPr>
          <p:cNvPr id="22" name="text-20"/>
          <p:cNvSpPr txBox="1"/>
          <p:nvPr/>
        </p:nvSpPr>
        <p:spPr>
          <a:xfrm>
            <a:off x="9402775" y="3383280"/>
            <a:ext cx="2011680" cy="548640"/>
          </a:xfrm>
          <a:prstGeom prst="rect">
            <a:avLst/>
          </a:prstGeom>
          <a:noFill/>
          <a:ln/>
        </p:spPr>
        <p:txBody>
          <a:bodyPr wrap="square" lIns="0" tIns="0" rIns="0" bIns="0" rtlCol="0" anchor="t"/>
          <a:lstStyle/>
          <a:p>
            <a:pPr indent="0" marL="0">
              <a:buNone/>
            </a:pPr>
            <a:r>
              <a:rPr lang="en-US" sz="1500" dirty="0">
                <a:solidFill>
                  <a:schemeClr val="tx2"/>
                </a:solidFill>
              </a:rPr>
              <a:t>Details on the card at your table</a:t>
            </a:r>
            <a:endParaRPr lang="en-US" sz="1500" dirty="0"/>
          </a:p>
        </p:txBody>
      </p:sp>
      <p:sp>
        <p:nvSpPr>
          <p:cNvPr id="23" name="text-21"/>
          <p:cNvSpPr txBox="1"/>
          <p:nvPr/>
        </p:nvSpPr>
        <p:spPr>
          <a:xfrm>
            <a:off x="548640" y="4572000"/>
            <a:ext cx="9601200" cy="914400"/>
          </a:xfrm>
          <a:prstGeom prst="rect">
            <a:avLst/>
          </a:prstGeom>
          <a:noFill/>
          <a:ln/>
        </p:spPr>
        <p:txBody>
          <a:bodyPr wrap="square" lIns="0" tIns="0" rIns="0" bIns="0" rtlCol="0" anchor="t"/>
          <a:lstStyle/>
          <a:p>
            <a:pPr indent="0" marL="0">
              <a:buNone/>
            </a:pPr>
            <a:r>
              <a:rPr lang="en-US" sz="2000" b="1" dirty="0">
                <a:solidFill>
                  <a:schemeClr val="tx1"/>
                </a:solidFill>
              </a:rPr>
              <a:t>Most of today is hands-on. </a:t>
            </a:r>
            <a:pPr indent="0" marL="0">
              <a:buNone/>
            </a:pPr>
            <a:r>
              <a:rPr lang="en-US" sz="2000" dirty="0">
                <a:solidFill>
                  <a:schemeClr val="tx1"/>
                </a:solidFill>
              </a:rPr>
              <a:t>You'll spend more time prompting than listening, and you'll leave with a prompt template built for your own work.</a:t>
            </a:r>
            <a:endParaRPr lang="en-US" sz="20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Meet your neighbor</a:t>
            </a:r>
            <a:endParaRPr lang="en-US" sz="3400" dirty="0"/>
          </a:p>
        </p:txBody>
      </p:sp>
      <p:sp>
        <p:nvSpPr>
          <p:cNvPr id="3" name="badge-22"/>
          <p:cNvSpPr/>
          <p:nvPr/>
        </p:nvSpPr>
        <p:spPr>
          <a:xfrm>
            <a:off x="10042855" y="502920"/>
            <a:ext cx="1600200" cy="457200"/>
          </a:xfrm>
          <a:prstGeom prst="roundRect">
            <a:avLst>
              <a:gd name="adj" fmla="val 50000"/>
            </a:avLst>
          </a:prstGeom>
          <a:solidFill>
            <a:schemeClr val="bg2"/>
          </a:solidFill>
          <a:ln/>
        </p:spPr>
      </p:sp>
      <p:sp>
        <p:nvSpPr>
          <p:cNvPr id="4" name="text-23"/>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8 min</a:t>
            </a:r>
            <a:endParaRPr lang="en-US" sz="1600" dirty="0"/>
          </a:p>
        </p:txBody>
      </p:sp>
      <p:sp>
        <p:nvSpPr>
          <p:cNvPr id="5" name="card-24"/>
          <p:cNvSpPr/>
          <p:nvPr/>
        </p:nvSpPr>
        <p:spPr>
          <a:xfrm>
            <a:off x="548640" y="1554480"/>
            <a:ext cx="6766560" cy="4206240"/>
          </a:xfrm>
          <a:prstGeom prst="roundRect">
            <a:avLst>
              <a:gd name="adj" fmla="val 2609"/>
            </a:avLst>
          </a:prstGeom>
          <a:solidFill>
            <a:schemeClr val="bg2"/>
          </a:solidFill>
          <a:ln/>
        </p:spPr>
      </p:sp>
      <p:sp>
        <p:nvSpPr>
          <p:cNvPr id="6" name="text-25"/>
          <p:cNvSpPr txBox="1"/>
          <p:nvPr/>
        </p:nvSpPr>
        <p:spPr>
          <a:xfrm>
            <a:off x="960120" y="1920240"/>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7" name="text-26"/>
          <p:cNvSpPr txBox="1"/>
          <p:nvPr/>
        </p:nvSpPr>
        <p:spPr>
          <a:xfrm>
            <a:off x="1645920" y="2029968"/>
            <a:ext cx="5394960" cy="914400"/>
          </a:xfrm>
          <a:prstGeom prst="rect">
            <a:avLst/>
          </a:prstGeom>
          <a:noFill/>
          <a:ln/>
        </p:spPr>
        <p:txBody>
          <a:bodyPr wrap="square" lIns="0" tIns="0" rIns="0" bIns="0" rtlCol="0" anchor="t"/>
          <a:lstStyle/>
          <a:p>
            <a:pPr indent="0" marL="0">
              <a:buNone/>
            </a:pPr>
            <a:r>
              <a:rPr lang="en-US" sz="2400" b="1" dirty="0">
                <a:solidFill>
                  <a:schemeClr val="tx1"/>
                </a:solidFill>
              </a:rPr>
              <a:t>Your name</a:t>
            </a:r>
            <a:endParaRPr lang="en-US" sz="2400" dirty="0"/>
          </a:p>
        </p:txBody>
      </p:sp>
      <p:sp>
        <p:nvSpPr>
          <p:cNvPr id="8" name="text-27"/>
          <p:cNvSpPr txBox="1"/>
          <p:nvPr/>
        </p:nvSpPr>
        <p:spPr>
          <a:xfrm>
            <a:off x="960120" y="3108960"/>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9" name="text-28"/>
          <p:cNvSpPr txBox="1"/>
          <p:nvPr/>
        </p:nvSpPr>
        <p:spPr>
          <a:xfrm>
            <a:off x="1645920" y="3218688"/>
            <a:ext cx="5394960" cy="914400"/>
          </a:xfrm>
          <a:prstGeom prst="rect">
            <a:avLst/>
          </a:prstGeom>
          <a:noFill/>
          <a:ln/>
        </p:spPr>
        <p:txBody>
          <a:bodyPr wrap="square" lIns="0" tIns="0" rIns="0" bIns="0" rtlCol="0" anchor="t"/>
          <a:lstStyle/>
          <a:p>
            <a:pPr indent="0" marL="0">
              <a:buNone/>
            </a:pPr>
            <a:r>
              <a:rPr lang="en-US" sz="2400" b="1" dirty="0">
                <a:solidFill>
                  <a:schemeClr val="tx1"/>
                </a:solidFill>
              </a:rPr>
              <a:t>What you do</a:t>
            </a:r>
            <a:endParaRPr lang="en-US" sz="2400" dirty="0"/>
          </a:p>
        </p:txBody>
      </p:sp>
      <p:sp>
        <p:nvSpPr>
          <p:cNvPr id="10" name="text-29"/>
          <p:cNvSpPr txBox="1"/>
          <p:nvPr/>
        </p:nvSpPr>
        <p:spPr>
          <a:xfrm>
            <a:off x="960120" y="4297680"/>
            <a:ext cx="548640" cy="82296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11" name="text-30"/>
          <p:cNvSpPr txBox="1"/>
          <p:nvPr/>
        </p:nvSpPr>
        <p:spPr>
          <a:xfrm>
            <a:off x="1645920" y="4407408"/>
            <a:ext cx="5394960" cy="914400"/>
          </a:xfrm>
          <a:prstGeom prst="rect">
            <a:avLst/>
          </a:prstGeom>
          <a:noFill/>
          <a:ln/>
        </p:spPr>
        <p:txBody>
          <a:bodyPr wrap="square" lIns="0" tIns="0" rIns="0" bIns="0" rtlCol="0" anchor="t"/>
          <a:lstStyle/>
          <a:p>
            <a:pPr indent="0" marL="0">
              <a:buNone/>
            </a:pPr>
            <a:r>
              <a:rPr lang="en-US" sz="2400" dirty="0">
                <a:solidFill>
                  <a:schemeClr val="tx1"/>
                </a:solidFill>
              </a:rPr>
              <a:t>One thing you'd like AI to help you with at work</a:t>
            </a:r>
            <a:endParaRPr lang="en-US" sz="2400" dirty="0"/>
          </a:p>
        </p:txBody>
      </p:sp>
      <p:pic>
        <p:nvPicPr>
          <p:cNvPr id="12" name="icon-31" descr="preencoded.png">    </p:cNvPr>
          <p:cNvPicPr>
            <a:picLocks noChangeAspect="1"/>
          </p:cNvPicPr>
          <p:nvPr/>
        </p:nvPicPr>
        <p:blipFill>
          <a:blip r:embed="rId1"/>
          <a:stretch>
            <a:fillRect/>
          </a:stretch>
        </p:blipFill>
        <p:spPr>
          <a:xfrm>
            <a:off x="8001000" y="1691640"/>
            <a:ext cx="914400" cy="914400"/>
          </a:xfrm>
          <a:prstGeom prst="rect">
            <a:avLst/>
          </a:prstGeom>
        </p:spPr>
      </p:pic>
      <p:sp>
        <p:nvSpPr>
          <p:cNvPr id="13" name="text-32"/>
          <p:cNvSpPr txBox="1"/>
          <p:nvPr/>
        </p:nvSpPr>
        <p:spPr>
          <a:xfrm>
            <a:off x="8001000" y="2788920"/>
            <a:ext cx="3657600" cy="548640"/>
          </a:xfrm>
          <a:prstGeom prst="rect">
            <a:avLst/>
          </a:prstGeom>
          <a:noFill/>
          <a:ln/>
        </p:spPr>
        <p:txBody>
          <a:bodyPr wrap="square" lIns="0" tIns="0" rIns="0" bIns="0" rtlCol="0" anchor="t"/>
          <a:lstStyle/>
          <a:p>
            <a:pPr indent="0" marL="0">
              <a:buNone/>
            </a:pPr>
            <a:r>
              <a:rPr lang="en-US" sz="2800" b="1" dirty="0">
                <a:solidFill>
                  <a:schemeClr val="tx1"/>
                </a:solidFill>
              </a:rPr>
              <a:t>2 minutes each</a:t>
            </a:r>
            <a:endParaRPr lang="en-US" sz="2800" dirty="0"/>
          </a:p>
        </p:txBody>
      </p:sp>
      <p:sp>
        <p:nvSpPr>
          <p:cNvPr id="14" name="text-33"/>
          <p:cNvSpPr txBox="1"/>
          <p:nvPr/>
        </p:nvSpPr>
        <p:spPr>
          <a:xfrm>
            <a:off x="8001000" y="3429000"/>
            <a:ext cx="3566160" cy="1097280"/>
          </a:xfrm>
          <a:prstGeom prst="rect">
            <a:avLst/>
          </a:prstGeom>
          <a:noFill/>
          <a:ln/>
        </p:spPr>
        <p:txBody>
          <a:bodyPr wrap="square" lIns="0" tIns="0" rIns="0" bIns="0" rtlCol="0" anchor="t"/>
          <a:lstStyle/>
          <a:p>
            <a:pPr indent="0" marL="0">
              <a:buNone/>
            </a:pPr>
            <a:r>
              <a:rPr lang="en-US" sz="1800" dirty="0">
                <a:solidFill>
                  <a:schemeClr val="tx2"/>
                </a:solidFill>
              </a:rPr>
              <a:t>Then share your partner's answer to #3 with the room.</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Quick check: where are you starting?</a:t>
            </a:r>
            <a:endParaRPr lang="en-US" sz="3400" dirty="0"/>
          </a:p>
        </p:txBody>
      </p:sp>
      <p:sp>
        <p:nvSpPr>
          <p:cNvPr id="3" name="badge-34"/>
          <p:cNvSpPr/>
          <p:nvPr/>
        </p:nvSpPr>
        <p:spPr>
          <a:xfrm>
            <a:off x="10042855" y="502920"/>
            <a:ext cx="1600200" cy="457200"/>
          </a:xfrm>
          <a:prstGeom prst="roundRect">
            <a:avLst>
              <a:gd name="adj" fmla="val 50000"/>
            </a:avLst>
          </a:prstGeom>
          <a:solidFill>
            <a:schemeClr val="bg2"/>
          </a:solidFill>
          <a:ln/>
        </p:spPr>
      </p:sp>
      <p:sp>
        <p:nvSpPr>
          <p:cNvPr id="4" name="text-35"/>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7 min</a:t>
            </a:r>
            <a:endParaRPr lang="en-US" sz="1600" dirty="0"/>
          </a:p>
        </p:txBody>
      </p:sp>
      <p:sp>
        <p:nvSpPr>
          <p:cNvPr id="5" name="dot-36"/>
          <p:cNvSpPr/>
          <p:nvPr/>
        </p:nvSpPr>
        <p:spPr>
          <a:xfrm>
            <a:off x="548640" y="1691640"/>
            <a:ext cx="603504" cy="603504"/>
          </a:xfrm>
          <a:prstGeom prst="ellipse">
            <a:avLst/>
          </a:prstGeom>
          <a:solidFill>
            <a:schemeClr val="tx1"/>
          </a:solidFill>
          <a:ln/>
        </p:spPr>
      </p:sp>
      <p:pic>
        <p:nvPicPr>
          <p:cNvPr id="6" name="icon-37" descr="preencoded.png">    </p:cNvPr>
          <p:cNvPicPr>
            <a:picLocks noChangeAspect="1"/>
          </p:cNvPicPr>
          <p:nvPr/>
        </p:nvPicPr>
        <p:blipFill>
          <a:blip r:embed="rId1"/>
          <a:stretch>
            <a:fillRect/>
          </a:stretch>
        </p:blipFill>
        <p:spPr>
          <a:xfrm>
            <a:off x="681411" y="1824411"/>
            <a:ext cx="337962" cy="337962"/>
          </a:xfrm>
          <a:prstGeom prst="rect">
            <a:avLst/>
          </a:prstGeom>
        </p:spPr>
      </p:pic>
      <p:sp>
        <p:nvSpPr>
          <p:cNvPr id="7" name="text-38"/>
          <p:cNvSpPr txBox="1"/>
          <p:nvPr/>
        </p:nvSpPr>
        <p:spPr>
          <a:xfrm>
            <a:off x="1417320" y="1691640"/>
            <a:ext cx="5212080" cy="603504"/>
          </a:xfrm>
          <a:prstGeom prst="rect">
            <a:avLst/>
          </a:prstGeom>
          <a:noFill/>
          <a:ln/>
        </p:spPr>
        <p:txBody>
          <a:bodyPr wrap="square" lIns="0" tIns="0" rIns="0" bIns="0" rtlCol="0" anchor="ctr"/>
          <a:lstStyle/>
          <a:p>
            <a:pPr indent="0" marL="0">
              <a:buNone/>
            </a:pPr>
            <a:r>
              <a:rPr lang="en-US" sz="2000" dirty="0">
                <a:solidFill>
                  <a:schemeClr val="tx1"/>
                </a:solidFill>
              </a:rPr>
              <a:t>8 questions, 7 minutes</a:t>
            </a:r>
            <a:endParaRPr lang="en-US" sz="2000" dirty="0"/>
          </a:p>
        </p:txBody>
      </p:sp>
      <p:sp>
        <p:nvSpPr>
          <p:cNvPr id="8" name="dot-39"/>
          <p:cNvSpPr/>
          <p:nvPr/>
        </p:nvSpPr>
        <p:spPr>
          <a:xfrm>
            <a:off x="548640" y="2679192"/>
            <a:ext cx="603504" cy="603504"/>
          </a:xfrm>
          <a:prstGeom prst="ellipse">
            <a:avLst/>
          </a:prstGeom>
          <a:solidFill>
            <a:schemeClr val="tx1"/>
          </a:solidFill>
          <a:ln/>
        </p:spPr>
      </p:sp>
      <p:pic>
        <p:nvPicPr>
          <p:cNvPr id="9" name="icon-40" descr="preencoded.png">    </p:cNvPr>
          <p:cNvPicPr>
            <a:picLocks noChangeAspect="1"/>
          </p:cNvPicPr>
          <p:nvPr/>
        </p:nvPicPr>
        <p:blipFill>
          <a:blip r:embed="rId2"/>
          <a:stretch>
            <a:fillRect/>
          </a:stretch>
        </p:blipFill>
        <p:spPr>
          <a:xfrm>
            <a:off x="681411" y="2811963"/>
            <a:ext cx="337962" cy="337962"/>
          </a:xfrm>
          <a:prstGeom prst="rect">
            <a:avLst/>
          </a:prstGeom>
        </p:spPr>
      </p:pic>
      <p:sp>
        <p:nvSpPr>
          <p:cNvPr id="10" name="text-41"/>
          <p:cNvSpPr txBox="1"/>
          <p:nvPr/>
        </p:nvSpPr>
        <p:spPr>
          <a:xfrm>
            <a:off x="1417320" y="2679192"/>
            <a:ext cx="5212080" cy="603504"/>
          </a:xfrm>
          <a:prstGeom prst="rect">
            <a:avLst/>
          </a:prstGeom>
          <a:noFill/>
          <a:ln/>
        </p:spPr>
        <p:txBody>
          <a:bodyPr wrap="square" lIns="0" tIns="0" rIns="0" bIns="0" rtlCol="0" anchor="ctr"/>
          <a:lstStyle/>
          <a:p>
            <a:pPr indent="0" marL="0">
              <a:buNone/>
            </a:pPr>
            <a:r>
              <a:rPr lang="en-US" sz="2000" dirty="0">
                <a:solidFill>
                  <a:schemeClr val="tx1"/>
                </a:solidFill>
              </a:rPr>
              <a:t>Not graded. Nobody sees your name.</a:t>
            </a:r>
            <a:endParaRPr lang="en-US" sz="2000" dirty="0"/>
          </a:p>
        </p:txBody>
      </p:sp>
      <p:sp>
        <p:nvSpPr>
          <p:cNvPr id="11" name="dot-42"/>
          <p:cNvSpPr/>
          <p:nvPr/>
        </p:nvSpPr>
        <p:spPr>
          <a:xfrm>
            <a:off x="548640" y="3666744"/>
            <a:ext cx="603504" cy="603504"/>
          </a:xfrm>
          <a:prstGeom prst="ellipse">
            <a:avLst/>
          </a:prstGeom>
          <a:solidFill>
            <a:schemeClr val="tx1"/>
          </a:solidFill>
          <a:ln/>
        </p:spPr>
      </p:sp>
      <p:pic>
        <p:nvPicPr>
          <p:cNvPr id="12" name="icon-43" descr="preencoded.png">    </p:cNvPr>
          <p:cNvPicPr>
            <a:picLocks noChangeAspect="1"/>
          </p:cNvPicPr>
          <p:nvPr/>
        </p:nvPicPr>
        <p:blipFill>
          <a:blip r:embed="rId3"/>
          <a:stretch>
            <a:fillRect/>
          </a:stretch>
        </p:blipFill>
        <p:spPr>
          <a:xfrm>
            <a:off x="681411" y="3799515"/>
            <a:ext cx="337962" cy="337962"/>
          </a:xfrm>
          <a:prstGeom prst="rect">
            <a:avLst/>
          </a:prstGeom>
        </p:spPr>
      </p:pic>
      <p:sp>
        <p:nvSpPr>
          <p:cNvPr id="13" name="text-44"/>
          <p:cNvSpPr txBox="1"/>
          <p:nvPr/>
        </p:nvSpPr>
        <p:spPr>
          <a:xfrm>
            <a:off x="1417320" y="3666744"/>
            <a:ext cx="5212080" cy="603504"/>
          </a:xfrm>
          <a:prstGeom prst="rect">
            <a:avLst/>
          </a:prstGeom>
          <a:noFill/>
          <a:ln/>
        </p:spPr>
        <p:txBody>
          <a:bodyPr wrap="square" lIns="0" tIns="0" rIns="0" bIns="0" rtlCol="0" anchor="ctr"/>
          <a:lstStyle/>
          <a:p>
            <a:pPr indent="0" marL="0">
              <a:buNone/>
            </a:pPr>
            <a:r>
              <a:rPr lang="en-US" sz="2000" dirty="0">
                <a:solidFill>
                  <a:schemeClr val="tx1"/>
                </a:solidFill>
              </a:rPr>
              <a:t>“I don't know yet” is a great answer this morning</a:t>
            </a:r>
            <a:endParaRPr lang="en-US" sz="2000" dirty="0"/>
          </a:p>
        </p:txBody>
      </p:sp>
      <p:sp>
        <p:nvSpPr>
          <p:cNvPr id="14" name="dot-45"/>
          <p:cNvSpPr/>
          <p:nvPr/>
        </p:nvSpPr>
        <p:spPr>
          <a:xfrm>
            <a:off x="548640" y="4654296"/>
            <a:ext cx="603504" cy="603504"/>
          </a:xfrm>
          <a:prstGeom prst="ellipse">
            <a:avLst/>
          </a:prstGeom>
          <a:solidFill>
            <a:schemeClr val="tx1"/>
          </a:solidFill>
          <a:ln/>
        </p:spPr>
      </p:sp>
      <p:pic>
        <p:nvPicPr>
          <p:cNvPr id="15" name="icon-46" descr="preencoded.png">    </p:cNvPr>
          <p:cNvPicPr>
            <a:picLocks noChangeAspect="1"/>
          </p:cNvPicPr>
          <p:nvPr/>
        </p:nvPicPr>
        <p:blipFill>
          <a:blip r:embed="rId4"/>
          <a:stretch>
            <a:fillRect/>
          </a:stretch>
        </p:blipFill>
        <p:spPr>
          <a:xfrm>
            <a:off x="681411" y="4787067"/>
            <a:ext cx="337962" cy="337962"/>
          </a:xfrm>
          <a:prstGeom prst="rect">
            <a:avLst/>
          </a:prstGeom>
        </p:spPr>
      </p:pic>
      <p:sp>
        <p:nvSpPr>
          <p:cNvPr id="16" name="text-47"/>
          <p:cNvSpPr txBox="1"/>
          <p:nvPr/>
        </p:nvSpPr>
        <p:spPr>
          <a:xfrm>
            <a:off x="1417320" y="4654296"/>
            <a:ext cx="5212080" cy="603504"/>
          </a:xfrm>
          <a:prstGeom prst="rect">
            <a:avLst/>
          </a:prstGeom>
          <a:noFill/>
          <a:ln/>
        </p:spPr>
        <p:txBody>
          <a:bodyPr wrap="square" lIns="0" tIns="0" rIns="0" bIns="0" rtlCol="0" anchor="ctr"/>
          <a:lstStyle/>
          <a:p>
            <a:pPr indent="0" marL="0">
              <a:buNone/>
            </a:pPr>
            <a:r>
              <a:rPr lang="en-US" sz="2000" dirty="0">
                <a:solidFill>
                  <a:schemeClr val="tx1"/>
                </a:solidFill>
              </a:rPr>
              <a:t>Same questions at 3:37, to show what changed</a:t>
            </a:r>
            <a:endParaRPr lang="en-US" sz="2000" dirty="0"/>
          </a:p>
        </p:txBody>
      </p:sp>
      <p:sp>
        <p:nvSpPr>
          <p:cNvPr id="17" name="card-48"/>
          <p:cNvSpPr/>
          <p:nvPr/>
        </p:nvSpPr>
        <p:spPr>
          <a:xfrm>
            <a:off x="6949440" y="1600200"/>
            <a:ext cx="4690872" cy="4206240"/>
          </a:xfrm>
          <a:prstGeom prst="roundRect">
            <a:avLst>
              <a:gd name="adj" fmla="val 2609"/>
            </a:avLst>
          </a:prstGeom>
          <a:solidFill>
            <a:schemeClr val="tx1"/>
          </a:solidFill>
          <a:ln/>
        </p:spPr>
      </p:sp>
      <p:sp>
        <p:nvSpPr>
          <p:cNvPr id="18" name="text-49"/>
          <p:cNvSpPr txBox="1"/>
          <p:nvPr/>
        </p:nvSpPr>
        <p:spPr>
          <a:xfrm>
            <a:off x="7315200" y="1920240"/>
            <a:ext cx="402336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YOUR CHECK CODE</a:t>
            </a:r>
            <a:endParaRPr lang="en-US" sz="1300" dirty="0"/>
          </a:p>
        </p:txBody>
      </p:sp>
      <p:sp>
        <p:nvSpPr>
          <p:cNvPr id="19" name="text-50"/>
          <p:cNvSpPr txBox="1"/>
          <p:nvPr/>
        </p:nvSpPr>
        <p:spPr>
          <a:xfrm>
            <a:off x="7315200" y="2331720"/>
            <a:ext cx="4023360" cy="1188720"/>
          </a:xfrm>
          <a:prstGeom prst="rect">
            <a:avLst/>
          </a:prstGeom>
          <a:noFill/>
          <a:ln/>
        </p:spPr>
        <p:txBody>
          <a:bodyPr wrap="square" lIns="0" tIns="0" rIns="0" bIns="0" rtlCol="0" anchor="t"/>
          <a:lstStyle/>
          <a:p>
            <a:pPr indent="0" marL="0">
              <a:buNone/>
            </a:pPr>
            <a:r>
              <a:rPr lang="en-US" sz="1800" dirty="0">
                <a:solidFill>
                  <a:schemeClr val="bg1"/>
                </a:solidFill>
              </a:rPr>
              <a:t>Last two letters of your mother's or guardian's first name, plus the day of the month you were born</a:t>
            </a:r>
            <a:endParaRPr lang="en-US" sz="1800" dirty="0"/>
          </a:p>
        </p:txBody>
      </p:sp>
      <p:sp>
        <p:nvSpPr>
          <p:cNvPr id="20" name="text-51"/>
          <p:cNvSpPr txBox="1"/>
          <p:nvPr/>
        </p:nvSpPr>
        <p:spPr>
          <a:xfrm>
            <a:off x="7315200" y="3611880"/>
            <a:ext cx="4023360" cy="1097280"/>
          </a:xfrm>
          <a:prstGeom prst="rect">
            <a:avLst/>
          </a:prstGeom>
          <a:noFill/>
          <a:ln/>
        </p:spPr>
        <p:txBody>
          <a:bodyPr wrap="square" lIns="0" tIns="0" rIns="0" bIns="0" rtlCol="0" anchor="t"/>
          <a:lstStyle/>
          <a:p>
            <a:pPr indent="0" marL="0">
              <a:buNone/>
            </a:pPr>
            <a:r>
              <a:rPr lang="en-US" sz="7200" b="1" dirty="0">
                <a:solidFill>
                  <a:schemeClr val="bg1"/>
                </a:solidFill>
              </a:rPr>
              <a:t>NA14</a:t>
            </a:r>
            <a:endParaRPr lang="en-US" sz="7200" dirty="0"/>
          </a:p>
        </p:txBody>
      </p:sp>
      <p:sp>
        <p:nvSpPr>
          <p:cNvPr id="21" name="text-52"/>
          <p:cNvSpPr txBox="1"/>
          <p:nvPr/>
        </p:nvSpPr>
        <p:spPr>
          <a:xfrm>
            <a:off x="7315200" y="4800600"/>
            <a:ext cx="4023360" cy="365760"/>
          </a:xfrm>
          <a:prstGeom prst="rect">
            <a:avLst/>
          </a:prstGeom>
          <a:noFill/>
          <a:ln/>
        </p:spPr>
        <p:txBody>
          <a:bodyPr wrap="square" lIns="0" tIns="0" rIns="0" bIns="0" rtlCol="0" anchor="t"/>
          <a:lstStyle/>
          <a:p>
            <a:pPr indent="0" marL="0">
              <a:buNone/>
            </a:pPr>
            <a:r>
              <a:rPr lang="en-US" sz="1400" dirty="0">
                <a:solidFill>
                  <a:schemeClr val="accent3"/>
                </a:solidFill>
              </a:rPr>
              <a:t>Example: Diana, born on the 14th</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By 4:00, you'll be able to…</a:t>
            </a:r>
            <a:endParaRPr lang="en-US" sz="3400" dirty="0"/>
          </a:p>
        </p:txBody>
      </p:sp>
      <p:sp>
        <p:nvSpPr>
          <p:cNvPr id="3" name="card-53"/>
          <p:cNvSpPr/>
          <p:nvPr/>
        </p:nvSpPr>
        <p:spPr>
          <a:xfrm>
            <a:off x="548640" y="1463040"/>
            <a:ext cx="11094415" cy="749808"/>
          </a:xfrm>
          <a:prstGeom prst="roundRect">
            <a:avLst>
              <a:gd name="adj" fmla="val 14634"/>
            </a:avLst>
          </a:prstGeom>
          <a:solidFill>
            <a:schemeClr val="bg2"/>
          </a:solidFill>
          <a:ln/>
        </p:spPr>
      </p:sp>
      <p:sp>
        <p:nvSpPr>
          <p:cNvPr id="4" name="text-54"/>
          <p:cNvSpPr txBox="1"/>
          <p:nvPr/>
        </p:nvSpPr>
        <p:spPr>
          <a:xfrm>
            <a:off x="822960" y="1463040"/>
            <a:ext cx="457200" cy="749808"/>
          </a:xfrm>
          <a:prstGeom prst="rect">
            <a:avLst/>
          </a:prstGeom>
          <a:noFill/>
          <a:ln/>
        </p:spPr>
        <p:txBody>
          <a:bodyPr wrap="square" lIns="0" tIns="0" rIns="0" bIns="0" rtlCol="0" anchor="ctr"/>
          <a:lstStyle/>
          <a:p>
            <a:pPr indent="0" marL="0">
              <a:buNone/>
            </a:pPr>
            <a:r>
              <a:rPr lang="en-US" sz="2800" b="1" dirty="0">
                <a:solidFill>
                  <a:schemeClr val="accent1"/>
                </a:solidFill>
              </a:rPr>
              <a:t>1</a:t>
            </a:r>
            <a:endParaRPr lang="en-US" sz="2800" dirty="0"/>
          </a:p>
        </p:txBody>
      </p:sp>
      <p:sp>
        <p:nvSpPr>
          <p:cNvPr id="5" name="text-55"/>
          <p:cNvSpPr txBox="1"/>
          <p:nvPr/>
        </p:nvSpPr>
        <p:spPr>
          <a:xfrm>
            <a:off x="1463040" y="1463040"/>
            <a:ext cx="9905695" cy="749808"/>
          </a:xfrm>
          <a:prstGeom prst="rect">
            <a:avLst/>
          </a:prstGeom>
          <a:noFill/>
          <a:ln/>
        </p:spPr>
        <p:txBody>
          <a:bodyPr wrap="square" lIns="0" tIns="0" rIns="0" bIns="0" rtlCol="0" anchor="ctr"/>
          <a:lstStyle/>
          <a:p>
            <a:pPr indent="0" marL="0">
              <a:buNone/>
            </a:pPr>
            <a:r>
              <a:rPr lang="en-US" sz="2100" dirty="0">
                <a:solidFill>
                  <a:schemeClr val="tx1"/>
                </a:solidFill>
              </a:rPr>
              <a:t>Explain how AI chat tools produce answers, and where they go wrong</a:t>
            </a:r>
            <a:endParaRPr lang="en-US" sz="2100" dirty="0"/>
          </a:p>
        </p:txBody>
      </p:sp>
      <p:sp>
        <p:nvSpPr>
          <p:cNvPr id="6" name="card-56"/>
          <p:cNvSpPr/>
          <p:nvPr/>
        </p:nvSpPr>
        <p:spPr>
          <a:xfrm>
            <a:off x="548640" y="2377440"/>
            <a:ext cx="11094415" cy="749808"/>
          </a:xfrm>
          <a:prstGeom prst="roundRect">
            <a:avLst>
              <a:gd name="adj" fmla="val 14634"/>
            </a:avLst>
          </a:prstGeom>
          <a:solidFill>
            <a:schemeClr val="bg2"/>
          </a:solidFill>
          <a:ln/>
        </p:spPr>
      </p:sp>
      <p:sp>
        <p:nvSpPr>
          <p:cNvPr id="7" name="text-57"/>
          <p:cNvSpPr txBox="1"/>
          <p:nvPr/>
        </p:nvSpPr>
        <p:spPr>
          <a:xfrm>
            <a:off x="822960" y="2377440"/>
            <a:ext cx="457200" cy="749808"/>
          </a:xfrm>
          <a:prstGeom prst="rect">
            <a:avLst/>
          </a:prstGeom>
          <a:noFill/>
          <a:ln/>
        </p:spPr>
        <p:txBody>
          <a:bodyPr wrap="square" lIns="0" tIns="0" rIns="0" bIns="0" rtlCol="0" anchor="ctr"/>
          <a:lstStyle/>
          <a:p>
            <a:pPr indent="0" marL="0">
              <a:buNone/>
            </a:pPr>
            <a:r>
              <a:rPr lang="en-US" sz="2800" b="1" dirty="0">
                <a:solidFill>
                  <a:schemeClr val="accent1"/>
                </a:solidFill>
              </a:rPr>
              <a:t>2</a:t>
            </a:r>
            <a:endParaRPr lang="en-US" sz="2800" dirty="0"/>
          </a:p>
        </p:txBody>
      </p:sp>
      <p:sp>
        <p:nvSpPr>
          <p:cNvPr id="8" name="text-58"/>
          <p:cNvSpPr txBox="1"/>
          <p:nvPr/>
        </p:nvSpPr>
        <p:spPr>
          <a:xfrm>
            <a:off x="1463040" y="2377440"/>
            <a:ext cx="9905695" cy="749808"/>
          </a:xfrm>
          <a:prstGeom prst="rect">
            <a:avLst/>
          </a:prstGeom>
          <a:noFill/>
          <a:ln/>
        </p:spPr>
        <p:txBody>
          <a:bodyPr wrap="square" lIns="0" tIns="0" rIns="0" bIns="0" rtlCol="0" anchor="ctr"/>
          <a:lstStyle/>
          <a:p>
            <a:pPr indent="0" marL="0">
              <a:buNone/>
            </a:pPr>
            <a:r>
              <a:rPr lang="en-US" sz="2100" dirty="0">
                <a:solidFill>
                  <a:schemeClr val="tx1"/>
                </a:solidFill>
              </a:rPr>
              <a:t>Write clear prompts using the five CRAFT elements</a:t>
            </a:r>
            <a:endParaRPr lang="en-US" sz="2100" dirty="0"/>
          </a:p>
        </p:txBody>
      </p:sp>
      <p:sp>
        <p:nvSpPr>
          <p:cNvPr id="9" name="card-59"/>
          <p:cNvSpPr/>
          <p:nvPr/>
        </p:nvSpPr>
        <p:spPr>
          <a:xfrm>
            <a:off x="548640" y="3291840"/>
            <a:ext cx="11094415" cy="749808"/>
          </a:xfrm>
          <a:prstGeom prst="roundRect">
            <a:avLst>
              <a:gd name="adj" fmla="val 14634"/>
            </a:avLst>
          </a:prstGeom>
          <a:solidFill>
            <a:schemeClr val="bg2"/>
          </a:solidFill>
          <a:ln/>
        </p:spPr>
      </p:sp>
      <p:sp>
        <p:nvSpPr>
          <p:cNvPr id="10" name="text-60"/>
          <p:cNvSpPr txBox="1"/>
          <p:nvPr/>
        </p:nvSpPr>
        <p:spPr>
          <a:xfrm>
            <a:off x="822960" y="3291840"/>
            <a:ext cx="457200" cy="749808"/>
          </a:xfrm>
          <a:prstGeom prst="rect">
            <a:avLst/>
          </a:prstGeom>
          <a:noFill/>
          <a:ln/>
        </p:spPr>
        <p:txBody>
          <a:bodyPr wrap="square" lIns="0" tIns="0" rIns="0" bIns="0" rtlCol="0" anchor="ctr"/>
          <a:lstStyle/>
          <a:p>
            <a:pPr indent="0" marL="0">
              <a:buNone/>
            </a:pPr>
            <a:r>
              <a:rPr lang="en-US" sz="2800" b="1" dirty="0">
                <a:solidFill>
                  <a:schemeClr val="accent1"/>
                </a:solidFill>
              </a:rPr>
              <a:t>3</a:t>
            </a:r>
            <a:endParaRPr lang="en-US" sz="2800" dirty="0"/>
          </a:p>
        </p:txBody>
      </p:sp>
      <p:sp>
        <p:nvSpPr>
          <p:cNvPr id="11" name="text-61"/>
          <p:cNvSpPr txBox="1"/>
          <p:nvPr/>
        </p:nvSpPr>
        <p:spPr>
          <a:xfrm>
            <a:off x="1463040" y="3291840"/>
            <a:ext cx="9905695" cy="749808"/>
          </a:xfrm>
          <a:prstGeom prst="rect">
            <a:avLst/>
          </a:prstGeom>
          <a:noFill/>
          <a:ln/>
        </p:spPr>
        <p:txBody>
          <a:bodyPr wrap="square" lIns="0" tIns="0" rIns="0" bIns="0" rtlCol="0" anchor="ctr"/>
          <a:lstStyle/>
          <a:p>
            <a:pPr indent="0" marL="0">
              <a:buNone/>
            </a:pPr>
            <a:r>
              <a:rPr lang="en-US" sz="2100" dirty="0">
                <a:solidFill>
                  <a:schemeClr val="tx1"/>
                </a:solidFill>
              </a:rPr>
              <a:t>Use techniques that make results more reliable: examples, source text, and follow-ups</a:t>
            </a:r>
            <a:endParaRPr lang="en-US" sz="2100" dirty="0"/>
          </a:p>
        </p:txBody>
      </p:sp>
      <p:sp>
        <p:nvSpPr>
          <p:cNvPr id="12" name="card-62"/>
          <p:cNvSpPr/>
          <p:nvPr/>
        </p:nvSpPr>
        <p:spPr>
          <a:xfrm>
            <a:off x="548640" y="4206240"/>
            <a:ext cx="11094415" cy="749808"/>
          </a:xfrm>
          <a:prstGeom prst="roundRect">
            <a:avLst>
              <a:gd name="adj" fmla="val 14634"/>
            </a:avLst>
          </a:prstGeom>
          <a:solidFill>
            <a:schemeClr val="bg2"/>
          </a:solidFill>
          <a:ln/>
        </p:spPr>
      </p:sp>
      <p:sp>
        <p:nvSpPr>
          <p:cNvPr id="13" name="text-63"/>
          <p:cNvSpPr txBox="1"/>
          <p:nvPr/>
        </p:nvSpPr>
        <p:spPr>
          <a:xfrm>
            <a:off x="822960" y="4206240"/>
            <a:ext cx="457200" cy="749808"/>
          </a:xfrm>
          <a:prstGeom prst="rect">
            <a:avLst/>
          </a:prstGeom>
          <a:noFill/>
          <a:ln/>
        </p:spPr>
        <p:txBody>
          <a:bodyPr wrap="square" lIns="0" tIns="0" rIns="0" bIns="0" rtlCol="0" anchor="ctr"/>
          <a:lstStyle/>
          <a:p>
            <a:pPr indent="0" marL="0">
              <a:buNone/>
            </a:pPr>
            <a:r>
              <a:rPr lang="en-US" sz="2800" b="1" dirty="0">
                <a:solidFill>
                  <a:schemeClr val="accent1"/>
                </a:solidFill>
              </a:rPr>
              <a:t>4</a:t>
            </a:r>
            <a:endParaRPr lang="en-US" sz="2800" dirty="0"/>
          </a:p>
        </p:txBody>
      </p:sp>
      <p:sp>
        <p:nvSpPr>
          <p:cNvPr id="14" name="text-64"/>
          <p:cNvSpPr txBox="1"/>
          <p:nvPr/>
        </p:nvSpPr>
        <p:spPr>
          <a:xfrm>
            <a:off x="1463040" y="4206240"/>
            <a:ext cx="9905695" cy="749808"/>
          </a:xfrm>
          <a:prstGeom prst="rect">
            <a:avLst/>
          </a:prstGeom>
          <a:noFill/>
          <a:ln/>
        </p:spPr>
        <p:txBody>
          <a:bodyPr wrap="square" lIns="0" tIns="0" rIns="0" bIns="0" rtlCol="0" anchor="ctr"/>
          <a:lstStyle/>
          <a:p>
            <a:pPr indent="0" marL="0">
              <a:buNone/>
            </a:pPr>
            <a:r>
              <a:rPr lang="en-US" sz="2100" dirty="0">
                <a:solidFill>
                  <a:schemeClr val="tx1"/>
                </a:solidFill>
              </a:rPr>
              <a:t>Check AI output, and know what's safe to share</a:t>
            </a:r>
            <a:endParaRPr lang="en-US" sz="2100" dirty="0"/>
          </a:p>
        </p:txBody>
      </p:sp>
      <p:sp>
        <p:nvSpPr>
          <p:cNvPr id="15" name="card-65"/>
          <p:cNvSpPr/>
          <p:nvPr/>
        </p:nvSpPr>
        <p:spPr>
          <a:xfrm>
            <a:off x="548640" y="5120640"/>
            <a:ext cx="11094415" cy="749808"/>
          </a:xfrm>
          <a:prstGeom prst="roundRect">
            <a:avLst>
              <a:gd name="adj" fmla="val 14634"/>
            </a:avLst>
          </a:prstGeom>
          <a:solidFill>
            <a:schemeClr val="bg2"/>
          </a:solidFill>
          <a:ln/>
        </p:spPr>
      </p:sp>
      <p:sp>
        <p:nvSpPr>
          <p:cNvPr id="16" name="text-66"/>
          <p:cNvSpPr txBox="1"/>
          <p:nvPr/>
        </p:nvSpPr>
        <p:spPr>
          <a:xfrm>
            <a:off x="822960" y="5120640"/>
            <a:ext cx="457200" cy="749808"/>
          </a:xfrm>
          <a:prstGeom prst="rect">
            <a:avLst/>
          </a:prstGeom>
          <a:noFill/>
          <a:ln/>
        </p:spPr>
        <p:txBody>
          <a:bodyPr wrap="square" lIns="0" tIns="0" rIns="0" bIns="0" rtlCol="0" anchor="ctr"/>
          <a:lstStyle/>
          <a:p>
            <a:pPr indent="0" marL="0">
              <a:buNone/>
            </a:pPr>
            <a:r>
              <a:rPr lang="en-US" sz="2800" b="1" dirty="0">
                <a:solidFill>
                  <a:schemeClr val="accent1"/>
                </a:solidFill>
              </a:rPr>
              <a:t>5</a:t>
            </a:r>
            <a:endParaRPr lang="en-US" sz="2800" dirty="0"/>
          </a:p>
        </p:txBody>
      </p:sp>
      <p:sp>
        <p:nvSpPr>
          <p:cNvPr id="17" name="text-67"/>
          <p:cNvSpPr txBox="1"/>
          <p:nvPr/>
        </p:nvSpPr>
        <p:spPr>
          <a:xfrm>
            <a:off x="1463040" y="5120640"/>
            <a:ext cx="9905695" cy="749808"/>
          </a:xfrm>
          <a:prstGeom prst="rect">
            <a:avLst/>
          </a:prstGeom>
          <a:noFill/>
          <a:ln/>
        </p:spPr>
        <p:txBody>
          <a:bodyPr wrap="square" lIns="0" tIns="0" rIns="0" bIns="0" rtlCol="0" anchor="ctr"/>
          <a:lstStyle/>
          <a:p>
            <a:pPr indent="0" marL="0">
              <a:buNone/>
            </a:pPr>
            <a:r>
              <a:rPr lang="en-US" sz="2100" dirty="0">
                <a:solidFill>
                  <a:schemeClr val="tx1"/>
                </a:solidFill>
              </a:rPr>
              <a:t>Build a reusable prompt template for your own work</a:t>
            </a:r>
            <a:endParaRPr lang="en-US" sz="21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How today runs</a:t>
            </a:r>
            <a:endParaRPr lang="en-US" sz="3400" dirty="0"/>
          </a:p>
        </p:txBody>
      </p:sp>
      <p:sp>
        <p:nvSpPr>
          <p:cNvPr id="3" name="text-68"/>
          <p:cNvSpPr txBox="1"/>
          <p:nvPr/>
        </p:nvSpPr>
        <p:spPr>
          <a:xfrm>
            <a:off x="548640" y="1463040"/>
            <a:ext cx="5452750" cy="274320"/>
          </a:xfrm>
          <a:prstGeom prst="rect">
            <a:avLst/>
          </a:prstGeom>
          <a:noFill/>
          <a:ln/>
        </p:spPr>
        <p:txBody>
          <a:bodyPr wrap="square" lIns="0" tIns="0" rIns="0" bIns="0" rtlCol="0" anchor="t"/>
          <a:lstStyle/>
          <a:p>
            <a:pPr indent="0" marL="0">
              <a:buNone/>
            </a:pPr>
            <a:r>
              <a:rPr lang="en-US" sz="1300" b="1" spc="200" kern="0" dirty="0">
                <a:solidFill>
                  <a:schemeClr val="tx2"/>
                </a:solidFill>
              </a:rPr>
              <a:t>MORNING: LEARN THE SKILLS</a:t>
            </a:r>
            <a:endParaRPr lang="en-US" sz="1300" dirty="0"/>
          </a:p>
        </p:txBody>
      </p:sp>
      <p:sp>
        <p:nvSpPr>
          <p:cNvPr id="4" name="text-69"/>
          <p:cNvSpPr txBox="1"/>
          <p:nvPr/>
        </p:nvSpPr>
        <p:spPr>
          <a:xfrm>
            <a:off x="6190305" y="1463040"/>
            <a:ext cx="5452750" cy="274320"/>
          </a:xfrm>
          <a:prstGeom prst="rect">
            <a:avLst/>
          </a:prstGeom>
          <a:noFill/>
          <a:ln/>
        </p:spPr>
        <p:txBody>
          <a:bodyPr wrap="square" lIns="0" tIns="0" rIns="0" bIns="0" rtlCol="0" anchor="t"/>
          <a:lstStyle/>
          <a:p>
            <a:pPr indent="0" marL="0">
              <a:buNone/>
            </a:pPr>
            <a:r>
              <a:rPr lang="en-US" sz="1300" b="1" spc="200" kern="0" dirty="0">
                <a:solidFill>
                  <a:schemeClr val="tx2"/>
                </a:solidFill>
              </a:rPr>
              <a:t>AFTERNOON: APPLY THEM</a:t>
            </a:r>
            <a:endParaRPr lang="en-US" sz="1300" dirty="0"/>
          </a:p>
        </p:txBody>
      </p:sp>
      <p:sp>
        <p:nvSpPr>
          <p:cNvPr id="5" name="card-70"/>
          <p:cNvSpPr/>
          <p:nvPr/>
        </p:nvSpPr>
        <p:spPr>
          <a:xfrm>
            <a:off x="548640" y="1874520"/>
            <a:ext cx="1691640" cy="3017520"/>
          </a:xfrm>
          <a:prstGeom prst="roundRect">
            <a:avLst>
              <a:gd name="adj" fmla="val 6486"/>
            </a:avLst>
          </a:prstGeom>
          <a:solidFill>
            <a:schemeClr val="bg2"/>
          </a:solidFill>
          <a:ln/>
        </p:spPr>
      </p:sp>
      <p:sp>
        <p:nvSpPr>
          <p:cNvPr id="6" name="text-71"/>
          <p:cNvSpPr txBox="1"/>
          <p:nvPr/>
        </p:nvSpPr>
        <p:spPr>
          <a:xfrm>
            <a:off x="731520"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9:00</a:t>
            </a:r>
            <a:endParaRPr lang="en-US" sz="2000" dirty="0"/>
          </a:p>
        </p:txBody>
      </p:sp>
      <p:sp>
        <p:nvSpPr>
          <p:cNvPr id="7" name="text-72"/>
          <p:cNvSpPr txBox="1"/>
          <p:nvPr/>
        </p:nvSpPr>
        <p:spPr>
          <a:xfrm>
            <a:off x="731520" y="2606040"/>
            <a:ext cx="1325880" cy="274320"/>
          </a:xfrm>
          <a:prstGeom prst="rect">
            <a:avLst/>
          </a:prstGeom>
          <a:noFill/>
          <a:ln/>
        </p:spPr>
        <p:txBody>
          <a:bodyPr wrap="square" lIns="0" tIns="0" rIns="0" bIns="0" rtlCol="0" anchor="t"/>
          <a:lstStyle/>
          <a:p>
            <a:pPr indent="0" marL="0">
              <a:buNone/>
            </a:pPr>
            <a:r>
              <a:rPr lang="en-US" sz="1300" dirty="0">
                <a:solidFill>
                  <a:schemeClr val="tx2"/>
                </a:solidFill>
              </a:rPr>
              <a:t>00</a:t>
            </a:r>
            <a:endParaRPr lang="en-US" sz="1300" dirty="0"/>
          </a:p>
        </p:txBody>
      </p:sp>
      <p:sp>
        <p:nvSpPr>
          <p:cNvPr id="8" name="text-73"/>
          <p:cNvSpPr txBox="1"/>
          <p:nvPr/>
        </p:nvSpPr>
        <p:spPr>
          <a:xfrm>
            <a:off x="731520" y="2880360"/>
            <a:ext cx="1325880" cy="685800"/>
          </a:xfrm>
          <a:prstGeom prst="rect">
            <a:avLst/>
          </a:prstGeom>
          <a:noFill/>
          <a:ln/>
        </p:spPr>
        <p:txBody>
          <a:bodyPr wrap="square" lIns="0" tIns="0" rIns="0" bIns="0" rtlCol="0" anchor="t"/>
          <a:lstStyle/>
          <a:p>
            <a:pPr indent="0" marL="0">
              <a:buNone/>
            </a:pPr>
            <a:r>
              <a:rPr lang="en-US" sz="1900" b="1" dirty="0">
                <a:solidFill>
                  <a:schemeClr val="tx1"/>
                </a:solidFill>
              </a:rPr>
              <a:t>Welcome</a:t>
            </a:r>
            <a:endParaRPr lang="en-US" sz="1900" dirty="0"/>
          </a:p>
        </p:txBody>
      </p:sp>
      <p:sp>
        <p:nvSpPr>
          <p:cNvPr id="9" name="text-74"/>
          <p:cNvSpPr txBox="1"/>
          <p:nvPr/>
        </p:nvSpPr>
        <p:spPr>
          <a:xfrm>
            <a:off x="731520" y="3611880"/>
            <a:ext cx="1325880" cy="1097280"/>
          </a:xfrm>
          <a:prstGeom prst="rect">
            <a:avLst/>
          </a:prstGeom>
          <a:noFill/>
          <a:ln/>
        </p:spPr>
        <p:txBody>
          <a:bodyPr wrap="square" lIns="0" tIns="0" rIns="0" bIns="0" rtlCol="0" anchor="t"/>
          <a:lstStyle/>
          <a:p>
            <a:pPr indent="0" marL="0">
              <a:buNone/>
            </a:pPr>
            <a:r>
              <a:rPr lang="en-US" sz="1400" dirty="0">
                <a:solidFill>
                  <a:schemeClr val="tx2"/>
                </a:solidFill>
              </a:rPr>
              <a:t>Introductions, quick check, setup</a:t>
            </a:r>
            <a:endParaRPr lang="en-US" sz="1400" dirty="0"/>
          </a:p>
        </p:txBody>
      </p:sp>
      <p:sp>
        <p:nvSpPr>
          <p:cNvPr id="10" name="card-75"/>
          <p:cNvSpPr/>
          <p:nvPr/>
        </p:nvSpPr>
        <p:spPr>
          <a:xfrm>
            <a:off x="2429195" y="1874520"/>
            <a:ext cx="1691640" cy="3017520"/>
          </a:xfrm>
          <a:prstGeom prst="roundRect">
            <a:avLst>
              <a:gd name="adj" fmla="val 6486"/>
            </a:avLst>
          </a:prstGeom>
          <a:solidFill>
            <a:schemeClr val="bg2"/>
          </a:solidFill>
          <a:ln/>
        </p:spPr>
      </p:sp>
      <p:sp>
        <p:nvSpPr>
          <p:cNvPr id="11" name="text-76"/>
          <p:cNvSpPr txBox="1"/>
          <p:nvPr/>
        </p:nvSpPr>
        <p:spPr>
          <a:xfrm>
            <a:off x="2612075"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9:30</a:t>
            </a:r>
            <a:endParaRPr lang="en-US" sz="2000" dirty="0"/>
          </a:p>
        </p:txBody>
      </p:sp>
      <p:sp>
        <p:nvSpPr>
          <p:cNvPr id="12" name="text-77"/>
          <p:cNvSpPr txBox="1"/>
          <p:nvPr/>
        </p:nvSpPr>
        <p:spPr>
          <a:xfrm>
            <a:off x="2612075" y="2606040"/>
            <a:ext cx="1325880" cy="274320"/>
          </a:xfrm>
          <a:prstGeom prst="rect">
            <a:avLst/>
          </a:prstGeom>
          <a:noFill/>
          <a:ln/>
        </p:spPr>
        <p:txBody>
          <a:bodyPr wrap="square" lIns="0" tIns="0" rIns="0" bIns="0" rtlCol="0" anchor="t"/>
          <a:lstStyle/>
          <a:p>
            <a:pPr indent="0" marL="0">
              <a:buNone/>
            </a:pPr>
            <a:r>
              <a:rPr lang="en-US" sz="1300" dirty="0">
                <a:solidFill>
                  <a:schemeClr val="tx2"/>
                </a:solidFill>
              </a:rPr>
              <a:t>01</a:t>
            </a:r>
            <a:endParaRPr lang="en-US" sz="1300" dirty="0"/>
          </a:p>
        </p:txBody>
      </p:sp>
      <p:sp>
        <p:nvSpPr>
          <p:cNvPr id="13" name="text-78"/>
          <p:cNvSpPr txBox="1"/>
          <p:nvPr/>
        </p:nvSpPr>
        <p:spPr>
          <a:xfrm>
            <a:off x="2612075" y="2880360"/>
            <a:ext cx="1325880" cy="685800"/>
          </a:xfrm>
          <a:prstGeom prst="rect">
            <a:avLst/>
          </a:prstGeom>
          <a:noFill/>
          <a:ln/>
        </p:spPr>
        <p:txBody>
          <a:bodyPr wrap="square" lIns="0" tIns="0" rIns="0" bIns="0" rtlCol="0" anchor="t"/>
          <a:lstStyle/>
          <a:p>
            <a:pPr indent="0" marL="0">
              <a:buNone/>
            </a:pPr>
            <a:r>
              <a:rPr lang="en-US" sz="1900" b="1" dirty="0">
                <a:solidFill>
                  <a:schemeClr val="tx1"/>
                </a:solidFill>
              </a:rPr>
              <a:t>Foundations</a:t>
            </a:r>
            <a:endParaRPr lang="en-US" sz="1900" dirty="0"/>
          </a:p>
        </p:txBody>
      </p:sp>
      <p:sp>
        <p:nvSpPr>
          <p:cNvPr id="14" name="text-79"/>
          <p:cNvSpPr txBox="1"/>
          <p:nvPr/>
        </p:nvSpPr>
        <p:spPr>
          <a:xfrm>
            <a:off x="2612075" y="3611880"/>
            <a:ext cx="1325880" cy="1097280"/>
          </a:xfrm>
          <a:prstGeom prst="rect">
            <a:avLst/>
          </a:prstGeom>
          <a:noFill/>
          <a:ln/>
        </p:spPr>
        <p:txBody>
          <a:bodyPr wrap="square" lIns="0" tIns="0" rIns="0" bIns="0" rtlCol="0" anchor="t"/>
          <a:lstStyle/>
          <a:p>
            <a:pPr indent="0" marL="0">
              <a:buNone/>
            </a:pPr>
            <a:r>
              <a:rPr lang="en-US" sz="1400" dirty="0">
                <a:solidFill>
                  <a:schemeClr val="tx2"/>
                </a:solidFill>
              </a:rPr>
              <a:t>How AI works; the CRAFT framework</a:t>
            </a:r>
            <a:endParaRPr lang="en-US" sz="1400" dirty="0"/>
          </a:p>
        </p:txBody>
      </p:sp>
      <p:sp>
        <p:nvSpPr>
          <p:cNvPr id="15" name="card-80"/>
          <p:cNvSpPr/>
          <p:nvPr/>
        </p:nvSpPr>
        <p:spPr>
          <a:xfrm>
            <a:off x="4309750" y="1874520"/>
            <a:ext cx="1691640" cy="3017520"/>
          </a:xfrm>
          <a:prstGeom prst="roundRect">
            <a:avLst>
              <a:gd name="adj" fmla="val 6486"/>
            </a:avLst>
          </a:prstGeom>
          <a:solidFill>
            <a:schemeClr val="bg2"/>
          </a:solidFill>
          <a:ln/>
        </p:spPr>
      </p:sp>
      <p:sp>
        <p:nvSpPr>
          <p:cNvPr id="16" name="text-81"/>
          <p:cNvSpPr txBox="1"/>
          <p:nvPr/>
        </p:nvSpPr>
        <p:spPr>
          <a:xfrm>
            <a:off x="4492630"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10:45</a:t>
            </a:r>
            <a:endParaRPr lang="en-US" sz="2000" dirty="0"/>
          </a:p>
        </p:txBody>
      </p:sp>
      <p:sp>
        <p:nvSpPr>
          <p:cNvPr id="17" name="text-82"/>
          <p:cNvSpPr txBox="1"/>
          <p:nvPr/>
        </p:nvSpPr>
        <p:spPr>
          <a:xfrm>
            <a:off x="4492630" y="2606040"/>
            <a:ext cx="1325880" cy="274320"/>
          </a:xfrm>
          <a:prstGeom prst="rect">
            <a:avLst/>
          </a:prstGeom>
          <a:noFill/>
          <a:ln/>
        </p:spPr>
        <p:txBody>
          <a:bodyPr wrap="square" lIns="0" tIns="0" rIns="0" bIns="0" rtlCol="0" anchor="t"/>
          <a:lstStyle/>
          <a:p>
            <a:pPr indent="0" marL="0">
              <a:buNone/>
            </a:pPr>
            <a:r>
              <a:rPr lang="en-US" sz="1300" dirty="0">
                <a:solidFill>
                  <a:schemeClr val="tx2"/>
                </a:solidFill>
              </a:rPr>
              <a:t>02</a:t>
            </a:r>
            <a:endParaRPr lang="en-US" sz="1300" dirty="0"/>
          </a:p>
        </p:txBody>
      </p:sp>
      <p:sp>
        <p:nvSpPr>
          <p:cNvPr id="18" name="text-83"/>
          <p:cNvSpPr txBox="1"/>
          <p:nvPr/>
        </p:nvSpPr>
        <p:spPr>
          <a:xfrm>
            <a:off x="4492630" y="2880360"/>
            <a:ext cx="1325880" cy="685800"/>
          </a:xfrm>
          <a:prstGeom prst="rect">
            <a:avLst/>
          </a:prstGeom>
          <a:noFill/>
          <a:ln/>
        </p:spPr>
        <p:txBody>
          <a:bodyPr wrap="square" lIns="0" tIns="0" rIns="0" bIns="0" rtlCol="0" anchor="t"/>
          <a:lstStyle/>
          <a:p>
            <a:pPr indent="0" marL="0">
              <a:buNone/>
            </a:pPr>
            <a:r>
              <a:rPr lang="en-US" sz="1900" b="1" dirty="0">
                <a:solidFill>
                  <a:schemeClr val="tx1"/>
                </a:solidFill>
              </a:rPr>
              <a:t>Core skills</a:t>
            </a:r>
            <a:endParaRPr lang="en-US" sz="1900" dirty="0"/>
          </a:p>
        </p:txBody>
      </p:sp>
      <p:sp>
        <p:nvSpPr>
          <p:cNvPr id="19" name="text-84"/>
          <p:cNvSpPr txBox="1"/>
          <p:nvPr/>
        </p:nvSpPr>
        <p:spPr>
          <a:xfrm>
            <a:off x="4492630" y="3611880"/>
            <a:ext cx="1325880" cy="1097280"/>
          </a:xfrm>
          <a:prstGeom prst="rect">
            <a:avLst/>
          </a:prstGeom>
          <a:noFill/>
          <a:ln/>
        </p:spPr>
        <p:txBody>
          <a:bodyPr wrap="square" lIns="0" tIns="0" rIns="0" bIns="0" rtlCol="0" anchor="t"/>
          <a:lstStyle/>
          <a:p>
            <a:pPr indent="0" marL="0">
              <a:buNone/>
            </a:pPr>
            <a:r>
              <a:rPr lang="en-US" sz="1400" dirty="0">
                <a:solidFill>
                  <a:schemeClr val="tx2"/>
                </a:solidFill>
              </a:rPr>
              <a:t>Techniques for reliable results</a:t>
            </a:r>
            <a:endParaRPr lang="en-US" sz="1400" dirty="0"/>
          </a:p>
        </p:txBody>
      </p:sp>
      <p:sp>
        <p:nvSpPr>
          <p:cNvPr id="20" name="card-85"/>
          <p:cNvSpPr/>
          <p:nvPr/>
        </p:nvSpPr>
        <p:spPr>
          <a:xfrm>
            <a:off x="6190305" y="1874520"/>
            <a:ext cx="1691640" cy="3017520"/>
          </a:xfrm>
          <a:prstGeom prst="roundRect">
            <a:avLst>
              <a:gd name="adj" fmla="val 6486"/>
            </a:avLst>
          </a:prstGeom>
          <a:solidFill>
            <a:schemeClr val="tx1"/>
          </a:solidFill>
          <a:ln/>
        </p:spPr>
      </p:sp>
      <p:sp>
        <p:nvSpPr>
          <p:cNvPr id="21" name="text-86"/>
          <p:cNvSpPr txBox="1"/>
          <p:nvPr/>
        </p:nvSpPr>
        <p:spPr>
          <a:xfrm>
            <a:off x="6373185"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1:00</a:t>
            </a:r>
            <a:endParaRPr lang="en-US" sz="2000" dirty="0"/>
          </a:p>
        </p:txBody>
      </p:sp>
      <p:sp>
        <p:nvSpPr>
          <p:cNvPr id="22" name="text-87"/>
          <p:cNvSpPr txBox="1"/>
          <p:nvPr/>
        </p:nvSpPr>
        <p:spPr>
          <a:xfrm>
            <a:off x="6373185" y="2606040"/>
            <a:ext cx="1325880" cy="274320"/>
          </a:xfrm>
          <a:prstGeom prst="rect">
            <a:avLst/>
          </a:prstGeom>
          <a:noFill/>
          <a:ln/>
        </p:spPr>
        <p:txBody>
          <a:bodyPr wrap="square" lIns="0" tIns="0" rIns="0" bIns="0" rtlCol="0" anchor="t"/>
          <a:lstStyle/>
          <a:p>
            <a:pPr indent="0" marL="0">
              <a:buNone/>
            </a:pPr>
            <a:r>
              <a:rPr lang="en-US" sz="1300" dirty="0">
                <a:solidFill>
                  <a:schemeClr val="accent3"/>
                </a:solidFill>
              </a:rPr>
              <a:t>03</a:t>
            </a:r>
            <a:endParaRPr lang="en-US" sz="1300" dirty="0"/>
          </a:p>
        </p:txBody>
      </p:sp>
      <p:sp>
        <p:nvSpPr>
          <p:cNvPr id="23" name="text-88"/>
          <p:cNvSpPr txBox="1"/>
          <p:nvPr/>
        </p:nvSpPr>
        <p:spPr>
          <a:xfrm>
            <a:off x="6373185" y="2880360"/>
            <a:ext cx="1325880" cy="685800"/>
          </a:xfrm>
          <a:prstGeom prst="rect">
            <a:avLst/>
          </a:prstGeom>
          <a:noFill/>
          <a:ln/>
        </p:spPr>
        <p:txBody>
          <a:bodyPr wrap="square" lIns="0" tIns="0" rIns="0" bIns="0" rtlCol="0" anchor="t"/>
          <a:lstStyle/>
          <a:p>
            <a:pPr indent="0" marL="0">
              <a:buNone/>
            </a:pPr>
            <a:r>
              <a:rPr lang="en-US" sz="1900" b="1" dirty="0">
                <a:solidFill>
                  <a:schemeClr val="bg1"/>
                </a:solidFill>
              </a:rPr>
              <a:t>Applied practice</a:t>
            </a:r>
            <a:endParaRPr lang="en-US" sz="1900" dirty="0"/>
          </a:p>
        </p:txBody>
      </p:sp>
      <p:sp>
        <p:nvSpPr>
          <p:cNvPr id="24" name="text-89"/>
          <p:cNvSpPr txBox="1"/>
          <p:nvPr/>
        </p:nvSpPr>
        <p:spPr>
          <a:xfrm>
            <a:off x="6373185" y="3611880"/>
            <a:ext cx="1325880" cy="1097280"/>
          </a:xfrm>
          <a:prstGeom prst="rect">
            <a:avLst/>
          </a:prstGeom>
          <a:noFill/>
          <a:ln/>
        </p:spPr>
        <p:txBody>
          <a:bodyPr wrap="square" lIns="0" tIns="0" rIns="0" bIns="0" rtlCol="0" anchor="t"/>
          <a:lstStyle/>
          <a:p>
            <a:pPr indent="0" marL="0">
              <a:buNone/>
            </a:pPr>
            <a:r>
              <a:rPr lang="en-US" sz="1400" dirty="0">
                <a:solidFill>
                  <a:schemeClr val="accent3"/>
                </a:solidFill>
              </a:rPr>
              <a:t>A realistic workplace case</a:t>
            </a:r>
            <a:endParaRPr lang="en-US" sz="1400" dirty="0"/>
          </a:p>
        </p:txBody>
      </p:sp>
      <p:sp>
        <p:nvSpPr>
          <p:cNvPr id="25" name="card-90"/>
          <p:cNvSpPr/>
          <p:nvPr/>
        </p:nvSpPr>
        <p:spPr>
          <a:xfrm>
            <a:off x="8070860" y="1874520"/>
            <a:ext cx="1691640" cy="3017520"/>
          </a:xfrm>
          <a:prstGeom prst="roundRect">
            <a:avLst>
              <a:gd name="adj" fmla="val 6486"/>
            </a:avLst>
          </a:prstGeom>
          <a:solidFill>
            <a:schemeClr val="tx1"/>
          </a:solidFill>
          <a:ln/>
        </p:spPr>
      </p:sp>
      <p:sp>
        <p:nvSpPr>
          <p:cNvPr id="26" name="text-91"/>
          <p:cNvSpPr txBox="1"/>
          <p:nvPr/>
        </p:nvSpPr>
        <p:spPr>
          <a:xfrm>
            <a:off x="8253740"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2:30</a:t>
            </a:r>
            <a:endParaRPr lang="en-US" sz="2000" dirty="0"/>
          </a:p>
        </p:txBody>
      </p:sp>
      <p:sp>
        <p:nvSpPr>
          <p:cNvPr id="27" name="text-92"/>
          <p:cNvSpPr txBox="1"/>
          <p:nvPr/>
        </p:nvSpPr>
        <p:spPr>
          <a:xfrm>
            <a:off x="8253740" y="2606040"/>
            <a:ext cx="1325880" cy="274320"/>
          </a:xfrm>
          <a:prstGeom prst="rect">
            <a:avLst/>
          </a:prstGeom>
          <a:noFill/>
          <a:ln/>
        </p:spPr>
        <p:txBody>
          <a:bodyPr wrap="square" lIns="0" tIns="0" rIns="0" bIns="0" rtlCol="0" anchor="t"/>
          <a:lstStyle/>
          <a:p>
            <a:pPr indent="0" marL="0">
              <a:buNone/>
            </a:pPr>
            <a:r>
              <a:rPr lang="en-US" sz="1300" dirty="0">
                <a:solidFill>
                  <a:schemeClr val="accent3"/>
                </a:solidFill>
              </a:rPr>
              <a:t>04</a:t>
            </a:r>
            <a:endParaRPr lang="en-US" sz="1300" dirty="0"/>
          </a:p>
        </p:txBody>
      </p:sp>
      <p:sp>
        <p:nvSpPr>
          <p:cNvPr id="28" name="text-93"/>
          <p:cNvSpPr txBox="1"/>
          <p:nvPr/>
        </p:nvSpPr>
        <p:spPr>
          <a:xfrm>
            <a:off x="8253740" y="2880360"/>
            <a:ext cx="1325880" cy="685800"/>
          </a:xfrm>
          <a:prstGeom prst="rect">
            <a:avLst/>
          </a:prstGeom>
          <a:noFill/>
          <a:ln/>
        </p:spPr>
        <p:txBody>
          <a:bodyPr wrap="square" lIns="0" tIns="0" rIns="0" bIns="0" rtlCol="0" anchor="t"/>
          <a:lstStyle/>
          <a:p>
            <a:pPr indent="0" marL="0">
              <a:buNone/>
            </a:pPr>
            <a:r>
              <a:rPr lang="en-US" sz="1900" b="1" dirty="0">
                <a:solidFill>
                  <a:schemeClr val="bg1"/>
                </a:solidFill>
              </a:rPr>
              <a:t>Capstone</a:t>
            </a:r>
            <a:endParaRPr lang="en-US" sz="1900" dirty="0"/>
          </a:p>
        </p:txBody>
      </p:sp>
      <p:sp>
        <p:nvSpPr>
          <p:cNvPr id="29" name="text-94"/>
          <p:cNvSpPr txBox="1"/>
          <p:nvPr/>
        </p:nvSpPr>
        <p:spPr>
          <a:xfrm>
            <a:off x="8253740" y="3611880"/>
            <a:ext cx="1325880" cy="1097280"/>
          </a:xfrm>
          <a:prstGeom prst="rect">
            <a:avLst/>
          </a:prstGeom>
          <a:noFill/>
          <a:ln/>
        </p:spPr>
        <p:txBody>
          <a:bodyPr wrap="square" lIns="0" tIns="0" rIns="0" bIns="0" rtlCol="0" anchor="t"/>
          <a:lstStyle/>
          <a:p>
            <a:pPr indent="0" marL="0">
              <a:buNone/>
            </a:pPr>
            <a:r>
              <a:rPr lang="en-US" sz="1400" dirty="0">
                <a:solidFill>
                  <a:schemeClr val="accent3"/>
                </a:solidFill>
              </a:rPr>
              <a:t>Build your own prompt template</a:t>
            </a:r>
            <a:endParaRPr lang="en-US" sz="1400" dirty="0"/>
          </a:p>
        </p:txBody>
      </p:sp>
      <p:sp>
        <p:nvSpPr>
          <p:cNvPr id="30" name="card-95"/>
          <p:cNvSpPr/>
          <p:nvPr/>
        </p:nvSpPr>
        <p:spPr>
          <a:xfrm>
            <a:off x="9951415" y="1874520"/>
            <a:ext cx="1691640" cy="3017520"/>
          </a:xfrm>
          <a:prstGeom prst="roundRect">
            <a:avLst>
              <a:gd name="adj" fmla="val 6486"/>
            </a:avLst>
          </a:prstGeom>
          <a:solidFill>
            <a:schemeClr val="tx1"/>
          </a:solidFill>
          <a:ln/>
        </p:spPr>
      </p:sp>
      <p:sp>
        <p:nvSpPr>
          <p:cNvPr id="31" name="text-96"/>
          <p:cNvSpPr txBox="1"/>
          <p:nvPr/>
        </p:nvSpPr>
        <p:spPr>
          <a:xfrm>
            <a:off x="10134295" y="2103120"/>
            <a:ext cx="1325880" cy="411480"/>
          </a:xfrm>
          <a:prstGeom prst="rect">
            <a:avLst/>
          </a:prstGeom>
          <a:noFill/>
          <a:ln/>
        </p:spPr>
        <p:txBody>
          <a:bodyPr wrap="square" lIns="0" tIns="0" rIns="0" bIns="0" rtlCol="0" anchor="t"/>
          <a:lstStyle/>
          <a:p>
            <a:pPr indent="0" marL="0">
              <a:buNone/>
            </a:pPr>
            <a:r>
              <a:rPr lang="en-US" sz="2000" b="1" dirty="0">
                <a:solidFill>
                  <a:schemeClr val="accent1"/>
                </a:solidFill>
              </a:rPr>
              <a:t>3:30</a:t>
            </a:r>
            <a:endParaRPr lang="en-US" sz="2000" dirty="0"/>
          </a:p>
        </p:txBody>
      </p:sp>
      <p:sp>
        <p:nvSpPr>
          <p:cNvPr id="32" name="text-97"/>
          <p:cNvSpPr txBox="1"/>
          <p:nvPr/>
        </p:nvSpPr>
        <p:spPr>
          <a:xfrm>
            <a:off x="10134295" y="2606040"/>
            <a:ext cx="1325880" cy="274320"/>
          </a:xfrm>
          <a:prstGeom prst="rect">
            <a:avLst/>
          </a:prstGeom>
          <a:noFill/>
          <a:ln/>
        </p:spPr>
        <p:txBody>
          <a:bodyPr wrap="square" lIns="0" tIns="0" rIns="0" bIns="0" rtlCol="0" anchor="t"/>
          <a:lstStyle/>
          <a:p>
            <a:pPr indent="0" marL="0">
              <a:buNone/>
            </a:pPr>
            <a:r>
              <a:rPr lang="en-US" sz="1300" dirty="0">
                <a:solidFill>
                  <a:schemeClr val="accent3"/>
                </a:solidFill>
              </a:rPr>
              <a:t>05</a:t>
            </a:r>
            <a:endParaRPr lang="en-US" sz="1300" dirty="0"/>
          </a:p>
        </p:txBody>
      </p:sp>
      <p:sp>
        <p:nvSpPr>
          <p:cNvPr id="33" name="text-98"/>
          <p:cNvSpPr txBox="1"/>
          <p:nvPr/>
        </p:nvSpPr>
        <p:spPr>
          <a:xfrm>
            <a:off x="10134295" y="2880360"/>
            <a:ext cx="1325880" cy="685800"/>
          </a:xfrm>
          <a:prstGeom prst="rect">
            <a:avLst/>
          </a:prstGeom>
          <a:noFill/>
          <a:ln/>
        </p:spPr>
        <p:txBody>
          <a:bodyPr wrap="square" lIns="0" tIns="0" rIns="0" bIns="0" rtlCol="0" anchor="t"/>
          <a:lstStyle/>
          <a:p>
            <a:pPr indent="0" marL="0">
              <a:buNone/>
            </a:pPr>
            <a:r>
              <a:rPr lang="en-US" sz="1900" b="1" dirty="0">
                <a:solidFill>
                  <a:schemeClr val="bg1"/>
                </a:solidFill>
              </a:rPr>
              <a:t>Wrap-up</a:t>
            </a:r>
            <a:endParaRPr lang="en-US" sz="1900" dirty="0"/>
          </a:p>
        </p:txBody>
      </p:sp>
      <p:sp>
        <p:nvSpPr>
          <p:cNvPr id="34" name="text-99"/>
          <p:cNvSpPr txBox="1"/>
          <p:nvPr/>
        </p:nvSpPr>
        <p:spPr>
          <a:xfrm>
            <a:off x="10134295" y="3611880"/>
            <a:ext cx="1325880" cy="1097280"/>
          </a:xfrm>
          <a:prstGeom prst="rect">
            <a:avLst/>
          </a:prstGeom>
          <a:noFill/>
          <a:ln/>
        </p:spPr>
        <p:txBody>
          <a:bodyPr wrap="square" lIns="0" tIns="0" rIns="0" bIns="0" rtlCol="0" anchor="t"/>
          <a:lstStyle/>
          <a:p>
            <a:pPr indent="0" marL="0">
              <a:buNone/>
            </a:pPr>
            <a:r>
              <a:rPr lang="en-US" sz="1400" dirty="0">
                <a:solidFill>
                  <a:schemeClr val="accent3"/>
                </a:solidFill>
              </a:rPr>
              <a:t>Review, action plan, feedback</a:t>
            </a:r>
            <a:endParaRPr lang="en-US" sz="1400" dirty="0"/>
          </a:p>
        </p:txBody>
      </p:sp>
      <p:sp>
        <p:nvSpPr>
          <p:cNvPr id="35" name="text-100"/>
          <p:cNvSpPr txBox="1"/>
          <p:nvPr/>
        </p:nvSpPr>
        <p:spPr>
          <a:xfrm>
            <a:off x="548640" y="5212080"/>
            <a:ext cx="11094415" cy="365760"/>
          </a:xfrm>
          <a:prstGeom prst="rect">
            <a:avLst/>
          </a:prstGeom>
          <a:noFill/>
          <a:ln/>
        </p:spPr>
        <p:txBody>
          <a:bodyPr wrap="square" lIns="0" tIns="0" rIns="0" bIns="0" rtlCol="0" anchor="t"/>
          <a:lstStyle/>
          <a:p>
            <a:pPr indent="0" marL="0">
              <a:buNone/>
            </a:pPr>
            <a:r>
              <a:rPr lang="en-US" sz="1600" dirty="0">
                <a:solidFill>
                  <a:schemeClr val="tx2"/>
                </a:solidFill>
              </a:rPr>
              <a:t>Breaks at 10:30 and 2:15   ·   Lunch 12:00 – 1:00   ·   Finish at 4:00</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Working agreements</a:t>
            </a:r>
            <a:endParaRPr lang="en-US" sz="3400" dirty="0"/>
          </a:p>
        </p:txBody>
      </p:sp>
      <p:sp>
        <p:nvSpPr>
          <p:cNvPr id="3" name="card-101"/>
          <p:cNvSpPr/>
          <p:nvPr/>
        </p:nvSpPr>
        <p:spPr>
          <a:xfrm>
            <a:off x="548640" y="1508760"/>
            <a:ext cx="5387188" cy="2011680"/>
          </a:xfrm>
          <a:prstGeom prst="roundRect">
            <a:avLst>
              <a:gd name="adj" fmla="val 5455"/>
            </a:avLst>
          </a:prstGeom>
          <a:solidFill>
            <a:schemeClr val="bg2"/>
          </a:solidFill>
          <a:ln/>
        </p:spPr>
      </p:sp>
      <p:sp>
        <p:nvSpPr>
          <p:cNvPr id="4" name="dot-102"/>
          <p:cNvSpPr/>
          <p:nvPr/>
        </p:nvSpPr>
        <p:spPr>
          <a:xfrm>
            <a:off x="868680" y="1874520"/>
            <a:ext cx="731520" cy="731520"/>
          </a:xfrm>
          <a:prstGeom prst="ellipse">
            <a:avLst/>
          </a:prstGeom>
          <a:solidFill>
            <a:schemeClr val="tx1"/>
          </a:solidFill>
          <a:ln/>
        </p:spPr>
      </p:sp>
      <p:pic>
        <p:nvPicPr>
          <p:cNvPr id="5" name="icon-103" descr="preencoded.png">    </p:cNvPr>
          <p:cNvPicPr>
            <a:picLocks noChangeAspect="1"/>
          </p:cNvPicPr>
          <p:nvPr/>
        </p:nvPicPr>
        <p:blipFill>
          <a:blip r:embed="rId1"/>
          <a:stretch>
            <a:fillRect/>
          </a:stretch>
        </p:blipFill>
        <p:spPr>
          <a:xfrm>
            <a:off x="1029614" y="2035454"/>
            <a:ext cx="409651" cy="409651"/>
          </a:xfrm>
          <a:prstGeom prst="rect">
            <a:avLst/>
          </a:prstGeom>
        </p:spPr>
      </p:pic>
      <p:sp>
        <p:nvSpPr>
          <p:cNvPr id="6" name="text-104"/>
          <p:cNvSpPr txBox="1"/>
          <p:nvPr/>
        </p:nvSpPr>
        <p:spPr>
          <a:xfrm>
            <a:off x="1874520" y="1856232"/>
            <a:ext cx="3786988" cy="457200"/>
          </a:xfrm>
          <a:prstGeom prst="rect">
            <a:avLst/>
          </a:prstGeom>
          <a:noFill/>
          <a:ln/>
        </p:spPr>
        <p:txBody>
          <a:bodyPr wrap="square" lIns="0" tIns="0" rIns="0" bIns="0" rtlCol="0" anchor="t"/>
          <a:lstStyle/>
          <a:p>
            <a:pPr indent="0" marL="0">
              <a:buNone/>
            </a:pPr>
            <a:r>
              <a:rPr lang="en-US" sz="2200" b="1" dirty="0">
                <a:solidFill>
                  <a:schemeClr val="tx1"/>
                </a:solidFill>
              </a:rPr>
              <a:t>Ask anytime</a:t>
            </a:r>
            <a:endParaRPr lang="en-US" sz="2200" dirty="0"/>
          </a:p>
        </p:txBody>
      </p:sp>
      <p:sp>
        <p:nvSpPr>
          <p:cNvPr id="7" name="text-105"/>
          <p:cNvSpPr txBox="1"/>
          <p:nvPr/>
        </p:nvSpPr>
        <p:spPr>
          <a:xfrm>
            <a:off x="1874520" y="2377440"/>
            <a:ext cx="3786988" cy="914400"/>
          </a:xfrm>
          <a:prstGeom prst="rect">
            <a:avLst/>
          </a:prstGeom>
          <a:noFill/>
          <a:ln/>
        </p:spPr>
        <p:txBody>
          <a:bodyPr wrap="square" lIns="0" tIns="0" rIns="0" bIns="0" rtlCol="0" anchor="t"/>
          <a:lstStyle/>
          <a:p>
            <a:pPr indent="0" marL="0">
              <a:buNone/>
            </a:pPr>
            <a:r>
              <a:rPr lang="en-US" sz="1600" dirty="0">
                <a:solidFill>
                  <a:schemeClr val="tx2"/>
                </a:solidFill>
              </a:rPr>
              <a:t>Off-topic questions go on the parking lot. They'll all be answered by 4:00.</a:t>
            </a:r>
            <a:endParaRPr lang="en-US" sz="1600" dirty="0"/>
          </a:p>
        </p:txBody>
      </p:sp>
      <p:sp>
        <p:nvSpPr>
          <p:cNvPr id="8" name="card-106"/>
          <p:cNvSpPr/>
          <p:nvPr/>
        </p:nvSpPr>
        <p:spPr>
          <a:xfrm>
            <a:off x="6255868" y="1508760"/>
            <a:ext cx="5387188" cy="2011680"/>
          </a:xfrm>
          <a:prstGeom prst="roundRect">
            <a:avLst>
              <a:gd name="adj" fmla="val 5455"/>
            </a:avLst>
          </a:prstGeom>
          <a:solidFill>
            <a:schemeClr val="bg2"/>
          </a:solidFill>
          <a:ln/>
        </p:spPr>
      </p:sp>
      <p:sp>
        <p:nvSpPr>
          <p:cNvPr id="9" name="dot-107"/>
          <p:cNvSpPr/>
          <p:nvPr/>
        </p:nvSpPr>
        <p:spPr>
          <a:xfrm>
            <a:off x="6575908" y="1874520"/>
            <a:ext cx="731520" cy="731520"/>
          </a:xfrm>
          <a:prstGeom prst="ellipse">
            <a:avLst/>
          </a:prstGeom>
          <a:solidFill>
            <a:schemeClr val="tx1"/>
          </a:solidFill>
          <a:ln/>
        </p:spPr>
      </p:sp>
      <p:pic>
        <p:nvPicPr>
          <p:cNvPr id="10" name="icon-108" descr="preencoded.png">    </p:cNvPr>
          <p:cNvPicPr>
            <a:picLocks noChangeAspect="1"/>
          </p:cNvPicPr>
          <p:nvPr/>
        </p:nvPicPr>
        <p:blipFill>
          <a:blip r:embed="rId2"/>
          <a:stretch>
            <a:fillRect/>
          </a:stretch>
        </p:blipFill>
        <p:spPr>
          <a:xfrm>
            <a:off x="6736842" y="2035454"/>
            <a:ext cx="409651" cy="409651"/>
          </a:xfrm>
          <a:prstGeom prst="rect">
            <a:avLst/>
          </a:prstGeom>
        </p:spPr>
      </p:pic>
      <p:sp>
        <p:nvSpPr>
          <p:cNvPr id="11" name="text-109"/>
          <p:cNvSpPr txBox="1"/>
          <p:nvPr/>
        </p:nvSpPr>
        <p:spPr>
          <a:xfrm>
            <a:off x="7581748" y="1856232"/>
            <a:ext cx="3786988" cy="457200"/>
          </a:xfrm>
          <a:prstGeom prst="rect">
            <a:avLst/>
          </a:prstGeom>
          <a:noFill/>
          <a:ln/>
        </p:spPr>
        <p:txBody>
          <a:bodyPr wrap="square" lIns="0" tIns="0" rIns="0" bIns="0" rtlCol="0" anchor="t"/>
          <a:lstStyle/>
          <a:p>
            <a:pPr indent="0" marL="0">
              <a:buNone/>
            </a:pPr>
            <a:r>
              <a:rPr lang="en-US" sz="2200" b="1" dirty="0">
                <a:solidFill>
                  <a:schemeClr val="tx1"/>
                </a:solidFill>
              </a:rPr>
              <a:t>Two-minute rule</a:t>
            </a:r>
            <a:endParaRPr lang="en-US" sz="2200" dirty="0"/>
          </a:p>
        </p:txBody>
      </p:sp>
      <p:sp>
        <p:nvSpPr>
          <p:cNvPr id="12" name="text-110"/>
          <p:cNvSpPr txBox="1"/>
          <p:nvPr/>
        </p:nvSpPr>
        <p:spPr>
          <a:xfrm>
            <a:off x="7581748" y="2377440"/>
            <a:ext cx="3786988" cy="914400"/>
          </a:xfrm>
          <a:prstGeom prst="rect">
            <a:avLst/>
          </a:prstGeom>
          <a:noFill/>
          <a:ln/>
        </p:spPr>
        <p:txBody>
          <a:bodyPr wrap="square" lIns="0" tIns="0" rIns="0" bIns="0" rtlCol="0" anchor="t"/>
          <a:lstStyle/>
          <a:p>
            <a:pPr indent="0" marL="0">
              <a:buNone/>
            </a:pPr>
            <a:r>
              <a:rPr lang="en-US" sz="1600" dirty="0">
                <a:solidFill>
                  <a:schemeClr val="tx2"/>
                </a:solidFill>
              </a:rPr>
              <a:t>In activities, try for two minutes, then ask. Your neighbor counts as help.</a:t>
            </a:r>
            <a:endParaRPr lang="en-US" sz="1600" dirty="0"/>
          </a:p>
        </p:txBody>
      </p:sp>
      <p:sp>
        <p:nvSpPr>
          <p:cNvPr id="13" name="card-111"/>
          <p:cNvSpPr/>
          <p:nvPr/>
        </p:nvSpPr>
        <p:spPr>
          <a:xfrm>
            <a:off x="548640" y="3794760"/>
            <a:ext cx="5387188" cy="2011680"/>
          </a:xfrm>
          <a:prstGeom prst="roundRect">
            <a:avLst>
              <a:gd name="adj" fmla="val 5455"/>
            </a:avLst>
          </a:prstGeom>
          <a:solidFill>
            <a:schemeClr val="bg2"/>
          </a:solidFill>
          <a:ln/>
        </p:spPr>
      </p:sp>
      <p:sp>
        <p:nvSpPr>
          <p:cNvPr id="14" name="dot-112"/>
          <p:cNvSpPr/>
          <p:nvPr/>
        </p:nvSpPr>
        <p:spPr>
          <a:xfrm>
            <a:off x="868680" y="4160520"/>
            <a:ext cx="731520" cy="731520"/>
          </a:xfrm>
          <a:prstGeom prst="ellipse">
            <a:avLst/>
          </a:prstGeom>
          <a:solidFill>
            <a:schemeClr val="tx1"/>
          </a:solidFill>
          <a:ln/>
        </p:spPr>
      </p:sp>
      <p:pic>
        <p:nvPicPr>
          <p:cNvPr id="15" name="icon-113" descr="preencoded.png">    </p:cNvPr>
          <p:cNvPicPr>
            <a:picLocks noChangeAspect="1"/>
          </p:cNvPicPr>
          <p:nvPr/>
        </p:nvPicPr>
        <p:blipFill>
          <a:blip r:embed="rId3"/>
          <a:stretch>
            <a:fillRect/>
          </a:stretch>
        </p:blipFill>
        <p:spPr>
          <a:xfrm>
            <a:off x="1029614" y="4321454"/>
            <a:ext cx="409651" cy="409651"/>
          </a:xfrm>
          <a:prstGeom prst="rect">
            <a:avLst/>
          </a:prstGeom>
        </p:spPr>
      </p:pic>
      <p:sp>
        <p:nvSpPr>
          <p:cNvPr id="16" name="text-114"/>
          <p:cNvSpPr txBox="1"/>
          <p:nvPr/>
        </p:nvSpPr>
        <p:spPr>
          <a:xfrm>
            <a:off x="1874520" y="4142232"/>
            <a:ext cx="3786988" cy="457200"/>
          </a:xfrm>
          <a:prstGeom prst="rect">
            <a:avLst/>
          </a:prstGeom>
          <a:noFill/>
          <a:ln/>
        </p:spPr>
        <p:txBody>
          <a:bodyPr wrap="square" lIns="0" tIns="0" rIns="0" bIns="0" rtlCol="0" anchor="t"/>
          <a:lstStyle/>
          <a:p>
            <a:pPr indent="0" marL="0">
              <a:buNone/>
            </a:pPr>
            <a:r>
              <a:rPr lang="en-US" sz="2200" b="1" dirty="0">
                <a:solidFill>
                  <a:schemeClr val="tx1"/>
                </a:solidFill>
              </a:rPr>
              <a:t>Lids up for activities</a:t>
            </a:r>
            <a:endParaRPr lang="en-US" sz="2200" dirty="0"/>
          </a:p>
        </p:txBody>
      </p:sp>
      <p:sp>
        <p:nvSpPr>
          <p:cNvPr id="17" name="text-115"/>
          <p:cNvSpPr txBox="1"/>
          <p:nvPr/>
        </p:nvSpPr>
        <p:spPr>
          <a:xfrm>
            <a:off x="1874520" y="4663440"/>
            <a:ext cx="3786988" cy="914400"/>
          </a:xfrm>
          <a:prstGeom prst="rect">
            <a:avLst/>
          </a:prstGeom>
          <a:noFill/>
          <a:ln/>
        </p:spPr>
        <p:txBody>
          <a:bodyPr wrap="square" lIns="0" tIns="0" rIns="0" bIns="0" rtlCol="0" anchor="t"/>
          <a:lstStyle/>
          <a:p>
            <a:pPr indent="0" marL="0">
              <a:buNone/>
            </a:pPr>
            <a:r>
              <a:rPr lang="en-US" sz="1600" dirty="0">
                <a:solidFill>
                  <a:schemeClr val="tx2"/>
                </a:solidFill>
              </a:rPr>
              <a:t>Half-down during short talks, so the talks stay short.</a:t>
            </a:r>
            <a:endParaRPr lang="en-US" sz="1600" dirty="0"/>
          </a:p>
        </p:txBody>
      </p:sp>
      <p:sp>
        <p:nvSpPr>
          <p:cNvPr id="18" name="card-116"/>
          <p:cNvSpPr/>
          <p:nvPr/>
        </p:nvSpPr>
        <p:spPr>
          <a:xfrm>
            <a:off x="6255868" y="3794760"/>
            <a:ext cx="5387188" cy="2011680"/>
          </a:xfrm>
          <a:prstGeom prst="roundRect">
            <a:avLst>
              <a:gd name="adj" fmla="val 5455"/>
            </a:avLst>
          </a:prstGeom>
          <a:solidFill>
            <a:schemeClr val="bg2"/>
          </a:solidFill>
          <a:ln/>
        </p:spPr>
      </p:sp>
      <p:sp>
        <p:nvSpPr>
          <p:cNvPr id="19" name="dot-117"/>
          <p:cNvSpPr/>
          <p:nvPr/>
        </p:nvSpPr>
        <p:spPr>
          <a:xfrm>
            <a:off x="6575908" y="4160520"/>
            <a:ext cx="731520" cy="731520"/>
          </a:xfrm>
          <a:prstGeom prst="ellipse">
            <a:avLst/>
          </a:prstGeom>
          <a:solidFill>
            <a:schemeClr val="accent1"/>
          </a:solidFill>
          <a:ln/>
        </p:spPr>
      </p:sp>
      <p:pic>
        <p:nvPicPr>
          <p:cNvPr id="20" name="icon-118" descr="preencoded.png">    </p:cNvPr>
          <p:cNvPicPr>
            <a:picLocks noChangeAspect="1"/>
          </p:cNvPicPr>
          <p:nvPr/>
        </p:nvPicPr>
        <p:blipFill>
          <a:blip r:embed="rId4"/>
          <a:stretch>
            <a:fillRect/>
          </a:stretch>
        </p:blipFill>
        <p:spPr>
          <a:xfrm>
            <a:off x="6736842" y="4321454"/>
            <a:ext cx="409651" cy="409651"/>
          </a:xfrm>
          <a:prstGeom prst="rect">
            <a:avLst/>
          </a:prstGeom>
        </p:spPr>
      </p:pic>
      <p:sp>
        <p:nvSpPr>
          <p:cNvPr id="21" name="text-119"/>
          <p:cNvSpPr txBox="1"/>
          <p:nvPr/>
        </p:nvSpPr>
        <p:spPr>
          <a:xfrm>
            <a:off x="7581748" y="4142232"/>
            <a:ext cx="3786988" cy="457200"/>
          </a:xfrm>
          <a:prstGeom prst="rect">
            <a:avLst/>
          </a:prstGeom>
          <a:noFill/>
          <a:ln/>
        </p:spPr>
        <p:txBody>
          <a:bodyPr wrap="square" lIns="0" tIns="0" rIns="0" bIns="0" rtlCol="0" anchor="t"/>
          <a:lstStyle/>
          <a:p>
            <a:pPr indent="0" marL="0">
              <a:buNone/>
            </a:pPr>
            <a:r>
              <a:rPr lang="en-US" sz="2200" b="1" dirty="0">
                <a:solidFill>
                  <a:schemeClr val="tx1"/>
                </a:solidFill>
              </a:rPr>
              <a:t>Fictional data only</a:t>
            </a:r>
            <a:endParaRPr lang="en-US" sz="2200" dirty="0"/>
          </a:p>
        </p:txBody>
      </p:sp>
      <p:sp>
        <p:nvSpPr>
          <p:cNvPr id="22" name="text-120"/>
          <p:cNvSpPr txBox="1"/>
          <p:nvPr/>
        </p:nvSpPr>
        <p:spPr>
          <a:xfrm>
            <a:off x="7581748" y="4663440"/>
            <a:ext cx="3786988" cy="914400"/>
          </a:xfrm>
          <a:prstGeom prst="rect">
            <a:avLst/>
          </a:prstGeom>
          <a:noFill/>
          <a:ln/>
        </p:spPr>
        <p:txBody>
          <a:bodyPr wrap="square" lIns="0" tIns="0" rIns="0" bIns="0" rtlCol="0" anchor="t"/>
          <a:lstStyle/>
          <a:p>
            <a:pPr indent="0" marL="0">
              <a:buNone/>
            </a:pPr>
            <a:r>
              <a:rPr lang="en-US" sz="1600" dirty="0">
                <a:solidFill>
                  <a:schemeClr val="tx2"/>
                </a:solidFill>
              </a:rPr>
              <a:t>Nothing personal, confidential, or from a real client goes into an AI tool today.</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SETUP CHECK  ·  EVERYONE</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Make sure your tool works</a:t>
            </a:r>
            <a:endParaRPr lang="en-US" sz="3800" dirty="0"/>
          </a:p>
        </p:txBody>
      </p:sp>
      <p:sp>
        <p:nvSpPr>
          <p:cNvPr id="4" name="badge-121"/>
          <p:cNvSpPr/>
          <p:nvPr/>
        </p:nvSpPr>
        <p:spPr>
          <a:xfrm>
            <a:off x="10042855" y="502920"/>
            <a:ext cx="1600200" cy="457200"/>
          </a:xfrm>
          <a:prstGeom prst="roundRect">
            <a:avLst>
              <a:gd name="adj" fmla="val 50000"/>
            </a:avLst>
          </a:prstGeom>
          <a:solidFill>
            <a:schemeClr val="bg1"/>
          </a:solidFill>
          <a:ln/>
        </p:spPr>
      </p:sp>
      <p:sp>
        <p:nvSpPr>
          <p:cNvPr id="5" name="text-122"/>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5 min</a:t>
            </a:r>
            <a:endParaRPr lang="en-US" sz="1600" dirty="0"/>
          </a:p>
        </p:txBody>
      </p:sp>
      <p:sp>
        <p:nvSpPr>
          <p:cNvPr id="6" name="num-123"/>
          <p:cNvSpPr/>
          <p:nvPr/>
        </p:nvSpPr>
        <p:spPr>
          <a:xfrm>
            <a:off x="548640" y="2011680"/>
            <a:ext cx="548640" cy="548640"/>
          </a:xfrm>
          <a:prstGeom prst="ellipse">
            <a:avLst/>
          </a:prstGeom>
          <a:solidFill>
            <a:schemeClr val="bg1"/>
          </a:solidFill>
          <a:ln/>
        </p:spPr>
      </p:sp>
      <p:sp>
        <p:nvSpPr>
          <p:cNvPr id="7" name="text-124"/>
          <p:cNvSpPr txBox="1"/>
          <p:nvPr/>
        </p:nvSpPr>
        <p:spPr>
          <a:xfrm>
            <a:off x="548640" y="20116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8" name="text-125"/>
          <p:cNvSpPr txBox="1"/>
          <p:nvPr/>
        </p:nvSpPr>
        <p:spPr>
          <a:xfrm>
            <a:off x="1371600" y="2011680"/>
            <a:ext cx="5303520" cy="914400"/>
          </a:xfrm>
          <a:prstGeom prst="rect">
            <a:avLst/>
          </a:prstGeom>
          <a:noFill/>
          <a:ln/>
        </p:spPr>
        <p:txBody>
          <a:bodyPr wrap="square" lIns="0" tIns="0" rIns="0" bIns="0" rtlCol="0" anchor="ctr"/>
          <a:lstStyle/>
          <a:p>
            <a:pPr indent="0" marL="0">
              <a:buNone/>
            </a:pPr>
            <a:r>
              <a:rPr lang="en-US" sz="1900" dirty="0">
                <a:solidFill>
                  <a:schemeClr val="bg1"/>
                </a:solidFill>
              </a:rPr>
              <a:t>Open your AI chat tool: Copilot, ChatGPT, Claude, Gemini, or another your organization allows.</a:t>
            </a:r>
            <a:endParaRPr lang="en-US" sz="1900" dirty="0"/>
          </a:p>
        </p:txBody>
      </p:sp>
      <p:sp>
        <p:nvSpPr>
          <p:cNvPr id="9" name="num-126"/>
          <p:cNvSpPr/>
          <p:nvPr/>
        </p:nvSpPr>
        <p:spPr>
          <a:xfrm>
            <a:off x="548640" y="3063240"/>
            <a:ext cx="548640" cy="548640"/>
          </a:xfrm>
          <a:prstGeom prst="ellipse">
            <a:avLst/>
          </a:prstGeom>
          <a:solidFill>
            <a:schemeClr val="bg1"/>
          </a:solidFill>
          <a:ln/>
        </p:spPr>
      </p:sp>
      <p:sp>
        <p:nvSpPr>
          <p:cNvPr id="10" name="text-127"/>
          <p:cNvSpPr txBox="1"/>
          <p:nvPr/>
        </p:nvSpPr>
        <p:spPr>
          <a:xfrm>
            <a:off x="548640" y="3063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128"/>
          <p:cNvSpPr txBox="1"/>
          <p:nvPr/>
        </p:nvSpPr>
        <p:spPr>
          <a:xfrm>
            <a:off x="1371600" y="3063240"/>
            <a:ext cx="5303520" cy="914400"/>
          </a:xfrm>
          <a:prstGeom prst="rect">
            <a:avLst/>
          </a:prstGeom>
          <a:noFill/>
          <a:ln/>
        </p:spPr>
        <p:txBody>
          <a:bodyPr wrap="square" lIns="0" tIns="0" rIns="0" bIns="0" rtlCol="0" anchor="ctr"/>
          <a:lstStyle/>
          <a:p>
            <a:pPr indent="0" marL="0">
              <a:buNone/>
            </a:pPr>
            <a:r>
              <a:rPr lang="en-US" sz="1900" dirty="0">
                <a:solidFill>
                  <a:schemeClr val="bg1"/>
                </a:solidFill>
              </a:rPr>
              <a:t>Type the prompt on the right and press Enter.</a:t>
            </a:r>
            <a:endParaRPr lang="en-US" sz="1900" dirty="0"/>
          </a:p>
        </p:txBody>
      </p:sp>
      <p:sp>
        <p:nvSpPr>
          <p:cNvPr id="12" name="num-129"/>
          <p:cNvSpPr/>
          <p:nvPr/>
        </p:nvSpPr>
        <p:spPr>
          <a:xfrm>
            <a:off x="548640" y="4114800"/>
            <a:ext cx="548640" cy="548640"/>
          </a:xfrm>
          <a:prstGeom prst="ellipse">
            <a:avLst/>
          </a:prstGeom>
          <a:solidFill>
            <a:schemeClr val="bg1"/>
          </a:solidFill>
          <a:ln/>
        </p:spPr>
      </p:sp>
      <p:sp>
        <p:nvSpPr>
          <p:cNvPr id="13" name="text-130"/>
          <p:cNvSpPr txBox="1"/>
          <p:nvPr/>
        </p:nvSpPr>
        <p:spPr>
          <a:xfrm>
            <a:off x="54864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text-131"/>
          <p:cNvSpPr txBox="1"/>
          <p:nvPr/>
        </p:nvSpPr>
        <p:spPr>
          <a:xfrm>
            <a:off x="1371600" y="4114800"/>
            <a:ext cx="5303520" cy="914400"/>
          </a:xfrm>
          <a:prstGeom prst="rect">
            <a:avLst/>
          </a:prstGeom>
          <a:noFill/>
          <a:ln/>
        </p:spPr>
        <p:txBody>
          <a:bodyPr wrap="square" lIns="0" tIns="0" rIns="0" bIns="0" rtlCol="0" anchor="ctr"/>
          <a:lstStyle/>
          <a:p>
            <a:pPr indent="0" marL="0">
              <a:buNone/>
            </a:pPr>
            <a:r>
              <a:rPr lang="en-US" sz="1900" dirty="0">
                <a:solidFill>
                  <a:schemeClr val="bg1"/>
                </a:solidFill>
              </a:rPr>
              <a:t>Open your Participant Workbook. You'll copy exercises from it all day.</a:t>
            </a:r>
            <a:endParaRPr lang="en-US" sz="1900" dirty="0"/>
          </a:p>
        </p:txBody>
      </p:sp>
      <p:sp>
        <p:nvSpPr>
          <p:cNvPr id="15" name="card-132"/>
          <p:cNvSpPr/>
          <p:nvPr/>
        </p:nvSpPr>
        <p:spPr>
          <a:xfrm>
            <a:off x="6858000" y="2011680"/>
            <a:ext cx="4782312" cy="1737360"/>
          </a:xfrm>
          <a:prstGeom prst="roundRect">
            <a:avLst>
              <a:gd name="adj" fmla="val 6316"/>
            </a:avLst>
          </a:prstGeom>
          <a:solidFill>
            <a:schemeClr val="accent2"/>
          </a:solidFill>
          <a:ln/>
        </p:spPr>
      </p:sp>
      <p:sp>
        <p:nvSpPr>
          <p:cNvPr id="16" name="text-133"/>
          <p:cNvSpPr txBox="1"/>
          <p:nvPr/>
        </p:nvSpPr>
        <p:spPr>
          <a:xfrm>
            <a:off x="7132320" y="2212848"/>
            <a:ext cx="4233672"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17" name="text-134"/>
          <p:cNvSpPr txBox="1"/>
          <p:nvPr/>
        </p:nvSpPr>
        <p:spPr>
          <a:xfrm>
            <a:off x="7132320" y="2542032"/>
            <a:ext cx="4233672" cy="1024128"/>
          </a:xfrm>
          <a:prstGeom prst="rect">
            <a:avLst/>
          </a:prstGeom>
          <a:noFill/>
          <a:ln/>
        </p:spPr>
        <p:txBody>
          <a:bodyPr wrap="square" lIns="0" tIns="0" rIns="0" bIns="0" rtlCol="0" anchor="t"/>
          <a:lstStyle/>
          <a:p>
            <a:pPr indent="0" marL="0">
              <a:spcAft>
                <a:spcPts val="200"/>
              </a:spcAft>
              <a:buNone/>
            </a:pPr>
            <a:r>
              <a:rPr lang="en-US" sz="1800" dirty="0">
                <a:solidFill>
                  <a:schemeClr val="bg1"/>
                </a:solidFill>
                <a:latin typeface="Courier New" pitchFamily="34" charset="0"/>
                <a:ea typeface="Courier New" pitchFamily="34" charset="-122"/>
                <a:cs typeface="Courier New" pitchFamily="34" charset="-120"/>
              </a:rPr>
              <a:t>In two sentences, explain what you can help me with at work.</a:t>
            </a:r>
            <a:endParaRPr lang="en-US" sz="1800" dirty="0"/>
          </a:p>
        </p:txBody>
      </p:sp>
      <p:sp>
        <p:nvSpPr>
          <p:cNvPr id="18" name="text-135"/>
          <p:cNvSpPr txBox="1"/>
          <p:nvPr/>
        </p:nvSpPr>
        <p:spPr>
          <a:xfrm>
            <a:off x="6858000" y="4023360"/>
            <a:ext cx="4754880" cy="914400"/>
          </a:xfrm>
          <a:prstGeom prst="rect">
            <a:avLst/>
          </a:prstGeom>
          <a:noFill/>
          <a:ln/>
        </p:spPr>
        <p:txBody>
          <a:bodyPr wrap="square" lIns="0" tIns="0" rIns="0" bIns="0" rtlCol="0" anchor="t"/>
          <a:lstStyle/>
          <a:p>
            <a:pPr indent="0" marL="0">
              <a:buNone/>
            </a:pPr>
            <a:r>
              <a:rPr lang="en-US" sz="1800" dirty="0">
                <a:solidFill>
                  <a:schemeClr val="accent3"/>
                </a:solidFill>
              </a:rPr>
              <a:t>Got a response? You're ready.</a:t>
            </a:r>
            <a:endParaRPr lang="en-US" sz="1800" dirty="0"/>
          </a:p>
          <a:p>
            <a:pPr indent="0" marL="0">
              <a:buNone/>
            </a:pPr>
            <a:r>
              <a:rPr lang="en-US" sz="1800" dirty="0">
                <a:solidFill>
                  <a:schemeClr val="accent3"/>
                </a:solidFill>
              </a:rPr>
              <a:t>Stuck? Raise your hand.</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1234440"/>
            <a:ext cx="3657600" cy="1554480"/>
          </a:xfrm>
          <a:prstGeom prst="rect">
            <a:avLst/>
          </a:prstGeom>
          <a:noFill/>
          <a:ln/>
        </p:spPr>
        <p:txBody>
          <a:bodyPr wrap="square" lIns="0" tIns="0" rIns="0" bIns="0" rtlCol="0" anchor="b"/>
          <a:lstStyle/>
          <a:p>
            <a:pPr algn="l" indent="0" marL="0">
              <a:buNone/>
            </a:pPr>
            <a:r>
              <a:rPr lang="en-US" sz="11000" b="1" dirty="0">
                <a:solidFill>
                  <a:schemeClr val="accent1"/>
                </a:solidFill>
              </a:rPr>
              <a:t>01</a:t>
            </a:r>
            <a:endParaRPr lang="en-US" sz="11000" dirty="0"/>
          </a:p>
        </p:txBody>
      </p:sp>
      <p:sp>
        <p:nvSpPr>
          <p:cNvPr id="3" name="Text 0"/>
          <p:cNvSpPr/>
          <p:nvPr>
            <p:ph idx="102" type="title" hasCustomPrompt="1"/>
          </p:nvPr>
        </p:nvSpPr>
        <p:spPr>
          <a:xfrm>
            <a:off x="548640" y="2926080"/>
            <a:ext cx="10515600" cy="1005840"/>
          </a:xfrm>
          <a:prstGeom prst="rect">
            <a:avLst/>
          </a:prstGeom>
          <a:noFill/>
          <a:ln/>
        </p:spPr>
        <p:txBody>
          <a:bodyPr wrap="square" lIns="0" tIns="0" rIns="0" bIns="0" rtlCol="0" anchor="t"/>
          <a:lstStyle/>
          <a:p>
            <a:pPr algn="l" indent="0" marL="0">
              <a:buNone/>
            </a:pPr>
            <a:r>
              <a:rPr lang="en-US" sz="5000" b="1" dirty="0">
                <a:solidFill>
                  <a:schemeClr val="bg1"/>
                </a:solidFill>
              </a:rPr>
              <a:t>Foundations</a:t>
            </a:r>
            <a:endParaRPr lang="en-US" sz="5000" dirty="0"/>
          </a:p>
        </p:txBody>
      </p:sp>
      <p:sp>
        <p:nvSpPr>
          <p:cNvPr id="4" name="Text 0"/>
          <p:cNvSpPr/>
          <p:nvPr>
            <p:ph idx="103" type="body" hasCustomPrompt="1"/>
          </p:nvPr>
        </p:nvSpPr>
        <p:spPr>
          <a:xfrm>
            <a:off x="548640" y="3931920"/>
            <a:ext cx="10515600" cy="640080"/>
          </a:xfrm>
          <a:prstGeom prst="rect">
            <a:avLst/>
          </a:prstGeom>
          <a:noFill/>
          <a:ln/>
        </p:spPr>
        <p:txBody>
          <a:bodyPr wrap="square" lIns="0" tIns="0" rIns="0" bIns="0" rtlCol="0" anchor="t"/>
          <a:lstStyle/>
          <a:p>
            <a:pPr algn="l" indent="0" marL="0">
              <a:buNone/>
            </a:pPr>
            <a:r>
              <a:rPr lang="en-US" sz="2600" dirty="0">
                <a:solidFill>
                  <a:schemeClr val="accent3"/>
                </a:solidFill>
              </a:rPr>
              <a:t>How AI chat tools work, and what makes a good prompt</a:t>
            </a:r>
            <a:endParaRPr lang="en-US" sz="2600" dirty="0"/>
          </a:p>
        </p:txBody>
      </p:sp>
      <p:sp>
        <p:nvSpPr>
          <p:cNvPr id="5" name="Text 0"/>
          <p:cNvSpPr/>
          <p:nvPr>
            <p:ph idx="104" type="body" hasCustomPrompt="1"/>
          </p:nvPr>
        </p:nvSpPr>
        <p:spPr>
          <a:xfrm>
            <a:off x="548640" y="4983480"/>
            <a:ext cx="5486400" cy="411480"/>
          </a:xfrm>
          <a:prstGeom prst="rect">
            <a:avLst/>
          </a:prstGeom>
          <a:noFill/>
          <a:ln/>
        </p:spPr>
        <p:txBody>
          <a:bodyPr wrap="square" lIns="0" tIns="0" rIns="0" bIns="0" rtlCol="0" anchor="t"/>
          <a:lstStyle/>
          <a:p>
            <a:pPr algn="l" indent="0" marL="0">
              <a:buNone/>
            </a:pPr>
            <a:r>
              <a:rPr lang="en-US" sz="1600" dirty="0">
                <a:solidFill>
                  <a:schemeClr val="accent3"/>
                </a:solidFill>
              </a:rPr>
              <a:t>9:30 – 10:30 a.m.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What did the AI have to guess?</a:t>
            </a:r>
            <a:endParaRPr lang="en-US" sz="3400" dirty="0"/>
          </a:p>
        </p:txBody>
      </p:sp>
      <p:sp>
        <p:nvSpPr>
          <p:cNvPr id="3" name="card-136"/>
          <p:cNvSpPr/>
          <p:nvPr/>
        </p:nvSpPr>
        <p:spPr>
          <a:xfrm>
            <a:off x="548640" y="1463040"/>
            <a:ext cx="5029200" cy="1143000"/>
          </a:xfrm>
          <a:prstGeom prst="roundRect">
            <a:avLst>
              <a:gd name="adj" fmla="val 9600"/>
            </a:avLst>
          </a:prstGeom>
          <a:solidFill>
            <a:schemeClr val="tx1"/>
          </a:solidFill>
          <a:ln/>
        </p:spPr>
      </p:sp>
      <p:sp>
        <p:nvSpPr>
          <p:cNvPr id="4" name="text-137"/>
          <p:cNvSpPr txBox="1"/>
          <p:nvPr/>
        </p:nvSpPr>
        <p:spPr>
          <a:xfrm>
            <a:off x="822960" y="1664208"/>
            <a:ext cx="44805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5" name="text-138"/>
          <p:cNvSpPr txBox="1"/>
          <p:nvPr/>
        </p:nvSpPr>
        <p:spPr>
          <a:xfrm>
            <a:off x="822960" y="1993392"/>
            <a:ext cx="4480560" cy="429768"/>
          </a:xfrm>
          <a:prstGeom prst="rect">
            <a:avLst/>
          </a:prstGeom>
          <a:noFill/>
          <a:ln/>
        </p:spPr>
        <p:txBody>
          <a:bodyPr wrap="square" lIns="0" tIns="0" rIns="0" bIns="0" rtlCol="0" anchor="t"/>
          <a:lstStyle/>
          <a:p>
            <a:pPr indent="0" marL="0">
              <a:spcAft>
                <a:spcPts val="200"/>
              </a:spcAft>
              <a:buNone/>
            </a:pPr>
            <a:r>
              <a:rPr lang="en-US" sz="1800" dirty="0">
                <a:solidFill>
                  <a:schemeClr val="bg1"/>
                </a:solidFill>
                <a:latin typeface="Courier New" pitchFamily="34" charset="0"/>
                <a:ea typeface="Courier New" pitchFamily="34" charset="-122"/>
                <a:cs typeface="Courier New" pitchFamily="34" charset="-120"/>
              </a:rPr>
              <a:t>Write an email about the meeting.</a:t>
            </a:r>
            <a:endParaRPr lang="en-US" sz="1800" dirty="0"/>
          </a:p>
        </p:txBody>
      </p:sp>
      <p:sp>
        <p:nvSpPr>
          <p:cNvPr id="6" name="card-139"/>
          <p:cNvSpPr/>
          <p:nvPr/>
        </p:nvSpPr>
        <p:spPr>
          <a:xfrm>
            <a:off x="548640" y="2788920"/>
            <a:ext cx="5029200" cy="3246120"/>
          </a:xfrm>
          <a:prstGeom prst="roundRect">
            <a:avLst>
              <a:gd name="adj" fmla="val 3380"/>
            </a:avLst>
          </a:prstGeom>
          <a:solidFill>
            <a:schemeClr val="bg2"/>
          </a:solidFill>
          <a:ln/>
        </p:spPr>
      </p:sp>
      <p:sp>
        <p:nvSpPr>
          <p:cNvPr id="7" name="text-140"/>
          <p:cNvSpPr txBox="1"/>
          <p:nvPr/>
        </p:nvSpPr>
        <p:spPr>
          <a:xfrm>
            <a:off x="822960" y="2990088"/>
            <a:ext cx="3657600" cy="256032"/>
          </a:xfrm>
          <a:prstGeom prst="rect">
            <a:avLst/>
          </a:prstGeom>
          <a:noFill/>
          <a:ln/>
        </p:spPr>
        <p:txBody>
          <a:bodyPr wrap="square" lIns="0" tIns="0" rIns="0" bIns="0" rtlCol="0" anchor="t"/>
          <a:lstStyle/>
          <a:p>
            <a:pPr indent="0" marL="0">
              <a:buNone/>
            </a:pPr>
            <a:r>
              <a:rPr lang="en-US" sz="1200" b="1" spc="200" kern="0" dirty="0">
                <a:solidFill>
                  <a:schemeClr val="tx2"/>
                </a:solidFill>
              </a:rPr>
              <a:t>RESPONSE</a:t>
            </a:r>
            <a:endParaRPr lang="en-US" sz="1200" dirty="0"/>
          </a:p>
        </p:txBody>
      </p:sp>
      <p:sp>
        <p:nvSpPr>
          <p:cNvPr id="8" name="text-141"/>
          <p:cNvSpPr txBox="1"/>
          <p:nvPr/>
        </p:nvSpPr>
        <p:spPr>
          <a:xfrm>
            <a:off x="822960" y="3337560"/>
            <a:ext cx="4480560" cy="2560320"/>
          </a:xfrm>
          <a:prstGeom prst="rect">
            <a:avLst/>
          </a:prstGeom>
          <a:noFill/>
          <a:ln/>
        </p:spPr>
        <p:txBody>
          <a:bodyPr wrap="square" lIns="0" tIns="0" rIns="0" bIns="0" rtlCol="0" anchor="t"/>
          <a:lstStyle/>
          <a:p>
            <a:pPr indent="0" marL="0">
              <a:buNone/>
            </a:pPr>
            <a:r>
              <a:rPr lang="en-US" sz="1500" dirty="0">
                <a:solidFill>
                  <a:schemeClr val="tx2"/>
                </a:solidFill>
              </a:rPr>
              <a:t>Subject: Meeting Update</a:t>
            </a:r>
            <a:endParaRPr lang="en-US" sz="1500" dirty="0"/>
          </a:p>
          <a:p>
            <a:pPr indent="0" marL="0">
              <a:buNone/>
            </a:pPr>
            <a:endParaRPr lang="en-US" sz="1500" dirty="0"/>
          </a:p>
          <a:p>
            <a:pPr indent="0" marL="0">
              <a:buNone/>
            </a:pPr>
            <a:r>
              <a:rPr lang="en-US" sz="1500" dirty="0">
                <a:solidFill>
                  <a:schemeClr val="tx2"/>
                </a:solidFill>
              </a:rPr>
              <a:t>Hi team,</a:t>
            </a:r>
            <a:endParaRPr lang="en-US" sz="1500" dirty="0"/>
          </a:p>
          <a:p>
            <a:pPr indent="0" marL="0">
              <a:buNone/>
            </a:pPr>
            <a:endParaRPr lang="en-US" sz="1500" dirty="0"/>
          </a:p>
          <a:p>
            <a:pPr indent="0" marL="0">
              <a:buNone/>
            </a:pPr>
            <a:r>
              <a:rPr lang="en-US" sz="1500" dirty="0">
                <a:solidFill>
                  <a:schemeClr val="tx2"/>
                </a:solidFill>
              </a:rPr>
              <a:t>I wanted to follow up regarding our upcoming meeting. Please let me know your availability so we can find a time that works for everyone.</a:t>
            </a:r>
            <a:endParaRPr lang="en-US" sz="1500" dirty="0"/>
          </a:p>
          <a:p>
            <a:pPr indent="0" marL="0">
              <a:buNone/>
            </a:pPr>
            <a:endParaRPr lang="en-US" sz="1500" dirty="0"/>
          </a:p>
          <a:p>
            <a:pPr indent="0" marL="0">
              <a:buNone/>
            </a:pPr>
            <a:r>
              <a:rPr lang="en-US" sz="1500" dirty="0">
                <a:solidFill>
                  <a:schemeClr val="tx2"/>
                </a:solidFill>
              </a:rPr>
              <a:t>Best regards,</a:t>
            </a:r>
            <a:endParaRPr lang="en-US" sz="1500" dirty="0"/>
          </a:p>
          <a:p>
            <a:pPr indent="0" marL="0">
              <a:buNone/>
            </a:pPr>
            <a:r>
              <a:rPr lang="en-US" sz="1500" dirty="0">
                <a:solidFill>
                  <a:schemeClr val="tx2"/>
                </a:solidFill>
              </a:rPr>
              <a:t>[Your Name]</a:t>
            </a:r>
            <a:endParaRPr lang="en-US" sz="1500" dirty="0"/>
          </a:p>
        </p:txBody>
      </p:sp>
      <p:sp>
        <p:nvSpPr>
          <p:cNvPr id="9" name="text-142"/>
          <p:cNvSpPr txBox="1"/>
          <p:nvPr/>
        </p:nvSpPr>
        <p:spPr>
          <a:xfrm>
            <a:off x="6172200" y="1508760"/>
            <a:ext cx="5486400" cy="457200"/>
          </a:xfrm>
          <a:prstGeom prst="rect">
            <a:avLst/>
          </a:prstGeom>
          <a:noFill/>
          <a:ln/>
        </p:spPr>
        <p:txBody>
          <a:bodyPr wrap="square" lIns="0" tIns="0" rIns="0" bIns="0" rtlCol="0" anchor="t"/>
          <a:lstStyle/>
          <a:p>
            <a:pPr indent="0" marL="0">
              <a:buNone/>
            </a:pPr>
            <a:r>
              <a:rPr lang="en-US" sz="2200" b="1" dirty="0">
                <a:solidFill>
                  <a:schemeClr val="tx1"/>
                </a:solidFill>
              </a:rPr>
              <a:t>It had to guess…</a:t>
            </a:r>
            <a:endParaRPr lang="en-US" sz="2200" dirty="0"/>
          </a:p>
        </p:txBody>
      </p:sp>
      <p:pic>
        <p:nvPicPr>
          <p:cNvPr id="10" name="icon-143" descr="preencoded.png">    </p:cNvPr>
          <p:cNvPicPr>
            <a:picLocks noChangeAspect="1"/>
          </p:cNvPicPr>
          <p:nvPr/>
        </p:nvPicPr>
        <p:blipFill>
          <a:blip r:embed="rId1"/>
          <a:stretch>
            <a:fillRect/>
          </a:stretch>
        </p:blipFill>
        <p:spPr>
          <a:xfrm>
            <a:off x="6172200" y="2231136"/>
            <a:ext cx="384048" cy="384048"/>
          </a:xfrm>
          <a:prstGeom prst="rect">
            <a:avLst/>
          </a:prstGeom>
        </p:spPr>
      </p:pic>
      <p:sp>
        <p:nvSpPr>
          <p:cNvPr id="11" name="text-144"/>
          <p:cNvSpPr txBox="1"/>
          <p:nvPr/>
        </p:nvSpPr>
        <p:spPr>
          <a:xfrm>
            <a:off x="6702552" y="2194560"/>
            <a:ext cx="2194560" cy="457200"/>
          </a:xfrm>
          <a:prstGeom prst="rect">
            <a:avLst/>
          </a:prstGeom>
          <a:noFill/>
          <a:ln/>
        </p:spPr>
        <p:txBody>
          <a:bodyPr wrap="square" lIns="0" tIns="0" rIns="0" bIns="0" rtlCol="0" anchor="ctr"/>
          <a:lstStyle/>
          <a:p>
            <a:pPr indent="0" marL="0">
              <a:buNone/>
            </a:pPr>
            <a:r>
              <a:rPr lang="en-US" sz="1800" dirty="0">
                <a:solidFill>
                  <a:schemeClr val="tx1"/>
                </a:solidFill>
              </a:rPr>
              <a:t>Which meeting?</a:t>
            </a:r>
            <a:endParaRPr lang="en-US" sz="1800" dirty="0"/>
          </a:p>
        </p:txBody>
      </p:sp>
      <p:pic>
        <p:nvPicPr>
          <p:cNvPr id="12" name="icon-145" descr="preencoded.png">    </p:cNvPr>
          <p:cNvPicPr>
            <a:picLocks noChangeAspect="1"/>
          </p:cNvPicPr>
          <p:nvPr/>
        </p:nvPicPr>
        <p:blipFill>
          <a:blip r:embed="rId2"/>
          <a:stretch>
            <a:fillRect/>
          </a:stretch>
        </p:blipFill>
        <p:spPr>
          <a:xfrm>
            <a:off x="8915400" y="2231136"/>
            <a:ext cx="384048" cy="384048"/>
          </a:xfrm>
          <a:prstGeom prst="rect">
            <a:avLst/>
          </a:prstGeom>
        </p:spPr>
      </p:pic>
      <p:sp>
        <p:nvSpPr>
          <p:cNvPr id="13" name="text-146"/>
          <p:cNvSpPr txBox="1"/>
          <p:nvPr/>
        </p:nvSpPr>
        <p:spPr>
          <a:xfrm>
            <a:off x="9445752" y="2194560"/>
            <a:ext cx="2194560" cy="457200"/>
          </a:xfrm>
          <a:prstGeom prst="rect">
            <a:avLst/>
          </a:prstGeom>
          <a:noFill/>
          <a:ln/>
        </p:spPr>
        <p:txBody>
          <a:bodyPr wrap="square" lIns="0" tIns="0" rIns="0" bIns="0" rtlCol="0" anchor="ctr"/>
          <a:lstStyle/>
          <a:p>
            <a:pPr indent="0" marL="0">
              <a:buNone/>
            </a:pPr>
            <a:r>
              <a:rPr lang="en-US" sz="1800" dirty="0">
                <a:solidFill>
                  <a:schemeClr val="tx1"/>
                </a:solidFill>
              </a:rPr>
              <a:t>Who's reading it?</a:t>
            </a:r>
            <a:endParaRPr lang="en-US" sz="1800" dirty="0"/>
          </a:p>
        </p:txBody>
      </p:sp>
      <p:pic>
        <p:nvPicPr>
          <p:cNvPr id="14" name="icon-147" descr="preencoded.png">    </p:cNvPr>
          <p:cNvPicPr>
            <a:picLocks noChangeAspect="1"/>
          </p:cNvPicPr>
          <p:nvPr/>
        </p:nvPicPr>
        <p:blipFill>
          <a:blip r:embed="rId3"/>
          <a:stretch>
            <a:fillRect/>
          </a:stretch>
        </p:blipFill>
        <p:spPr>
          <a:xfrm>
            <a:off x="6172200" y="3008376"/>
            <a:ext cx="384048" cy="384048"/>
          </a:xfrm>
          <a:prstGeom prst="rect">
            <a:avLst/>
          </a:prstGeom>
        </p:spPr>
      </p:pic>
      <p:sp>
        <p:nvSpPr>
          <p:cNvPr id="15" name="text-148"/>
          <p:cNvSpPr txBox="1"/>
          <p:nvPr/>
        </p:nvSpPr>
        <p:spPr>
          <a:xfrm>
            <a:off x="6702552" y="2971800"/>
            <a:ext cx="2194560" cy="457200"/>
          </a:xfrm>
          <a:prstGeom prst="rect">
            <a:avLst/>
          </a:prstGeom>
          <a:noFill/>
          <a:ln/>
        </p:spPr>
        <p:txBody>
          <a:bodyPr wrap="square" lIns="0" tIns="0" rIns="0" bIns="0" rtlCol="0" anchor="ctr"/>
          <a:lstStyle/>
          <a:p>
            <a:pPr indent="0" marL="0">
              <a:buNone/>
            </a:pPr>
            <a:r>
              <a:rPr lang="en-US" sz="1800" dirty="0">
                <a:solidFill>
                  <a:schemeClr val="tx1"/>
                </a:solidFill>
              </a:rPr>
              <a:t>What's the purpose?</a:t>
            </a:r>
            <a:endParaRPr lang="en-US" sz="1800" dirty="0"/>
          </a:p>
        </p:txBody>
      </p:sp>
      <p:pic>
        <p:nvPicPr>
          <p:cNvPr id="16" name="icon-149" descr="preencoded.png">    </p:cNvPr>
          <p:cNvPicPr>
            <a:picLocks noChangeAspect="1"/>
          </p:cNvPicPr>
          <p:nvPr/>
        </p:nvPicPr>
        <p:blipFill>
          <a:blip r:embed="rId4"/>
          <a:stretch>
            <a:fillRect/>
          </a:stretch>
        </p:blipFill>
        <p:spPr>
          <a:xfrm>
            <a:off x="8915400" y="3008376"/>
            <a:ext cx="384048" cy="384048"/>
          </a:xfrm>
          <a:prstGeom prst="rect">
            <a:avLst/>
          </a:prstGeom>
        </p:spPr>
      </p:pic>
      <p:sp>
        <p:nvSpPr>
          <p:cNvPr id="17" name="text-150"/>
          <p:cNvSpPr txBox="1"/>
          <p:nvPr/>
        </p:nvSpPr>
        <p:spPr>
          <a:xfrm>
            <a:off x="9445752" y="2971800"/>
            <a:ext cx="2194560" cy="457200"/>
          </a:xfrm>
          <a:prstGeom prst="rect">
            <a:avLst/>
          </a:prstGeom>
          <a:noFill/>
          <a:ln/>
        </p:spPr>
        <p:txBody>
          <a:bodyPr wrap="square" lIns="0" tIns="0" rIns="0" bIns="0" rtlCol="0" anchor="ctr"/>
          <a:lstStyle/>
          <a:p>
            <a:pPr indent="0" marL="0">
              <a:buNone/>
            </a:pPr>
            <a:r>
              <a:rPr lang="en-US" sz="1800" dirty="0">
                <a:solidFill>
                  <a:schemeClr val="tx1"/>
                </a:solidFill>
              </a:rPr>
              <a:t>What tone?</a:t>
            </a:r>
            <a:endParaRPr lang="en-US" sz="1800" dirty="0"/>
          </a:p>
        </p:txBody>
      </p:sp>
      <p:pic>
        <p:nvPicPr>
          <p:cNvPr id="18" name="icon-151" descr="preencoded.png">    </p:cNvPr>
          <p:cNvPicPr>
            <a:picLocks noChangeAspect="1"/>
          </p:cNvPicPr>
          <p:nvPr/>
        </p:nvPicPr>
        <p:blipFill>
          <a:blip r:embed="rId5"/>
          <a:stretch>
            <a:fillRect/>
          </a:stretch>
        </p:blipFill>
        <p:spPr>
          <a:xfrm>
            <a:off x="6172200" y="3785616"/>
            <a:ext cx="384048" cy="384048"/>
          </a:xfrm>
          <a:prstGeom prst="rect">
            <a:avLst/>
          </a:prstGeom>
        </p:spPr>
      </p:pic>
      <p:sp>
        <p:nvSpPr>
          <p:cNvPr id="19" name="text-152"/>
          <p:cNvSpPr txBox="1"/>
          <p:nvPr/>
        </p:nvSpPr>
        <p:spPr>
          <a:xfrm>
            <a:off x="6702552" y="3749040"/>
            <a:ext cx="2194560" cy="457200"/>
          </a:xfrm>
          <a:prstGeom prst="rect">
            <a:avLst/>
          </a:prstGeom>
          <a:noFill/>
          <a:ln/>
        </p:spPr>
        <p:txBody>
          <a:bodyPr wrap="square" lIns="0" tIns="0" rIns="0" bIns="0" rtlCol="0" anchor="ctr"/>
          <a:lstStyle/>
          <a:p>
            <a:pPr indent="0" marL="0">
              <a:buNone/>
            </a:pPr>
            <a:r>
              <a:rPr lang="en-US" sz="1800" dirty="0">
                <a:solidFill>
                  <a:schemeClr val="tx1"/>
                </a:solidFill>
              </a:rPr>
              <a:t>How long?</a:t>
            </a:r>
            <a:endParaRPr lang="en-US" sz="1800" dirty="0"/>
          </a:p>
        </p:txBody>
      </p:sp>
      <p:pic>
        <p:nvPicPr>
          <p:cNvPr id="20" name="icon-153" descr="preencoded.png">    </p:cNvPr>
          <p:cNvPicPr>
            <a:picLocks noChangeAspect="1"/>
          </p:cNvPicPr>
          <p:nvPr/>
        </p:nvPicPr>
        <p:blipFill>
          <a:blip r:embed="rId6"/>
          <a:stretch>
            <a:fillRect/>
          </a:stretch>
        </p:blipFill>
        <p:spPr>
          <a:xfrm>
            <a:off x="8915400" y="3785616"/>
            <a:ext cx="384048" cy="384048"/>
          </a:xfrm>
          <a:prstGeom prst="rect">
            <a:avLst/>
          </a:prstGeom>
        </p:spPr>
      </p:pic>
      <p:sp>
        <p:nvSpPr>
          <p:cNvPr id="21" name="text-154"/>
          <p:cNvSpPr txBox="1"/>
          <p:nvPr/>
        </p:nvSpPr>
        <p:spPr>
          <a:xfrm>
            <a:off x="9445752" y="3749040"/>
            <a:ext cx="2194560" cy="457200"/>
          </a:xfrm>
          <a:prstGeom prst="rect">
            <a:avLst/>
          </a:prstGeom>
          <a:noFill/>
          <a:ln/>
        </p:spPr>
        <p:txBody>
          <a:bodyPr wrap="square" lIns="0" tIns="0" rIns="0" bIns="0" rtlCol="0" anchor="ctr"/>
          <a:lstStyle/>
          <a:p>
            <a:pPr indent="0" marL="0">
              <a:buNone/>
            </a:pPr>
            <a:r>
              <a:rPr lang="en-US" sz="1800" dirty="0">
                <a:solidFill>
                  <a:schemeClr val="tx1"/>
                </a:solidFill>
              </a:rPr>
              <a:t>What should readers do?</a:t>
            </a:r>
            <a:endParaRPr lang="en-US" sz="1800" dirty="0"/>
          </a:p>
        </p:txBody>
      </p:sp>
      <p:sp>
        <p:nvSpPr>
          <p:cNvPr id="22" name="card-155"/>
          <p:cNvSpPr/>
          <p:nvPr/>
        </p:nvSpPr>
        <p:spPr>
          <a:xfrm>
            <a:off x="6172200" y="4800600"/>
            <a:ext cx="5468112" cy="1234440"/>
          </a:xfrm>
          <a:prstGeom prst="roundRect">
            <a:avLst>
              <a:gd name="adj" fmla="val 8889"/>
            </a:avLst>
          </a:prstGeom>
          <a:solidFill>
            <a:schemeClr val="tx1"/>
          </a:solidFill>
          <a:ln/>
        </p:spPr>
      </p:sp>
      <p:sp>
        <p:nvSpPr>
          <p:cNvPr id="23" name="text-156"/>
          <p:cNvSpPr txBox="1"/>
          <p:nvPr/>
        </p:nvSpPr>
        <p:spPr>
          <a:xfrm>
            <a:off x="6492240" y="4800600"/>
            <a:ext cx="4937760" cy="1234440"/>
          </a:xfrm>
          <a:prstGeom prst="rect">
            <a:avLst/>
          </a:prstGeom>
          <a:noFill/>
          <a:ln/>
        </p:spPr>
        <p:txBody>
          <a:bodyPr wrap="square" lIns="0" tIns="0" rIns="0" bIns="0" rtlCol="0" anchor="ctr"/>
          <a:lstStyle/>
          <a:p>
            <a:pPr indent="0" marL="0">
              <a:buNone/>
            </a:pPr>
            <a:r>
              <a:rPr lang="en-US" sz="2200" b="1" dirty="0">
                <a:solidFill>
                  <a:schemeClr val="bg1"/>
                </a:solidFill>
              </a:rPr>
              <a:t>Everything you don't say, the AI guesses.</a:t>
            </a:r>
            <a:endParaRPr lang="en-US" sz="22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It writes by predicting the next word</a:t>
            </a:r>
            <a:endParaRPr lang="en-US" sz="3400" dirty="0"/>
          </a:p>
        </p:txBody>
      </p:sp>
      <p:sp>
        <p:nvSpPr>
          <p:cNvPr id="3" name="num-157"/>
          <p:cNvSpPr/>
          <p:nvPr/>
        </p:nvSpPr>
        <p:spPr>
          <a:xfrm>
            <a:off x="548640" y="1600200"/>
            <a:ext cx="566928" cy="566928"/>
          </a:xfrm>
          <a:prstGeom prst="ellipse">
            <a:avLst/>
          </a:prstGeom>
          <a:solidFill>
            <a:schemeClr val="tx1"/>
          </a:solidFill>
          <a:ln/>
        </p:spPr>
      </p:sp>
      <p:sp>
        <p:nvSpPr>
          <p:cNvPr id="4" name="text-158"/>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159"/>
          <p:cNvSpPr txBox="1"/>
          <p:nvPr/>
        </p:nvSpPr>
        <p:spPr>
          <a:xfrm>
            <a:off x="1371600" y="15819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Trained on huge amounts of text</a:t>
            </a:r>
            <a:endParaRPr lang="en-US" sz="2000" dirty="0"/>
          </a:p>
        </p:txBody>
      </p:sp>
      <p:sp>
        <p:nvSpPr>
          <p:cNvPr id="6" name="text-160"/>
          <p:cNvSpPr txBox="1"/>
          <p:nvPr/>
        </p:nvSpPr>
        <p:spPr>
          <a:xfrm>
            <a:off x="1371600" y="2011680"/>
            <a:ext cx="4297680" cy="640080"/>
          </a:xfrm>
          <a:prstGeom prst="rect">
            <a:avLst/>
          </a:prstGeom>
          <a:noFill/>
          <a:ln/>
        </p:spPr>
        <p:txBody>
          <a:bodyPr wrap="square" lIns="0" tIns="0" rIns="0" bIns="0" rtlCol="0" anchor="t"/>
          <a:lstStyle/>
          <a:p>
            <a:pPr indent="0" marL="0">
              <a:buNone/>
            </a:pPr>
            <a:r>
              <a:rPr lang="en-US" sz="1600" dirty="0">
                <a:solidFill>
                  <a:schemeClr val="tx2"/>
                </a:solidFill>
              </a:rPr>
              <a:t>Books, websites, and articles: billions of pages.</a:t>
            </a:r>
            <a:endParaRPr lang="en-US" sz="1600" dirty="0"/>
          </a:p>
        </p:txBody>
      </p:sp>
      <p:sp>
        <p:nvSpPr>
          <p:cNvPr id="7" name="num-161"/>
          <p:cNvSpPr/>
          <p:nvPr/>
        </p:nvSpPr>
        <p:spPr>
          <a:xfrm>
            <a:off x="548640" y="2971800"/>
            <a:ext cx="566928" cy="566928"/>
          </a:xfrm>
          <a:prstGeom prst="ellipse">
            <a:avLst/>
          </a:prstGeom>
          <a:solidFill>
            <a:schemeClr val="tx1"/>
          </a:solidFill>
          <a:ln/>
        </p:spPr>
      </p:sp>
      <p:sp>
        <p:nvSpPr>
          <p:cNvPr id="8" name="text-162"/>
          <p:cNvSpPr txBox="1"/>
          <p:nvPr/>
        </p:nvSpPr>
        <p:spPr>
          <a:xfrm>
            <a:off x="548640" y="29718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163"/>
          <p:cNvSpPr txBox="1"/>
          <p:nvPr/>
        </p:nvSpPr>
        <p:spPr>
          <a:xfrm>
            <a:off x="1371600" y="29535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Learns the patterns of language</a:t>
            </a:r>
            <a:endParaRPr lang="en-US" sz="2000" dirty="0"/>
          </a:p>
        </p:txBody>
      </p:sp>
      <p:sp>
        <p:nvSpPr>
          <p:cNvPr id="10" name="text-164"/>
          <p:cNvSpPr txBox="1"/>
          <p:nvPr/>
        </p:nvSpPr>
        <p:spPr>
          <a:xfrm>
            <a:off x="1371600" y="3383280"/>
            <a:ext cx="4297680" cy="640080"/>
          </a:xfrm>
          <a:prstGeom prst="rect">
            <a:avLst/>
          </a:prstGeom>
          <a:noFill/>
          <a:ln/>
        </p:spPr>
        <p:txBody>
          <a:bodyPr wrap="square" lIns="0" tIns="0" rIns="0" bIns="0" rtlCol="0" anchor="t"/>
          <a:lstStyle/>
          <a:p>
            <a:pPr indent="0" marL="0">
              <a:buNone/>
            </a:pPr>
            <a:r>
              <a:rPr lang="en-US" sz="1600" dirty="0">
                <a:solidFill>
                  <a:schemeClr val="tx2"/>
                </a:solidFill>
              </a:rPr>
              <a:t>Which words tend to follow which, in which contexts.</a:t>
            </a:r>
            <a:endParaRPr lang="en-US" sz="1600" dirty="0"/>
          </a:p>
        </p:txBody>
      </p:sp>
      <p:sp>
        <p:nvSpPr>
          <p:cNvPr id="11" name="num-165"/>
          <p:cNvSpPr/>
          <p:nvPr/>
        </p:nvSpPr>
        <p:spPr>
          <a:xfrm>
            <a:off x="548640" y="4343400"/>
            <a:ext cx="566928" cy="566928"/>
          </a:xfrm>
          <a:prstGeom prst="ellipse">
            <a:avLst/>
          </a:prstGeom>
          <a:solidFill>
            <a:schemeClr val="tx1"/>
          </a:solidFill>
          <a:ln/>
        </p:spPr>
      </p:sp>
      <p:sp>
        <p:nvSpPr>
          <p:cNvPr id="12" name="text-166"/>
          <p:cNvSpPr txBox="1"/>
          <p:nvPr/>
        </p:nvSpPr>
        <p:spPr>
          <a:xfrm>
            <a:off x="548640" y="43434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167"/>
          <p:cNvSpPr txBox="1"/>
          <p:nvPr/>
        </p:nvSpPr>
        <p:spPr>
          <a:xfrm>
            <a:off x="1371600" y="4325112"/>
            <a:ext cx="4297680" cy="411480"/>
          </a:xfrm>
          <a:prstGeom prst="rect">
            <a:avLst/>
          </a:prstGeom>
          <a:noFill/>
          <a:ln/>
        </p:spPr>
        <p:txBody>
          <a:bodyPr wrap="square" lIns="0" tIns="0" rIns="0" bIns="0" rtlCol="0" anchor="t"/>
          <a:lstStyle/>
          <a:p>
            <a:pPr indent="0" marL="0">
              <a:buNone/>
            </a:pPr>
            <a:r>
              <a:rPr lang="en-US" sz="2000" b="1" dirty="0">
                <a:solidFill>
                  <a:schemeClr val="tx1"/>
                </a:solidFill>
              </a:rPr>
              <a:t>Writes one piece at a time</a:t>
            </a:r>
            <a:endParaRPr lang="en-US" sz="2000" dirty="0"/>
          </a:p>
        </p:txBody>
      </p:sp>
      <p:sp>
        <p:nvSpPr>
          <p:cNvPr id="14" name="text-168"/>
          <p:cNvSpPr txBox="1"/>
          <p:nvPr/>
        </p:nvSpPr>
        <p:spPr>
          <a:xfrm>
            <a:off x="1371600" y="4754880"/>
            <a:ext cx="4297680" cy="640080"/>
          </a:xfrm>
          <a:prstGeom prst="rect">
            <a:avLst/>
          </a:prstGeom>
          <a:noFill/>
          <a:ln/>
        </p:spPr>
        <p:txBody>
          <a:bodyPr wrap="square" lIns="0" tIns="0" rIns="0" bIns="0" rtlCol="0" anchor="t"/>
          <a:lstStyle/>
          <a:p>
            <a:pPr indent="0" marL="0">
              <a:buNone/>
            </a:pPr>
            <a:r>
              <a:rPr lang="en-US" sz="1600" dirty="0">
                <a:solidFill>
                  <a:schemeClr val="tx2"/>
                </a:solidFill>
              </a:rPr>
              <a:t>Each word is a prediction of what's likely to come next.</a:t>
            </a:r>
            <a:endParaRPr lang="en-US" sz="1600" dirty="0"/>
          </a:p>
        </p:txBody>
      </p:sp>
      <p:sp>
        <p:nvSpPr>
          <p:cNvPr id="15" name="card-169"/>
          <p:cNvSpPr/>
          <p:nvPr/>
        </p:nvSpPr>
        <p:spPr>
          <a:xfrm>
            <a:off x="5806440" y="1463040"/>
            <a:ext cx="5833872" cy="4572000"/>
          </a:xfrm>
          <a:prstGeom prst="roundRect">
            <a:avLst>
              <a:gd name="adj" fmla="val 2400"/>
            </a:avLst>
          </a:prstGeom>
          <a:solidFill>
            <a:schemeClr val="bg2"/>
          </a:solidFill>
          <a:ln/>
        </p:spPr>
      </p:sp>
      <p:sp>
        <p:nvSpPr>
          <p:cNvPr id="16" name="text-170"/>
          <p:cNvSpPr txBox="1"/>
          <p:nvPr/>
        </p:nvSpPr>
        <p:spPr>
          <a:xfrm>
            <a:off x="6080760" y="1691640"/>
            <a:ext cx="5303520" cy="457200"/>
          </a:xfrm>
          <a:prstGeom prst="rect">
            <a:avLst/>
          </a:prstGeom>
          <a:noFill/>
          <a:ln/>
        </p:spPr>
        <p:txBody>
          <a:bodyPr wrap="square" lIns="0" tIns="0" rIns="0" bIns="0" rtlCol="0" anchor="t"/>
          <a:lstStyle/>
          <a:p>
            <a:pPr indent="0" marL="0">
              <a:buNone/>
            </a:pPr>
            <a:r>
              <a:rPr lang="en-US" sz="1800" b="1" dirty="0">
                <a:solidFill>
                  <a:schemeClr val="tx1"/>
                </a:solidFill>
              </a:rPr>
              <a:t>“Our quarterly meeting has been moved to ___”</a:t>
            </a:r>
            <a:endParaRPr lang="en-US" sz="1800" dirty="0"/>
          </a:p>
        </p:txBody>
      </p:sp>
      <p:graphicFrame>
        <p:nvGraphicFramePr>
          <p:cNvPr id="17" name="next-word-chart" descr=""/>
          <p:cNvGraphicFramePr/>
          <p:nvPr/>
        </p:nvGraphicFramePr>
        <p:xfrm>
          <a:off x="5989320" y="219456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18" name="text-171"/>
          <p:cNvSpPr txBox="1"/>
          <p:nvPr/>
        </p:nvSpPr>
        <p:spPr>
          <a:xfrm>
            <a:off x="6080760" y="5486400"/>
            <a:ext cx="5303520" cy="365760"/>
          </a:xfrm>
          <a:prstGeom prst="rect">
            <a:avLst/>
          </a:prstGeom>
          <a:noFill/>
          <a:ln/>
        </p:spPr>
        <p:txBody>
          <a:bodyPr wrap="square" lIns="0" tIns="0" rIns="0" bIns="0" rtlCol="0" anchor="t"/>
          <a:lstStyle/>
          <a:p>
            <a:pPr indent="0" marL="0">
              <a:buNone/>
            </a:pPr>
            <a:r>
              <a:rPr lang="en-US" sz="1300" dirty="0">
                <a:solidFill>
                  <a:schemeClr val="tx2"/>
                </a:solidFill>
              </a:rPr>
              <a:t>Illustrative numbers. It picks a likely word, not a checked fact.</a:t>
            </a:r>
            <a:endParaRPr lang="en-US" sz="13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Great with language, weak on facts it wasn't given</a:t>
            </a:r>
            <a:endParaRPr lang="en-US" sz="3400" dirty="0"/>
          </a:p>
        </p:txBody>
      </p:sp>
      <p:sp>
        <p:nvSpPr>
          <p:cNvPr id="3" name="card-172"/>
          <p:cNvSpPr/>
          <p:nvPr/>
        </p:nvSpPr>
        <p:spPr>
          <a:xfrm>
            <a:off x="548640" y="1463040"/>
            <a:ext cx="5364328" cy="4572000"/>
          </a:xfrm>
          <a:prstGeom prst="roundRect">
            <a:avLst>
              <a:gd name="adj" fmla="val 2400"/>
            </a:avLst>
          </a:prstGeom>
          <a:solidFill>
            <a:schemeClr val="bg2"/>
          </a:solidFill>
          <a:ln/>
        </p:spPr>
      </p:sp>
      <p:sp>
        <p:nvSpPr>
          <p:cNvPr id="4" name="card-173"/>
          <p:cNvSpPr/>
          <p:nvPr/>
        </p:nvSpPr>
        <p:spPr>
          <a:xfrm>
            <a:off x="6278728" y="1463040"/>
            <a:ext cx="5364328" cy="4572000"/>
          </a:xfrm>
          <a:prstGeom prst="roundRect">
            <a:avLst>
              <a:gd name="adj" fmla="val 2400"/>
            </a:avLst>
          </a:prstGeom>
          <a:solidFill>
            <a:schemeClr val="tx1"/>
          </a:solidFill>
          <a:ln/>
        </p:spPr>
      </p:sp>
      <p:sp>
        <p:nvSpPr>
          <p:cNvPr id="5" name="text-174"/>
          <p:cNvSpPr txBox="1"/>
          <p:nvPr/>
        </p:nvSpPr>
        <p:spPr>
          <a:xfrm>
            <a:off x="914400" y="1737360"/>
            <a:ext cx="4632808" cy="457200"/>
          </a:xfrm>
          <a:prstGeom prst="rect">
            <a:avLst/>
          </a:prstGeom>
          <a:noFill/>
          <a:ln/>
        </p:spPr>
        <p:txBody>
          <a:bodyPr wrap="square" lIns="0" tIns="0" rIns="0" bIns="0" rtlCol="0" anchor="t"/>
          <a:lstStyle/>
          <a:p>
            <a:pPr indent="0" marL="0">
              <a:buNone/>
            </a:pPr>
            <a:r>
              <a:rPr lang="en-US" sz="2400" b="1" dirty="0">
                <a:solidFill>
                  <a:schemeClr val="tx1"/>
                </a:solidFill>
              </a:rPr>
              <a:t>Strong at</a:t>
            </a:r>
            <a:endParaRPr lang="en-US" sz="2400" dirty="0"/>
          </a:p>
        </p:txBody>
      </p:sp>
      <p:sp>
        <p:nvSpPr>
          <p:cNvPr id="6" name="text-175"/>
          <p:cNvSpPr txBox="1"/>
          <p:nvPr/>
        </p:nvSpPr>
        <p:spPr>
          <a:xfrm>
            <a:off x="6644488" y="1737360"/>
            <a:ext cx="4632808" cy="457200"/>
          </a:xfrm>
          <a:prstGeom prst="rect">
            <a:avLst/>
          </a:prstGeom>
          <a:noFill/>
          <a:ln/>
        </p:spPr>
        <p:txBody>
          <a:bodyPr wrap="square" lIns="0" tIns="0" rIns="0" bIns="0" rtlCol="0" anchor="t"/>
          <a:lstStyle/>
          <a:p>
            <a:pPr indent="0" marL="0">
              <a:buNone/>
            </a:pPr>
            <a:r>
              <a:rPr lang="en-US" sz="2400" b="1" dirty="0">
                <a:solidFill>
                  <a:schemeClr val="bg1"/>
                </a:solidFill>
              </a:rPr>
              <a:t>Weak at</a:t>
            </a:r>
            <a:endParaRPr lang="en-US" sz="2400" dirty="0"/>
          </a:p>
        </p:txBody>
      </p:sp>
      <p:pic>
        <p:nvPicPr>
          <p:cNvPr id="7" name="icon-176" descr="preencoded.png">    </p:cNvPr>
          <p:cNvPicPr>
            <a:picLocks noChangeAspect="1"/>
          </p:cNvPicPr>
          <p:nvPr/>
        </p:nvPicPr>
        <p:blipFill>
          <a:blip r:embed="rId1"/>
          <a:stretch>
            <a:fillRect/>
          </a:stretch>
        </p:blipFill>
        <p:spPr>
          <a:xfrm>
            <a:off x="914400" y="2468880"/>
            <a:ext cx="347472" cy="347472"/>
          </a:xfrm>
          <a:prstGeom prst="rect">
            <a:avLst/>
          </a:prstGeom>
        </p:spPr>
      </p:pic>
      <p:sp>
        <p:nvSpPr>
          <p:cNvPr id="8" name="text-177"/>
          <p:cNvSpPr txBox="1"/>
          <p:nvPr/>
        </p:nvSpPr>
        <p:spPr>
          <a:xfrm>
            <a:off x="1463040" y="2423160"/>
            <a:ext cx="4175608" cy="457200"/>
          </a:xfrm>
          <a:prstGeom prst="rect">
            <a:avLst/>
          </a:prstGeom>
          <a:noFill/>
          <a:ln/>
        </p:spPr>
        <p:txBody>
          <a:bodyPr wrap="square" lIns="0" tIns="0" rIns="0" bIns="0" rtlCol="0" anchor="ctr"/>
          <a:lstStyle/>
          <a:p>
            <a:pPr indent="0" marL="0">
              <a:buNone/>
            </a:pPr>
            <a:r>
              <a:rPr lang="en-US" sz="1800" dirty="0">
                <a:solidFill>
                  <a:schemeClr val="tx1"/>
                </a:solidFill>
              </a:rPr>
              <a:t>Drafting and rewriting</a:t>
            </a:r>
            <a:endParaRPr lang="en-US" sz="1800" dirty="0"/>
          </a:p>
        </p:txBody>
      </p:sp>
      <p:pic>
        <p:nvPicPr>
          <p:cNvPr id="9" name="icon-178" descr="preencoded.png">    </p:cNvPr>
          <p:cNvPicPr>
            <a:picLocks noChangeAspect="1"/>
          </p:cNvPicPr>
          <p:nvPr/>
        </p:nvPicPr>
        <p:blipFill>
          <a:blip r:embed="rId2"/>
          <a:stretch>
            <a:fillRect/>
          </a:stretch>
        </p:blipFill>
        <p:spPr>
          <a:xfrm>
            <a:off x="6644488" y="2468880"/>
            <a:ext cx="347472" cy="347472"/>
          </a:xfrm>
          <a:prstGeom prst="rect">
            <a:avLst/>
          </a:prstGeom>
        </p:spPr>
      </p:pic>
      <p:sp>
        <p:nvSpPr>
          <p:cNvPr id="10" name="text-179"/>
          <p:cNvSpPr txBox="1"/>
          <p:nvPr/>
        </p:nvSpPr>
        <p:spPr>
          <a:xfrm>
            <a:off x="7193128" y="2423160"/>
            <a:ext cx="3809848" cy="457200"/>
          </a:xfrm>
          <a:prstGeom prst="rect">
            <a:avLst/>
          </a:prstGeom>
          <a:noFill/>
          <a:ln/>
        </p:spPr>
        <p:txBody>
          <a:bodyPr wrap="square" lIns="0" tIns="0" rIns="0" bIns="0" rtlCol="0" anchor="ctr"/>
          <a:lstStyle/>
          <a:p>
            <a:pPr indent="0" marL="0">
              <a:buNone/>
            </a:pPr>
            <a:r>
              <a:rPr lang="en-US" sz="1800" dirty="0">
                <a:solidFill>
                  <a:schemeClr val="bg1"/>
                </a:solidFill>
              </a:rPr>
              <a:t>Facts you didn't give it</a:t>
            </a:r>
            <a:endParaRPr lang="en-US" sz="1800" dirty="0"/>
          </a:p>
        </p:txBody>
      </p:sp>
      <p:pic>
        <p:nvPicPr>
          <p:cNvPr id="11" name="icon-180" descr="preencoded.png">    </p:cNvPr>
          <p:cNvPicPr>
            <a:picLocks noChangeAspect="1"/>
          </p:cNvPicPr>
          <p:nvPr/>
        </p:nvPicPr>
        <p:blipFill>
          <a:blip r:embed="rId3"/>
          <a:stretch>
            <a:fillRect/>
          </a:stretch>
        </p:blipFill>
        <p:spPr>
          <a:xfrm>
            <a:off x="914400" y="3154680"/>
            <a:ext cx="347472" cy="347472"/>
          </a:xfrm>
          <a:prstGeom prst="rect">
            <a:avLst/>
          </a:prstGeom>
        </p:spPr>
      </p:pic>
      <p:sp>
        <p:nvSpPr>
          <p:cNvPr id="12" name="text-181"/>
          <p:cNvSpPr txBox="1"/>
          <p:nvPr/>
        </p:nvSpPr>
        <p:spPr>
          <a:xfrm>
            <a:off x="1463040" y="3108960"/>
            <a:ext cx="4175608" cy="457200"/>
          </a:xfrm>
          <a:prstGeom prst="rect">
            <a:avLst/>
          </a:prstGeom>
          <a:noFill/>
          <a:ln/>
        </p:spPr>
        <p:txBody>
          <a:bodyPr wrap="square" lIns="0" tIns="0" rIns="0" bIns="0" rtlCol="0" anchor="ctr"/>
          <a:lstStyle/>
          <a:p>
            <a:pPr indent="0" marL="0">
              <a:buNone/>
            </a:pPr>
            <a:r>
              <a:rPr lang="en-US" sz="1800" dirty="0">
                <a:solidFill>
                  <a:schemeClr val="tx1"/>
                </a:solidFill>
              </a:rPr>
              <a:t>Summarizing text you give it</a:t>
            </a:r>
            <a:endParaRPr lang="en-US" sz="1800" dirty="0"/>
          </a:p>
        </p:txBody>
      </p:sp>
      <p:pic>
        <p:nvPicPr>
          <p:cNvPr id="13" name="icon-182" descr="preencoded.png">    </p:cNvPr>
          <p:cNvPicPr>
            <a:picLocks noChangeAspect="1"/>
          </p:cNvPicPr>
          <p:nvPr/>
        </p:nvPicPr>
        <p:blipFill>
          <a:blip r:embed="rId4"/>
          <a:stretch>
            <a:fillRect/>
          </a:stretch>
        </p:blipFill>
        <p:spPr>
          <a:xfrm>
            <a:off x="6644488" y="3154680"/>
            <a:ext cx="347472" cy="347472"/>
          </a:xfrm>
          <a:prstGeom prst="rect">
            <a:avLst/>
          </a:prstGeom>
        </p:spPr>
      </p:pic>
      <p:sp>
        <p:nvSpPr>
          <p:cNvPr id="14" name="text-183"/>
          <p:cNvSpPr txBox="1"/>
          <p:nvPr/>
        </p:nvSpPr>
        <p:spPr>
          <a:xfrm>
            <a:off x="7193128" y="3108960"/>
            <a:ext cx="3809848" cy="457200"/>
          </a:xfrm>
          <a:prstGeom prst="rect">
            <a:avLst/>
          </a:prstGeom>
          <a:noFill/>
          <a:ln/>
        </p:spPr>
        <p:txBody>
          <a:bodyPr wrap="square" lIns="0" tIns="0" rIns="0" bIns="0" rtlCol="0" anchor="ctr"/>
          <a:lstStyle/>
          <a:p>
            <a:pPr indent="0" marL="0">
              <a:buNone/>
            </a:pPr>
            <a:r>
              <a:rPr lang="en-US" sz="1800" dirty="0">
                <a:solidFill>
                  <a:schemeClr val="bg1"/>
                </a:solidFill>
              </a:rPr>
              <a:t>Exact numbers, quotes, and citations</a:t>
            </a:r>
            <a:endParaRPr lang="en-US" sz="1800" dirty="0"/>
          </a:p>
        </p:txBody>
      </p:sp>
      <p:pic>
        <p:nvPicPr>
          <p:cNvPr id="15" name="icon-184" descr="preencoded.png">    </p:cNvPr>
          <p:cNvPicPr>
            <a:picLocks noChangeAspect="1"/>
          </p:cNvPicPr>
          <p:nvPr/>
        </p:nvPicPr>
        <p:blipFill>
          <a:blip r:embed="rId5"/>
          <a:stretch>
            <a:fillRect/>
          </a:stretch>
        </p:blipFill>
        <p:spPr>
          <a:xfrm>
            <a:off x="914400" y="3840480"/>
            <a:ext cx="347472" cy="347472"/>
          </a:xfrm>
          <a:prstGeom prst="rect">
            <a:avLst/>
          </a:prstGeom>
        </p:spPr>
      </p:pic>
      <p:sp>
        <p:nvSpPr>
          <p:cNvPr id="16" name="text-185"/>
          <p:cNvSpPr txBox="1"/>
          <p:nvPr/>
        </p:nvSpPr>
        <p:spPr>
          <a:xfrm>
            <a:off x="1463040" y="3794760"/>
            <a:ext cx="4175608" cy="457200"/>
          </a:xfrm>
          <a:prstGeom prst="rect">
            <a:avLst/>
          </a:prstGeom>
          <a:noFill/>
          <a:ln/>
        </p:spPr>
        <p:txBody>
          <a:bodyPr wrap="square" lIns="0" tIns="0" rIns="0" bIns="0" rtlCol="0" anchor="ctr"/>
          <a:lstStyle/>
          <a:p>
            <a:pPr indent="0" marL="0">
              <a:buNone/>
            </a:pPr>
            <a:r>
              <a:rPr lang="en-US" sz="1800" dirty="0">
                <a:solidFill>
                  <a:schemeClr val="tx1"/>
                </a:solidFill>
              </a:rPr>
              <a:t>Changing tone or audience</a:t>
            </a:r>
            <a:endParaRPr lang="en-US" sz="1800" dirty="0"/>
          </a:p>
        </p:txBody>
      </p:sp>
      <p:pic>
        <p:nvPicPr>
          <p:cNvPr id="17" name="icon-186" descr="preencoded.png">    </p:cNvPr>
          <p:cNvPicPr>
            <a:picLocks noChangeAspect="1"/>
          </p:cNvPicPr>
          <p:nvPr/>
        </p:nvPicPr>
        <p:blipFill>
          <a:blip r:embed="rId6"/>
          <a:stretch>
            <a:fillRect/>
          </a:stretch>
        </p:blipFill>
        <p:spPr>
          <a:xfrm>
            <a:off x="6644488" y="3840480"/>
            <a:ext cx="347472" cy="347472"/>
          </a:xfrm>
          <a:prstGeom prst="rect">
            <a:avLst/>
          </a:prstGeom>
        </p:spPr>
      </p:pic>
      <p:sp>
        <p:nvSpPr>
          <p:cNvPr id="18" name="text-187"/>
          <p:cNvSpPr txBox="1"/>
          <p:nvPr/>
        </p:nvSpPr>
        <p:spPr>
          <a:xfrm>
            <a:off x="7193128" y="3794760"/>
            <a:ext cx="3809848" cy="457200"/>
          </a:xfrm>
          <a:prstGeom prst="rect">
            <a:avLst/>
          </a:prstGeom>
          <a:noFill/>
          <a:ln/>
        </p:spPr>
        <p:txBody>
          <a:bodyPr wrap="square" lIns="0" tIns="0" rIns="0" bIns="0" rtlCol="0" anchor="ctr"/>
          <a:lstStyle/>
          <a:p>
            <a:pPr indent="0" marL="0">
              <a:buNone/>
            </a:pPr>
            <a:r>
              <a:rPr lang="en-US" sz="1800" dirty="0">
                <a:solidFill>
                  <a:schemeClr val="bg1"/>
                </a:solidFill>
              </a:rPr>
              <a:t>Recent events (unless it searches the web)</a:t>
            </a:r>
            <a:endParaRPr lang="en-US" sz="1800" dirty="0"/>
          </a:p>
        </p:txBody>
      </p:sp>
      <p:pic>
        <p:nvPicPr>
          <p:cNvPr id="19" name="icon-188" descr="preencoded.png">    </p:cNvPr>
          <p:cNvPicPr>
            <a:picLocks noChangeAspect="1"/>
          </p:cNvPicPr>
          <p:nvPr/>
        </p:nvPicPr>
        <p:blipFill>
          <a:blip r:embed="rId7"/>
          <a:stretch>
            <a:fillRect/>
          </a:stretch>
        </p:blipFill>
        <p:spPr>
          <a:xfrm>
            <a:off x="914400" y="4526280"/>
            <a:ext cx="347472" cy="347472"/>
          </a:xfrm>
          <a:prstGeom prst="rect">
            <a:avLst/>
          </a:prstGeom>
        </p:spPr>
      </p:pic>
      <p:sp>
        <p:nvSpPr>
          <p:cNvPr id="20" name="text-189"/>
          <p:cNvSpPr txBox="1"/>
          <p:nvPr/>
        </p:nvSpPr>
        <p:spPr>
          <a:xfrm>
            <a:off x="1463040" y="4480560"/>
            <a:ext cx="4175608" cy="457200"/>
          </a:xfrm>
          <a:prstGeom prst="rect">
            <a:avLst/>
          </a:prstGeom>
          <a:noFill/>
          <a:ln/>
        </p:spPr>
        <p:txBody>
          <a:bodyPr wrap="square" lIns="0" tIns="0" rIns="0" bIns="0" rtlCol="0" anchor="ctr"/>
          <a:lstStyle/>
          <a:p>
            <a:pPr indent="0" marL="0">
              <a:buNone/>
            </a:pPr>
            <a:r>
              <a:rPr lang="en-US" sz="1800" dirty="0">
                <a:solidFill>
                  <a:schemeClr val="tx1"/>
                </a:solidFill>
              </a:rPr>
              <a:t>Brainstorming and outlining</a:t>
            </a:r>
            <a:endParaRPr lang="en-US" sz="1800" dirty="0"/>
          </a:p>
        </p:txBody>
      </p:sp>
      <p:pic>
        <p:nvPicPr>
          <p:cNvPr id="21" name="icon-190" descr="preencoded.png">    </p:cNvPr>
          <p:cNvPicPr>
            <a:picLocks noChangeAspect="1"/>
          </p:cNvPicPr>
          <p:nvPr/>
        </p:nvPicPr>
        <p:blipFill>
          <a:blip r:embed="rId8"/>
          <a:stretch>
            <a:fillRect/>
          </a:stretch>
        </p:blipFill>
        <p:spPr>
          <a:xfrm>
            <a:off x="6644488" y="4526280"/>
            <a:ext cx="347472" cy="347472"/>
          </a:xfrm>
          <a:prstGeom prst="rect">
            <a:avLst/>
          </a:prstGeom>
        </p:spPr>
      </p:pic>
      <p:sp>
        <p:nvSpPr>
          <p:cNvPr id="22" name="text-191"/>
          <p:cNvSpPr txBox="1"/>
          <p:nvPr/>
        </p:nvSpPr>
        <p:spPr>
          <a:xfrm>
            <a:off x="7193128" y="4480560"/>
            <a:ext cx="3809848" cy="457200"/>
          </a:xfrm>
          <a:prstGeom prst="rect">
            <a:avLst/>
          </a:prstGeom>
          <a:noFill/>
          <a:ln/>
        </p:spPr>
        <p:txBody>
          <a:bodyPr wrap="square" lIns="0" tIns="0" rIns="0" bIns="0" rtlCol="0" anchor="ctr"/>
          <a:lstStyle/>
          <a:p>
            <a:pPr indent="0" marL="0">
              <a:buNone/>
            </a:pPr>
            <a:r>
              <a:rPr lang="en-US" sz="1800" dirty="0">
                <a:solidFill>
                  <a:schemeClr val="bg1"/>
                </a:solidFill>
              </a:rPr>
              <a:t>Your organization's specifics</a:t>
            </a:r>
            <a:endParaRPr lang="en-US" sz="1800" dirty="0"/>
          </a:p>
        </p:txBody>
      </p:sp>
      <p:pic>
        <p:nvPicPr>
          <p:cNvPr id="23" name="icon-192" descr="preencoded.png">    </p:cNvPr>
          <p:cNvPicPr>
            <a:picLocks noChangeAspect="1"/>
          </p:cNvPicPr>
          <p:nvPr/>
        </p:nvPicPr>
        <p:blipFill>
          <a:blip r:embed="rId9"/>
          <a:stretch>
            <a:fillRect/>
          </a:stretch>
        </p:blipFill>
        <p:spPr>
          <a:xfrm>
            <a:off x="914400" y="5212080"/>
            <a:ext cx="347472" cy="347472"/>
          </a:xfrm>
          <a:prstGeom prst="rect">
            <a:avLst/>
          </a:prstGeom>
        </p:spPr>
      </p:pic>
      <p:sp>
        <p:nvSpPr>
          <p:cNvPr id="24" name="text-193"/>
          <p:cNvSpPr txBox="1"/>
          <p:nvPr/>
        </p:nvSpPr>
        <p:spPr>
          <a:xfrm>
            <a:off x="1463040" y="5166360"/>
            <a:ext cx="4175608" cy="457200"/>
          </a:xfrm>
          <a:prstGeom prst="rect">
            <a:avLst/>
          </a:prstGeom>
          <a:noFill/>
          <a:ln/>
        </p:spPr>
        <p:txBody>
          <a:bodyPr wrap="square" lIns="0" tIns="0" rIns="0" bIns="0" rtlCol="0" anchor="ctr"/>
          <a:lstStyle/>
          <a:p>
            <a:pPr indent="0" marL="0">
              <a:buNone/>
            </a:pPr>
            <a:r>
              <a:rPr lang="en-US" sz="1800" dirty="0">
                <a:solidFill>
                  <a:schemeClr val="tx1"/>
                </a:solidFill>
              </a:rPr>
              <a:t>Explaining ideas in plain language</a:t>
            </a:r>
            <a:endParaRPr lang="en-US" sz="1800" dirty="0"/>
          </a:p>
        </p:txBody>
      </p:sp>
      <p:pic>
        <p:nvPicPr>
          <p:cNvPr id="25" name="icon-194" descr="preencoded.png">    </p:cNvPr>
          <p:cNvPicPr>
            <a:picLocks noChangeAspect="1"/>
          </p:cNvPicPr>
          <p:nvPr/>
        </p:nvPicPr>
        <p:blipFill>
          <a:blip r:embed="rId10"/>
          <a:stretch>
            <a:fillRect/>
          </a:stretch>
        </p:blipFill>
        <p:spPr>
          <a:xfrm>
            <a:off x="6644488" y="5212080"/>
            <a:ext cx="347472" cy="347472"/>
          </a:xfrm>
          <a:prstGeom prst="rect">
            <a:avLst/>
          </a:prstGeom>
        </p:spPr>
      </p:pic>
      <p:sp>
        <p:nvSpPr>
          <p:cNvPr id="26" name="text-195"/>
          <p:cNvSpPr txBox="1"/>
          <p:nvPr/>
        </p:nvSpPr>
        <p:spPr>
          <a:xfrm>
            <a:off x="7193128" y="5166360"/>
            <a:ext cx="3809848" cy="457200"/>
          </a:xfrm>
          <a:prstGeom prst="rect">
            <a:avLst/>
          </a:prstGeom>
          <a:noFill/>
          <a:ln/>
        </p:spPr>
        <p:txBody>
          <a:bodyPr wrap="square" lIns="0" tIns="0" rIns="0" bIns="0" rtlCol="0" anchor="ctr"/>
          <a:lstStyle/>
          <a:p>
            <a:pPr indent="0" marL="0">
              <a:buNone/>
            </a:pPr>
            <a:r>
              <a:rPr lang="en-US" sz="1800" dirty="0">
                <a:solidFill>
                  <a:schemeClr val="bg1"/>
                </a:solidFill>
              </a:rPr>
              <a:t>Judgment calls you're accountable for</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Four limits that shape how you prompt</a:t>
            </a:r>
            <a:endParaRPr lang="en-US" sz="3400" dirty="0"/>
          </a:p>
        </p:txBody>
      </p:sp>
      <p:sp>
        <p:nvSpPr>
          <p:cNvPr id="3" name="card-196"/>
          <p:cNvSpPr/>
          <p:nvPr/>
        </p:nvSpPr>
        <p:spPr>
          <a:xfrm>
            <a:off x="548640" y="1463040"/>
            <a:ext cx="5387188" cy="2148840"/>
          </a:xfrm>
          <a:prstGeom prst="roundRect">
            <a:avLst>
              <a:gd name="adj" fmla="val 5106"/>
            </a:avLst>
          </a:prstGeom>
          <a:solidFill>
            <a:schemeClr val="bg2"/>
          </a:solidFill>
          <a:ln/>
        </p:spPr>
      </p:sp>
      <p:sp>
        <p:nvSpPr>
          <p:cNvPr id="4" name="text-197"/>
          <p:cNvSpPr txBox="1"/>
          <p:nvPr/>
        </p:nvSpPr>
        <p:spPr>
          <a:xfrm>
            <a:off x="868680" y="1719072"/>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5" name="text-198"/>
          <p:cNvSpPr txBox="1"/>
          <p:nvPr/>
        </p:nvSpPr>
        <p:spPr>
          <a:xfrm>
            <a:off x="1371600" y="1764792"/>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 can make things up</a:t>
            </a:r>
            <a:endParaRPr lang="en-US" sz="2200" dirty="0"/>
          </a:p>
        </p:txBody>
      </p:sp>
      <p:sp>
        <p:nvSpPr>
          <p:cNvPr id="6" name="dot-199"/>
          <p:cNvSpPr/>
          <p:nvPr/>
        </p:nvSpPr>
        <p:spPr>
          <a:xfrm>
            <a:off x="5067148" y="1719072"/>
            <a:ext cx="566928" cy="566928"/>
          </a:xfrm>
          <a:prstGeom prst="ellipse">
            <a:avLst/>
          </a:prstGeom>
          <a:solidFill>
            <a:schemeClr val="tx1"/>
          </a:solidFill>
          <a:ln/>
        </p:spPr>
      </p:sp>
      <p:pic>
        <p:nvPicPr>
          <p:cNvPr id="7" name="icon-200" descr="preencoded.png">    </p:cNvPr>
          <p:cNvPicPr>
            <a:picLocks noChangeAspect="1"/>
          </p:cNvPicPr>
          <p:nvPr/>
        </p:nvPicPr>
        <p:blipFill>
          <a:blip r:embed="rId1"/>
          <a:stretch>
            <a:fillRect/>
          </a:stretch>
        </p:blipFill>
        <p:spPr>
          <a:xfrm>
            <a:off x="5191872" y="1843796"/>
            <a:ext cx="317480" cy="317480"/>
          </a:xfrm>
          <a:prstGeom prst="rect">
            <a:avLst/>
          </a:prstGeom>
        </p:spPr>
      </p:pic>
      <p:sp>
        <p:nvSpPr>
          <p:cNvPr id="8" name="text-201"/>
          <p:cNvSpPr txBox="1"/>
          <p:nvPr/>
        </p:nvSpPr>
        <p:spPr>
          <a:xfrm>
            <a:off x="1371600" y="2304288"/>
            <a:ext cx="4244188" cy="731520"/>
          </a:xfrm>
          <a:prstGeom prst="rect">
            <a:avLst/>
          </a:prstGeom>
          <a:noFill/>
          <a:ln/>
        </p:spPr>
        <p:txBody>
          <a:bodyPr wrap="square" lIns="0" tIns="0" rIns="0" bIns="0" rtlCol="0" anchor="t"/>
          <a:lstStyle/>
          <a:p>
            <a:pPr indent="0" marL="0">
              <a:buNone/>
            </a:pPr>
            <a:r>
              <a:rPr lang="en-US" sz="1600" dirty="0">
                <a:solidFill>
                  <a:schemeClr val="tx2"/>
                </a:solidFill>
              </a:rPr>
              <a:t>Fluent isn't the same as correct. It can invent facts, numbers, policies, and citations.</a:t>
            </a:r>
            <a:endParaRPr lang="en-US" sz="1600" dirty="0"/>
          </a:p>
        </p:txBody>
      </p:sp>
      <p:sp>
        <p:nvSpPr>
          <p:cNvPr id="9" name="text-202"/>
          <p:cNvSpPr txBox="1"/>
          <p:nvPr/>
        </p:nvSpPr>
        <p:spPr>
          <a:xfrm>
            <a:off x="1371600" y="308152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verify anything that matters.</a:t>
            </a:r>
            <a:endParaRPr lang="en-US" sz="1600" dirty="0"/>
          </a:p>
        </p:txBody>
      </p:sp>
      <p:sp>
        <p:nvSpPr>
          <p:cNvPr id="10" name="card-203"/>
          <p:cNvSpPr/>
          <p:nvPr/>
        </p:nvSpPr>
        <p:spPr>
          <a:xfrm>
            <a:off x="6255868" y="1463040"/>
            <a:ext cx="5387188" cy="2148840"/>
          </a:xfrm>
          <a:prstGeom prst="roundRect">
            <a:avLst>
              <a:gd name="adj" fmla="val 5106"/>
            </a:avLst>
          </a:prstGeom>
          <a:solidFill>
            <a:schemeClr val="bg2"/>
          </a:solidFill>
          <a:ln/>
        </p:spPr>
      </p:sp>
      <p:sp>
        <p:nvSpPr>
          <p:cNvPr id="11" name="text-204"/>
          <p:cNvSpPr txBox="1"/>
          <p:nvPr/>
        </p:nvSpPr>
        <p:spPr>
          <a:xfrm>
            <a:off x="6575908" y="1719072"/>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12" name="text-205"/>
          <p:cNvSpPr txBox="1"/>
          <p:nvPr/>
        </p:nvSpPr>
        <p:spPr>
          <a:xfrm>
            <a:off x="7078828" y="1764792"/>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It's inconsistent</a:t>
            </a:r>
            <a:endParaRPr lang="en-US" sz="2200" dirty="0"/>
          </a:p>
        </p:txBody>
      </p:sp>
      <p:sp>
        <p:nvSpPr>
          <p:cNvPr id="13" name="dot-206"/>
          <p:cNvSpPr/>
          <p:nvPr/>
        </p:nvSpPr>
        <p:spPr>
          <a:xfrm>
            <a:off x="10774375" y="1719072"/>
            <a:ext cx="566928" cy="566928"/>
          </a:xfrm>
          <a:prstGeom prst="ellipse">
            <a:avLst/>
          </a:prstGeom>
          <a:solidFill>
            <a:schemeClr val="tx1"/>
          </a:solidFill>
          <a:ln/>
        </p:spPr>
      </p:sp>
      <p:pic>
        <p:nvPicPr>
          <p:cNvPr id="14" name="icon-207" descr="preencoded.png">    </p:cNvPr>
          <p:cNvPicPr>
            <a:picLocks noChangeAspect="1"/>
          </p:cNvPicPr>
          <p:nvPr/>
        </p:nvPicPr>
        <p:blipFill>
          <a:blip r:embed="rId2"/>
          <a:stretch>
            <a:fillRect/>
          </a:stretch>
        </p:blipFill>
        <p:spPr>
          <a:xfrm>
            <a:off x="10899099" y="1843796"/>
            <a:ext cx="317480" cy="317480"/>
          </a:xfrm>
          <a:prstGeom prst="rect">
            <a:avLst/>
          </a:prstGeom>
        </p:spPr>
      </p:pic>
      <p:sp>
        <p:nvSpPr>
          <p:cNvPr id="15" name="text-208"/>
          <p:cNvSpPr txBox="1"/>
          <p:nvPr/>
        </p:nvSpPr>
        <p:spPr>
          <a:xfrm>
            <a:off x="7078828" y="2304288"/>
            <a:ext cx="4244188" cy="731520"/>
          </a:xfrm>
          <a:prstGeom prst="rect">
            <a:avLst/>
          </a:prstGeom>
          <a:noFill/>
          <a:ln/>
        </p:spPr>
        <p:txBody>
          <a:bodyPr wrap="square" lIns="0" tIns="0" rIns="0" bIns="0" rtlCol="0" anchor="t"/>
          <a:lstStyle/>
          <a:p>
            <a:pPr indent="0" marL="0">
              <a:buNone/>
            </a:pPr>
            <a:r>
              <a:rPr lang="en-US" sz="1600" dirty="0">
                <a:solidFill>
                  <a:schemeClr val="tx2"/>
                </a:solidFill>
              </a:rPr>
              <a:t>The same prompt can give different answers, and small wording changes shift the result.</a:t>
            </a:r>
            <a:endParaRPr lang="en-US" sz="1600" dirty="0"/>
          </a:p>
        </p:txBody>
      </p:sp>
      <p:sp>
        <p:nvSpPr>
          <p:cNvPr id="16" name="text-209"/>
          <p:cNvSpPr txBox="1"/>
          <p:nvPr/>
        </p:nvSpPr>
        <p:spPr>
          <a:xfrm>
            <a:off x="7078828" y="308152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be specific, and test your prompt.</a:t>
            </a:r>
            <a:endParaRPr lang="en-US" sz="1600" dirty="0"/>
          </a:p>
        </p:txBody>
      </p:sp>
      <p:sp>
        <p:nvSpPr>
          <p:cNvPr id="17" name="card-210"/>
          <p:cNvSpPr/>
          <p:nvPr/>
        </p:nvSpPr>
        <p:spPr>
          <a:xfrm>
            <a:off x="548640" y="3886200"/>
            <a:ext cx="5387188" cy="2148840"/>
          </a:xfrm>
          <a:prstGeom prst="roundRect">
            <a:avLst>
              <a:gd name="adj" fmla="val 5106"/>
            </a:avLst>
          </a:prstGeom>
          <a:solidFill>
            <a:schemeClr val="bg2"/>
          </a:solidFill>
          <a:ln/>
        </p:spPr>
      </p:sp>
      <p:sp>
        <p:nvSpPr>
          <p:cNvPr id="18" name="text-211"/>
          <p:cNvSpPr txBox="1"/>
          <p:nvPr/>
        </p:nvSpPr>
        <p:spPr>
          <a:xfrm>
            <a:off x="868680" y="4142232"/>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19" name="text-212"/>
          <p:cNvSpPr txBox="1"/>
          <p:nvPr/>
        </p:nvSpPr>
        <p:spPr>
          <a:xfrm>
            <a:off x="1371600" y="4187952"/>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Its knowledge is limited</a:t>
            </a:r>
            <a:endParaRPr lang="en-US" sz="2200" dirty="0"/>
          </a:p>
        </p:txBody>
      </p:sp>
      <p:sp>
        <p:nvSpPr>
          <p:cNvPr id="20" name="dot-213"/>
          <p:cNvSpPr/>
          <p:nvPr/>
        </p:nvSpPr>
        <p:spPr>
          <a:xfrm>
            <a:off x="5067148" y="4142232"/>
            <a:ext cx="566928" cy="566928"/>
          </a:xfrm>
          <a:prstGeom prst="ellipse">
            <a:avLst/>
          </a:prstGeom>
          <a:solidFill>
            <a:schemeClr val="tx1"/>
          </a:solidFill>
          <a:ln/>
        </p:spPr>
      </p:sp>
      <p:pic>
        <p:nvPicPr>
          <p:cNvPr id="21" name="icon-214" descr="preencoded.png">    </p:cNvPr>
          <p:cNvPicPr>
            <a:picLocks noChangeAspect="1"/>
          </p:cNvPicPr>
          <p:nvPr/>
        </p:nvPicPr>
        <p:blipFill>
          <a:blip r:embed="rId3"/>
          <a:stretch>
            <a:fillRect/>
          </a:stretch>
        </p:blipFill>
        <p:spPr>
          <a:xfrm>
            <a:off x="5191872" y="4266956"/>
            <a:ext cx="317480" cy="317480"/>
          </a:xfrm>
          <a:prstGeom prst="rect">
            <a:avLst/>
          </a:prstGeom>
        </p:spPr>
      </p:pic>
      <p:sp>
        <p:nvSpPr>
          <p:cNvPr id="22" name="text-215"/>
          <p:cNvSpPr txBox="1"/>
          <p:nvPr/>
        </p:nvSpPr>
        <p:spPr>
          <a:xfrm>
            <a:off x="1371600" y="4727448"/>
            <a:ext cx="4244188" cy="731520"/>
          </a:xfrm>
          <a:prstGeom prst="rect">
            <a:avLst/>
          </a:prstGeom>
          <a:noFill/>
          <a:ln/>
        </p:spPr>
        <p:txBody>
          <a:bodyPr wrap="square" lIns="0" tIns="0" rIns="0" bIns="0" rtlCol="0" anchor="t"/>
          <a:lstStyle/>
          <a:p>
            <a:pPr indent="0" marL="0">
              <a:buNone/>
            </a:pPr>
            <a:r>
              <a:rPr lang="en-US" sz="1600" dirty="0">
                <a:solidFill>
                  <a:schemeClr val="tx2"/>
                </a:solidFill>
              </a:rPr>
              <a:t>It has a training cutoff, and can't see your files or organization unless you share them.</a:t>
            </a:r>
            <a:endParaRPr lang="en-US" sz="1600" dirty="0"/>
          </a:p>
        </p:txBody>
      </p:sp>
      <p:sp>
        <p:nvSpPr>
          <p:cNvPr id="23" name="text-216"/>
          <p:cNvSpPr txBox="1"/>
          <p:nvPr/>
        </p:nvSpPr>
        <p:spPr>
          <a:xfrm>
            <a:off x="1371600" y="550468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give it the context it needs.</a:t>
            </a:r>
            <a:endParaRPr lang="en-US" sz="1600" dirty="0"/>
          </a:p>
        </p:txBody>
      </p:sp>
      <p:sp>
        <p:nvSpPr>
          <p:cNvPr id="24" name="card-217"/>
          <p:cNvSpPr/>
          <p:nvPr/>
        </p:nvSpPr>
        <p:spPr>
          <a:xfrm>
            <a:off x="6255868" y="3886200"/>
            <a:ext cx="5387188" cy="2148840"/>
          </a:xfrm>
          <a:prstGeom prst="roundRect">
            <a:avLst>
              <a:gd name="adj" fmla="val 5106"/>
            </a:avLst>
          </a:prstGeom>
          <a:solidFill>
            <a:schemeClr val="bg2"/>
          </a:solidFill>
          <a:ln/>
        </p:spPr>
      </p:sp>
      <p:sp>
        <p:nvSpPr>
          <p:cNvPr id="25" name="text-218"/>
          <p:cNvSpPr txBox="1"/>
          <p:nvPr/>
        </p:nvSpPr>
        <p:spPr>
          <a:xfrm>
            <a:off x="6575908" y="4142232"/>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4</a:t>
            </a:r>
            <a:endParaRPr lang="en-US" sz="3000" dirty="0"/>
          </a:p>
        </p:txBody>
      </p:sp>
      <p:sp>
        <p:nvSpPr>
          <p:cNvPr id="26" name="text-219"/>
          <p:cNvSpPr txBox="1"/>
          <p:nvPr/>
        </p:nvSpPr>
        <p:spPr>
          <a:xfrm>
            <a:off x="7078828" y="4187952"/>
            <a:ext cx="3558388" cy="457200"/>
          </a:xfrm>
          <a:prstGeom prst="rect">
            <a:avLst/>
          </a:prstGeom>
          <a:noFill/>
          <a:ln/>
        </p:spPr>
        <p:txBody>
          <a:bodyPr wrap="square" lIns="0" tIns="0" rIns="0" bIns="0" rtlCol="0" anchor="t"/>
          <a:lstStyle/>
          <a:p>
            <a:pPr indent="0" marL="0">
              <a:buNone/>
            </a:pPr>
            <a:r>
              <a:rPr lang="en-US" sz="2200" b="1" dirty="0">
                <a:solidFill>
                  <a:schemeClr val="tx1"/>
                </a:solidFill>
              </a:rPr>
              <a:t>It isn't a vault</a:t>
            </a:r>
            <a:endParaRPr lang="en-US" sz="2200" dirty="0"/>
          </a:p>
        </p:txBody>
      </p:sp>
      <p:sp>
        <p:nvSpPr>
          <p:cNvPr id="27" name="dot-220"/>
          <p:cNvSpPr/>
          <p:nvPr/>
        </p:nvSpPr>
        <p:spPr>
          <a:xfrm>
            <a:off x="10774375" y="4142232"/>
            <a:ext cx="566928" cy="566928"/>
          </a:xfrm>
          <a:prstGeom prst="ellipse">
            <a:avLst/>
          </a:prstGeom>
          <a:solidFill>
            <a:schemeClr val="tx1"/>
          </a:solidFill>
          <a:ln/>
        </p:spPr>
      </p:sp>
      <p:pic>
        <p:nvPicPr>
          <p:cNvPr id="28" name="icon-221" descr="preencoded.png">    </p:cNvPr>
          <p:cNvPicPr>
            <a:picLocks noChangeAspect="1"/>
          </p:cNvPicPr>
          <p:nvPr/>
        </p:nvPicPr>
        <p:blipFill>
          <a:blip r:embed="rId4"/>
          <a:stretch>
            <a:fillRect/>
          </a:stretch>
        </p:blipFill>
        <p:spPr>
          <a:xfrm>
            <a:off x="10899099" y="4266956"/>
            <a:ext cx="317480" cy="317480"/>
          </a:xfrm>
          <a:prstGeom prst="rect">
            <a:avLst/>
          </a:prstGeom>
        </p:spPr>
      </p:pic>
      <p:sp>
        <p:nvSpPr>
          <p:cNvPr id="29" name="text-222"/>
          <p:cNvSpPr txBox="1"/>
          <p:nvPr/>
        </p:nvSpPr>
        <p:spPr>
          <a:xfrm>
            <a:off x="7078828" y="4727448"/>
            <a:ext cx="4244188" cy="731520"/>
          </a:xfrm>
          <a:prstGeom prst="rect">
            <a:avLst/>
          </a:prstGeom>
          <a:noFill/>
          <a:ln/>
        </p:spPr>
        <p:txBody>
          <a:bodyPr wrap="square" lIns="0" tIns="0" rIns="0" bIns="0" rtlCol="0" anchor="t"/>
          <a:lstStyle/>
          <a:p>
            <a:pPr indent="0" marL="0">
              <a:buNone/>
            </a:pPr>
            <a:r>
              <a:rPr lang="en-US" sz="1600" dirty="0">
                <a:solidFill>
                  <a:schemeClr val="tx2"/>
                </a:solidFill>
              </a:rPr>
              <a:t>What you type may be stored, or used to improve the product.</a:t>
            </a:r>
            <a:endParaRPr lang="en-US" sz="1600" dirty="0"/>
          </a:p>
        </p:txBody>
      </p:sp>
      <p:sp>
        <p:nvSpPr>
          <p:cNvPr id="30" name="text-223"/>
          <p:cNvSpPr txBox="1"/>
          <p:nvPr/>
        </p:nvSpPr>
        <p:spPr>
          <a:xfrm>
            <a:off x="7078828" y="5504688"/>
            <a:ext cx="4244188" cy="365760"/>
          </a:xfrm>
          <a:prstGeom prst="rect">
            <a:avLst/>
          </a:prstGeom>
          <a:noFill/>
          <a:ln/>
        </p:spPr>
        <p:txBody>
          <a:bodyPr wrap="square" lIns="0" tIns="0" rIns="0" bIns="0" rtlCol="0" anchor="t"/>
          <a:lstStyle/>
          <a:p>
            <a:pPr indent="0" marL="0">
              <a:buNone/>
            </a:pPr>
            <a:r>
              <a:rPr lang="en-US" sz="1600" b="1" dirty="0">
                <a:solidFill>
                  <a:schemeClr val="tx1"/>
                </a:solidFill>
              </a:rPr>
              <a:t>So: never paste sensitive information.</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Think of it as a brilliant new colleague on day one</a:t>
            </a:r>
            <a:endParaRPr lang="en-US" sz="3400" dirty="0"/>
          </a:p>
        </p:txBody>
      </p:sp>
      <p:sp>
        <p:nvSpPr>
          <p:cNvPr id="3" name="card-224"/>
          <p:cNvSpPr/>
          <p:nvPr/>
        </p:nvSpPr>
        <p:spPr>
          <a:xfrm>
            <a:off x="548640" y="1600200"/>
            <a:ext cx="2567864" cy="3291840"/>
          </a:xfrm>
          <a:prstGeom prst="roundRect">
            <a:avLst>
              <a:gd name="adj" fmla="val 4273"/>
            </a:avLst>
          </a:prstGeom>
          <a:solidFill>
            <a:schemeClr val="bg2"/>
          </a:solidFill>
          <a:ln/>
        </p:spPr>
      </p:sp>
      <p:sp>
        <p:nvSpPr>
          <p:cNvPr id="4" name="dot-225"/>
          <p:cNvSpPr/>
          <p:nvPr/>
        </p:nvSpPr>
        <p:spPr>
          <a:xfrm>
            <a:off x="868680" y="1920240"/>
            <a:ext cx="731520" cy="731520"/>
          </a:xfrm>
          <a:prstGeom prst="ellipse">
            <a:avLst/>
          </a:prstGeom>
          <a:solidFill>
            <a:schemeClr val="tx1"/>
          </a:solidFill>
          <a:ln/>
        </p:spPr>
      </p:sp>
      <p:pic>
        <p:nvPicPr>
          <p:cNvPr id="5" name="icon-226" descr="preencoded.png">    </p:cNvPr>
          <p:cNvPicPr>
            <a:picLocks noChangeAspect="1"/>
          </p:cNvPicPr>
          <p:nvPr/>
        </p:nvPicPr>
        <p:blipFill>
          <a:blip r:embed="rId1"/>
          <a:stretch>
            <a:fillRect/>
          </a:stretch>
        </p:blipFill>
        <p:spPr>
          <a:xfrm>
            <a:off x="1029614" y="2081174"/>
            <a:ext cx="409651" cy="409651"/>
          </a:xfrm>
          <a:prstGeom prst="rect">
            <a:avLst/>
          </a:prstGeom>
        </p:spPr>
      </p:pic>
      <p:sp>
        <p:nvSpPr>
          <p:cNvPr id="6" name="text-227"/>
          <p:cNvSpPr txBox="1"/>
          <p:nvPr/>
        </p:nvSpPr>
        <p:spPr>
          <a:xfrm>
            <a:off x="868680" y="2834640"/>
            <a:ext cx="2019224" cy="731520"/>
          </a:xfrm>
          <a:prstGeom prst="rect">
            <a:avLst/>
          </a:prstGeom>
          <a:noFill/>
          <a:ln/>
        </p:spPr>
        <p:txBody>
          <a:bodyPr wrap="square" lIns="0" tIns="0" rIns="0" bIns="0" rtlCol="0" anchor="b"/>
          <a:lstStyle/>
          <a:p>
            <a:pPr indent="0" marL="0">
              <a:buNone/>
            </a:pPr>
            <a:r>
              <a:rPr lang="en-US" sz="2100" b="1" dirty="0">
                <a:solidFill>
                  <a:schemeClr val="tx1"/>
                </a:solidFill>
              </a:rPr>
              <a:t>Widely read</a:t>
            </a:r>
            <a:endParaRPr lang="en-US" sz="2100" dirty="0"/>
          </a:p>
        </p:txBody>
      </p:sp>
      <p:sp>
        <p:nvSpPr>
          <p:cNvPr id="7" name="text-228"/>
          <p:cNvSpPr txBox="1"/>
          <p:nvPr/>
        </p:nvSpPr>
        <p:spPr>
          <a:xfrm>
            <a:off x="868680" y="3703320"/>
            <a:ext cx="2019224" cy="1097280"/>
          </a:xfrm>
          <a:prstGeom prst="rect">
            <a:avLst/>
          </a:prstGeom>
          <a:noFill/>
          <a:ln/>
        </p:spPr>
        <p:txBody>
          <a:bodyPr wrap="square" lIns="0" tIns="0" rIns="0" bIns="0" rtlCol="0" anchor="t"/>
          <a:lstStyle/>
          <a:p>
            <a:pPr indent="0" marL="0">
              <a:buNone/>
            </a:pPr>
            <a:r>
              <a:rPr lang="en-US" sz="1600" dirty="0">
                <a:solidFill>
                  <a:schemeClr val="tx2"/>
                </a:solidFill>
              </a:rPr>
              <a:t>Has seen more text than anyone could read in a lifetime.</a:t>
            </a:r>
            <a:endParaRPr lang="en-US" sz="1600" dirty="0"/>
          </a:p>
        </p:txBody>
      </p:sp>
      <p:sp>
        <p:nvSpPr>
          <p:cNvPr id="8" name="card-229"/>
          <p:cNvSpPr/>
          <p:nvPr/>
        </p:nvSpPr>
        <p:spPr>
          <a:xfrm>
            <a:off x="3390824" y="1600200"/>
            <a:ext cx="2567864" cy="3291840"/>
          </a:xfrm>
          <a:prstGeom prst="roundRect">
            <a:avLst>
              <a:gd name="adj" fmla="val 4273"/>
            </a:avLst>
          </a:prstGeom>
          <a:solidFill>
            <a:schemeClr val="bg2"/>
          </a:solidFill>
          <a:ln/>
        </p:spPr>
      </p:sp>
      <p:sp>
        <p:nvSpPr>
          <p:cNvPr id="9" name="dot-230"/>
          <p:cNvSpPr/>
          <p:nvPr/>
        </p:nvSpPr>
        <p:spPr>
          <a:xfrm>
            <a:off x="3710864" y="1920240"/>
            <a:ext cx="731520" cy="731520"/>
          </a:xfrm>
          <a:prstGeom prst="ellipse">
            <a:avLst/>
          </a:prstGeom>
          <a:solidFill>
            <a:schemeClr val="tx1"/>
          </a:solidFill>
          <a:ln/>
        </p:spPr>
      </p:sp>
      <p:pic>
        <p:nvPicPr>
          <p:cNvPr id="10" name="icon-231" descr="preencoded.png">    </p:cNvPr>
          <p:cNvPicPr>
            <a:picLocks noChangeAspect="1"/>
          </p:cNvPicPr>
          <p:nvPr/>
        </p:nvPicPr>
        <p:blipFill>
          <a:blip r:embed="rId2"/>
          <a:stretch>
            <a:fillRect/>
          </a:stretch>
        </p:blipFill>
        <p:spPr>
          <a:xfrm>
            <a:off x="3871798" y="2081174"/>
            <a:ext cx="409651" cy="409651"/>
          </a:xfrm>
          <a:prstGeom prst="rect">
            <a:avLst/>
          </a:prstGeom>
        </p:spPr>
      </p:pic>
      <p:sp>
        <p:nvSpPr>
          <p:cNvPr id="11" name="text-232"/>
          <p:cNvSpPr txBox="1"/>
          <p:nvPr/>
        </p:nvSpPr>
        <p:spPr>
          <a:xfrm>
            <a:off x="3710864" y="2834640"/>
            <a:ext cx="2019224" cy="731520"/>
          </a:xfrm>
          <a:prstGeom prst="rect">
            <a:avLst/>
          </a:prstGeom>
          <a:noFill/>
          <a:ln/>
        </p:spPr>
        <p:txBody>
          <a:bodyPr wrap="square" lIns="0" tIns="0" rIns="0" bIns="0" rtlCol="0" anchor="b"/>
          <a:lstStyle/>
          <a:p>
            <a:pPr indent="0" marL="0">
              <a:buNone/>
            </a:pPr>
            <a:r>
              <a:rPr lang="en-US" sz="2100" b="1" dirty="0">
                <a:solidFill>
                  <a:schemeClr val="tx1"/>
                </a:solidFill>
              </a:rPr>
              <a:t>Knows nothing about you</a:t>
            </a:r>
            <a:endParaRPr lang="en-US" sz="2100" dirty="0"/>
          </a:p>
        </p:txBody>
      </p:sp>
      <p:sp>
        <p:nvSpPr>
          <p:cNvPr id="12" name="text-233"/>
          <p:cNvSpPr txBox="1"/>
          <p:nvPr/>
        </p:nvSpPr>
        <p:spPr>
          <a:xfrm>
            <a:off x="3710864" y="3703320"/>
            <a:ext cx="2019224" cy="1097280"/>
          </a:xfrm>
          <a:prstGeom prst="rect">
            <a:avLst/>
          </a:prstGeom>
          <a:noFill/>
          <a:ln/>
        </p:spPr>
        <p:txBody>
          <a:bodyPr wrap="square" lIns="0" tIns="0" rIns="0" bIns="0" rtlCol="0" anchor="t"/>
          <a:lstStyle/>
          <a:p>
            <a:pPr indent="0" marL="0">
              <a:buNone/>
            </a:pPr>
            <a:r>
              <a:rPr lang="en-US" sz="1600" dirty="0">
                <a:solidFill>
                  <a:schemeClr val="tx2"/>
                </a:solidFill>
              </a:rPr>
              <a:t>Not your organization, your audience, or your goals.</a:t>
            </a:r>
            <a:endParaRPr lang="en-US" sz="1600" dirty="0"/>
          </a:p>
        </p:txBody>
      </p:sp>
      <p:sp>
        <p:nvSpPr>
          <p:cNvPr id="13" name="card-234"/>
          <p:cNvSpPr/>
          <p:nvPr/>
        </p:nvSpPr>
        <p:spPr>
          <a:xfrm>
            <a:off x="6233008" y="1600200"/>
            <a:ext cx="2567864" cy="3291840"/>
          </a:xfrm>
          <a:prstGeom prst="roundRect">
            <a:avLst>
              <a:gd name="adj" fmla="val 4273"/>
            </a:avLst>
          </a:prstGeom>
          <a:solidFill>
            <a:schemeClr val="bg2"/>
          </a:solidFill>
          <a:ln/>
        </p:spPr>
      </p:sp>
      <p:sp>
        <p:nvSpPr>
          <p:cNvPr id="14" name="dot-235"/>
          <p:cNvSpPr/>
          <p:nvPr/>
        </p:nvSpPr>
        <p:spPr>
          <a:xfrm>
            <a:off x="6553048" y="1920240"/>
            <a:ext cx="731520" cy="731520"/>
          </a:xfrm>
          <a:prstGeom prst="ellipse">
            <a:avLst/>
          </a:prstGeom>
          <a:solidFill>
            <a:schemeClr val="tx1"/>
          </a:solidFill>
          <a:ln/>
        </p:spPr>
      </p:sp>
      <p:pic>
        <p:nvPicPr>
          <p:cNvPr id="15" name="icon-236" descr="preencoded.png">    </p:cNvPr>
          <p:cNvPicPr>
            <a:picLocks noChangeAspect="1"/>
          </p:cNvPicPr>
          <p:nvPr/>
        </p:nvPicPr>
        <p:blipFill>
          <a:blip r:embed="rId3"/>
          <a:stretch>
            <a:fillRect/>
          </a:stretch>
        </p:blipFill>
        <p:spPr>
          <a:xfrm>
            <a:off x="6713982" y="2081174"/>
            <a:ext cx="409651" cy="409651"/>
          </a:xfrm>
          <a:prstGeom prst="rect">
            <a:avLst/>
          </a:prstGeom>
        </p:spPr>
      </p:pic>
      <p:sp>
        <p:nvSpPr>
          <p:cNvPr id="16" name="text-237"/>
          <p:cNvSpPr txBox="1"/>
          <p:nvPr/>
        </p:nvSpPr>
        <p:spPr>
          <a:xfrm>
            <a:off x="6553048" y="2834640"/>
            <a:ext cx="2019224" cy="731520"/>
          </a:xfrm>
          <a:prstGeom prst="rect">
            <a:avLst/>
          </a:prstGeom>
          <a:noFill/>
          <a:ln/>
        </p:spPr>
        <p:txBody>
          <a:bodyPr wrap="square" lIns="0" tIns="0" rIns="0" bIns="0" rtlCol="0" anchor="b"/>
          <a:lstStyle/>
          <a:p>
            <a:pPr indent="0" marL="0">
              <a:buNone/>
            </a:pPr>
            <a:r>
              <a:rPr lang="en-US" sz="2100" b="1" dirty="0">
                <a:solidFill>
                  <a:schemeClr val="tx1"/>
                </a:solidFill>
              </a:rPr>
              <a:t>Eager to please</a:t>
            </a:r>
            <a:endParaRPr lang="en-US" sz="2100" dirty="0"/>
          </a:p>
        </p:txBody>
      </p:sp>
      <p:sp>
        <p:nvSpPr>
          <p:cNvPr id="17" name="text-238"/>
          <p:cNvSpPr txBox="1"/>
          <p:nvPr/>
        </p:nvSpPr>
        <p:spPr>
          <a:xfrm>
            <a:off x="6553048" y="3703320"/>
            <a:ext cx="2019224" cy="1097280"/>
          </a:xfrm>
          <a:prstGeom prst="rect">
            <a:avLst/>
          </a:prstGeom>
          <a:noFill/>
          <a:ln/>
        </p:spPr>
        <p:txBody>
          <a:bodyPr wrap="square" lIns="0" tIns="0" rIns="0" bIns="0" rtlCol="0" anchor="t"/>
          <a:lstStyle/>
          <a:p>
            <a:pPr indent="0" marL="0">
              <a:buNone/>
            </a:pPr>
            <a:r>
              <a:rPr lang="en-US" sz="1600" dirty="0">
                <a:solidFill>
                  <a:schemeClr val="tx2"/>
                </a:solidFill>
              </a:rPr>
              <a:t>More likely to guess than to ask a question.</a:t>
            </a:r>
            <a:endParaRPr lang="en-US" sz="1600" dirty="0"/>
          </a:p>
        </p:txBody>
      </p:sp>
      <p:sp>
        <p:nvSpPr>
          <p:cNvPr id="18" name="card-239"/>
          <p:cNvSpPr/>
          <p:nvPr/>
        </p:nvSpPr>
        <p:spPr>
          <a:xfrm>
            <a:off x="9075191" y="1600200"/>
            <a:ext cx="2567864" cy="3291840"/>
          </a:xfrm>
          <a:prstGeom prst="roundRect">
            <a:avLst>
              <a:gd name="adj" fmla="val 4273"/>
            </a:avLst>
          </a:prstGeom>
          <a:solidFill>
            <a:schemeClr val="bg2"/>
          </a:solidFill>
          <a:ln/>
        </p:spPr>
      </p:sp>
      <p:sp>
        <p:nvSpPr>
          <p:cNvPr id="19" name="dot-240"/>
          <p:cNvSpPr/>
          <p:nvPr/>
        </p:nvSpPr>
        <p:spPr>
          <a:xfrm>
            <a:off x="9395231" y="1920240"/>
            <a:ext cx="731520" cy="731520"/>
          </a:xfrm>
          <a:prstGeom prst="ellipse">
            <a:avLst/>
          </a:prstGeom>
          <a:solidFill>
            <a:schemeClr val="accent1"/>
          </a:solidFill>
          <a:ln/>
        </p:spPr>
      </p:sp>
      <p:pic>
        <p:nvPicPr>
          <p:cNvPr id="20" name="icon-241" descr="preencoded.png">    </p:cNvPr>
          <p:cNvPicPr>
            <a:picLocks noChangeAspect="1"/>
          </p:cNvPicPr>
          <p:nvPr/>
        </p:nvPicPr>
        <p:blipFill>
          <a:blip r:embed="rId4"/>
          <a:stretch>
            <a:fillRect/>
          </a:stretch>
        </p:blipFill>
        <p:spPr>
          <a:xfrm>
            <a:off x="9556166" y="2081174"/>
            <a:ext cx="409651" cy="409651"/>
          </a:xfrm>
          <a:prstGeom prst="rect">
            <a:avLst/>
          </a:prstGeom>
        </p:spPr>
      </p:pic>
      <p:sp>
        <p:nvSpPr>
          <p:cNvPr id="21" name="text-242"/>
          <p:cNvSpPr txBox="1"/>
          <p:nvPr/>
        </p:nvSpPr>
        <p:spPr>
          <a:xfrm>
            <a:off x="9395231" y="2834640"/>
            <a:ext cx="2019224" cy="731520"/>
          </a:xfrm>
          <a:prstGeom prst="rect">
            <a:avLst/>
          </a:prstGeom>
          <a:noFill/>
          <a:ln/>
        </p:spPr>
        <p:txBody>
          <a:bodyPr wrap="square" lIns="0" tIns="0" rIns="0" bIns="0" rtlCol="0" anchor="b"/>
          <a:lstStyle/>
          <a:p>
            <a:pPr indent="0" marL="0">
              <a:buNone/>
            </a:pPr>
            <a:r>
              <a:rPr lang="en-US" sz="2100" b="1" dirty="0">
                <a:solidFill>
                  <a:schemeClr val="tx1"/>
                </a:solidFill>
              </a:rPr>
              <a:t>You're accountable</a:t>
            </a:r>
            <a:endParaRPr lang="en-US" sz="2100" dirty="0"/>
          </a:p>
        </p:txBody>
      </p:sp>
      <p:sp>
        <p:nvSpPr>
          <p:cNvPr id="22" name="text-243"/>
          <p:cNvSpPr txBox="1"/>
          <p:nvPr/>
        </p:nvSpPr>
        <p:spPr>
          <a:xfrm>
            <a:off x="9395231" y="3703320"/>
            <a:ext cx="2019224" cy="1097280"/>
          </a:xfrm>
          <a:prstGeom prst="rect">
            <a:avLst/>
          </a:prstGeom>
          <a:noFill/>
          <a:ln/>
        </p:spPr>
        <p:txBody>
          <a:bodyPr wrap="square" lIns="0" tIns="0" rIns="0" bIns="0" rtlCol="0" anchor="t"/>
          <a:lstStyle/>
          <a:p>
            <a:pPr indent="0" marL="0">
              <a:buNone/>
            </a:pPr>
            <a:r>
              <a:rPr lang="en-US" sz="1600" dirty="0">
                <a:solidFill>
                  <a:schemeClr val="tx2"/>
                </a:solidFill>
              </a:rPr>
              <a:t>You review the work before it goes out.</a:t>
            </a:r>
            <a:endParaRPr lang="en-US" sz="1600" dirty="0"/>
          </a:p>
        </p:txBody>
      </p:sp>
      <p:sp>
        <p:nvSpPr>
          <p:cNvPr id="23" name="text-244"/>
          <p:cNvSpPr txBox="1"/>
          <p:nvPr/>
        </p:nvSpPr>
        <p:spPr>
          <a:xfrm>
            <a:off x="548640" y="5212080"/>
            <a:ext cx="11094415" cy="731520"/>
          </a:xfrm>
          <a:prstGeom prst="rect">
            <a:avLst/>
          </a:prstGeom>
          <a:noFill/>
          <a:ln/>
        </p:spPr>
        <p:txBody>
          <a:bodyPr wrap="square" lIns="0" tIns="0" rIns="0" bIns="0" rtlCol="0" anchor="t"/>
          <a:lstStyle/>
          <a:p>
            <a:pPr indent="0" marL="0">
              <a:buNone/>
            </a:pPr>
            <a:r>
              <a:rPr lang="en-US" sz="2400" i="1" dirty="0">
                <a:solidFill>
                  <a:schemeClr val="tx1"/>
                </a:solidFill>
              </a:rPr>
              <a:t>Brief it the way you'd brief a new colleague, and check its work the same way.</a:t>
            </a:r>
            <a:endParaRPr lang="en-US" sz="2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1.1  ·  ON YOUR OWN</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Poke the model</a:t>
            </a:r>
            <a:endParaRPr lang="en-US" sz="3800" dirty="0"/>
          </a:p>
        </p:txBody>
      </p:sp>
      <p:sp>
        <p:nvSpPr>
          <p:cNvPr id="4" name="badge-245"/>
          <p:cNvSpPr/>
          <p:nvPr/>
        </p:nvSpPr>
        <p:spPr>
          <a:xfrm>
            <a:off x="10042855" y="502920"/>
            <a:ext cx="1600200" cy="457200"/>
          </a:xfrm>
          <a:prstGeom prst="roundRect">
            <a:avLst>
              <a:gd name="adj" fmla="val 50000"/>
            </a:avLst>
          </a:prstGeom>
          <a:solidFill>
            <a:schemeClr val="bg1"/>
          </a:solidFill>
          <a:ln/>
        </p:spPr>
      </p:sp>
      <p:sp>
        <p:nvSpPr>
          <p:cNvPr id="5" name="text-246"/>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10 min</a:t>
            </a:r>
            <a:endParaRPr lang="en-US" sz="1600" dirty="0"/>
          </a:p>
        </p:txBody>
      </p:sp>
      <p:sp>
        <p:nvSpPr>
          <p:cNvPr id="6" name="card-247"/>
          <p:cNvSpPr/>
          <p:nvPr/>
        </p:nvSpPr>
        <p:spPr>
          <a:xfrm>
            <a:off x="548640" y="1874520"/>
            <a:ext cx="3515258" cy="3337560"/>
          </a:xfrm>
          <a:prstGeom prst="roundRect">
            <a:avLst>
              <a:gd name="adj" fmla="val 3288"/>
            </a:avLst>
          </a:prstGeom>
          <a:solidFill>
            <a:schemeClr val="accent2"/>
          </a:solidFill>
          <a:ln/>
        </p:spPr>
      </p:sp>
      <p:sp>
        <p:nvSpPr>
          <p:cNvPr id="7" name="text-248"/>
          <p:cNvSpPr txBox="1"/>
          <p:nvPr/>
        </p:nvSpPr>
        <p:spPr>
          <a:xfrm>
            <a:off x="822960"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8" name="text-249"/>
          <p:cNvSpPr txBox="1"/>
          <p:nvPr/>
        </p:nvSpPr>
        <p:spPr>
          <a:xfrm>
            <a:off x="1325880"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Same question, twice</a:t>
            </a:r>
            <a:endParaRPr lang="en-US" sz="2000" dirty="0"/>
          </a:p>
        </p:txBody>
      </p:sp>
      <p:sp>
        <p:nvSpPr>
          <p:cNvPr id="9" name="text-250"/>
          <p:cNvSpPr txBox="1"/>
          <p:nvPr/>
        </p:nvSpPr>
        <p:spPr>
          <a:xfrm>
            <a:off x="822960"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Give me three tips for running a better meeting.</a:t>
            </a:r>
            <a:endParaRPr lang="en-US" sz="1600" dirty="0"/>
          </a:p>
        </p:txBody>
      </p:sp>
      <p:sp>
        <p:nvSpPr>
          <p:cNvPr id="10" name="text-251"/>
          <p:cNvSpPr txBox="1"/>
          <p:nvPr/>
        </p:nvSpPr>
        <p:spPr>
          <a:xfrm>
            <a:off x="822960"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Ask in two new chats. Are the answers the same?</a:t>
            </a:r>
            <a:endParaRPr lang="en-US" sz="1500" dirty="0"/>
          </a:p>
        </p:txBody>
      </p:sp>
      <p:sp>
        <p:nvSpPr>
          <p:cNvPr id="11" name="card-252"/>
          <p:cNvSpPr/>
          <p:nvPr/>
        </p:nvSpPr>
        <p:spPr>
          <a:xfrm>
            <a:off x="4338218" y="1874520"/>
            <a:ext cx="3515258" cy="3337560"/>
          </a:xfrm>
          <a:prstGeom prst="roundRect">
            <a:avLst>
              <a:gd name="adj" fmla="val 3288"/>
            </a:avLst>
          </a:prstGeom>
          <a:solidFill>
            <a:schemeClr val="accent2"/>
          </a:solidFill>
          <a:ln/>
        </p:spPr>
      </p:sp>
      <p:sp>
        <p:nvSpPr>
          <p:cNvPr id="12" name="text-253"/>
          <p:cNvSpPr txBox="1"/>
          <p:nvPr/>
        </p:nvSpPr>
        <p:spPr>
          <a:xfrm>
            <a:off x="4612538"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13" name="text-254"/>
          <p:cNvSpPr txBox="1"/>
          <p:nvPr/>
        </p:nvSpPr>
        <p:spPr>
          <a:xfrm>
            <a:off x="5115458"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Change one word</a:t>
            </a:r>
            <a:endParaRPr lang="en-US" sz="2000" dirty="0"/>
          </a:p>
        </p:txBody>
      </p:sp>
      <p:sp>
        <p:nvSpPr>
          <p:cNvPr id="14" name="text-255"/>
          <p:cNvSpPr txBox="1"/>
          <p:nvPr/>
        </p:nvSpPr>
        <p:spPr>
          <a:xfrm>
            <a:off x="4612538"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Give me three tips for running a shorter meeting.</a:t>
            </a:r>
            <a:endParaRPr lang="en-US" sz="1600" dirty="0"/>
          </a:p>
        </p:txBody>
      </p:sp>
      <p:sp>
        <p:nvSpPr>
          <p:cNvPr id="15" name="text-256"/>
          <p:cNvSpPr txBox="1"/>
          <p:nvPr/>
        </p:nvSpPr>
        <p:spPr>
          <a:xfrm>
            <a:off x="4612538"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What changed?</a:t>
            </a:r>
            <a:endParaRPr lang="en-US" sz="1500" dirty="0"/>
          </a:p>
        </p:txBody>
      </p:sp>
      <p:sp>
        <p:nvSpPr>
          <p:cNvPr id="16" name="card-257"/>
          <p:cNvSpPr/>
          <p:nvPr/>
        </p:nvSpPr>
        <p:spPr>
          <a:xfrm>
            <a:off x="8127797" y="1874520"/>
            <a:ext cx="3515258" cy="3337560"/>
          </a:xfrm>
          <a:prstGeom prst="roundRect">
            <a:avLst>
              <a:gd name="adj" fmla="val 3288"/>
            </a:avLst>
          </a:prstGeom>
          <a:solidFill>
            <a:schemeClr val="accent2"/>
          </a:solidFill>
          <a:ln/>
        </p:spPr>
      </p:sp>
      <p:sp>
        <p:nvSpPr>
          <p:cNvPr id="17" name="text-258"/>
          <p:cNvSpPr txBox="1"/>
          <p:nvPr/>
        </p:nvSpPr>
        <p:spPr>
          <a:xfrm>
            <a:off x="8402117" y="2103120"/>
            <a:ext cx="457200" cy="50292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18" name="text-259"/>
          <p:cNvSpPr txBox="1"/>
          <p:nvPr/>
        </p:nvSpPr>
        <p:spPr>
          <a:xfrm>
            <a:off x="8905037" y="2167128"/>
            <a:ext cx="2509418" cy="457200"/>
          </a:xfrm>
          <a:prstGeom prst="rect">
            <a:avLst/>
          </a:prstGeom>
          <a:noFill/>
          <a:ln/>
        </p:spPr>
        <p:txBody>
          <a:bodyPr wrap="square" lIns="0" tIns="0" rIns="0" bIns="0" rtlCol="0" anchor="t"/>
          <a:lstStyle/>
          <a:p>
            <a:pPr indent="0" marL="0">
              <a:buNone/>
            </a:pPr>
            <a:r>
              <a:rPr lang="en-US" sz="2000" b="1" dirty="0">
                <a:solidFill>
                  <a:schemeClr val="bg1"/>
                </a:solidFill>
              </a:rPr>
              <a:t>Ask what it can't know</a:t>
            </a:r>
            <a:endParaRPr lang="en-US" sz="2000" dirty="0"/>
          </a:p>
        </p:txBody>
      </p:sp>
      <p:sp>
        <p:nvSpPr>
          <p:cNvPr id="19" name="text-260"/>
          <p:cNvSpPr txBox="1"/>
          <p:nvPr/>
        </p:nvSpPr>
        <p:spPr>
          <a:xfrm>
            <a:off x="8402117" y="2834640"/>
            <a:ext cx="2966618" cy="13716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What is the parking policy at Prairie Point Logistics' Omaha office?</a:t>
            </a:r>
            <a:endParaRPr lang="en-US" sz="1600" dirty="0"/>
          </a:p>
        </p:txBody>
      </p:sp>
      <p:sp>
        <p:nvSpPr>
          <p:cNvPr id="20" name="text-261"/>
          <p:cNvSpPr txBox="1"/>
          <p:nvPr/>
        </p:nvSpPr>
        <p:spPr>
          <a:xfrm>
            <a:off x="8402117" y="4297680"/>
            <a:ext cx="2966618" cy="777240"/>
          </a:xfrm>
          <a:prstGeom prst="rect">
            <a:avLst/>
          </a:prstGeom>
          <a:noFill/>
          <a:ln/>
        </p:spPr>
        <p:txBody>
          <a:bodyPr wrap="square" lIns="0" tIns="0" rIns="0" bIns="0" rtlCol="0" anchor="t"/>
          <a:lstStyle/>
          <a:p>
            <a:pPr indent="0" marL="0">
              <a:buNone/>
            </a:pPr>
            <a:r>
              <a:rPr lang="en-US" sz="1500" dirty="0">
                <a:solidFill>
                  <a:schemeClr val="accent3"/>
                </a:solidFill>
              </a:rPr>
              <a:t>It's a fictional company. Does it say it doesn't know?</a:t>
            </a:r>
            <a:endParaRPr lang="en-US" sz="1500" dirty="0"/>
          </a:p>
        </p:txBody>
      </p:sp>
      <p:sp>
        <p:nvSpPr>
          <p:cNvPr id="21" name="text-262"/>
          <p:cNvSpPr txBox="1"/>
          <p:nvPr/>
        </p:nvSpPr>
        <p:spPr>
          <a:xfrm>
            <a:off x="548640" y="5440680"/>
            <a:ext cx="10180015" cy="36576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 can name one example of inconsistency and one of invention (or a sensible refusal).</a:t>
            </a:r>
            <a:endParaRPr lang="en-US" sz="1700" dirty="0"/>
          </a:p>
        </p:txBody>
      </p:sp>
      <p:sp>
        <p:nvSpPr>
          <p:cNvPr id="22" name="text-263"/>
          <p:cNvSpPr txBox="1"/>
          <p:nvPr/>
        </p:nvSpPr>
        <p:spPr>
          <a:xfrm>
            <a:off x="548640" y="5852160"/>
            <a:ext cx="10180015" cy="365760"/>
          </a:xfrm>
          <a:prstGeom prst="rect">
            <a:avLst/>
          </a:prstGeom>
          <a:noFill/>
          <a:ln/>
        </p:spPr>
        <p:txBody>
          <a:bodyPr wrap="square" lIns="0" tIns="0" rIns="0" bIns="0" rtlCol="0" anchor="t"/>
          <a:lstStyle/>
          <a:p>
            <a:pPr indent="0" marL="0">
              <a:buNone/>
            </a:pPr>
            <a:r>
              <a:rPr lang="en-US" sz="1500" dirty="0">
                <a:solidFill>
                  <a:schemeClr val="accent3"/>
                </a:solidFill>
              </a:rPr>
              <a:t>Finished early? Ask: “How confident are you in that answer, and how could I check it?”</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CRAFT: five elements of an effective prompt</a:t>
            </a:r>
            <a:endParaRPr lang="en-US" sz="3400" dirty="0"/>
          </a:p>
        </p:txBody>
      </p:sp>
      <p:sp>
        <p:nvSpPr>
          <p:cNvPr id="3" name="card-264"/>
          <p:cNvSpPr/>
          <p:nvPr/>
        </p:nvSpPr>
        <p:spPr>
          <a:xfrm>
            <a:off x="548640" y="1554480"/>
            <a:ext cx="2014057" cy="1828800"/>
          </a:xfrm>
          <a:prstGeom prst="roundRect">
            <a:avLst>
              <a:gd name="adj" fmla="val 6000"/>
            </a:avLst>
          </a:prstGeom>
          <a:solidFill>
            <a:schemeClr val="tx1"/>
          </a:solidFill>
          <a:ln/>
        </p:spPr>
      </p:sp>
      <p:sp>
        <p:nvSpPr>
          <p:cNvPr id="4" name="text-265"/>
          <p:cNvSpPr txBox="1"/>
          <p:nvPr/>
        </p:nvSpPr>
        <p:spPr>
          <a:xfrm>
            <a:off x="548640"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C</a:t>
            </a:r>
            <a:endParaRPr lang="en-US" sz="8800" dirty="0"/>
          </a:p>
        </p:txBody>
      </p:sp>
      <p:sp>
        <p:nvSpPr>
          <p:cNvPr id="5" name="text-266"/>
          <p:cNvSpPr txBox="1"/>
          <p:nvPr/>
        </p:nvSpPr>
        <p:spPr>
          <a:xfrm>
            <a:off x="548640"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Context</a:t>
            </a:r>
            <a:endParaRPr lang="en-US" sz="2200" dirty="0"/>
          </a:p>
        </p:txBody>
      </p:sp>
      <p:sp>
        <p:nvSpPr>
          <p:cNvPr id="6" name="text-267"/>
          <p:cNvSpPr txBox="1"/>
          <p:nvPr/>
        </p:nvSpPr>
        <p:spPr>
          <a:xfrm>
            <a:off x="548640"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What's the situation, and why does it matter?</a:t>
            </a:r>
            <a:endParaRPr lang="en-US" sz="1600" dirty="0"/>
          </a:p>
        </p:txBody>
      </p:sp>
      <p:sp>
        <p:nvSpPr>
          <p:cNvPr id="7" name="card-268"/>
          <p:cNvSpPr/>
          <p:nvPr/>
        </p:nvSpPr>
        <p:spPr>
          <a:xfrm>
            <a:off x="2818729" y="1554480"/>
            <a:ext cx="2014057" cy="1828800"/>
          </a:xfrm>
          <a:prstGeom prst="roundRect">
            <a:avLst>
              <a:gd name="adj" fmla="val 6000"/>
            </a:avLst>
          </a:prstGeom>
          <a:solidFill>
            <a:schemeClr val="tx1"/>
          </a:solidFill>
          <a:ln/>
        </p:spPr>
      </p:sp>
      <p:sp>
        <p:nvSpPr>
          <p:cNvPr id="8" name="text-269"/>
          <p:cNvSpPr txBox="1"/>
          <p:nvPr/>
        </p:nvSpPr>
        <p:spPr>
          <a:xfrm>
            <a:off x="2818729"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R</a:t>
            </a:r>
            <a:endParaRPr lang="en-US" sz="8800" dirty="0"/>
          </a:p>
        </p:txBody>
      </p:sp>
      <p:sp>
        <p:nvSpPr>
          <p:cNvPr id="9" name="text-270"/>
          <p:cNvSpPr txBox="1"/>
          <p:nvPr/>
        </p:nvSpPr>
        <p:spPr>
          <a:xfrm>
            <a:off x="2818729"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Role</a:t>
            </a:r>
            <a:endParaRPr lang="en-US" sz="2200" dirty="0"/>
          </a:p>
        </p:txBody>
      </p:sp>
      <p:sp>
        <p:nvSpPr>
          <p:cNvPr id="10" name="text-271"/>
          <p:cNvSpPr txBox="1"/>
          <p:nvPr/>
        </p:nvSpPr>
        <p:spPr>
          <a:xfrm>
            <a:off x="2818729"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Whose perspective or expertise?</a:t>
            </a:r>
            <a:endParaRPr lang="en-US" sz="1600" dirty="0"/>
          </a:p>
        </p:txBody>
      </p:sp>
      <p:sp>
        <p:nvSpPr>
          <p:cNvPr id="11" name="card-272"/>
          <p:cNvSpPr/>
          <p:nvPr/>
        </p:nvSpPr>
        <p:spPr>
          <a:xfrm>
            <a:off x="5088819" y="1554480"/>
            <a:ext cx="2014057" cy="1828800"/>
          </a:xfrm>
          <a:prstGeom prst="roundRect">
            <a:avLst>
              <a:gd name="adj" fmla="val 6000"/>
            </a:avLst>
          </a:prstGeom>
          <a:solidFill>
            <a:schemeClr val="tx1"/>
          </a:solidFill>
          <a:ln/>
        </p:spPr>
      </p:sp>
      <p:sp>
        <p:nvSpPr>
          <p:cNvPr id="12" name="text-273"/>
          <p:cNvSpPr txBox="1"/>
          <p:nvPr/>
        </p:nvSpPr>
        <p:spPr>
          <a:xfrm>
            <a:off x="5088819"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A</a:t>
            </a:r>
            <a:endParaRPr lang="en-US" sz="8800" dirty="0"/>
          </a:p>
        </p:txBody>
      </p:sp>
      <p:sp>
        <p:nvSpPr>
          <p:cNvPr id="13" name="text-274"/>
          <p:cNvSpPr txBox="1"/>
          <p:nvPr/>
        </p:nvSpPr>
        <p:spPr>
          <a:xfrm>
            <a:off x="5088819"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Ask</a:t>
            </a:r>
            <a:endParaRPr lang="en-US" sz="2200" dirty="0"/>
          </a:p>
        </p:txBody>
      </p:sp>
      <p:sp>
        <p:nvSpPr>
          <p:cNvPr id="14" name="text-275"/>
          <p:cNvSpPr txBox="1"/>
          <p:nvPr/>
        </p:nvSpPr>
        <p:spPr>
          <a:xfrm>
            <a:off x="5088819"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 exactly should it do?</a:t>
            </a:r>
            <a:endParaRPr lang="en-US" sz="1600" dirty="0"/>
          </a:p>
        </p:txBody>
      </p:sp>
      <p:sp>
        <p:nvSpPr>
          <p:cNvPr id="15" name="card-276"/>
          <p:cNvSpPr/>
          <p:nvPr/>
        </p:nvSpPr>
        <p:spPr>
          <a:xfrm>
            <a:off x="7358908" y="1554480"/>
            <a:ext cx="2014057" cy="1828800"/>
          </a:xfrm>
          <a:prstGeom prst="roundRect">
            <a:avLst>
              <a:gd name="adj" fmla="val 6000"/>
            </a:avLst>
          </a:prstGeom>
          <a:solidFill>
            <a:schemeClr val="tx1"/>
          </a:solidFill>
          <a:ln/>
        </p:spPr>
      </p:sp>
      <p:sp>
        <p:nvSpPr>
          <p:cNvPr id="16" name="text-277"/>
          <p:cNvSpPr txBox="1"/>
          <p:nvPr/>
        </p:nvSpPr>
        <p:spPr>
          <a:xfrm>
            <a:off x="7358908"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F</a:t>
            </a:r>
            <a:endParaRPr lang="en-US" sz="8800" dirty="0"/>
          </a:p>
        </p:txBody>
      </p:sp>
      <p:sp>
        <p:nvSpPr>
          <p:cNvPr id="17" name="text-278"/>
          <p:cNvSpPr txBox="1"/>
          <p:nvPr/>
        </p:nvSpPr>
        <p:spPr>
          <a:xfrm>
            <a:off x="7358908"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Format</a:t>
            </a:r>
            <a:endParaRPr lang="en-US" sz="2200" dirty="0"/>
          </a:p>
        </p:txBody>
      </p:sp>
      <p:sp>
        <p:nvSpPr>
          <p:cNvPr id="18" name="text-279"/>
          <p:cNvSpPr txBox="1"/>
          <p:nvPr/>
        </p:nvSpPr>
        <p:spPr>
          <a:xfrm>
            <a:off x="7358908"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What shape, length, and structure?</a:t>
            </a:r>
            <a:endParaRPr lang="en-US" sz="1600" dirty="0"/>
          </a:p>
        </p:txBody>
      </p:sp>
      <p:sp>
        <p:nvSpPr>
          <p:cNvPr id="19" name="card-280"/>
          <p:cNvSpPr/>
          <p:nvPr/>
        </p:nvSpPr>
        <p:spPr>
          <a:xfrm>
            <a:off x="9628998" y="1554480"/>
            <a:ext cx="2014057" cy="1828800"/>
          </a:xfrm>
          <a:prstGeom prst="roundRect">
            <a:avLst>
              <a:gd name="adj" fmla="val 6000"/>
            </a:avLst>
          </a:prstGeom>
          <a:solidFill>
            <a:schemeClr val="tx1"/>
          </a:solidFill>
          <a:ln/>
        </p:spPr>
      </p:sp>
      <p:sp>
        <p:nvSpPr>
          <p:cNvPr id="20" name="text-281"/>
          <p:cNvSpPr txBox="1"/>
          <p:nvPr/>
        </p:nvSpPr>
        <p:spPr>
          <a:xfrm>
            <a:off x="9628998" y="1554480"/>
            <a:ext cx="2014057" cy="1828800"/>
          </a:xfrm>
          <a:prstGeom prst="rect">
            <a:avLst/>
          </a:prstGeom>
          <a:noFill/>
          <a:ln/>
        </p:spPr>
        <p:txBody>
          <a:bodyPr wrap="square" lIns="0" tIns="0" rIns="0" bIns="0" rtlCol="0" anchor="ctr"/>
          <a:lstStyle/>
          <a:p>
            <a:pPr algn="ctr" indent="0" marL="0">
              <a:buNone/>
            </a:pPr>
            <a:r>
              <a:rPr lang="en-US" sz="8800" b="1" dirty="0">
                <a:solidFill>
                  <a:schemeClr val="bg1"/>
                </a:solidFill>
              </a:rPr>
              <a:t>T</a:t>
            </a:r>
            <a:endParaRPr lang="en-US" sz="8800" dirty="0"/>
          </a:p>
        </p:txBody>
      </p:sp>
      <p:sp>
        <p:nvSpPr>
          <p:cNvPr id="21" name="text-282"/>
          <p:cNvSpPr txBox="1"/>
          <p:nvPr/>
        </p:nvSpPr>
        <p:spPr>
          <a:xfrm>
            <a:off x="9628998" y="3611880"/>
            <a:ext cx="2014057" cy="457200"/>
          </a:xfrm>
          <a:prstGeom prst="rect">
            <a:avLst/>
          </a:prstGeom>
          <a:noFill/>
          <a:ln/>
        </p:spPr>
        <p:txBody>
          <a:bodyPr wrap="square" lIns="0" tIns="0" rIns="0" bIns="0" rtlCol="0" anchor="t"/>
          <a:lstStyle/>
          <a:p>
            <a:pPr indent="0" marL="0">
              <a:buNone/>
            </a:pPr>
            <a:r>
              <a:rPr lang="en-US" sz="2200" b="1" dirty="0">
                <a:solidFill>
                  <a:schemeClr val="tx1"/>
                </a:solidFill>
              </a:rPr>
              <a:t>Tone &amp; audience</a:t>
            </a:r>
            <a:endParaRPr lang="en-US" sz="2200" dirty="0"/>
          </a:p>
        </p:txBody>
      </p:sp>
      <p:sp>
        <p:nvSpPr>
          <p:cNvPr id="22" name="text-283"/>
          <p:cNvSpPr txBox="1"/>
          <p:nvPr/>
        </p:nvSpPr>
        <p:spPr>
          <a:xfrm>
            <a:off x="9628998" y="4114800"/>
            <a:ext cx="1922617" cy="914400"/>
          </a:xfrm>
          <a:prstGeom prst="rect">
            <a:avLst/>
          </a:prstGeom>
          <a:noFill/>
          <a:ln/>
        </p:spPr>
        <p:txBody>
          <a:bodyPr wrap="square" lIns="0" tIns="0" rIns="0" bIns="0" rtlCol="0" anchor="t"/>
          <a:lstStyle/>
          <a:p>
            <a:pPr indent="0" marL="0">
              <a:buNone/>
            </a:pPr>
            <a:r>
              <a:rPr lang="en-US" sz="1600" dirty="0">
                <a:solidFill>
                  <a:schemeClr val="tx2"/>
                </a:solidFill>
              </a:rPr>
              <a:t>Who reads it, and how should it sound?</a:t>
            </a:r>
            <a:endParaRPr lang="en-US" sz="1600" dirty="0"/>
          </a:p>
        </p:txBody>
      </p:sp>
      <p:sp>
        <p:nvSpPr>
          <p:cNvPr id="23" name="card-284"/>
          <p:cNvSpPr/>
          <p:nvPr/>
        </p:nvSpPr>
        <p:spPr>
          <a:xfrm>
            <a:off x="548640" y="5257800"/>
            <a:ext cx="11094415" cy="777240"/>
          </a:xfrm>
          <a:prstGeom prst="roundRect">
            <a:avLst>
              <a:gd name="adj" fmla="val 14118"/>
            </a:avLst>
          </a:prstGeom>
          <a:solidFill>
            <a:schemeClr val="bg2"/>
          </a:solidFill>
          <a:ln/>
        </p:spPr>
      </p:sp>
      <p:sp>
        <p:nvSpPr>
          <p:cNvPr id="24" name="text-285"/>
          <p:cNvSpPr txBox="1"/>
          <p:nvPr/>
        </p:nvSpPr>
        <p:spPr>
          <a:xfrm>
            <a:off x="868680" y="5257800"/>
            <a:ext cx="10454335" cy="777240"/>
          </a:xfrm>
          <a:prstGeom prst="rect">
            <a:avLst/>
          </a:prstGeom>
          <a:noFill/>
          <a:ln/>
        </p:spPr>
        <p:txBody>
          <a:bodyPr wrap="square" lIns="0" tIns="0" rIns="0" bIns="0" rtlCol="0" anchor="ctr"/>
          <a:lstStyle/>
          <a:p>
            <a:pPr indent="0" marL="0">
              <a:buNone/>
            </a:pPr>
            <a:r>
              <a:rPr lang="en-US" sz="1800" b="1" dirty="0">
                <a:solidFill>
                  <a:schemeClr val="tx1"/>
                </a:solidFill>
              </a:rPr>
              <a:t>You don't always need all five. </a:t>
            </a:r>
            <a:pPr indent="0" marL="0">
              <a:buNone/>
            </a:pPr>
            <a:r>
              <a:rPr lang="en-US" sz="1800" dirty="0">
                <a:solidFill>
                  <a:schemeClr val="tx1"/>
                </a:solidFill>
              </a:rPr>
              <a:t>The more that's riding on the result, the more you specify.</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CRAFT in action</a:t>
            </a:r>
            <a:endParaRPr lang="en-US" sz="3400" dirty="0"/>
          </a:p>
        </p:txBody>
      </p:sp>
      <p:sp>
        <p:nvSpPr>
          <p:cNvPr id="3" name="card-286"/>
          <p:cNvSpPr/>
          <p:nvPr/>
        </p:nvSpPr>
        <p:spPr>
          <a:xfrm>
            <a:off x="548640" y="1463040"/>
            <a:ext cx="11094415" cy="777240"/>
          </a:xfrm>
          <a:prstGeom prst="roundRect">
            <a:avLst>
              <a:gd name="adj" fmla="val 14118"/>
            </a:avLst>
          </a:prstGeom>
          <a:solidFill>
            <a:schemeClr val="bg2"/>
          </a:solidFill>
          <a:ln/>
        </p:spPr>
      </p:sp>
      <p:sp>
        <p:nvSpPr>
          <p:cNvPr id="4" name="card-287"/>
          <p:cNvSpPr/>
          <p:nvPr/>
        </p:nvSpPr>
        <p:spPr>
          <a:xfrm>
            <a:off x="685800" y="1572768"/>
            <a:ext cx="557784" cy="557784"/>
          </a:xfrm>
          <a:prstGeom prst="roundRect">
            <a:avLst>
              <a:gd name="adj" fmla="val 13115"/>
            </a:avLst>
          </a:prstGeom>
          <a:solidFill>
            <a:schemeClr val="tx1"/>
          </a:solidFill>
          <a:ln/>
        </p:spPr>
      </p:sp>
      <p:sp>
        <p:nvSpPr>
          <p:cNvPr id="5" name="text-288"/>
          <p:cNvSpPr txBox="1"/>
          <p:nvPr/>
        </p:nvSpPr>
        <p:spPr>
          <a:xfrm>
            <a:off x="685800" y="1572768"/>
            <a:ext cx="557784" cy="557784"/>
          </a:xfrm>
          <a:prstGeom prst="rect">
            <a:avLst/>
          </a:prstGeom>
          <a:noFill/>
          <a:ln/>
        </p:spPr>
        <p:txBody>
          <a:bodyPr wrap="square" lIns="0" tIns="0" rIns="0" bIns="0" rtlCol="0" anchor="ctr"/>
          <a:lstStyle/>
          <a:p>
            <a:pPr algn="ctr" indent="0" marL="0">
              <a:buNone/>
            </a:pPr>
            <a:r>
              <a:rPr lang="en-US" sz="2400" b="1" dirty="0">
                <a:solidFill>
                  <a:schemeClr val="bg1"/>
                </a:solidFill>
              </a:rPr>
              <a:t>C</a:t>
            </a:r>
            <a:endParaRPr lang="en-US" sz="2400" dirty="0"/>
          </a:p>
        </p:txBody>
      </p:sp>
      <p:sp>
        <p:nvSpPr>
          <p:cNvPr id="6" name="text-289"/>
          <p:cNvSpPr txBox="1"/>
          <p:nvPr/>
        </p:nvSpPr>
        <p:spPr>
          <a:xfrm>
            <a:off x="1463040" y="1463040"/>
            <a:ext cx="2103120" cy="777240"/>
          </a:xfrm>
          <a:prstGeom prst="rect">
            <a:avLst/>
          </a:prstGeom>
          <a:noFill/>
          <a:ln/>
        </p:spPr>
        <p:txBody>
          <a:bodyPr wrap="square" lIns="0" tIns="0" rIns="0" bIns="0" rtlCol="0" anchor="ctr"/>
          <a:lstStyle/>
          <a:p>
            <a:pPr indent="0" marL="0">
              <a:buNone/>
            </a:pPr>
            <a:r>
              <a:rPr lang="en-US" sz="1800" b="1" dirty="0">
                <a:solidFill>
                  <a:schemeClr val="tx1"/>
                </a:solidFill>
              </a:rPr>
              <a:t>Context</a:t>
            </a:r>
            <a:endParaRPr lang="en-US" sz="1800" dirty="0"/>
          </a:p>
        </p:txBody>
      </p:sp>
      <p:sp>
        <p:nvSpPr>
          <p:cNvPr id="7" name="text-290"/>
          <p:cNvSpPr txBox="1"/>
          <p:nvPr/>
        </p:nvSpPr>
        <p:spPr>
          <a:xfrm>
            <a:off x="3611880" y="1463040"/>
            <a:ext cx="78025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Our team of 12 is moving from weekly to biweekly status meetings on March 3.</a:t>
            </a:r>
            <a:endParaRPr lang="en-US" sz="1500" dirty="0"/>
          </a:p>
        </p:txBody>
      </p:sp>
      <p:sp>
        <p:nvSpPr>
          <p:cNvPr id="8" name="card-291"/>
          <p:cNvSpPr/>
          <p:nvPr/>
        </p:nvSpPr>
        <p:spPr>
          <a:xfrm>
            <a:off x="548640" y="2377440"/>
            <a:ext cx="11094415" cy="777240"/>
          </a:xfrm>
          <a:prstGeom prst="roundRect">
            <a:avLst>
              <a:gd name="adj" fmla="val 14118"/>
            </a:avLst>
          </a:prstGeom>
          <a:solidFill>
            <a:schemeClr val="bg2"/>
          </a:solidFill>
          <a:ln/>
        </p:spPr>
      </p:sp>
      <p:sp>
        <p:nvSpPr>
          <p:cNvPr id="9" name="card-292"/>
          <p:cNvSpPr/>
          <p:nvPr/>
        </p:nvSpPr>
        <p:spPr>
          <a:xfrm>
            <a:off x="685800" y="2487168"/>
            <a:ext cx="557784" cy="557784"/>
          </a:xfrm>
          <a:prstGeom prst="roundRect">
            <a:avLst>
              <a:gd name="adj" fmla="val 13115"/>
            </a:avLst>
          </a:prstGeom>
          <a:solidFill>
            <a:schemeClr val="tx1"/>
          </a:solidFill>
          <a:ln/>
        </p:spPr>
      </p:sp>
      <p:sp>
        <p:nvSpPr>
          <p:cNvPr id="10" name="text-293"/>
          <p:cNvSpPr txBox="1"/>
          <p:nvPr/>
        </p:nvSpPr>
        <p:spPr>
          <a:xfrm>
            <a:off x="685800" y="2487168"/>
            <a:ext cx="557784" cy="557784"/>
          </a:xfrm>
          <a:prstGeom prst="rect">
            <a:avLst/>
          </a:prstGeom>
          <a:noFill/>
          <a:ln/>
        </p:spPr>
        <p:txBody>
          <a:bodyPr wrap="square" lIns="0" tIns="0" rIns="0" bIns="0" rtlCol="0" anchor="ctr"/>
          <a:lstStyle/>
          <a:p>
            <a:pPr algn="ctr" indent="0" marL="0">
              <a:buNone/>
            </a:pPr>
            <a:r>
              <a:rPr lang="en-US" sz="2400" b="1" dirty="0">
                <a:solidFill>
                  <a:schemeClr val="bg1"/>
                </a:solidFill>
              </a:rPr>
              <a:t>R</a:t>
            </a:r>
            <a:endParaRPr lang="en-US" sz="2400" dirty="0"/>
          </a:p>
        </p:txBody>
      </p:sp>
      <p:sp>
        <p:nvSpPr>
          <p:cNvPr id="11" name="text-294"/>
          <p:cNvSpPr txBox="1"/>
          <p:nvPr/>
        </p:nvSpPr>
        <p:spPr>
          <a:xfrm>
            <a:off x="1463040" y="2377440"/>
            <a:ext cx="2103120" cy="777240"/>
          </a:xfrm>
          <a:prstGeom prst="rect">
            <a:avLst/>
          </a:prstGeom>
          <a:noFill/>
          <a:ln/>
        </p:spPr>
        <p:txBody>
          <a:bodyPr wrap="square" lIns="0" tIns="0" rIns="0" bIns="0" rtlCol="0" anchor="ctr"/>
          <a:lstStyle/>
          <a:p>
            <a:pPr indent="0" marL="0">
              <a:buNone/>
            </a:pPr>
            <a:r>
              <a:rPr lang="en-US" sz="1800" b="1" dirty="0">
                <a:solidFill>
                  <a:schemeClr val="tx1"/>
                </a:solidFill>
              </a:rPr>
              <a:t>Role</a:t>
            </a:r>
            <a:endParaRPr lang="en-US" sz="1800" dirty="0"/>
          </a:p>
        </p:txBody>
      </p:sp>
      <p:sp>
        <p:nvSpPr>
          <p:cNvPr id="12" name="text-295"/>
          <p:cNvSpPr txBox="1"/>
          <p:nvPr/>
        </p:nvSpPr>
        <p:spPr>
          <a:xfrm>
            <a:off x="3611880" y="2377440"/>
            <a:ext cx="78025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Act as an experienced internal communications manager.</a:t>
            </a:r>
            <a:endParaRPr lang="en-US" sz="1500" dirty="0"/>
          </a:p>
        </p:txBody>
      </p:sp>
      <p:sp>
        <p:nvSpPr>
          <p:cNvPr id="13" name="card-296"/>
          <p:cNvSpPr/>
          <p:nvPr/>
        </p:nvSpPr>
        <p:spPr>
          <a:xfrm>
            <a:off x="548640" y="3291840"/>
            <a:ext cx="11094415" cy="777240"/>
          </a:xfrm>
          <a:prstGeom prst="roundRect">
            <a:avLst>
              <a:gd name="adj" fmla="val 14118"/>
            </a:avLst>
          </a:prstGeom>
          <a:solidFill>
            <a:schemeClr val="bg2"/>
          </a:solidFill>
          <a:ln/>
        </p:spPr>
      </p:sp>
      <p:sp>
        <p:nvSpPr>
          <p:cNvPr id="14" name="card-297"/>
          <p:cNvSpPr/>
          <p:nvPr/>
        </p:nvSpPr>
        <p:spPr>
          <a:xfrm>
            <a:off x="685800" y="3401568"/>
            <a:ext cx="557784" cy="557784"/>
          </a:xfrm>
          <a:prstGeom prst="roundRect">
            <a:avLst>
              <a:gd name="adj" fmla="val 13115"/>
            </a:avLst>
          </a:prstGeom>
          <a:solidFill>
            <a:schemeClr val="tx1"/>
          </a:solidFill>
          <a:ln/>
        </p:spPr>
      </p:sp>
      <p:sp>
        <p:nvSpPr>
          <p:cNvPr id="15" name="text-298"/>
          <p:cNvSpPr txBox="1"/>
          <p:nvPr/>
        </p:nvSpPr>
        <p:spPr>
          <a:xfrm>
            <a:off x="685800" y="3401568"/>
            <a:ext cx="557784" cy="557784"/>
          </a:xfrm>
          <a:prstGeom prst="rect">
            <a:avLst/>
          </a:prstGeom>
          <a:noFill/>
          <a:ln/>
        </p:spPr>
        <p:txBody>
          <a:bodyPr wrap="square" lIns="0" tIns="0" rIns="0" bIns="0" rtlCol="0" anchor="ctr"/>
          <a:lstStyle/>
          <a:p>
            <a:pPr algn="ctr" indent="0" marL="0">
              <a:buNone/>
            </a:pPr>
            <a:r>
              <a:rPr lang="en-US" sz="2400" b="1" dirty="0">
                <a:solidFill>
                  <a:schemeClr val="bg1"/>
                </a:solidFill>
              </a:rPr>
              <a:t>A</a:t>
            </a:r>
            <a:endParaRPr lang="en-US" sz="2400" dirty="0"/>
          </a:p>
        </p:txBody>
      </p:sp>
      <p:sp>
        <p:nvSpPr>
          <p:cNvPr id="16" name="text-299"/>
          <p:cNvSpPr txBox="1"/>
          <p:nvPr/>
        </p:nvSpPr>
        <p:spPr>
          <a:xfrm>
            <a:off x="1463040" y="3291840"/>
            <a:ext cx="2103120" cy="777240"/>
          </a:xfrm>
          <a:prstGeom prst="rect">
            <a:avLst/>
          </a:prstGeom>
          <a:noFill/>
          <a:ln/>
        </p:spPr>
        <p:txBody>
          <a:bodyPr wrap="square" lIns="0" tIns="0" rIns="0" bIns="0" rtlCol="0" anchor="ctr"/>
          <a:lstStyle/>
          <a:p>
            <a:pPr indent="0" marL="0">
              <a:buNone/>
            </a:pPr>
            <a:r>
              <a:rPr lang="en-US" sz="1800" b="1" dirty="0">
                <a:solidFill>
                  <a:schemeClr val="tx1"/>
                </a:solidFill>
              </a:rPr>
              <a:t>Ask</a:t>
            </a:r>
            <a:endParaRPr lang="en-US" sz="1800" dirty="0"/>
          </a:p>
        </p:txBody>
      </p:sp>
      <p:sp>
        <p:nvSpPr>
          <p:cNvPr id="17" name="text-300"/>
          <p:cNvSpPr txBox="1"/>
          <p:nvPr/>
        </p:nvSpPr>
        <p:spPr>
          <a:xfrm>
            <a:off x="3611880" y="3291840"/>
            <a:ext cx="78025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Draft an email announcing the change.</a:t>
            </a:r>
            <a:endParaRPr lang="en-US" sz="1500" dirty="0"/>
          </a:p>
        </p:txBody>
      </p:sp>
      <p:sp>
        <p:nvSpPr>
          <p:cNvPr id="18" name="card-301"/>
          <p:cNvSpPr/>
          <p:nvPr/>
        </p:nvSpPr>
        <p:spPr>
          <a:xfrm>
            <a:off x="548640" y="4206240"/>
            <a:ext cx="11094415" cy="777240"/>
          </a:xfrm>
          <a:prstGeom prst="roundRect">
            <a:avLst>
              <a:gd name="adj" fmla="val 14118"/>
            </a:avLst>
          </a:prstGeom>
          <a:solidFill>
            <a:schemeClr val="bg2"/>
          </a:solidFill>
          <a:ln/>
        </p:spPr>
      </p:sp>
      <p:sp>
        <p:nvSpPr>
          <p:cNvPr id="19" name="card-302"/>
          <p:cNvSpPr/>
          <p:nvPr/>
        </p:nvSpPr>
        <p:spPr>
          <a:xfrm>
            <a:off x="685800" y="4315968"/>
            <a:ext cx="557784" cy="557784"/>
          </a:xfrm>
          <a:prstGeom prst="roundRect">
            <a:avLst>
              <a:gd name="adj" fmla="val 13115"/>
            </a:avLst>
          </a:prstGeom>
          <a:solidFill>
            <a:schemeClr val="tx1"/>
          </a:solidFill>
          <a:ln/>
        </p:spPr>
      </p:sp>
      <p:sp>
        <p:nvSpPr>
          <p:cNvPr id="20" name="text-303"/>
          <p:cNvSpPr txBox="1"/>
          <p:nvPr/>
        </p:nvSpPr>
        <p:spPr>
          <a:xfrm>
            <a:off x="685800" y="4315968"/>
            <a:ext cx="557784" cy="55778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21" name="text-304"/>
          <p:cNvSpPr txBox="1"/>
          <p:nvPr/>
        </p:nvSpPr>
        <p:spPr>
          <a:xfrm>
            <a:off x="1463040" y="4206240"/>
            <a:ext cx="2103120" cy="777240"/>
          </a:xfrm>
          <a:prstGeom prst="rect">
            <a:avLst/>
          </a:prstGeom>
          <a:noFill/>
          <a:ln/>
        </p:spPr>
        <p:txBody>
          <a:bodyPr wrap="square" lIns="0" tIns="0" rIns="0" bIns="0" rtlCol="0" anchor="ctr"/>
          <a:lstStyle/>
          <a:p>
            <a:pPr indent="0" marL="0">
              <a:buNone/>
            </a:pPr>
            <a:r>
              <a:rPr lang="en-US" sz="1800" b="1" dirty="0">
                <a:solidFill>
                  <a:schemeClr val="tx1"/>
                </a:solidFill>
              </a:rPr>
              <a:t>Format</a:t>
            </a:r>
            <a:endParaRPr lang="en-US" sz="1800" dirty="0"/>
          </a:p>
        </p:txBody>
      </p:sp>
      <p:sp>
        <p:nvSpPr>
          <p:cNvPr id="22" name="text-305"/>
          <p:cNvSpPr txBox="1"/>
          <p:nvPr/>
        </p:nvSpPr>
        <p:spPr>
          <a:xfrm>
            <a:off x="3611880" y="4206240"/>
            <a:ext cx="78025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Keep it under 150 words, with a subject line and one clear next step.</a:t>
            </a:r>
            <a:endParaRPr lang="en-US" sz="1500" dirty="0"/>
          </a:p>
        </p:txBody>
      </p:sp>
      <p:sp>
        <p:nvSpPr>
          <p:cNvPr id="23" name="card-306"/>
          <p:cNvSpPr/>
          <p:nvPr/>
        </p:nvSpPr>
        <p:spPr>
          <a:xfrm>
            <a:off x="548640" y="5120640"/>
            <a:ext cx="11094415" cy="777240"/>
          </a:xfrm>
          <a:prstGeom prst="roundRect">
            <a:avLst>
              <a:gd name="adj" fmla="val 14118"/>
            </a:avLst>
          </a:prstGeom>
          <a:solidFill>
            <a:schemeClr val="bg2"/>
          </a:solidFill>
          <a:ln/>
        </p:spPr>
      </p:sp>
      <p:sp>
        <p:nvSpPr>
          <p:cNvPr id="24" name="card-307"/>
          <p:cNvSpPr/>
          <p:nvPr/>
        </p:nvSpPr>
        <p:spPr>
          <a:xfrm>
            <a:off x="685800" y="5230368"/>
            <a:ext cx="557784" cy="557784"/>
          </a:xfrm>
          <a:prstGeom prst="roundRect">
            <a:avLst>
              <a:gd name="adj" fmla="val 13115"/>
            </a:avLst>
          </a:prstGeom>
          <a:solidFill>
            <a:schemeClr val="tx1"/>
          </a:solidFill>
          <a:ln/>
        </p:spPr>
      </p:sp>
      <p:sp>
        <p:nvSpPr>
          <p:cNvPr id="25" name="text-308"/>
          <p:cNvSpPr txBox="1"/>
          <p:nvPr/>
        </p:nvSpPr>
        <p:spPr>
          <a:xfrm>
            <a:off x="685800" y="5230368"/>
            <a:ext cx="557784" cy="557784"/>
          </a:xfrm>
          <a:prstGeom prst="rect">
            <a:avLst/>
          </a:prstGeom>
          <a:noFill/>
          <a:ln/>
        </p:spPr>
        <p:txBody>
          <a:bodyPr wrap="square" lIns="0" tIns="0" rIns="0" bIns="0" rtlCol="0" anchor="ctr"/>
          <a:lstStyle/>
          <a:p>
            <a:pPr algn="ctr" indent="0" marL="0">
              <a:buNone/>
            </a:pPr>
            <a:r>
              <a:rPr lang="en-US" sz="2400" b="1" dirty="0">
                <a:solidFill>
                  <a:schemeClr val="bg1"/>
                </a:solidFill>
              </a:rPr>
              <a:t>T</a:t>
            </a:r>
            <a:endParaRPr lang="en-US" sz="2400" dirty="0"/>
          </a:p>
        </p:txBody>
      </p:sp>
      <p:sp>
        <p:nvSpPr>
          <p:cNvPr id="26" name="text-309"/>
          <p:cNvSpPr txBox="1"/>
          <p:nvPr/>
        </p:nvSpPr>
        <p:spPr>
          <a:xfrm>
            <a:off x="1463040" y="5120640"/>
            <a:ext cx="2103120" cy="777240"/>
          </a:xfrm>
          <a:prstGeom prst="rect">
            <a:avLst/>
          </a:prstGeom>
          <a:noFill/>
          <a:ln/>
        </p:spPr>
        <p:txBody>
          <a:bodyPr wrap="square" lIns="0" tIns="0" rIns="0" bIns="0" rtlCol="0" anchor="ctr"/>
          <a:lstStyle/>
          <a:p>
            <a:pPr indent="0" marL="0">
              <a:buNone/>
            </a:pPr>
            <a:r>
              <a:rPr lang="en-US" sz="1800" b="1" dirty="0">
                <a:solidFill>
                  <a:schemeClr val="tx1"/>
                </a:solidFill>
              </a:rPr>
              <a:t>Tone &amp; audience</a:t>
            </a:r>
            <a:endParaRPr lang="en-US" sz="1800" dirty="0"/>
          </a:p>
        </p:txBody>
      </p:sp>
      <p:sp>
        <p:nvSpPr>
          <p:cNvPr id="27" name="text-310"/>
          <p:cNvSpPr txBox="1"/>
          <p:nvPr/>
        </p:nvSpPr>
        <p:spPr>
          <a:xfrm>
            <a:off x="3611880" y="5120640"/>
            <a:ext cx="78025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Readers are busy staff who may worry this means less support. Be warm and direct, with no jargon.</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Same request, better prompt</a:t>
            </a:r>
            <a:endParaRPr lang="en-US" sz="3400" dirty="0"/>
          </a:p>
        </p:txBody>
      </p:sp>
      <p:sp>
        <p:nvSpPr>
          <p:cNvPr id="3" name="text-311"/>
          <p:cNvSpPr txBox="1"/>
          <p:nvPr/>
        </p:nvSpPr>
        <p:spPr>
          <a:xfrm>
            <a:off x="548640" y="1463040"/>
            <a:ext cx="3657600" cy="274320"/>
          </a:xfrm>
          <a:prstGeom prst="rect">
            <a:avLst/>
          </a:prstGeom>
          <a:noFill/>
          <a:ln/>
        </p:spPr>
        <p:txBody>
          <a:bodyPr wrap="square" lIns="0" tIns="0" rIns="0" bIns="0" rtlCol="0" anchor="t"/>
          <a:lstStyle/>
          <a:p>
            <a:pPr indent="0" marL="0">
              <a:buNone/>
            </a:pPr>
            <a:r>
              <a:rPr lang="en-US" sz="1300" b="1" spc="200" kern="0" dirty="0">
                <a:solidFill>
                  <a:schemeClr val="tx2"/>
                </a:solidFill>
              </a:rPr>
              <a:t>BEFORE</a:t>
            </a:r>
            <a:endParaRPr lang="en-US" sz="1300" dirty="0"/>
          </a:p>
        </p:txBody>
      </p:sp>
      <p:sp>
        <p:nvSpPr>
          <p:cNvPr id="4" name="card-312"/>
          <p:cNvSpPr/>
          <p:nvPr/>
        </p:nvSpPr>
        <p:spPr>
          <a:xfrm>
            <a:off x="548640" y="1828800"/>
            <a:ext cx="4206240" cy="1325880"/>
          </a:xfrm>
          <a:prstGeom prst="roundRect">
            <a:avLst>
              <a:gd name="adj" fmla="val 8276"/>
            </a:avLst>
          </a:prstGeom>
          <a:solidFill>
            <a:schemeClr val="tx1"/>
          </a:solidFill>
          <a:ln/>
        </p:spPr>
      </p:sp>
      <p:sp>
        <p:nvSpPr>
          <p:cNvPr id="5" name="text-313"/>
          <p:cNvSpPr txBox="1"/>
          <p:nvPr/>
        </p:nvSpPr>
        <p:spPr>
          <a:xfrm>
            <a:off x="822960" y="2029968"/>
            <a:ext cx="36576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6" name="text-314"/>
          <p:cNvSpPr txBox="1"/>
          <p:nvPr/>
        </p:nvSpPr>
        <p:spPr>
          <a:xfrm>
            <a:off x="822960" y="2359152"/>
            <a:ext cx="3657600" cy="612648"/>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Write an email about the meeting.</a:t>
            </a:r>
            <a:endParaRPr lang="en-US" sz="1700" dirty="0"/>
          </a:p>
        </p:txBody>
      </p:sp>
      <p:sp>
        <p:nvSpPr>
          <p:cNvPr id="7" name="text-315"/>
          <p:cNvSpPr txBox="1"/>
          <p:nvPr/>
        </p:nvSpPr>
        <p:spPr>
          <a:xfrm>
            <a:off x="548640" y="3337560"/>
            <a:ext cx="4206240" cy="640080"/>
          </a:xfrm>
          <a:prstGeom prst="rect">
            <a:avLst/>
          </a:prstGeom>
          <a:noFill/>
          <a:ln/>
        </p:spPr>
        <p:txBody>
          <a:bodyPr wrap="square" lIns="0" tIns="0" rIns="0" bIns="0" rtlCol="0" anchor="t"/>
          <a:lstStyle/>
          <a:p>
            <a:pPr indent="0" marL="0">
              <a:buNone/>
            </a:pPr>
            <a:r>
              <a:rPr lang="en-US" sz="1600" dirty="0">
                <a:solidFill>
                  <a:schemeClr val="tx2"/>
                </a:solidFill>
              </a:rPr>
              <a:t>Result: a generic email full of placeholders.</a:t>
            </a:r>
            <a:endParaRPr lang="en-US" sz="1600" dirty="0"/>
          </a:p>
        </p:txBody>
      </p:sp>
      <p:sp>
        <p:nvSpPr>
          <p:cNvPr id="8" name="text-316"/>
          <p:cNvSpPr txBox="1"/>
          <p:nvPr/>
        </p:nvSpPr>
        <p:spPr>
          <a:xfrm>
            <a:off x="5120640" y="1463040"/>
            <a:ext cx="3657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AFTER</a:t>
            </a:r>
            <a:endParaRPr lang="en-US" sz="1300" dirty="0"/>
          </a:p>
        </p:txBody>
      </p:sp>
      <p:sp>
        <p:nvSpPr>
          <p:cNvPr id="9" name="card-317"/>
          <p:cNvSpPr/>
          <p:nvPr/>
        </p:nvSpPr>
        <p:spPr>
          <a:xfrm>
            <a:off x="5120640" y="1828800"/>
            <a:ext cx="6519672" cy="3611880"/>
          </a:xfrm>
          <a:prstGeom prst="roundRect">
            <a:avLst>
              <a:gd name="adj" fmla="val 3038"/>
            </a:avLst>
          </a:prstGeom>
          <a:solidFill>
            <a:schemeClr val="tx1"/>
          </a:solidFill>
          <a:ln/>
        </p:spPr>
      </p:sp>
      <p:sp>
        <p:nvSpPr>
          <p:cNvPr id="10" name="text-318"/>
          <p:cNvSpPr txBox="1"/>
          <p:nvPr/>
        </p:nvSpPr>
        <p:spPr>
          <a:xfrm>
            <a:off x="5394960" y="2057400"/>
            <a:ext cx="5989320" cy="3200400"/>
          </a:xfrm>
          <a:prstGeom prst="rect">
            <a:avLst/>
          </a:prstGeom>
          <a:noFill/>
          <a:ln/>
        </p:spPr>
        <p:txBody>
          <a:bodyPr wrap="square" lIns="0" tIns="0" rIns="0" bIns="0" rtlCol="0" anchor="t"/>
          <a:lstStyle/>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R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Act as an experienced internal communications manager.</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C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Our team of 12 is moving from weekly to biweekly status meetings on March 3.</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A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Draft an email announcing the change.</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F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Keep it under 150 words, with a subject line and one clear next step.</a:t>
            </a:r>
            <a:endParaRPr lang="en-US" sz="1500" dirty="0"/>
          </a:p>
          <a:p>
            <a:pPr indent="0" marL="0">
              <a:spcAft>
                <a:spcPts val="800"/>
              </a:spcAft>
              <a:buNone/>
            </a:pPr>
            <a:r>
              <a:rPr lang="en-US" sz="1500" b="1" dirty="0">
                <a:solidFill>
                  <a:srgbClr val="F2777C"/>
                </a:solidFill>
                <a:latin typeface="Calibri" pitchFamily="34" charset="0"/>
                <a:ea typeface="Calibri" pitchFamily="34" charset="-122"/>
                <a:cs typeface="Calibri" pitchFamily="34" charset="-120"/>
              </a:rPr>
              <a:t>T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Readers are busy staff who may worry this means less support. Be warm and direct, with no jargon.</a:t>
            </a:r>
            <a:endParaRPr lang="en-US" sz="1500" dirty="0"/>
          </a:p>
        </p:txBody>
      </p:sp>
      <p:sp>
        <p:nvSpPr>
          <p:cNvPr id="11" name="text-319"/>
          <p:cNvSpPr txBox="1"/>
          <p:nvPr/>
        </p:nvSpPr>
        <p:spPr>
          <a:xfrm>
            <a:off x="5120640" y="5577840"/>
            <a:ext cx="6492240" cy="457200"/>
          </a:xfrm>
          <a:prstGeom prst="rect">
            <a:avLst/>
          </a:prstGeom>
          <a:noFill/>
          <a:ln/>
        </p:spPr>
        <p:txBody>
          <a:bodyPr wrap="square" lIns="0" tIns="0" rIns="0" bIns="0" rtlCol="0" anchor="t"/>
          <a:lstStyle/>
          <a:p>
            <a:pPr indent="0" marL="0">
              <a:buNone/>
            </a:pPr>
            <a:r>
              <a:rPr lang="en-US" sz="1600" b="1" dirty="0">
                <a:solidFill>
                  <a:schemeClr val="tx1"/>
                </a:solidFill>
              </a:rPr>
              <a:t>Result: a ready-to-send email, in the right tone, on the first try.</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1.2  ·  GROUPS OF 3</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Prompt makeover</a:t>
            </a:r>
            <a:endParaRPr lang="en-US" sz="3800" dirty="0"/>
          </a:p>
        </p:txBody>
      </p:sp>
      <p:sp>
        <p:nvSpPr>
          <p:cNvPr id="4" name="badge-320"/>
          <p:cNvSpPr/>
          <p:nvPr/>
        </p:nvSpPr>
        <p:spPr>
          <a:xfrm>
            <a:off x="10042855" y="502920"/>
            <a:ext cx="1600200" cy="457200"/>
          </a:xfrm>
          <a:prstGeom prst="roundRect">
            <a:avLst>
              <a:gd name="adj" fmla="val 50000"/>
            </a:avLst>
          </a:prstGeom>
          <a:solidFill>
            <a:schemeClr val="bg1"/>
          </a:solidFill>
          <a:ln/>
        </p:spPr>
      </p:sp>
      <p:sp>
        <p:nvSpPr>
          <p:cNvPr id="5" name="text-321"/>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13 min</a:t>
            </a:r>
            <a:endParaRPr lang="en-US" sz="1600" dirty="0"/>
          </a:p>
        </p:txBody>
      </p:sp>
      <p:sp>
        <p:nvSpPr>
          <p:cNvPr id="6" name="text-322"/>
          <p:cNvSpPr txBox="1"/>
          <p:nvPr/>
        </p:nvSpPr>
        <p:spPr>
          <a:xfrm>
            <a:off x="548640" y="1828800"/>
            <a:ext cx="4572000" cy="365760"/>
          </a:xfrm>
          <a:prstGeom prst="rect">
            <a:avLst/>
          </a:prstGeom>
          <a:noFill/>
          <a:ln/>
        </p:spPr>
        <p:txBody>
          <a:bodyPr wrap="square" lIns="0" tIns="0" rIns="0" bIns="0" rtlCol="0" anchor="t"/>
          <a:lstStyle/>
          <a:p>
            <a:pPr indent="0" marL="0">
              <a:buNone/>
            </a:pPr>
            <a:r>
              <a:rPr lang="en-US" sz="1700" dirty="0">
                <a:solidFill>
                  <a:schemeClr val="accent3"/>
                </a:solidFill>
              </a:rPr>
              <a:t>Your group gets one weak prompt:</a:t>
            </a:r>
            <a:endParaRPr lang="en-US" sz="1700" dirty="0"/>
          </a:p>
        </p:txBody>
      </p:sp>
      <p:sp>
        <p:nvSpPr>
          <p:cNvPr id="7" name="card-323"/>
          <p:cNvSpPr/>
          <p:nvPr/>
        </p:nvSpPr>
        <p:spPr>
          <a:xfrm>
            <a:off x="548640" y="2286000"/>
            <a:ext cx="4572000" cy="841248"/>
          </a:xfrm>
          <a:prstGeom prst="roundRect">
            <a:avLst>
              <a:gd name="adj" fmla="val 13043"/>
            </a:avLst>
          </a:prstGeom>
          <a:solidFill>
            <a:schemeClr val="accent2"/>
          </a:solidFill>
          <a:ln/>
        </p:spPr>
      </p:sp>
      <p:sp>
        <p:nvSpPr>
          <p:cNvPr id="8" name="text-324"/>
          <p:cNvSpPr txBox="1"/>
          <p:nvPr/>
        </p:nvSpPr>
        <p:spPr>
          <a:xfrm>
            <a:off x="822960" y="2286000"/>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A</a:t>
            </a:r>
            <a:endParaRPr lang="en-US" sz="2600" dirty="0"/>
          </a:p>
        </p:txBody>
      </p:sp>
      <p:sp>
        <p:nvSpPr>
          <p:cNvPr id="9" name="text-325"/>
          <p:cNvSpPr txBox="1"/>
          <p:nvPr/>
        </p:nvSpPr>
        <p:spPr>
          <a:xfrm>
            <a:off x="1417320" y="2286000"/>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Summarize this article.</a:t>
            </a:r>
            <a:endParaRPr lang="en-US" sz="1700" dirty="0"/>
          </a:p>
        </p:txBody>
      </p:sp>
      <p:sp>
        <p:nvSpPr>
          <p:cNvPr id="10" name="card-326"/>
          <p:cNvSpPr/>
          <p:nvPr/>
        </p:nvSpPr>
        <p:spPr>
          <a:xfrm>
            <a:off x="548640" y="3310128"/>
            <a:ext cx="4572000" cy="841248"/>
          </a:xfrm>
          <a:prstGeom prst="roundRect">
            <a:avLst>
              <a:gd name="adj" fmla="val 13043"/>
            </a:avLst>
          </a:prstGeom>
          <a:solidFill>
            <a:schemeClr val="accent2"/>
          </a:solidFill>
          <a:ln/>
        </p:spPr>
      </p:sp>
      <p:sp>
        <p:nvSpPr>
          <p:cNvPr id="11" name="text-327"/>
          <p:cNvSpPr txBox="1"/>
          <p:nvPr/>
        </p:nvSpPr>
        <p:spPr>
          <a:xfrm>
            <a:off x="822960" y="3310128"/>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B</a:t>
            </a:r>
            <a:endParaRPr lang="en-US" sz="2600" dirty="0"/>
          </a:p>
        </p:txBody>
      </p:sp>
      <p:sp>
        <p:nvSpPr>
          <p:cNvPr id="12" name="text-328"/>
          <p:cNvSpPr txBox="1"/>
          <p:nvPr/>
        </p:nvSpPr>
        <p:spPr>
          <a:xfrm>
            <a:off x="1417320" y="3310128"/>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Give me ideas for our event.</a:t>
            </a:r>
            <a:endParaRPr lang="en-US" sz="1700" dirty="0"/>
          </a:p>
        </p:txBody>
      </p:sp>
      <p:sp>
        <p:nvSpPr>
          <p:cNvPr id="13" name="card-329"/>
          <p:cNvSpPr/>
          <p:nvPr/>
        </p:nvSpPr>
        <p:spPr>
          <a:xfrm>
            <a:off x="548640" y="4334256"/>
            <a:ext cx="4572000" cy="841248"/>
          </a:xfrm>
          <a:prstGeom prst="roundRect">
            <a:avLst>
              <a:gd name="adj" fmla="val 13043"/>
            </a:avLst>
          </a:prstGeom>
          <a:solidFill>
            <a:schemeClr val="accent2"/>
          </a:solidFill>
          <a:ln/>
        </p:spPr>
      </p:sp>
      <p:sp>
        <p:nvSpPr>
          <p:cNvPr id="14" name="text-330"/>
          <p:cNvSpPr txBox="1"/>
          <p:nvPr/>
        </p:nvSpPr>
        <p:spPr>
          <a:xfrm>
            <a:off x="822960" y="4334256"/>
            <a:ext cx="457200" cy="841248"/>
          </a:xfrm>
          <a:prstGeom prst="rect">
            <a:avLst/>
          </a:prstGeom>
          <a:noFill/>
          <a:ln/>
        </p:spPr>
        <p:txBody>
          <a:bodyPr wrap="square" lIns="0" tIns="0" rIns="0" bIns="0" rtlCol="0" anchor="ctr"/>
          <a:lstStyle/>
          <a:p>
            <a:pPr indent="0" marL="0">
              <a:buNone/>
            </a:pPr>
            <a:r>
              <a:rPr lang="en-US" sz="2600" b="1" dirty="0">
                <a:solidFill>
                  <a:schemeClr val="accent1"/>
                </a:solidFill>
              </a:rPr>
              <a:t>C</a:t>
            </a:r>
            <a:endParaRPr lang="en-US" sz="2600" dirty="0"/>
          </a:p>
        </p:txBody>
      </p:sp>
      <p:sp>
        <p:nvSpPr>
          <p:cNvPr id="15" name="text-331"/>
          <p:cNvSpPr txBox="1"/>
          <p:nvPr/>
        </p:nvSpPr>
        <p:spPr>
          <a:xfrm>
            <a:off x="1417320" y="4334256"/>
            <a:ext cx="3566160" cy="841248"/>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Write a job description.</a:t>
            </a:r>
            <a:endParaRPr lang="en-US" sz="1700" dirty="0"/>
          </a:p>
        </p:txBody>
      </p:sp>
      <p:sp>
        <p:nvSpPr>
          <p:cNvPr id="16" name="num-332"/>
          <p:cNvSpPr/>
          <p:nvPr/>
        </p:nvSpPr>
        <p:spPr>
          <a:xfrm>
            <a:off x="5715000" y="1828800"/>
            <a:ext cx="548640" cy="548640"/>
          </a:xfrm>
          <a:prstGeom prst="ellipse">
            <a:avLst/>
          </a:prstGeom>
          <a:solidFill>
            <a:schemeClr val="bg1"/>
          </a:solidFill>
          <a:ln/>
        </p:spPr>
      </p:sp>
      <p:sp>
        <p:nvSpPr>
          <p:cNvPr id="17" name="text-333"/>
          <p:cNvSpPr txBox="1"/>
          <p:nvPr/>
        </p:nvSpPr>
        <p:spPr>
          <a:xfrm>
            <a:off x="571500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8" name="text-334"/>
          <p:cNvSpPr txBox="1"/>
          <p:nvPr/>
        </p:nvSpPr>
        <p:spPr>
          <a:xfrm>
            <a:off x="6492240" y="18105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Diagnose  </a:t>
            </a:r>
            <a:pPr indent="0" marL="0">
              <a:buNone/>
            </a:pPr>
            <a:r>
              <a:rPr lang="en-US" sz="1900" dirty="0">
                <a:solidFill>
                  <a:schemeClr val="accent3"/>
                </a:solidFill>
              </a:rPr>
              <a:t>3 min</a:t>
            </a:r>
            <a:endParaRPr lang="en-US" sz="1900" dirty="0"/>
          </a:p>
        </p:txBody>
      </p:sp>
      <p:sp>
        <p:nvSpPr>
          <p:cNvPr id="19" name="text-335"/>
          <p:cNvSpPr txBox="1"/>
          <p:nvPr/>
        </p:nvSpPr>
        <p:spPr>
          <a:xfrm>
            <a:off x="6492240" y="21762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Which CRAFT elements are missing?</a:t>
            </a:r>
            <a:endParaRPr lang="en-US" sz="1600" dirty="0"/>
          </a:p>
        </p:txBody>
      </p:sp>
      <p:sp>
        <p:nvSpPr>
          <p:cNvPr id="20" name="num-336"/>
          <p:cNvSpPr/>
          <p:nvPr/>
        </p:nvSpPr>
        <p:spPr>
          <a:xfrm>
            <a:off x="5715000" y="2743200"/>
            <a:ext cx="548640" cy="548640"/>
          </a:xfrm>
          <a:prstGeom prst="ellipse">
            <a:avLst/>
          </a:prstGeom>
          <a:solidFill>
            <a:schemeClr val="bg1"/>
          </a:solidFill>
          <a:ln/>
        </p:spPr>
      </p:sp>
      <p:sp>
        <p:nvSpPr>
          <p:cNvPr id="21" name="text-337"/>
          <p:cNvSpPr txBox="1"/>
          <p:nvPr/>
        </p:nvSpPr>
        <p:spPr>
          <a:xfrm>
            <a:off x="5715000" y="27432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2" name="text-338"/>
          <p:cNvSpPr txBox="1"/>
          <p:nvPr/>
        </p:nvSpPr>
        <p:spPr>
          <a:xfrm>
            <a:off x="6492240" y="27249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Rewrite  </a:t>
            </a:r>
            <a:pPr indent="0" marL="0">
              <a:buNone/>
            </a:pPr>
            <a:r>
              <a:rPr lang="en-US" sz="1900" dirty="0">
                <a:solidFill>
                  <a:schemeClr val="accent3"/>
                </a:solidFill>
              </a:rPr>
              <a:t>4 min</a:t>
            </a:r>
            <a:endParaRPr lang="en-US" sz="1900" dirty="0"/>
          </a:p>
        </p:txBody>
      </p:sp>
      <p:sp>
        <p:nvSpPr>
          <p:cNvPr id="23" name="text-339"/>
          <p:cNvSpPr txBox="1"/>
          <p:nvPr/>
        </p:nvSpPr>
        <p:spPr>
          <a:xfrm>
            <a:off x="6492240" y="30906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Add all five. Invent fictional details.</a:t>
            </a:r>
            <a:endParaRPr lang="en-US" sz="1600" dirty="0"/>
          </a:p>
        </p:txBody>
      </p:sp>
      <p:sp>
        <p:nvSpPr>
          <p:cNvPr id="24" name="num-340"/>
          <p:cNvSpPr/>
          <p:nvPr/>
        </p:nvSpPr>
        <p:spPr>
          <a:xfrm>
            <a:off x="5715000" y="3657600"/>
            <a:ext cx="548640" cy="548640"/>
          </a:xfrm>
          <a:prstGeom prst="ellipse">
            <a:avLst/>
          </a:prstGeom>
          <a:solidFill>
            <a:schemeClr val="bg1"/>
          </a:solidFill>
          <a:ln/>
        </p:spPr>
      </p:sp>
      <p:sp>
        <p:nvSpPr>
          <p:cNvPr id="25" name="text-341"/>
          <p:cNvSpPr txBox="1"/>
          <p:nvPr/>
        </p:nvSpPr>
        <p:spPr>
          <a:xfrm>
            <a:off x="5715000" y="36576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6" name="text-342"/>
          <p:cNvSpPr txBox="1"/>
          <p:nvPr/>
        </p:nvSpPr>
        <p:spPr>
          <a:xfrm>
            <a:off x="6492240" y="36393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Test  </a:t>
            </a:r>
            <a:pPr indent="0" marL="0">
              <a:buNone/>
            </a:pPr>
            <a:r>
              <a:rPr lang="en-US" sz="1900" dirty="0">
                <a:solidFill>
                  <a:schemeClr val="accent3"/>
                </a:solidFill>
              </a:rPr>
              <a:t>3 min</a:t>
            </a:r>
            <a:endParaRPr lang="en-US" sz="1900" dirty="0"/>
          </a:p>
        </p:txBody>
      </p:sp>
      <p:sp>
        <p:nvSpPr>
          <p:cNvPr id="27" name="text-343"/>
          <p:cNvSpPr txBox="1"/>
          <p:nvPr/>
        </p:nvSpPr>
        <p:spPr>
          <a:xfrm>
            <a:off x="6492240" y="40050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Run both versions in separate chats.</a:t>
            </a:r>
            <a:endParaRPr lang="en-US" sz="1600" dirty="0"/>
          </a:p>
        </p:txBody>
      </p:sp>
      <p:sp>
        <p:nvSpPr>
          <p:cNvPr id="28" name="num-344"/>
          <p:cNvSpPr/>
          <p:nvPr/>
        </p:nvSpPr>
        <p:spPr>
          <a:xfrm>
            <a:off x="5715000" y="4572000"/>
            <a:ext cx="548640" cy="548640"/>
          </a:xfrm>
          <a:prstGeom prst="ellipse">
            <a:avLst/>
          </a:prstGeom>
          <a:solidFill>
            <a:schemeClr val="bg1"/>
          </a:solidFill>
          <a:ln/>
        </p:spPr>
      </p:sp>
      <p:sp>
        <p:nvSpPr>
          <p:cNvPr id="29" name="text-345"/>
          <p:cNvSpPr txBox="1"/>
          <p:nvPr/>
        </p:nvSpPr>
        <p:spPr>
          <a:xfrm>
            <a:off x="5715000" y="45720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30" name="text-346"/>
          <p:cNvSpPr txBox="1"/>
          <p:nvPr/>
        </p:nvSpPr>
        <p:spPr>
          <a:xfrm>
            <a:off x="6492240" y="4553712"/>
            <a:ext cx="5120640" cy="365760"/>
          </a:xfrm>
          <a:prstGeom prst="rect">
            <a:avLst/>
          </a:prstGeom>
          <a:noFill/>
          <a:ln/>
        </p:spPr>
        <p:txBody>
          <a:bodyPr wrap="square" lIns="0" tIns="0" rIns="0" bIns="0" rtlCol="0" anchor="t"/>
          <a:lstStyle/>
          <a:p>
            <a:pPr indent="0" marL="0">
              <a:buNone/>
            </a:pPr>
            <a:r>
              <a:rPr lang="en-US" sz="1900" b="1" dirty="0">
                <a:solidFill>
                  <a:schemeClr val="bg1"/>
                </a:solidFill>
              </a:rPr>
              <a:t>Share  </a:t>
            </a:r>
            <a:pPr indent="0" marL="0">
              <a:buNone/>
            </a:pPr>
            <a:r>
              <a:rPr lang="en-US" sz="1900" dirty="0">
                <a:solidFill>
                  <a:schemeClr val="accent3"/>
                </a:solidFill>
              </a:rPr>
              <a:t>3 min</a:t>
            </a:r>
            <a:endParaRPr lang="en-US" sz="1900" dirty="0"/>
          </a:p>
        </p:txBody>
      </p:sp>
      <p:sp>
        <p:nvSpPr>
          <p:cNvPr id="31" name="text-347"/>
          <p:cNvSpPr txBox="1"/>
          <p:nvPr/>
        </p:nvSpPr>
        <p:spPr>
          <a:xfrm>
            <a:off x="6492240" y="4919472"/>
            <a:ext cx="5120640" cy="411480"/>
          </a:xfrm>
          <a:prstGeom prst="rect">
            <a:avLst/>
          </a:prstGeom>
          <a:noFill/>
          <a:ln/>
        </p:spPr>
        <p:txBody>
          <a:bodyPr wrap="square" lIns="0" tIns="0" rIns="0" bIns="0" rtlCol="0" anchor="t"/>
          <a:lstStyle/>
          <a:p>
            <a:pPr indent="0" marL="0">
              <a:buNone/>
            </a:pPr>
            <a:r>
              <a:rPr lang="en-US" sz="1600" dirty="0">
                <a:solidFill>
                  <a:schemeClr val="accent3"/>
                </a:solidFill>
              </a:rPr>
              <a:t>Which element made the biggest difference?</a:t>
            </a:r>
            <a:endParaRPr lang="en-US" sz="1600" dirty="0"/>
          </a:p>
        </p:txBody>
      </p:sp>
      <p:sp>
        <p:nvSpPr>
          <p:cNvPr id="32" name="text-348"/>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your rewrite has all five elements, and you can point to one thing that got better.</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Exit question</a:t>
            </a:r>
            <a:endParaRPr lang="en-US" sz="3400" dirty="0"/>
          </a:p>
        </p:txBody>
      </p:sp>
      <p:sp>
        <p:nvSpPr>
          <p:cNvPr id="3" name="badge-349"/>
          <p:cNvSpPr/>
          <p:nvPr/>
        </p:nvSpPr>
        <p:spPr>
          <a:xfrm>
            <a:off x="10042855" y="502920"/>
            <a:ext cx="1600200" cy="457200"/>
          </a:xfrm>
          <a:prstGeom prst="roundRect">
            <a:avLst>
              <a:gd name="adj" fmla="val 50000"/>
            </a:avLst>
          </a:prstGeom>
          <a:solidFill>
            <a:schemeClr val="bg2"/>
          </a:solidFill>
          <a:ln/>
        </p:spPr>
      </p:sp>
      <p:sp>
        <p:nvSpPr>
          <p:cNvPr id="4" name="text-350"/>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Before the break</a:t>
            </a:r>
            <a:endParaRPr lang="en-US" sz="1600" dirty="0"/>
          </a:p>
        </p:txBody>
      </p:sp>
      <p:sp>
        <p:nvSpPr>
          <p:cNvPr id="5" name="card-351"/>
          <p:cNvSpPr/>
          <p:nvPr/>
        </p:nvSpPr>
        <p:spPr>
          <a:xfrm>
            <a:off x="548640" y="1554480"/>
            <a:ext cx="5486400" cy="2377440"/>
          </a:xfrm>
          <a:prstGeom prst="roundRect">
            <a:avLst>
              <a:gd name="adj" fmla="val 4615"/>
            </a:avLst>
          </a:prstGeom>
          <a:solidFill>
            <a:schemeClr val="tx1"/>
          </a:solidFill>
          <a:ln/>
        </p:spPr>
      </p:sp>
      <p:sp>
        <p:nvSpPr>
          <p:cNvPr id="6" name="text-352"/>
          <p:cNvSpPr txBox="1"/>
          <p:nvPr/>
        </p:nvSpPr>
        <p:spPr>
          <a:xfrm>
            <a:off x="822960" y="1755648"/>
            <a:ext cx="493776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7" name="text-353"/>
          <p:cNvSpPr txBox="1"/>
          <p:nvPr/>
        </p:nvSpPr>
        <p:spPr>
          <a:xfrm>
            <a:off x="822960" y="2084832"/>
            <a:ext cx="4937760" cy="1664208"/>
          </a:xfrm>
          <a:prstGeom prst="rect">
            <a:avLst/>
          </a:prstGeom>
          <a:noFill/>
          <a:ln/>
        </p:spPr>
        <p:txBody>
          <a:bodyPr wrap="square" lIns="0" tIns="0" rIns="0" bIns="0" rtlCol="0" anchor="t"/>
          <a:lstStyle/>
          <a:p>
            <a:pPr indent="0" marL="0">
              <a:spcAft>
                <a:spcPts val="200"/>
              </a:spcAft>
              <a:buNone/>
            </a:pPr>
            <a:r>
              <a:rPr lang="en-US" sz="1900" dirty="0">
                <a:solidFill>
                  <a:schemeClr val="bg1"/>
                </a:solidFill>
                <a:latin typeface="Courier New" pitchFamily="34" charset="0"/>
                <a:ea typeface="Courier New" pitchFamily="34" charset="-122"/>
                <a:cs typeface="Courier New" pitchFamily="34" charset="-120"/>
              </a:rPr>
              <a:t>Write a short, friendly reminder for our volunteers about Saturday's food drive.</a:t>
            </a:r>
            <a:endParaRPr lang="en-US" sz="1900" dirty="0"/>
          </a:p>
        </p:txBody>
      </p:sp>
      <p:sp>
        <p:nvSpPr>
          <p:cNvPr id="8" name="text-354"/>
          <p:cNvSpPr txBox="1"/>
          <p:nvPr/>
        </p:nvSpPr>
        <p:spPr>
          <a:xfrm>
            <a:off x="6537960" y="1600200"/>
            <a:ext cx="457200" cy="640080"/>
          </a:xfrm>
          <a:prstGeom prst="rect">
            <a:avLst/>
          </a:prstGeom>
          <a:noFill/>
          <a:ln/>
        </p:spPr>
        <p:txBody>
          <a:bodyPr wrap="square" lIns="0" tIns="0" rIns="0" bIns="0" rtlCol="0" anchor="t"/>
          <a:lstStyle/>
          <a:p>
            <a:pPr indent="0" marL="0">
              <a:buNone/>
            </a:pPr>
            <a:r>
              <a:rPr lang="en-US" sz="3600" b="1" dirty="0">
                <a:solidFill>
                  <a:schemeClr val="accent1"/>
                </a:solidFill>
              </a:rPr>
              <a:t>1</a:t>
            </a:r>
            <a:endParaRPr lang="en-US" sz="3600" dirty="0"/>
          </a:p>
        </p:txBody>
      </p:sp>
      <p:sp>
        <p:nvSpPr>
          <p:cNvPr id="9" name="text-355"/>
          <p:cNvSpPr txBox="1"/>
          <p:nvPr/>
        </p:nvSpPr>
        <p:spPr>
          <a:xfrm>
            <a:off x="7086600" y="1691640"/>
            <a:ext cx="4572000" cy="914400"/>
          </a:xfrm>
          <a:prstGeom prst="rect">
            <a:avLst/>
          </a:prstGeom>
          <a:noFill/>
          <a:ln/>
        </p:spPr>
        <p:txBody>
          <a:bodyPr wrap="square" lIns="0" tIns="0" rIns="0" bIns="0" rtlCol="0" anchor="t"/>
          <a:lstStyle/>
          <a:p>
            <a:pPr indent="0" marL="0">
              <a:buNone/>
            </a:pPr>
            <a:r>
              <a:rPr lang="en-US" sz="2400" b="1" dirty="0">
                <a:solidFill>
                  <a:schemeClr val="tx1"/>
                </a:solidFill>
              </a:rPr>
              <a:t>What will the AI have to invent?</a:t>
            </a:r>
            <a:endParaRPr lang="en-US" sz="2400" dirty="0"/>
          </a:p>
        </p:txBody>
      </p:sp>
      <p:sp>
        <p:nvSpPr>
          <p:cNvPr id="10" name="text-356"/>
          <p:cNvSpPr txBox="1"/>
          <p:nvPr/>
        </p:nvSpPr>
        <p:spPr>
          <a:xfrm>
            <a:off x="6537960" y="2788920"/>
            <a:ext cx="457200" cy="640080"/>
          </a:xfrm>
          <a:prstGeom prst="rect">
            <a:avLst/>
          </a:prstGeom>
          <a:noFill/>
          <a:ln/>
        </p:spPr>
        <p:txBody>
          <a:bodyPr wrap="square" lIns="0" tIns="0" rIns="0" bIns="0" rtlCol="0" anchor="t"/>
          <a:lstStyle/>
          <a:p>
            <a:pPr indent="0" marL="0">
              <a:buNone/>
            </a:pPr>
            <a:r>
              <a:rPr lang="en-US" sz="3600" b="1" dirty="0">
                <a:solidFill>
                  <a:schemeClr val="accent1"/>
                </a:solidFill>
              </a:rPr>
              <a:t>2</a:t>
            </a:r>
            <a:endParaRPr lang="en-US" sz="3600" dirty="0"/>
          </a:p>
        </p:txBody>
      </p:sp>
      <p:sp>
        <p:nvSpPr>
          <p:cNvPr id="11" name="text-357"/>
          <p:cNvSpPr txBox="1"/>
          <p:nvPr/>
        </p:nvSpPr>
        <p:spPr>
          <a:xfrm>
            <a:off x="7086600" y="2880360"/>
            <a:ext cx="4572000" cy="914400"/>
          </a:xfrm>
          <a:prstGeom prst="rect">
            <a:avLst/>
          </a:prstGeom>
          <a:noFill/>
          <a:ln/>
        </p:spPr>
        <p:txBody>
          <a:bodyPr wrap="square" lIns="0" tIns="0" rIns="0" bIns="0" rtlCol="0" anchor="t"/>
          <a:lstStyle/>
          <a:p>
            <a:pPr indent="0" marL="0">
              <a:buNone/>
            </a:pPr>
            <a:r>
              <a:rPr lang="en-US" sz="2400" b="1" dirty="0">
                <a:solidFill>
                  <a:schemeClr val="tx1"/>
                </a:solidFill>
              </a:rPr>
              <a:t>Which CRAFT element is missing?</a:t>
            </a:r>
            <a:endParaRPr lang="en-US" sz="2400" dirty="0"/>
          </a:p>
        </p:txBody>
      </p:sp>
      <p:pic>
        <p:nvPicPr>
          <p:cNvPr id="12" name="icon-358" descr="preencoded.png">    </p:cNvPr>
          <p:cNvPicPr>
            <a:picLocks noChangeAspect="1"/>
          </p:cNvPicPr>
          <p:nvPr/>
        </p:nvPicPr>
        <p:blipFill>
          <a:blip r:embed="rId1"/>
          <a:stretch>
            <a:fillRect/>
          </a:stretch>
        </p:blipFill>
        <p:spPr>
          <a:xfrm>
            <a:off x="548640" y="4434840"/>
            <a:ext cx="548640" cy="548640"/>
          </a:xfrm>
          <a:prstGeom prst="rect">
            <a:avLst/>
          </a:prstGeom>
        </p:spPr>
      </p:pic>
      <p:sp>
        <p:nvSpPr>
          <p:cNvPr id="13" name="text-359"/>
          <p:cNvSpPr txBox="1"/>
          <p:nvPr/>
        </p:nvSpPr>
        <p:spPr>
          <a:xfrm>
            <a:off x="1325880" y="4434840"/>
            <a:ext cx="9144000" cy="548640"/>
          </a:xfrm>
          <a:prstGeom prst="rect">
            <a:avLst/>
          </a:prstGeom>
          <a:noFill/>
          <a:ln/>
        </p:spPr>
        <p:txBody>
          <a:bodyPr wrap="square" lIns="0" tIns="0" rIns="0" bIns="0" rtlCol="0" anchor="ctr"/>
          <a:lstStyle/>
          <a:p>
            <a:pPr indent="0" marL="0">
              <a:buNone/>
            </a:pPr>
            <a:r>
              <a:rPr lang="en-US" sz="1900" dirty="0">
                <a:solidFill>
                  <a:schemeClr val="tx1"/>
                </a:solidFill>
              </a:rPr>
              <a:t>Write your answer on a sticky note and hand it in on your way to the break.</a:t>
            </a:r>
            <a:endParaRPr lang="en-US" sz="19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548640" y="1234440"/>
            <a:ext cx="3657600" cy="1554480"/>
          </a:xfrm>
          <a:prstGeom prst="rect">
            <a:avLst/>
          </a:prstGeom>
          <a:noFill/>
          <a:ln/>
        </p:spPr>
        <p:txBody>
          <a:bodyPr wrap="square" lIns="0" tIns="0" rIns="0" bIns="0" rtlCol="0" anchor="b"/>
          <a:lstStyle/>
          <a:p>
            <a:pPr algn="l" indent="0" marL="0">
              <a:buNone/>
            </a:pPr>
            <a:r>
              <a:rPr lang="en-US" sz="11000" b="1" dirty="0">
                <a:solidFill>
                  <a:schemeClr val="accent1"/>
                </a:solidFill>
              </a:rPr>
              <a:t>02</a:t>
            </a:r>
            <a:endParaRPr lang="en-US" sz="11000" dirty="0"/>
          </a:p>
        </p:txBody>
      </p:sp>
      <p:sp>
        <p:nvSpPr>
          <p:cNvPr id="3" name="Text 0"/>
          <p:cNvSpPr/>
          <p:nvPr>
            <p:ph idx="102" type="title" hasCustomPrompt="1"/>
          </p:nvPr>
        </p:nvSpPr>
        <p:spPr>
          <a:xfrm>
            <a:off x="548640" y="2926080"/>
            <a:ext cx="10515600" cy="1005840"/>
          </a:xfrm>
          <a:prstGeom prst="rect">
            <a:avLst/>
          </a:prstGeom>
          <a:noFill/>
          <a:ln/>
        </p:spPr>
        <p:txBody>
          <a:bodyPr wrap="square" lIns="0" tIns="0" rIns="0" bIns="0" rtlCol="0" anchor="t"/>
          <a:lstStyle/>
          <a:p>
            <a:pPr algn="l" indent="0" marL="0">
              <a:buNone/>
            </a:pPr>
            <a:r>
              <a:rPr lang="en-US" sz="5000" b="1" dirty="0">
                <a:solidFill>
                  <a:schemeClr val="bg1"/>
                </a:solidFill>
              </a:rPr>
              <a:t>Core skills</a:t>
            </a:r>
            <a:endParaRPr lang="en-US" sz="5000" dirty="0"/>
          </a:p>
        </p:txBody>
      </p:sp>
      <p:sp>
        <p:nvSpPr>
          <p:cNvPr id="4" name="Text 0"/>
          <p:cNvSpPr/>
          <p:nvPr>
            <p:ph idx="103" type="body" hasCustomPrompt="1"/>
          </p:nvPr>
        </p:nvSpPr>
        <p:spPr>
          <a:xfrm>
            <a:off x="548640" y="3931920"/>
            <a:ext cx="10515600" cy="640080"/>
          </a:xfrm>
          <a:prstGeom prst="rect">
            <a:avLst/>
          </a:prstGeom>
          <a:noFill/>
          <a:ln/>
        </p:spPr>
        <p:txBody>
          <a:bodyPr wrap="square" lIns="0" tIns="0" rIns="0" bIns="0" rtlCol="0" anchor="t"/>
          <a:lstStyle/>
          <a:p>
            <a:pPr algn="l" indent="0" marL="0">
              <a:buNone/>
            </a:pPr>
            <a:r>
              <a:rPr lang="en-US" sz="2600" dirty="0">
                <a:solidFill>
                  <a:schemeClr val="accent3"/>
                </a:solidFill>
              </a:rPr>
              <a:t>Prompt engineering techniques</a:t>
            </a:r>
            <a:endParaRPr lang="en-US" sz="2600" dirty="0"/>
          </a:p>
        </p:txBody>
      </p:sp>
      <p:sp>
        <p:nvSpPr>
          <p:cNvPr id="5" name="Text 0"/>
          <p:cNvSpPr/>
          <p:nvPr>
            <p:ph idx="104" type="body" hasCustomPrompt="1"/>
          </p:nvPr>
        </p:nvSpPr>
        <p:spPr>
          <a:xfrm>
            <a:off x="548640" y="4983480"/>
            <a:ext cx="5486400" cy="411480"/>
          </a:xfrm>
          <a:prstGeom prst="rect">
            <a:avLst/>
          </a:prstGeom>
          <a:noFill/>
          <a:ln/>
        </p:spPr>
        <p:txBody>
          <a:bodyPr wrap="square" lIns="0" tIns="0" rIns="0" bIns="0" rtlCol="0" anchor="t"/>
          <a:lstStyle/>
          <a:p>
            <a:pPr algn="l" indent="0" marL="0">
              <a:buNone/>
            </a:pPr>
            <a:r>
              <a:rPr lang="en-US" sz="1600" dirty="0">
                <a:solidFill>
                  <a:schemeClr val="accent3"/>
                </a:solidFill>
              </a:rPr>
              <a:t>10:45 a.m. – 12:00 p.m.</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Warm-up: CRAFT from memory</a:t>
            </a:r>
            <a:endParaRPr lang="en-US" sz="3400" dirty="0"/>
          </a:p>
        </p:txBody>
      </p:sp>
      <p:sp>
        <p:nvSpPr>
          <p:cNvPr id="3" name="badge-360"/>
          <p:cNvSpPr/>
          <p:nvPr/>
        </p:nvSpPr>
        <p:spPr>
          <a:xfrm>
            <a:off x="10042855" y="502920"/>
            <a:ext cx="1600200" cy="457200"/>
          </a:xfrm>
          <a:prstGeom prst="roundRect">
            <a:avLst>
              <a:gd name="adj" fmla="val 50000"/>
            </a:avLst>
          </a:prstGeom>
          <a:solidFill>
            <a:schemeClr val="bg2"/>
          </a:solidFill>
          <a:ln/>
        </p:spPr>
      </p:sp>
      <p:sp>
        <p:nvSpPr>
          <p:cNvPr id="4" name="text-361"/>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3 min</a:t>
            </a:r>
            <a:endParaRPr lang="en-US" sz="1600" dirty="0"/>
          </a:p>
        </p:txBody>
      </p:sp>
      <p:sp>
        <p:nvSpPr>
          <p:cNvPr id="5" name="dot-362"/>
          <p:cNvSpPr/>
          <p:nvPr/>
        </p:nvSpPr>
        <p:spPr>
          <a:xfrm>
            <a:off x="548640" y="1828800"/>
            <a:ext cx="1371600" cy="1371600"/>
          </a:xfrm>
          <a:prstGeom prst="ellipse">
            <a:avLst/>
          </a:prstGeom>
          <a:solidFill>
            <a:schemeClr val="tx1"/>
          </a:solidFill>
          <a:ln/>
        </p:spPr>
      </p:sp>
      <p:pic>
        <p:nvPicPr>
          <p:cNvPr id="6" name="icon-363" descr="preencoded.png">    </p:cNvPr>
          <p:cNvPicPr>
            <a:picLocks noChangeAspect="1"/>
          </p:cNvPicPr>
          <p:nvPr/>
        </p:nvPicPr>
        <p:blipFill>
          <a:blip r:embed="rId1"/>
          <a:stretch>
            <a:fillRect/>
          </a:stretch>
        </p:blipFill>
        <p:spPr>
          <a:xfrm>
            <a:off x="850392" y="2130552"/>
            <a:ext cx="768096" cy="768096"/>
          </a:xfrm>
          <a:prstGeom prst="rect">
            <a:avLst/>
          </a:prstGeom>
        </p:spPr>
      </p:pic>
      <p:sp>
        <p:nvSpPr>
          <p:cNvPr id="7" name="text-364"/>
          <p:cNvSpPr txBox="1"/>
          <p:nvPr/>
        </p:nvSpPr>
        <p:spPr>
          <a:xfrm>
            <a:off x="2377440" y="1828800"/>
            <a:ext cx="8686800" cy="914400"/>
          </a:xfrm>
          <a:prstGeom prst="rect">
            <a:avLst/>
          </a:prstGeom>
          <a:noFill/>
          <a:ln/>
        </p:spPr>
        <p:txBody>
          <a:bodyPr wrap="square" lIns="0" tIns="0" rIns="0" bIns="0" rtlCol="0" anchor="t"/>
          <a:lstStyle/>
          <a:p>
            <a:pPr indent="0" marL="0">
              <a:buNone/>
            </a:pPr>
            <a:r>
              <a:rPr lang="en-US" sz="3000" b="1" dirty="0">
                <a:solidFill>
                  <a:schemeClr val="tx1"/>
                </a:solidFill>
              </a:rPr>
              <a:t>In pairs, without looking: name the five CRAFT elements.</a:t>
            </a:r>
            <a:endParaRPr lang="en-US" sz="3000" dirty="0"/>
          </a:p>
        </p:txBody>
      </p:sp>
      <p:sp>
        <p:nvSpPr>
          <p:cNvPr id="8" name="text-365"/>
          <p:cNvSpPr txBox="1"/>
          <p:nvPr/>
        </p:nvSpPr>
        <p:spPr>
          <a:xfrm>
            <a:off x="2377440" y="2880360"/>
            <a:ext cx="8686800" cy="548640"/>
          </a:xfrm>
          <a:prstGeom prst="rect">
            <a:avLst/>
          </a:prstGeom>
          <a:noFill/>
          <a:ln/>
        </p:spPr>
        <p:txBody>
          <a:bodyPr wrap="square" lIns="0" tIns="0" rIns="0" bIns="0" rtlCol="0" anchor="t"/>
          <a:lstStyle/>
          <a:p>
            <a:pPr indent="0" marL="0">
              <a:buNone/>
            </a:pPr>
            <a:r>
              <a:rPr lang="en-US" sz="2400" dirty="0">
                <a:solidFill>
                  <a:schemeClr val="tx2"/>
                </a:solidFill>
              </a:rPr>
              <a:t>Then: which one do you skip most often?</a:t>
            </a:r>
            <a:endParaRPr lang="en-US" sz="2400" dirty="0"/>
          </a:p>
        </p:txBody>
      </p:sp>
      <p:sp>
        <p:nvSpPr>
          <p:cNvPr id="9" name="card-366"/>
          <p:cNvSpPr/>
          <p:nvPr/>
        </p:nvSpPr>
        <p:spPr>
          <a:xfrm>
            <a:off x="548640" y="3931920"/>
            <a:ext cx="2014057" cy="1737360"/>
          </a:xfrm>
          <a:prstGeom prst="roundRect">
            <a:avLst>
              <a:gd name="adj" fmla="val 6316"/>
            </a:avLst>
          </a:prstGeom>
          <a:solidFill>
            <a:schemeClr val="bg2"/>
          </a:solidFill>
          <a:ln w="19050">
            <a:solidFill>
              <a:srgbClr val="BCBBBA"/>
            </a:solidFill>
            <a:prstDash val="dash"/>
          </a:ln>
        </p:spPr>
      </p:sp>
      <p:sp>
        <p:nvSpPr>
          <p:cNvPr id="10" name="text-367"/>
          <p:cNvSpPr txBox="1"/>
          <p:nvPr/>
        </p:nvSpPr>
        <p:spPr>
          <a:xfrm>
            <a:off x="548640" y="3931920"/>
            <a:ext cx="2014057" cy="1737360"/>
          </a:xfrm>
          <a:prstGeom prst="rect">
            <a:avLst/>
          </a:prstGeom>
          <a:noFill/>
          <a:ln/>
        </p:spPr>
        <p:txBody>
          <a:bodyPr wrap="square" lIns="0" tIns="0" rIns="0" bIns="0" rtlCol="0" anchor="ctr"/>
          <a:lstStyle/>
          <a:p>
            <a:pPr algn="ctr" indent="0" marL="0">
              <a:buNone/>
            </a:pPr>
            <a:r>
              <a:rPr lang="en-US" sz="6000" b="1" dirty="0">
                <a:solidFill>
                  <a:schemeClr val="accent3"/>
                </a:solidFill>
              </a:rPr>
              <a:t>?</a:t>
            </a:r>
            <a:endParaRPr lang="en-US" sz="6000" dirty="0"/>
          </a:p>
        </p:txBody>
      </p:sp>
      <p:sp>
        <p:nvSpPr>
          <p:cNvPr id="11" name="card-368"/>
          <p:cNvSpPr/>
          <p:nvPr/>
        </p:nvSpPr>
        <p:spPr>
          <a:xfrm>
            <a:off x="2818729" y="3931920"/>
            <a:ext cx="2014057" cy="1737360"/>
          </a:xfrm>
          <a:prstGeom prst="roundRect">
            <a:avLst>
              <a:gd name="adj" fmla="val 6316"/>
            </a:avLst>
          </a:prstGeom>
          <a:solidFill>
            <a:schemeClr val="bg2"/>
          </a:solidFill>
          <a:ln w="19050">
            <a:solidFill>
              <a:srgbClr val="BCBBBA"/>
            </a:solidFill>
            <a:prstDash val="dash"/>
          </a:ln>
        </p:spPr>
      </p:sp>
      <p:sp>
        <p:nvSpPr>
          <p:cNvPr id="12" name="text-369"/>
          <p:cNvSpPr txBox="1"/>
          <p:nvPr/>
        </p:nvSpPr>
        <p:spPr>
          <a:xfrm>
            <a:off x="2818729" y="3931920"/>
            <a:ext cx="2014057" cy="1737360"/>
          </a:xfrm>
          <a:prstGeom prst="rect">
            <a:avLst/>
          </a:prstGeom>
          <a:noFill/>
          <a:ln/>
        </p:spPr>
        <p:txBody>
          <a:bodyPr wrap="square" lIns="0" tIns="0" rIns="0" bIns="0" rtlCol="0" anchor="ctr"/>
          <a:lstStyle/>
          <a:p>
            <a:pPr algn="ctr" indent="0" marL="0">
              <a:buNone/>
            </a:pPr>
            <a:r>
              <a:rPr lang="en-US" sz="6000" b="1" dirty="0">
                <a:solidFill>
                  <a:schemeClr val="accent3"/>
                </a:solidFill>
              </a:rPr>
              <a:t>?</a:t>
            </a:r>
            <a:endParaRPr lang="en-US" sz="6000" dirty="0"/>
          </a:p>
        </p:txBody>
      </p:sp>
      <p:sp>
        <p:nvSpPr>
          <p:cNvPr id="13" name="card-370"/>
          <p:cNvSpPr/>
          <p:nvPr/>
        </p:nvSpPr>
        <p:spPr>
          <a:xfrm>
            <a:off x="5088819" y="3931920"/>
            <a:ext cx="2014057" cy="1737360"/>
          </a:xfrm>
          <a:prstGeom prst="roundRect">
            <a:avLst>
              <a:gd name="adj" fmla="val 6316"/>
            </a:avLst>
          </a:prstGeom>
          <a:solidFill>
            <a:schemeClr val="bg2"/>
          </a:solidFill>
          <a:ln w="19050">
            <a:solidFill>
              <a:srgbClr val="BCBBBA"/>
            </a:solidFill>
            <a:prstDash val="dash"/>
          </a:ln>
        </p:spPr>
      </p:sp>
      <p:sp>
        <p:nvSpPr>
          <p:cNvPr id="14" name="text-371"/>
          <p:cNvSpPr txBox="1"/>
          <p:nvPr/>
        </p:nvSpPr>
        <p:spPr>
          <a:xfrm>
            <a:off x="5088819" y="3931920"/>
            <a:ext cx="2014057" cy="1737360"/>
          </a:xfrm>
          <a:prstGeom prst="rect">
            <a:avLst/>
          </a:prstGeom>
          <a:noFill/>
          <a:ln/>
        </p:spPr>
        <p:txBody>
          <a:bodyPr wrap="square" lIns="0" tIns="0" rIns="0" bIns="0" rtlCol="0" anchor="ctr"/>
          <a:lstStyle/>
          <a:p>
            <a:pPr algn="ctr" indent="0" marL="0">
              <a:buNone/>
            </a:pPr>
            <a:r>
              <a:rPr lang="en-US" sz="6000" b="1" dirty="0">
                <a:solidFill>
                  <a:schemeClr val="accent3"/>
                </a:solidFill>
              </a:rPr>
              <a:t>?</a:t>
            </a:r>
            <a:endParaRPr lang="en-US" sz="6000" dirty="0"/>
          </a:p>
        </p:txBody>
      </p:sp>
      <p:sp>
        <p:nvSpPr>
          <p:cNvPr id="15" name="card-372"/>
          <p:cNvSpPr/>
          <p:nvPr/>
        </p:nvSpPr>
        <p:spPr>
          <a:xfrm>
            <a:off x="7358908" y="3931920"/>
            <a:ext cx="2014057" cy="1737360"/>
          </a:xfrm>
          <a:prstGeom prst="roundRect">
            <a:avLst>
              <a:gd name="adj" fmla="val 6316"/>
            </a:avLst>
          </a:prstGeom>
          <a:solidFill>
            <a:schemeClr val="bg2"/>
          </a:solidFill>
          <a:ln w="19050">
            <a:solidFill>
              <a:srgbClr val="BCBBBA"/>
            </a:solidFill>
            <a:prstDash val="dash"/>
          </a:ln>
        </p:spPr>
      </p:sp>
      <p:sp>
        <p:nvSpPr>
          <p:cNvPr id="16" name="text-373"/>
          <p:cNvSpPr txBox="1"/>
          <p:nvPr/>
        </p:nvSpPr>
        <p:spPr>
          <a:xfrm>
            <a:off x="7358908" y="3931920"/>
            <a:ext cx="2014057" cy="1737360"/>
          </a:xfrm>
          <a:prstGeom prst="rect">
            <a:avLst/>
          </a:prstGeom>
          <a:noFill/>
          <a:ln/>
        </p:spPr>
        <p:txBody>
          <a:bodyPr wrap="square" lIns="0" tIns="0" rIns="0" bIns="0" rtlCol="0" anchor="ctr"/>
          <a:lstStyle/>
          <a:p>
            <a:pPr algn="ctr" indent="0" marL="0">
              <a:buNone/>
            </a:pPr>
            <a:r>
              <a:rPr lang="en-US" sz="6000" b="1" dirty="0">
                <a:solidFill>
                  <a:schemeClr val="accent3"/>
                </a:solidFill>
              </a:rPr>
              <a:t>?</a:t>
            </a:r>
            <a:endParaRPr lang="en-US" sz="6000" dirty="0"/>
          </a:p>
        </p:txBody>
      </p:sp>
      <p:sp>
        <p:nvSpPr>
          <p:cNvPr id="17" name="card-374"/>
          <p:cNvSpPr/>
          <p:nvPr/>
        </p:nvSpPr>
        <p:spPr>
          <a:xfrm>
            <a:off x="9628998" y="3931920"/>
            <a:ext cx="2014057" cy="1737360"/>
          </a:xfrm>
          <a:prstGeom prst="roundRect">
            <a:avLst>
              <a:gd name="adj" fmla="val 6316"/>
            </a:avLst>
          </a:prstGeom>
          <a:solidFill>
            <a:schemeClr val="bg2"/>
          </a:solidFill>
          <a:ln w="19050">
            <a:solidFill>
              <a:srgbClr val="BCBBBA"/>
            </a:solidFill>
            <a:prstDash val="dash"/>
          </a:ln>
        </p:spPr>
      </p:sp>
      <p:sp>
        <p:nvSpPr>
          <p:cNvPr id="18" name="text-375"/>
          <p:cNvSpPr txBox="1"/>
          <p:nvPr/>
        </p:nvSpPr>
        <p:spPr>
          <a:xfrm>
            <a:off x="9628998" y="3931920"/>
            <a:ext cx="2014057" cy="1737360"/>
          </a:xfrm>
          <a:prstGeom prst="rect">
            <a:avLst/>
          </a:prstGeom>
          <a:noFill/>
          <a:ln/>
        </p:spPr>
        <p:txBody>
          <a:bodyPr wrap="square" lIns="0" tIns="0" rIns="0" bIns="0" rtlCol="0" anchor="ctr"/>
          <a:lstStyle/>
          <a:p>
            <a:pPr algn="ctr" indent="0" marL="0">
              <a:buNone/>
            </a:pPr>
            <a:r>
              <a:rPr lang="en-US" sz="6000" b="1" dirty="0">
                <a:solidFill>
                  <a:schemeClr val="accent3"/>
                </a:solidFill>
              </a:rPr>
              <a:t>?</a:t>
            </a:r>
            <a:endParaRPr lang="en-US" sz="60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Show and ground: four techniques</a:t>
            </a:r>
            <a:endParaRPr lang="en-US" sz="3400" dirty="0"/>
          </a:p>
        </p:txBody>
      </p:sp>
      <p:sp>
        <p:nvSpPr>
          <p:cNvPr id="3" name="card-376"/>
          <p:cNvSpPr/>
          <p:nvPr/>
        </p:nvSpPr>
        <p:spPr>
          <a:xfrm>
            <a:off x="548640" y="1463040"/>
            <a:ext cx="2567864" cy="4572000"/>
          </a:xfrm>
          <a:prstGeom prst="roundRect">
            <a:avLst>
              <a:gd name="adj" fmla="val 4273"/>
            </a:avLst>
          </a:prstGeom>
          <a:solidFill>
            <a:schemeClr val="bg2"/>
          </a:solidFill>
          <a:ln/>
        </p:spPr>
      </p:sp>
      <p:sp>
        <p:nvSpPr>
          <p:cNvPr id="4" name="dot-377"/>
          <p:cNvSpPr/>
          <p:nvPr/>
        </p:nvSpPr>
        <p:spPr>
          <a:xfrm>
            <a:off x="822960" y="1737360"/>
            <a:ext cx="685800" cy="685800"/>
          </a:xfrm>
          <a:prstGeom prst="ellipse">
            <a:avLst/>
          </a:prstGeom>
          <a:solidFill>
            <a:schemeClr val="tx1"/>
          </a:solidFill>
          <a:ln/>
        </p:spPr>
      </p:sp>
      <p:pic>
        <p:nvPicPr>
          <p:cNvPr id="5" name="icon-378"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6" name="text-379"/>
          <p:cNvSpPr txBox="1"/>
          <p:nvPr/>
        </p:nvSpPr>
        <p:spPr>
          <a:xfrm>
            <a:off x="822960" y="2560320"/>
            <a:ext cx="2110664" cy="731520"/>
          </a:xfrm>
          <a:prstGeom prst="rect">
            <a:avLst/>
          </a:prstGeom>
          <a:noFill/>
          <a:ln/>
        </p:spPr>
        <p:txBody>
          <a:bodyPr wrap="square" lIns="0" tIns="0" rIns="0" bIns="0" rtlCol="0" anchor="b"/>
          <a:lstStyle/>
          <a:p>
            <a:pPr indent="0" marL="0">
              <a:buNone/>
            </a:pPr>
            <a:r>
              <a:rPr lang="en-US" sz="2100" b="1" dirty="0">
                <a:solidFill>
                  <a:schemeClr val="tx1"/>
                </a:solidFill>
              </a:rPr>
              <a:t>Give an example</a:t>
            </a:r>
            <a:endParaRPr lang="en-US" sz="2100" dirty="0"/>
          </a:p>
        </p:txBody>
      </p:sp>
      <p:sp>
        <p:nvSpPr>
          <p:cNvPr id="7" name="text-380"/>
          <p:cNvSpPr txBox="1"/>
          <p:nvPr/>
        </p:nvSpPr>
        <p:spPr>
          <a:xfrm>
            <a:off x="822960" y="3383280"/>
            <a:ext cx="2110664" cy="1097280"/>
          </a:xfrm>
          <a:prstGeom prst="rect">
            <a:avLst/>
          </a:prstGeom>
          <a:noFill/>
          <a:ln/>
        </p:spPr>
        <p:txBody>
          <a:bodyPr wrap="square" lIns="0" tIns="0" rIns="0" bIns="0" rtlCol="0" anchor="t"/>
          <a:lstStyle/>
          <a:p>
            <a:pPr indent="0" marL="0">
              <a:buNone/>
            </a:pPr>
            <a:r>
              <a:rPr lang="en-US" sz="1600" dirty="0">
                <a:solidFill>
                  <a:schemeClr val="tx2"/>
                </a:solidFill>
              </a:rPr>
              <a:t>Show one to three samples of what you want. It copies the pattern.</a:t>
            </a:r>
            <a:endParaRPr lang="en-US" sz="1600" dirty="0"/>
          </a:p>
        </p:txBody>
      </p:sp>
      <p:sp>
        <p:nvSpPr>
          <p:cNvPr id="8" name="card-381"/>
          <p:cNvSpPr/>
          <p:nvPr/>
        </p:nvSpPr>
        <p:spPr>
          <a:xfrm>
            <a:off x="777240" y="4526280"/>
            <a:ext cx="2110664" cy="1234440"/>
          </a:xfrm>
          <a:prstGeom prst="roundRect">
            <a:avLst>
              <a:gd name="adj" fmla="val 5926"/>
            </a:avLst>
          </a:prstGeom>
          <a:solidFill>
            <a:schemeClr val="tx1"/>
          </a:solidFill>
          <a:ln/>
        </p:spPr>
      </p:sp>
      <p:sp>
        <p:nvSpPr>
          <p:cNvPr id="9" name="text-382"/>
          <p:cNvSpPr txBox="1"/>
          <p:nvPr/>
        </p:nvSpPr>
        <p:spPr>
          <a:xfrm>
            <a:off x="960120"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Example: …</a:t>
            </a:r>
            <a:endParaRPr lang="en-US" sz="1400" dirty="0"/>
          </a:p>
        </p:txBody>
      </p:sp>
      <p:sp>
        <p:nvSpPr>
          <p:cNvPr id="10" name="card-383"/>
          <p:cNvSpPr/>
          <p:nvPr/>
        </p:nvSpPr>
        <p:spPr>
          <a:xfrm>
            <a:off x="3390824" y="1463040"/>
            <a:ext cx="2567864" cy="4572000"/>
          </a:xfrm>
          <a:prstGeom prst="roundRect">
            <a:avLst>
              <a:gd name="adj" fmla="val 4273"/>
            </a:avLst>
          </a:prstGeom>
          <a:solidFill>
            <a:schemeClr val="bg2"/>
          </a:solidFill>
          <a:ln/>
        </p:spPr>
      </p:sp>
      <p:sp>
        <p:nvSpPr>
          <p:cNvPr id="11" name="dot-384"/>
          <p:cNvSpPr/>
          <p:nvPr/>
        </p:nvSpPr>
        <p:spPr>
          <a:xfrm>
            <a:off x="3665144" y="1737360"/>
            <a:ext cx="685800" cy="685800"/>
          </a:xfrm>
          <a:prstGeom prst="ellipse">
            <a:avLst/>
          </a:prstGeom>
          <a:solidFill>
            <a:schemeClr val="tx1"/>
          </a:solidFill>
          <a:ln/>
        </p:spPr>
      </p:sp>
      <p:pic>
        <p:nvPicPr>
          <p:cNvPr id="12" name="icon-385" descr="preencoded.png">    </p:cNvPr>
          <p:cNvPicPr>
            <a:picLocks noChangeAspect="1"/>
          </p:cNvPicPr>
          <p:nvPr/>
        </p:nvPicPr>
        <p:blipFill>
          <a:blip r:embed="rId2"/>
          <a:stretch>
            <a:fillRect/>
          </a:stretch>
        </p:blipFill>
        <p:spPr>
          <a:xfrm>
            <a:off x="3816020" y="1888236"/>
            <a:ext cx="384048" cy="384048"/>
          </a:xfrm>
          <a:prstGeom prst="rect">
            <a:avLst/>
          </a:prstGeom>
        </p:spPr>
      </p:pic>
      <p:sp>
        <p:nvSpPr>
          <p:cNvPr id="13" name="text-386"/>
          <p:cNvSpPr txBox="1"/>
          <p:nvPr/>
        </p:nvSpPr>
        <p:spPr>
          <a:xfrm>
            <a:off x="3665144" y="2560320"/>
            <a:ext cx="2110664" cy="731520"/>
          </a:xfrm>
          <a:prstGeom prst="rect">
            <a:avLst/>
          </a:prstGeom>
          <a:noFill/>
          <a:ln/>
        </p:spPr>
        <p:txBody>
          <a:bodyPr wrap="square" lIns="0" tIns="0" rIns="0" bIns="0" rtlCol="0" anchor="b"/>
          <a:lstStyle/>
          <a:p>
            <a:pPr indent="0" marL="0">
              <a:buNone/>
            </a:pPr>
            <a:r>
              <a:rPr lang="en-US" sz="2100" b="1" dirty="0">
                <a:solidFill>
                  <a:schemeClr val="tx1"/>
                </a:solidFill>
              </a:rPr>
              <a:t>Fence the source</a:t>
            </a:r>
            <a:endParaRPr lang="en-US" sz="2100" dirty="0"/>
          </a:p>
        </p:txBody>
      </p:sp>
      <p:sp>
        <p:nvSpPr>
          <p:cNvPr id="14" name="text-387"/>
          <p:cNvSpPr txBox="1"/>
          <p:nvPr/>
        </p:nvSpPr>
        <p:spPr>
          <a:xfrm>
            <a:off x="3665144" y="3383280"/>
            <a:ext cx="2110664" cy="1097280"/>
          </a:xfrm>
          <a:prstGeom prst="rect">
            <a:avLst/>
          </a:prstGeom>
          <a:noFill/>
          <a:ln/>
        </p:spPr>
        <p:txBody>
          <a:bodyPr wrap="square" lIns="0" tIns="0" rIns="0" bIns="0" rtlCol="0" anchor="t"/>
          <a:lstStyle/>
          <a:p>
            <a:pPr indent="0" marL="0">
              <a:buNone/>
            </a:pPr>
            <a:r>
              <a:rPr lang="en-US" sz="1600" dirty="0">
                <a:solidFill>
                  <a:schemeClr val="tx2"/>
                </a:solidFill>
              </a:rPr>
              <a:t>Put pasted material between clear markers.</a:t>
            </a:r>
            <a:endParaRPr lang="en-US" sz="1600" dirty="0"/>
          </a:p>
        </p:txBody>
      </p:sp>
      <p:sp>
        <p:nvSpPr>
          <p:cNvPr id="15" name="card-388"/>
          <p:cNvSpPr/>
          <p:nvPr/>
        </p:nvSpPr>
        <p:spPr>
          <a:xfrm>
            <a:off x="3619424" y="4526280"/>
            <a:ext cx="2110664" cy="1234440"/>
          </a:xfrm>
          <a:prstGeom prst="roundRect">
            <a:avLst>
              <a:gd name="adj" fmla="val 5926"/>
            </a:avLst>
          </a:prstGeom>
          <a:solidFill>
            <a:schemeClr val="tx1"/>
          </a:solidFill>
          <a:ln/>
        </p:spPr>
      </p:sp>
      <p:sp>
        <p:nvSpPr>
          <p:cNvPr id="16" name="text-389"/>
          <p:cNvSpPr txBox="1"/>
          <p:nvPr/>
        </p:nvSpPr>
        <p:spPr>
          <a:xfrm>
            <a:off x="3802304"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7" name="card-390"/>
          <p:cNvSpPr/>
          <p:nvPr/>
        </p:nvSpPr>
        <p:spPr>
          <a:xfrm>
            <a:off x="6233008" y="1463040"/>
            <a:ext cx="2567864" cy="4572000"/>
          </a:xfrm>
          <a:prstGeom prst="roundRect">
            <a:avLst>
              <a:gd name="adj" fmla="val 4273"/>
            </a:avLst>
          </a:prstGeom>
          <a:solidFill>
            <a:schemeClr val="bg2"/>
          </a:solidFill>
          <a:ln/>
        </p:spPr>
      </p:sp>
      <p:sp>
        <p:nvSpPr>
          <p:cNvPr id="18" name="dot-391"/>
          <p:cNvSpPr/>
          <p:nvPr/>
        </p:nvSpPr>
        <p:spPr>
          <a:xfrm>
            <a:off x="6507328" y="1737360"/>
            <a:ext cx="685800" cy="685800"/>
          </a:xfrm>
          <a:prstGeom prst="ellipse">
            <a:avLst/>
          </a:prstGeom>
          <a:solidFill>
            <a:schemeClr val="accent1"/>
          </a:solidFill>
          <a:ln/>
        </p:spPr>
      </p:sp>
      <p:pic>
        <p:nvPicPr>
          <p:cNvPr id="19" name="icon-392" descr="preencoded.png">    </p:cNvPr>
          <p:cNvPicPr>
            <a:picLocks noChangeAspect="1"/>
          </p:cNvPicPr>
          <p:nvPr/>
        </p:nvPicPr>
        <p:blipFill>
          <a:blip r:embed="rId3"/>
          <a:stretch>
            <a:fillRect/>
          </a:stretch>
        </p:blipFill>
        <p:spPr>
          <a:xfrm>
            <a:off x="6658204" y="1888236"/>
            <a:ext cx="384048" cy="384048"/>
          </a:xfrm>
          <a:prstGeom prst="rect">
            <a:avLst/>
          </a:prstGeom>
        </p:spPr>
      </p:pic>
      <p:sp>
        <p:nvSpPr>
          <p:cNvPr id="20" name="text-393"/>
          <p:cNvSpPr txBox="1"/>
          <p:nvPr/>
        </p:nvSpPr>
        <p:spPr>
          <a:xfrm>
            <a:off x="6507328" y="2560320"/>
            <a:ext cx="2110664" cy="731520"/>
          </a:xfrm>
          <a:prstGeom prst="rect">
            <a:avLst/>
          </a:prstGeom>
          <a:noFill/>
          <a:ln/>
        </p:spPr>
        <p:txBody>
          <a:bodyPr wrap="square" lIns="0" tIns="0" rIns="0" bIns="0" rtlCol="0" anchor="b"/>
          <a:lstStyle/>
          <a:p>
            <a:pPr indent="0" marL="0">
              <a:buNone/>
            </a:pPr>
            <a:r>
              <a:rPr lang="en-US" sz="2100" b="1" dirty="0">
                <a:solidFill>
                  <a:schemeClr val="tx1"/>
                </a:solidFill>
              </a:rPr>
              <a:t>Ground it</a:t>
            </a:r>
            <a:endParaRPr lang="en-US" sz="2100" dirty="0"/>
          </a:p>
        </p:txBody>
      </p:sp>
      <p:sp>
        <p:nvSpPr>
          <p:cNvPr id="21" name="text-394"/>
          <p:cNvSpPr txBox="1"/>
          <p:nvPr/>
        </p:nvSpPr>
        <p:spPr>
          <a:xfrm>
            <a:off x="6507328" y="3383280"/>
            <a:ext cx="2110664" cy="1097280"/>
          </a:xfrm>
          <a:prstGeom prst="rect">
            <a:avLst/>
          </a:prstGeom>
          <a:noFill/>
          <a:ln/>
        </p:spPr>
        <p:txBody>
          <a:bodyPr wrap="square" lIns="0" tIns="0" rIns="0" bIns="0" rtlCol="0" anchor="t"/>
          <a:lstStyle/>
          <a:p>
            <a:pPr indent="0" marL="0">
              <a:buNone/>
            </a:pPr>
            <a:r>
              <a:rPr lang="en-US" sz="1600" dirty="0">
                <a:solidFill>
                  <a:schemeClr val="tx2"/>
                </a:solidFill>
              </a:rPr>
              <a:t>Use only your material, and say what to do when something's missing.</a:t>
            </a:r>
            <a:endParaRPr lang="en-US" sz="1600" dirty="0"/>
          </a:p>
        </p:txBody>
      </p:sp>
      <p:sp>
        <p:nvSpPr>
          <p:cNvPr id="22" name="card-395"/>
          <p:cNvSpPr/>
          <p:nvPr/>
        </p:nvSpPr>
        <p:spPr>
          <a:xfrm>
            <a:off x="6461608" y="4526280"/>
            <a:ext cx="2110664" cy="1234440"/>
          </a:xfrm>
          <a:prstGeom prst="roundRect">
            <a:avLst>
              <a:gd name="adj" fmla="val 5926"/>
            </a:avLst>
          </a:prstGeom>
          <a:solidFill>
            <a:schemeClr val="tx1"/>
          </a:solidFill>
          <a:ln/>
        </p:spPr>
      </p:sp>
      <p:sp>
        <p:nvSpPr>
          <p:cNvPr id="23" name="text-396"/>
          <p:cNvSpPr txBox="1"/>
          <p:nvPr/>
        </p:nvSpPr>
        <p:spPr>
          <a:xfrm>
            <a:off x="6644488"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If it's not there,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write "Not stated."</a:t>
            </a:r>
            <a:endParaRPr lang="en-US" sz="1400" dirty="0"/>
          </a:p>
        </p:txBody>
      </p:sp>
      <p:sp>
        <p:nvSpPr>
          <p:cNvPr id="24" name="card-397"/>
          <p:cNvSpPr/>
          <p:nvPr/>
        </p:nvSpPr>
        <p:spPr>
          <a:xfrm>
            <a:off x="9075191" y="1463040"/>
            <a:ext cx="2567864" cy="4572000"/>
          </a:xfrm>
          <a:prstGeom prst="roundRect">
            <a:avLst>
              <a:gd name="adj" fmla="val 4273"/>
            </a:avLst>
          </a:prstGeom>
          <a:solidFill>
            <a:schemeClr val="bg2"/>
          </a:solidFill>
          <a:ln/>
        </p:spPr>
      </p:sp>
      <p:sp>
        <p:nvSpPr>
          <p:cNvPr id="25" name="dot-398"/>
          <p:cNvSpPr/>
          <p:nvPr/>
        </p:nvSpPr>
        <p:spPr>
          <a:xfrm>
            <a:off x="9349511" y="1737360"/>
            <a:ext cx="685800" cy="685800"/>
          </a:xfrm>
          <a:prstGeom prst="ellipse">
            <a:avLst/>
          </a:prstGeom>
          <a:solidFill>
            <a:schemeClr val="tx1"/>
          </a:solidFill>
          <a:ln/>
        </p:spPr>
      </p:sp>
      <p:pic>
        <p:nvPicPr>
          <p:cNvPr id="26" name="icon-399" descr="preencoded.png">    </p:cNvPr>
          <p:cNvPicPr>
            <a:picLocks noChangeAspect="1"/>
          </p:cNvPicPr>
          <p:nvPr/>
        </p:nvPicPr>
        <p:blipFill>
          <a:blip r:embed="rId4"/>
          <a:stretch>
            <a:fillRect/>
          </a:stretch>
        </p:blipFill>
        <p:spPr>
          <a:xfrm>
            <a:off x="9500387" y="1888236"/>
            <a:ext cx="384048" cy="384048"/>
          </a:xfrm>
          <a:prstGeom prst="rect">
            <a:avLst/>
          </a:prstGeom>
        </p:spPr>
      </p:pic>
      <p:sp>
        <p:nvSpPr>
          <p:cNvPr id="27" name="text-400"/>
          <p:cNvSpPr txBox="1"/>
          <p:nvPr/>
        </p:nvSpPr>
        <p:spPr>
          <a:xfrm>
            <a:off x="9349511" y="2560320"/>
            <a:ext cx="2110664" cy="731520"/>
          </a:xfrm>
          <a:prstGeom prst="rect">
            <a:avLst/>
          </a:prstGeom>
          <a:noFill/>
          <a:ln/>
        </p:spPr>
        <p:txBody>
          <a:bodyPr wrap="square" lIns="0" tIns="0" rIns="0" bIns="0" rtlCol="0" anchor="b"/>
          <a:lstStyle/>
          <a:p>
            <a:pPr indent="0" marL="0">
              <a:buNone/>
            </a:pPr>
            <a:r>
              <a:rPr lang="en-US" sz="2100" b="1" dirty="0">
                <a:solidFill>
                  <a:schemeClr val="tx1"/>
                </a:solidFill>
              </a:rPr>
              <a:t>Specify the structure</a:t>
            </a:r>
            <a:endParaRPr lang="en-US" sz="2100" dirty="0"/>
          </a:p>
        </p:txBody>
      </p:sp>
      <p:sp>
        <p:nvSpPr>
          <p:cNvPr id="28" name="text-401"/>
          <p:cNvSpPr txBox="1"/>
          <p:nvPr/>
        </p:nvSpPr>
        <p:spPr>
          <a:xfrm>
            <a:off x="9349511" y="3383280"/>
            <a:ext cx="2110664" cy="1097280"/>
          </a:xfrm>
          <a:prstGeom prst="rect">
            <a:avLst/>
          </a:prstGeom>
          <a:noFill/>
          <a:ln/>
        </p:spPr>
        <p:txBody>
          <a:bodyPr wrap="square" lIns="0" tIns="0" rIns="0" bIns="0" rtlCol="0" anchor="t"/>
          <a:lstStyle/>
          <a:p>
            <a:pPr indent="0" marL="0">
              <a:buNone/>
            </a:pPr>
            <a:r>
              <a:rPr lang="en-US" sz="1600" dirty="0">
                <a:solidFill>
                  <a:schemeClr val="tx2"/>
                </a:solidFill>
              </a:rPr>
              <a:t>Columns, headings, bullet count, length, reading level.</a:t>
            </a:r>
            <a:endParaRPr lang="en-US" sz="1600" dirty="0"/>
          </a:p>
        </p:txBody>
      </p:sp>
      <p:sp>
        <p:nvSpPr>
          <p:cNvPr id="29" name="card-402"/>
          <p:cNvSpPr/>
          <p:nvPr/>
        </p:nvSpPr>
        <p:spPr>
          <a:xfrm>
            <a:off x="9303791" y="4526280"/>
            <a:ext cx="2110664" cy="1234440"/>
          </a:xfrm>
          <a:prstGeom prst="roundRect">
            <a:avLst>
              <a:gd name="adj" fmla="val 5926"/>
            </a:avLst>
          </a:prstGeom>
          <a:solidFill>
            <a:schemeClr val="tx1"/>
          </a:solidFill>
          <a:ln/>
        </p:spPr>
      </p:sp>
      <p:sp>
        <p:nvSpPr>
          <p:cNvPr id="30" name="text-403"/>
          <p:cNvSpPr txBox="1"/>
          <p:nvPr/>
        </p:nvSpPr>
        <p:spPr>
          <a:xfrm>
            <a:off x="9486671" y="4663440"/>
            <a:ext cx="1744904" cy="10058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Table: Action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Owner | Due</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Examples teach the pattern</a:t>
            </a:r>
            <a:endParaRPr lang="en-US" sz="3400" dirty="0"/>
          </a:p>
        </p:txBody>
      </p:sp>
      <p:sp>
        <p:nvSpPr>
          <p:cNvPr id="3" name="text-404"/>
          <p:cNvSpPr txBox="1"/>
          <p:nvPr/>
        </p:nvSpPr>
        <p:spPr>
          <a:xfrm>
            <a:off x="548640" y="1417320"/>
            <a:ext cx="5364328" cy="274320"/>
          </a:xfrm>
          <a:prstGeom prst="rect">
            <a:avLst/>
          </a:prstGeom>
          <a:noFill/>
          <a:ln/>
        </p:spPr>
        <p:txBody>
          <a:bodyPr wrap="square" lIns="0" tIns="0" rIns="0" bIns="0" rtlCol="0" anchor="t"/>
          <a:lstStyle/>
          <a:p>
            <a:pPr indent="0" marL="0">
              <a:buNone/>
            </a:pPr>
            <a:r>
              <a:rPr lang="en-US" sz="1300" b="1" spc="200" kern="0" dirty="0">
                <a:solidFill>
                  <a:schemeClr val="tx2"/>
                </a:solidFill>
              </a:rPr>
              <a:t>WITHOUT AN EXAMPLE</a:t>
            </a:r>
            <a:endParaRPr lang="en-US" sz="1300" dirty="0"/>
          </a:p>
        </p:txBody>
      </p:sp>
      <p:sp>
        <p:nvSpPr>
          <p:cNvPr id="4" name="card-405"/>
          <p:cNvSpPr/>
          <p:nvPr/>
        </p:nvSpPr>
        <p:spPr>
          <a:xfrm>
            <a:off x="548640" y="1783080"/>
            <a:ext cx="5364328" cy="1783080"/>
          </a:xfrm>
          <a:prstGeom prst="roundRect">
            <a:avLst>
              <a:gd name="adj" fmla="val 6154"/>
            </a:avLst>
          </a:prstGeom>
          <a:solidFill>
            <a:schemeClr val="tx1"/>
          </a:solidFill>
          <a:ln/>
        </p:spPr>
      </p:sp>
      <p:sp>
        <p:nvSpPr>
          <p:cNvPr id="5" name="text-406"/>
          <p:cNvSpPr txBox="1"/>
          <p:nvPr/>
        </p:nvSpPr>
        <p:spPr>
          <a:xfrm>
            <a:off x="822960" y="1984248"/>
            <a:ext cx="4815688" cy="1399032"/>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Write a one-line description for each product: travel mug, desk lamp, notebook.</a:t>
            </a:r>
            <a:endParaRPr lang="en-US" sz="1400" dirty="0"/>
          </a:p>
        </p:txBody>
      </p:sp>
      <p:sp>
        <p:nvSpPr>
          <p:cNvPr id="6" name="card-407"/>
          <p:cNvSpPr/>
          <p:nvPr/>
        </p:nvSpPr>
        <p:spPr>
          <a:xfrm>
            <a:off x="548640" y="3703320"/>
            <a:ext cx="5364328" cy="1737360"/>
          </a:xfrm>
          <a:prstGeom prst="roundRect">
            <a:avLst>
              <a:gd name="adj" fmla="val 6316"/>
            </a:avLst>
          </a:prstGeom>
          <a:solidFill>
            <a:schemeClr val="bg2"/>
          </a:solidFill>
          <a:ln/>
        </p:spPr>
      </p:sp>
      <p:sp>
        <p:nvSpPr>
          <p:cNvPr id="7" name="text-408"/>
          <p:cNvSpPr txBox="1"/>
          <p:nvPr/>
        </p:nvSpPr>
        <p:spPr>
          <a:xfrm>
            <a:off x="822960" y="3840480"/>
            <a:ext cx="4815688" cy="15087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Travel mug: A durable, insulated mug perfect for coffee lovers on the go who want drinks hot.</a:t>
            </a:r>
            <a:endParaRPr lang="en-US" sz="1400" dirty="0"/>
          </a:p>
          <a:p>
            <a:pPr indent="0" marL="0">
              <a:spcAft>
                <a:spcPts val="400"/>
              </a:spcAft>
              <a:buNone/>
            </a:pPr>
            <a:r>
              <a:rPr lang="en-US" sz="1400" dirty="0">
                <a:solidFill>
                  <a:schemeClr val="tx2"/>
                </a:solidFill>
              </a:rPr>
              <a:t>Desk lamp – bright.</a:t>
            </a:r>
            <a:endParaRPr lang="en-US" sz="1400" dirty="0"/>
          </a:p>
          <a:p>
            <a:pPr indent="0" marL="0">
              <a:spcAft>
                <a:spcPts val="400"/>
              </a:spcAft>
              <a:buNone/>
            </a:pPr>
            <a:r>
              <a:rPr lang="en-US" sz="1400" dirty="0">
                <a:solidFill>
                  <a:schemeClr val="tx2"/>
                </a:solidFill>
              </a:rPr>
              <a:t>Notebook: Write down your thoughts!</a:t>
            </a:r>
            <a:endParaRPr lang="en-US" sz="1400" dirty="0"/>
          </a:p>
        </p:txBody>
      </p:sp>
      <p:sp>
        <p:nvSpPr>
          <p:cNvPr id="8" name="text-409"/>
          <p:cNvSpPr txBox="1"/>
          <p:nvPr/>
        </p:nvSpPr>
        <p:spPr>
          <a:xfrm>
            <a:off x="548640" y="5577840"/>
            <a:ext cx="5364328" cy="411480"/>
          </a:xfrm>
          <a:prstGeom prst="rect">
            <a:avLst/>
          </a:prstGeom>
          <a:noFill/>
          <a:ln/>
        </p:spPr>
        <p:txBody>
          <a:bodyPr wrap="square" lIns="0" tIns="0" rIns="0" bIns="0" rtlCol="0" anchor="t"/>
          <a:lstStyle/>
          <a:p>
            <a:pPr indent="0" marL="0">
              <a:buNone/>
            </a:pPr>
            <a:r>
              <a:rPr lang="en-US" sz="1700" b="1" dirty="0">
                <a:solidFill>
                  <a:schemeClr val="tx1"/>
                </a:solidFill>
              </a:rPr>
              <a:t>Length and style vary from line to line.</a:t>
            </a:r>
            <a:endParaRPr lang="en-US" sz="1700" dirty="0"/>
          </a:p>
        </p:txBody>
      </p:sp>
      <p:sp>
        <p:nvSpPr>
          <p:cNvPr id="9" name="text-410"/>
          <p:cNvSpPr txBox="1"/>
          <p:nvPr/>
        </p:nvSpPr>
        <p:spPr>
          <a:xfrm>
            <a:off x="6278728" y="1417320"/>
            <a:ext cx="5364328"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WITH AN EXAMPLE</a:t>
            </a:r>
            <a:endParaRPr lang="en-US" sz="1300" dirty="0"/>
          </a:p>
        </p:txBody>
      </p:sp>
      <p:sp>
        <p:nvSpPr>
          <p:cNvPr id="10" name="card-411"/>
          <p:cNvSpPr/>
          <p:nvPr/>
        </p:nvSpPr>
        <p:spPr>
          <a:xfrm>
            <a:off x="6278728" y="1783080"/>
            <a:ext cx="5364328" cy="1783080"/>
          </a:xfrm>
          <a:prstGeom prst="roundRect">
            <a:avLst>
              <a:gd name="adj" fmla="val 6154"/>
            </a:avLst>
          </a:prstGeom>
          <a:solidFill>
            <a:schemeClr val="tx1"/>
          </a:solidFill>
          <a:ln/>
        </p:spPr>
      </p:sp>
      <p:sp>
        <p:nvSpPr>
          <p:cNvPr id="11" name="text-412"/>
          <p:cNvSpPr txBox="1"/>
          <p:nvPr/>
        </p:nvSpPr>
        <p:spPr>
          <a:xfrm>
            <a:off x="6553048" y="1984248"/>
            <a:ext cx="4815688" cy="1399032"/>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Write a one-line description for each product, following the example.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Example: Rain jacket: Stay dry on your commute; packs into its own pocket.</a:t>
            </a:r>
            <a:endParaRPr lang="en-US" sz="1400" dirty="0"/>
          </a:p>
        </p:txBody>
      </p:sp>
      <p:sp>
        <p:nvSpPr>
          <p:cNvPr id="12" name="card-413"/>
          <p:cNvSpPr/>
          <p:nvPr/>
        </p:nvSpPr>
        <p:spPr>
          <a:xfrm>
            <a:off x="6278728" y="3703320"/>
            <a:ext cx="5364328" cy="1737360"/>
          </a:xfrm>
          <a:prstGeom prst="roundRect">
            <a:avLst>
              <a:gd name="adj" fmla="val 6316"/>
            </a:avLst>
          </a:prstGeom>
          <a:solidFill>
            <a:schemeClr val="bg2"/>
          </a:solidFill>
          <a:ln/>
        </p:spPr>
      </p:sp>
      <p:sp>
        <p:nvSpPr>
          <p:cNvPr id="13" name="text-414"/>
          <p:cNvSpPr txBox="1"/>
          <p:nvPr/>
        </p:nvSpPr>
        <p:spPr>
          <a:xfrm>
            <a:off x="6553048" y="3840480"/>
            <a:ext cx="4815688" cy="150876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Travel mug: Coffee stays hot all morning; fits any cup holder.</a:t>
            </a:r>
            <a:endParaRPr lang="en-US" sz="1400" dirty="0"/>
          </a:p>
          <a:p>
            <a:pPr indent="0" marL="0">
              <a:spcAft>
                <a:spcPts val="400"/>
              </a:spcAft>
              <a:buNone/>
            </a:pPr>
            <a:r>
              <a:rPr lang="en-US" sz="1400" dirty="0">
                <a:solidFill>
                  <a:schemeClr val="tx2"/>
                </a:solidFill>
              </a:rPr>
              <a:t>Desk lamp: Bright, glare-free light that dims for any task.</a:t>
            </a:r>
            <a:endParaRPr lang="en-US" sz="1400" dirty="0"/>
          </a:p>
          <a:p>
            <a:pPr indent="0" marL="0">
              <a:spcAft>
                <a:spcPts val="400"/>
              </a:spcAft>
              <a:buNone/>
            </a:pPr>
            <a:r>
              <a:rPr lang="en-US" sz="1400" dirty="0">
                <a:solidFill>
                  <a:schemeClr val="tx2"/>
                </a:solidFill>
              </a:rPr>
              <a:t>Notebook: Lay-flat pages for notes that stay neat all year.</a:t>
            </a:r>
            <a:endParaRPr lang="en-US" sz="1400" dirty="0"/>
          </a:p>
        </p:txBody>
      </p:sp>
      <p:sp>
        <p:nvSpPr>
          <p:cNvPr id="14" name="text-415"/>
          <p:cNvSpPr txBox="1"/>
          <p:nvPr/>
        </p:nvSpPr>
        <p:spPr>
          <a:xfrm>
            <a:off x="6278728" y="5577840"/>
            <a:ext cx="5364328" cy="411480"/>
          </a:xfrm>
          <a:prstGeom prst="rect">
            <a:avLst/>
          </a:prstGeom>
          <a:noFill/>
          <a:ln/>
        </p:spPr>
        <p:txBody>
          <a:bodyPr wrap="square" lIns="0" tIns="0" rIns="0" bIns="0" rtlCol="0" anchor="t"/>
          <a:lstStyle/>
          <a:p>
            <a:pPr indent="0" marL="0">
              <a:buNone/>
            </a:pPr>
            <a:r>
              <a:rPr lang="en-US" sz="1700" b="1" dirty="0">
                <a:solidFill>
                  <a:schemeClr val="tx1"/>
                </a:solidFill>
              </a:rPr>
              <a:t>Every line follows your pattern.</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Fence the source, then ground it</a:t>
            </a:r>
            <a:endParaRPr lang="en-US" sz="3400" dirty="0"/>
          </a:p>
        </p:txBody>
      </p:sp>
      <p:sp>
        <p:nvSpPr>
          <p:cNvPr id="3" name="card-416"/>
          <p:cNvSpPr/>
          <p:nvPr/>
        </p:nvSpPr>
        <p:spPr>
          <a:xfrm>
            <a:off x="548640" y="1463040"/>
            <a:ext cx="6035040" cy="4572000"/>
          </a:xfrm>
          <a:prstGeom prst="roundRect">
            <a:avLst>
              <a:gd name="adj" fmla="val 2400"/>
            </a:avLst>
          </a:prstGeom>
          <a:solidFill>
            <a:schemeClr val="tx1"/>
          </a:solidFill>
          <a:ln/>
        </p:spPr>
      </p:sp>
      <p:sp>
        <p:nvSpPr>
          <p:cNvPr id="4" name="text-417"/>
          <p:cNvSpPr txBox="1"/>
          <p:nvPr/>
        </p:nvSpPr>
        <p:spPr>
          <a:xfrm>
            <a:off x="822960" y="1664208"/>
            <a:ext cx="54864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a:t>
            </a:r>
            <a:endParaRPr lang="en-US" sz="1200" dirty="0"/>
          </a:p>
        </p:txBody>
      </p:sp>
      <p:sp>
        <p:nvSpPr>
          <p:cNvPr id="5" name="text-418"/>
          <p:cNvSpPr txBox="1"/>
          <p:nvPr/>
        </p:nvSpPr>
        <p:spPr>
          <a:xfrm>
            <a:off x="822960" y="1993392"/>
            <a:ext cx="5486400" cy="3858768"/>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Summarize the memo below for new employees.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Use only the text between the ### marks.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If something isn't stated, write "Not stated."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PRAIRIE POINT LOGISTICS: MEMO</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To: All staff</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Re: Updated travel reimbursement policy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Starting May 1, the following rules apply…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6" name="num-419"/>
          <p:cNvSpPr/>
          <p:nvPr/>
        </p:nvSpPr>
        <p:spPr>
          <a:xfrm>
            <a:off x="6995160" y="1554480"/>
            <a:ext cx="548640" cy="548640"/>
          </a:xfrm>
          <a:prstGeom prst="ellipse">
            <a:avLst/>
          </a:prstGeom>
          <a:solidFill>
            <a:schemeClr val="accent1"/>
          </a:solidFill>
          <a:ln/>
        </p:spPr>
      </p:sp>
      <p:sp>
        <p:nvSpPr>
          <p:cNvPr id="7" name="text-420"/>
          <p:cNvSpPr txBox="1"/>
          <p:nvPr/>
        </p:nvSpPr>
        <p:spPr>
          <a:xfrm>
            <a:off x="699516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421"/>
          <p:cNvSpPr txBox="1"/>
          <p:nvPr/>
        </p:nvSpPr>
        <p:spPr>
          <a:xfrm>
            <a:off x="7772400" y="1536192"/>
            <a:ext cx="3867912" cy="731520"/>
          </a:xfrm>
          <a:prstGeom prst="rect">
            <a:avLst/>
          </a:prstGeom>
          <a:noFill/>
          <a:ln/>
        </p:spPr>
        <p:txBody>
          <a:bodyPr wrap="square" lIns="0" tIns="0" rIns="0" bIns="0" rtlCol="0" anchor="t"/>
          <a:lstStyle/>
          <a:p>
            <a:pPr indent="0" marL="0">
              <a:buNone/>
            </a:pPr>
            <a:r>
              <a:rPr lang="en-US" sz="1900" b="1" dirty="0">
                <a:solidFill>
                  <a:schemeClr val="tx1"/>
                </a:solidFill>
              </a:rPr>
              <a:t>Markers separate your instructions from your material.</a:t>
            </a:r>
            <a:endParaRPr lang="en-US" sz="1900" dirty="0"/>
          </a:p>
        </p:txBody>
      </p:sp>
      <p:sp>
        <p:nvSpPr>
          <p:cNvPr id="9" name="text-422"/>
          <p:cNvSpPr txBox="1"/>
          <p:nvPr/>
        </p:nvSpPr>
        <p:spPr>
          <a:xfrm>
            <a:off x="7772400" y="2286000"/>
            <a:ext cx="3867912" cy="640080"/>
          </a:xfrm>
          <a:prstGeom prst="rect">
            <a:avLst/>
          </a:prstGeom>
          <a:noFill/>
          <a:ln/>
        </p:spPr>
        <p:txBody>
          <a:bodyPr wrap="square" lIns="0" tIns="0" rIns="0" bIns="0" rtlCol="0" anchor="t"/>
          <a:lstStyle/>
          <a:p>
            <a:pPr indent="0" marL="0">
              <a:buNone/>
            </a:pPr>
            <a:r>
              <a:rPr lang="en-US" sz="1500" dirty="0">
                <a:solidFill>
                  <a:schemeClr val="tx2"/>
                </a:solidFill>
              </a:rPr>
              <a:t>Without them, it can treat pasted text as instructions, or blend the two.</a:t>
            </a:r>
            <a:endParaRPr lang="en-US" sz="1500" dirty="0"/>
          </a:p>
        </p:txBody>
      </p:sp>
      <p:sp>
        <p:nvSpPr>
          <p:cNvPr id="10" name="num-423"/>
          <p:cNvSpPr/>
          <p:nvPr/>
        </p:nvSpPr>
        <p:spPr>
          <a:xfrm>
            <a:off x="6995160" y="3063240"/>
            <a:ext cx="548640" cy="548640"/>
          </a:xfrm>
          <a:prstGeom prst="ellipse">
            <a:avLst/>
          </a:prstGeom>
          <a:solidFill>
            <a:schemeClr val="accent1"/>
          </a:solidFill>
          <a:ln/>
        </p:spPr>
      </p:sp>
      <p:sp>
        <p:nvSpPr>
          <p:cNvPr id="11" name="text-424"/>
          <p:cNvSpPr txBox="1"/>
          <p:nvPr/>
        </p:nvSpPr>
        <p:spPr>
          <a:xfrm>
            <a:off x="6995160" y="3063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425"/>
          <p:cNvSpPr txBox="1"/>
          <p:nvPr/>
        </p:nvSpPr>
        <p:spPr>
          <a:xfrm>
            <a:off x="7772400" y="3044952"/>
            <a:ext cx="3867912" cy="731520"/>
          </a:xfrm>
          <a:prstGeom prst="rect">
            <a:avLst/>
          </a:prstGeom>
          <a:noFill/>
          <a:ln/>
        </p:spPr>
        <p:txBody>
          <a:bodyPr wrap="square" lIns="0" tIns="0" rIns="0" bIns="0" rtlCol="0" anchor="t"/>
          <a:lstStyle/>
          <a:p>
            <a:pPr indent="0" marL="0">
              <a:buNone/>
            </a:pPr>
            <a:r>
              <a:rPr lang="en-US" sz="1900" b="1" dirty="0">
                <a:solidFill>
                  <a:schemeClr val="tx1"/>
                </a:solidFill>
              </a:rPr>
              <a:t>“Use only” keeps the answer inside your source.</a:t>
            </a:r>
            <a:endParaRPr lang="en-US" sz="1900" dirty="0"/>
          </a:p>
        </p:txBody>
      </p:sp>
      <p:sp>
        <p:nvSpPr>
          <p:cNvPr id="13" name="text-426"/>
          <p:cNvSpPr txBox="1"/>
          <p:nvPr/>
        </p:nvSpPr>
        <p:spPr>
          <a:xfrm>
            <a:off x="7772400" y="3794760"/>
            <a:ext cx="3867912" cy="640080"/>
          </a:xfrm>
          <a:prstGeom prst="rect">
            <a:avLst/>
          </a:prstGeom>
          <a:noFill/>
          <a:ln/>
        </p:spPr>
        <p:txBody>
          <a:bodyPr wrap="square" lIns="0" tIns="0" rIns="0" bIns="0" rtlCol="0" anchor="t"/>
          <a:lstStyle/>
          <a:p>
            <a:pPr indent="0" marL="0">
              <a:buNone/>
            </a:pPr>
            <a:r>
              <a:rPr lang="en-US" sz="1500" dirty="0">
                <a:solidFill>
                  <a:schemeClr val="tx2"/>
                </a:solidFill>
              </a:rPr>
              <a:t>No filling gaps from general knowledge.</a:t>
            </a:r>
            <a:endParaRPr lang="en-US" sz="1500" dirty="0"/>
          </a:p>
        </p:txBody>
      </p:sp>
      <p:sp>
        <p:nvSpPr>
          <p:cNvPr id="14" name="num-427"/>
          <p:cNvSpPr/>
          <p:nvPr/>
        </p:nvSpPr>
        <p:spPr>
          <a:xfrm>
            <a:off x="6995160" y="4572000"/>
            <a:ext cx="548640" cy="548640"/>
          </a:xfrm>
          <a:prstGeom prst="ellipse">
            <a:avLst/>
          </a:prstGeom>
          <a:solidFill>
            <a:schemeClr val="accent1"/>
          </a:solidFill>
          <a:ln/>
        </p:spPr>
      </p:sp>
      <p:sp>
        <p:nvSpPr>
          <p:cNvPr id="15" name="text-428"/>
          <p:cNvSpPr txBox="1"/>
          <p:nvPr/>
        </p:nvSpPr>
        <p:spPr>
          <a:xfrm>
            <a:off x="6995160" y="4572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429"/>
          <p:cNvSpPr txBox="1"/>
          <p:nvPr/>
        </p:nvSpPr>
        <p:spPr>
          <a:xfrm>
            <a:off x="7772400" y="4553712"/>
            <a:ext cx="3867912" cy="731520"/>
          </a:xfrm>
          <a:prstGeom prst="rect">
            <a:avLst/>
          </a:prstGeom>
          <a:noFill/>
          <a:ln/>
        </p:spPr>
        <p:txBody>
          <a:bodyPr wrap="square" lIns="0" tIns="0" rIns="0" bIns="0" rtlCol="0" anchor="t"/>
          <a:lstStyle/>
          <a:p>
            <a:pPr indent="0" marL="0">
              <a:buNone/>
            </a:pPr>
            <a:r>
              <a:rPr lang="en-US" sz="1900" b="1" dirty="0">
                <a:solidFill>
                  <a:schemeClr val="tx1"/>
                </a:solidFill>
              </a:rPr>
              <a:t>“Not stated” gives it permission not to guess.</a:t>
            </a:r>
            <a:endParaRPr lang="en-US" sz="1900" dirty="0"/>
          </a:p>
        </p:txBody>
      </p:sp>
      <p:sp>
        <p:nvSpPr>
          <p:cNvPr id="17" name="text-430"/>
          <p:cNvSpPr txBox="1"/>
          <p:nvPr/>
        </p:nvSpPr>
        <p:spPr>
          <a:xfrm>
            <a:off x="7772400" y="5303520"/>
            <a:ext cx="3867912" cy="640080"/>
          </a:xfrm>
          <a:prstGeom prst="rect">
            <a:avLst/>
          </a:prstGeom>
          <a:noFill/>
          <a:ln/>
        </p:spPr>
        <p:txBody>
          <a:bodyPr wrap="square" lIns="0" tIns="0" rIns="0" bIns="0" rtlCol="0" anchor="t"/>
          <a:lstStyle/>
          <a:p>
            <a:pPr indent="0" marL="0">
              <a:buNone/>
            </a:pPr>
            <a:r>
              <a:rPr lang="en-US" sz="1500" dirty="0">
                <a:solidFill>
                  <a:schemeClr val="tx2"/>
                </a:solidFill>
              </a:rPr>
              <a:t>This is the most effective guard against made-up details.</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Demo: from rough notes to an action table</a:t>
            </a:r>
            <a:endParaRPr lang="en-US" sz="3400" dirty="0"/>
          </a:p>
        </p:txBody>
      </p:sp>
      <p:sp>
        <p:nvSpPr>
          <p:cNvPr id="3" name="card-431"/>
          <p:cNvSpPr/>
          <p:nvPr/>
        </p:nvSpPr>
        <p:spPr>
          <a:xfrm>
            <a:off x="548640" y="1417320"/>
            <a:ext cx="5760720" cy="4663440"/>
          </a:xfrm>
          <a:prstGeom prst="roundRect">
            <a:avLst>
              <a:gd name="adj" fmla="val 2353"/>
            </a:avLst>
          </a:prstGeom>
          <a:solidFill>
            <a:schemeClr val="tx1"/>
          </a:solidFill>
          <a:ln/>
        </p:spPr>
      </p:sp>
      <p:sp>
        <p:nvSpPr>
          <p:cNvPr id="4" name="text-432"/>
          <p:cNvSpPr txBox="1"/>
          <p:nvPr/>
        </p:nvSpPr>
        <p:spPr>
          <a:xfrm>
            <a:off x="822960" y="1618488"/>
            <a:ext cx="521208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PROMPT (TYPED LIVE)</a:t>
            </a:r>
            <a:endParaRPr lang="en-US" sz="1200" dirty="0"/>
          </a:p>
        </p:txBody>
      </p:sp>
      <p:sp>
        <p:nvSpPr>
          <p:cNvPr id="5" name="text-433"/>
          <p:cNvSpPr txBox="1"/>
          <p:nvPr/>
        </p:nvSpPr>
        <p:spPr>
          <a:xfrm>
            <a:off x="822960" y="1947672"/>
            <a:ext cx="5212080" cy="3950208"/>
          </a:xfrm>
          <a:prstGeom prst="rect">
            <a:avLst/>
          </a:prstGeom>
          <a:noFill/>
          <a:ln/>
        </p:spPr>
        <p:txBody>
          <a:bodyPr wrap="square" lIns="0" tIns="0" rIns="0" bIns="0" rtlCol="0" anchor="t"/>
          <a:lstStyle/>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Turn these meeting notes into an action list.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Use only the notes between the &lt;notes&gt; tags.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If an owner or due date isn't stated, write</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"Not stated". Do not guess.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Return a table: Action | Owner | Due date.</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Example row:</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Send revised budget | Maria | Friday</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&lt;notes&gt;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Ops sync 3/4. Dev said the vendor contract</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renewal needs legal review before the 15th.</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Priya will draft the onboarding checklist for</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new drivers. Need someone to book the training</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room for April. Sam to circulate the safety</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survey results by next Tues.</a:t>
            </a:r>
            <a:endParaRPr lang="en-US" sz="1350" dirty="0"/>
          </a:p>
          <a:p>
            <a:pPr indent="0" marL="0">
              <a:spcAft>
                <a:spcPts val="200"/>
              </a:spcAft>
              <a:buNone/>
            </a:pPr>
            <a:r>
              <a:rPr lang="en-US" sz="1350" dirty="0">
                <a:solidFill>
                  <a:schemeClr val="bg1"/>
                </a:solidFill>
                <a:latin typeface="Courier New" pitchFamily="34" charset="0"/>
                <a:ea typeface="Courier New" pitchFamily="34" charset="-122"/>
                <a:cs typeface="Courier New" pitchFamily="34" charset="-120"/>
              </a:rPr>
              <a:t>&lt;/notes&gt;</a:t>
            </a:r>
            <a:endParaRPr lang="en-US" sz="1350" dirty="0"/>
          </a:p>
        </p:txBody>
      </p:sp>
      <p:graphicFrame>
        <p:nvGraphicFramePr>
          <p:cNvPr id="27" name="demo-output-table"/>
          <p:cNvGraphicFramePr>
            <a:graphicFrameLocks noGrp="1"/>
          </p:cNvGraphicFramePr>
          <p:nvPr>
            <p:extLst>
              <p:ext uri="{D42A27DB-BD31-4B8C-83A1-F6EECF244321}">
                <p14:modId xmlns:p14="http://schemas.microsoft.com/office/powerpoint/2010/main" val="1579011935"/>
              </p:ext>
            </p:extLst>
          </p:nvPr>
        </p:nvGraphicFramePr>
        <p:xfrm>
          <a:off x="6583680" y="1463040"/>
          <a:ext cx="5056632" cy="914400"/>
        </p:xfrm>
        <a:graphic>
          <a:graphicData uri="http://schemas.openxmlformats.org/drawingml/2006/table">
            <a:tbl>
              <a:tblPr/>
              <a:tblGrid>
                <a:gridCol w="2514600"/>
                <a:gridCol w="1271016"/>
                <a:gridCol w="1271016"/>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Due date</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legal review of the vendor contract</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 the 15th</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Draft onboarding checklist for new drivers</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Priya</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Book the training room for April</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Not stated</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Circulate safety survey results</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Sam</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Next Tuesday</a:t>
                      </a:r>
                      <a:endParaRPr lang="en-US" sz="1400" dirty="0">
                        <a:latin typeface="Calibri" charset="0"/>
                        <a:ea typeface="Calibri" charset="0"/>
                        <a:cs typeface="Calibri" charset="0"/>
                      </a:endParaRPr>
                    </a:p>
                  </a:txBody>
                  <a:tcPr marL="73152" marR="73152" marT="73152" marB="73152"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bl>
          </a:graphicData>
        </a:graphic>
      </p:graphicFrame>
      <p:sp>
        <p:nvSpPr>
          <p:cNvPr id="7" name="text-434"/>
          <p:cNvSpPr txBox="1"/>
          <p:nvPr/>
        </p:nvSpPr>
        <p:spPr>
          <a:xfrm>
            <a:off x="6583680" y="4754880"/>
            <a:ext cx="5056632" cy="822960"/>
          </a:xfrm>
          <a:prstGeom prst="rect">
            <a:avLst/>
          </a:prstGeom>
          <a:noFill/>
          <a:ln/>
        </p:spPr>
        <p:txBody>
          <a:bodyPr wrap="square" lIns="0" tIns="0" rIns="0" bIns="0" rtlCol="0" anchor="t"/>
          <a:lstStyle/>
          <a:p>
            <a:pPr indent="0" marL="0">
              <a:buNone/>
            </a:pPr>
            <a:r>
              <a:rPr lang="en-US" sz="1500" dirty="0">
                <a:solidFill>
                  <a:schemeClr val="tx2"/>
                </a:solidFill>
              </a:rPr>
              <a:t>“Not stated” marks every place the AI would otherwise have guessed, like making Dev the owner.</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2.1  ·  PAIRS</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Grounded summary</a:t>
            </a:r>
            <a:endParaRPr lang="en-US" sz="3800" dirty="0"/>
          </a:p>
        </p:txBody>
      </p:sp>
      <p:sp>
        <p:nvSpPr>
          <p:cNvPr id="4" name="badge-435"/>
          <p:cNvSpPr/>
          <p:nvPr/>
        </p:nvSpPr>
        <p:spPr>
          <a:xfrm>
            <a:off x="10042855" y="502920"/>
            <a:ext cx="1600200" cy="457200"/>
          </a:xfrm>
          <a:prstGeom prst="roundRect">
            <a:avLst>
              <a:gd name="adj" fmla="val 50000"/>
            </a:avLst>
          </a:prstGeom>
          <a:solidFill>
            <a:schemeClr val="bg1"/>
          </a:solidFill>
          <a:ln/>
        </p:spPr>
      </p:sp>
      <p:sp>
        <p:nvSpPr>
          <p:cNvPr id="5" name="text-436"/>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17 min</a:t>
            </a:r>
            <a:endParaRPr lang="en-US" sz="1600" dirty="0"/>
          </a:p>
        </p:txBody>
      </p:sp>
      <p:sp>
        <p:nvSpPr>
          <p:cNvPr id="6" name="text-437"/>
          <p:cNvSpPr txBox="1"/>
          <p:nvPr/>
        </p:nvSpPr>
        <p:spPr>
          <a:xfrm>
            <a:off x="548640" y="1783080"/>
            <a:ext cx="9265615" cy="457200"/>
          </a:xfrm>
          <a:prstGeom prst="rect">
            <a:avLst/>
          </a:prstGeom>
          <a:noFill/>
          <a:ln/>
        </p:spPr>
        <p:txBody>
          <a:bodyPr wrap="square" lIns="0" tIns="0" rIns="0" bIns="0" rtlCol="0" anchor="t"/>
          <a:lstStyle/>
          <a:p>
            <a:pPr indent="0" marL="0">
              <a:buNone/>
            </a:pPr>
            <a:r>
              <a:rPr lang="en-US" sz="1900" dirty="0">
                <a:solidFill>
                  <a:schemeClr val="bg1"/>
                </a:solidFill>
              </a:rPr>
              <a:t>Summarize the Prairie Point travel memo (in your workbook) for new employees.</a:t>
            </a:r>
            <a:endParaRPr lang="en-US" sz="1900" dirty="0"/>
          </a:p>
        </p:txBody>
      </p:sp>
      <p:sp>
        <p:nvSpPr>
          <p:cNvPr id="7" name="num-438"/>
          <p:cNvSpPr/>
          <p:nvPr/>
        </p:nvSpPr>
        <p:spPr>
          <a:xfrm>
            <a:off x="548640" y="2468880"/>
            <a:ext cx="457200" cy="457200"/>
          </a:xfrm>
          <a:prstGeom prst="ellipse">
            <a:avLst/>
          </a:prstGeom>
          <a:solidFill>
            <a:schemeClr val="bg1"/>
          </a:solidFill>
          <a:ln/>
        </p:spPr>
      </p:sp>
      <p:sp>
        <p:nvSpPr>
          <p:cNvPr id="8" name="text-439"/>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9" name="text-440"/>
          <p:cNvSpPr txBox="1"/>
          <p:nvPr/>
        </p:nvSpPr>
        <p:spPr>
          <a:xfrm>
            <a:off x="1188720" y="2432304"/>
            <a:ext cx="4632808" cy="685800"/>
          </a:xfrm>
          <a:prstGeom prst="rect">
            <a:avLst/>
          </a:prstGeom>
          <a:noFill/>
          <a:ln/>
        </p:spPr>
        <p:txBody>
          <a:bodyPr wrap="square" lIns="0" tIns="0" rIns="0" bIns="0" rtlCol="0" anchor="t"/>
          <a:lstStyle/>
          <a:p>
            <a:pPr indent="0" marL="0">
              <a:buNone/>
            </a:pPr>
            <a:r>
              <a:rPr lang="en-US" sz="1600" dirty="0">
                <a:solidFill>
                  <a:schemeClr val="bg1"/>
                </a:solidFill>
              </a:rPr>
              <a:t>Paste the memo inside ### markers</a:t>
            </a:r>
            <a:endParaRPr lang="en-US" sz="1600" dirty="0"/>
          </a:p>
        </p:txBody>
      </p:sp>
      <p:sp>
        <p:nvSpPr>
          <p:cNvPr id="10" name="num-441"/>
          <p:cNvSpPr/>
          <p:nvPr/>
        </p:nvSpPr>
        <p:spPr>
          <a:xfrm>
            <a:off x="548640" y="3218688"/>
            <a:ext cx="457200" cy="457200"/>
          </a:xfrm>
          <a:prstGeom prst="ellipse">
            <a:avLst/>
          </a:prstGeom>
          <a:solidFill>
            <a:schemeClr val="bg1"/>
          </a:solidFill>
          <a:ln/>
        </p:spPr>
      </p:sp>
      <p:sp>
        <p:nvSpPr>
          <p:cNvPr id="11" name="text-442"/>
          <p:cNvSpPr txBox="1"/>
          <p:nvPr/>
        </p:nvSpPr>
        <p:spPr>
          <a:xfrm>
            <a:off x="548640" y="32186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443"/>
          <p:cNvSpPr txBox="1"/>
          <p:nvPr/>
        </p:nvSpPr>
        <p:spPr>
          <a:xfrm>
            <a:off x="1188720" y="3182112"/>
            <a:ext cx="4632808" cy="685800"/>
          </a:xfrm>
          <a:prstGeom prst="rect">
            <a:avLst/>
          </a:prstGeom>
          <a:noFill/>
          <a:ln/>
        </p:spPr>
        <p:txBody>
          <a:bodyPr wrap="square" lIns="0" tIns="0" rIns="0" bIns="0" rtlCol="0" anchor="t"/>
          <a:lstStyle/>
          <a:p>
            <a:pPr indent="0" marL="0">
              <a:buNone/>
            </a:pPr>
            <a:r>
              <a:rPr lang="en-US" sz="1600" dirty="0">
                <a:solidFill>
                  <a:schemeClr val="bg1"/>
                </a:solidFill>
              </a:rPr>
              <a:t>Say who the summary is for, and why</a:t>
            </a:r>
            <a:endParaRPr lang="en-US" sz="1600" dirty="0"/>
          </a:p>
        </p:txBody>
      </p:sp>
      <p:sp>
        <p:nvSpPr>
          <p:cNvPr id="13" name="num-444"/>
          <p:cNvSpPr/>
          <p:nvPr/>
        </p:nvSpPr>
        <p:spPr>
          <a:xfrm>
            <a:off x="548640" y="3968496"/>
            <a:ext cx="457200" cy="457200"/>
          </a:xfrm>
          <a:prstGeom prst="ellipse">
            <a:avLst/>
          </a:prstGeom>
          <a:solidFill>
            <a:schemeClr val="bg1"/>
          </a:solidFill>
          <a:ln/>
        </p:spPr>
      </p:sp>
      <p:sp>
        <p:nvSpPr>
          <p:cNvPr id="14" name="text-445"/>
          <p:cNvSpPr txBox="1"/>
          <p:nvPr/>
        </p:nvSpPr>
        <p:spPr>
          <a:xfrm>
            <a:off x="548640" y="396849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text-446"/>
          <p:cNvSpPr txBox="1"/>
          <p:nvPr/>
        </p:nvSpPr>
        <p:spPr>
          <a:xfrm>
            <a:off x="1188720" y="3931920"/>
            <a:ext cx="4632808" cy="685800"/>
          </a:xfrm>
          <a:prstGeom prst="rect">
            <a:avLst/>
          </a:prstGeom>
          <a:noFill/>
          <a:ln/>
        </p:spPr>
        <p:txBody>
          <a:bodyPr wrap="square" lIns="0" tIns="0" rIns="0" bIns="0" rtlCol="0" anchor="t"/>
          <a:lstStyle/>
          <a:p>
            <a:pPr indent="0" marL="0">
              <a:buNone/>
            </a:pPr>
            <a:r>
              <a:rPr lang="en-US" sz="1600" dirty="0">
                <a:solidFill>
                  <a:schemeClr val="bg1"/>
                </a:solidFill>
              </a:rPr>
              <a:t>Add: “Use only the memo. If it's not there, write Not stated.”</a:t>
            </a:r>
            <a:endParaRPr lang="en-US" sz="1600" dirty="0"/>
          </a:p>
        </p:txBody>
      </p:sp>
      <p:sp>
        <p:nvSpPr>
          <p:cNvPr id="16" name="num-447"/>
          <p:cNvSpPr/>
          <p:nvPr/>
        </p:nvSpPr>
        <p:spPr>
          <a:xfrm>
            <a:off x="548640" y="4718304"/>
            <a:ext cx="457200" cy="457200"/>
          </a:xfrm>
          <a:prstGeom prst="ellipse">
            <a:avLst/>
          </a:prstGeom>
          <a:solidFill>
            <a:schemeClr val="bg1"/>
          </a:solidFill>
          <a:ln/>
        </p:spPr>
      </p:sp>
      <p:sp>
        <p:nvSpPr>
          <p:cNvPr id="17" name="text-448"/>
          <p:cNvSpPr txBox="1"/>
          <p:nvPr/>
        </p:nvSpPr>
        <p:spPr>
          <a:xfrm>
            <a:off x="548640" y="471830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449"/>
          <p:cNvSpPr txBox="1"/>
          <p:nvPr/>
        </p:nvSpPr>
        <p:spPr>
          <a:xfrm>
            <a:off x="1188720" y="4681728"/>
            <a:ext cx="4632808" cy="685800"/>
          </a:xfrm>
          <a:prstGeom prst="rect">
            <a:avLst/>
          </a:prstGeom>
          <a:noFill/>
          <a:ln/>
        </p:spPr>
        <p:txBody>
          <a:bodyPr wrap="square" lIns="0" tIns="0" rIns="0" bIns="0" rtlCol="0" anchor="t"/>
          <a:lstStyle/>
          <a:p>
            <a:pPr indent="0" marL="0">
              <a:buNone/>
            </a:pPr>
            <a:r>
              <a:rPr lang="en-US" sz="1600" dirty="0">
                <a:solidFill>
                  <a:schemeClr val="bg1"/>
                </a:solidFill>
              </a:rPr>
              <a:t>Format: max 5 bullets, then a line starting “What you need to do:”</a:t>
            </a:r>
            <a:endParaRPr lang="en-US" sz="1600" dirty="0"/>
          </a:p>
        </p:txBody>
      </p:sp>
      <p:sp>
        <p:nvSpPr>
          <p:cNvPr id="19" name="num-450"/>
          <p:cNvSpPr/>
          <p:nvPr/>
        </p:nvSpPr>
        <p:spPr>
          <a:xfrm>
            <a:off x="6278728" y="2468880"/>
            <a:ext cx="457200" cy="457200"/>
          </a:xfrm>
          <a:prstGeom prst="ellipse">
            <a:avLst/>
          </a:prstGeom>
          <a:solidFill>
            <a:schemeClr val="bg1"/>
          </a:solidFill>
          <a:ln/>
        </p:spPr>
      </p:sp>
      <p:sp>
        <p:nvSpPr>
          <p:cNvPr id="20" name="text-451"/>
          <p:cNvSpPr txBox="1"/>
          <p:nvPr/>
        </p:nvSpPr>
        <p:spPr>
          <a:xfrm>
            <a:off x="6278728" y="2468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1" name="text-452"/>
          <p:cNvSpPr txBox="1"/>
          <p:nvPr/>
        </p:nvSpPr>
        <p:spPr>
          <a:xfrm>
            <a:off x="6918808" y="2432304"/>
            <a:ext cx="4632808" cy="685800"/>
          </a:xfrm>
          <a:prstGeom prst="rect">
            <a:avLst/>
          </a:prstGeom>
          <a:noFill/>
          <a:ln/>
        </p:spPr>
        <p:txBody>
          <a:bodyPr wrap="square" lIns="0" tIns="0" rIns="0" bIns="0" rtlCol="0" anchor="t"/>
          <a:lstStyle/>
          <a:p>
            <a:pPr indent="0" marL="0">
              <a:buNone/>
            </a:pPr>
            <a:r>
              <a:rPr lang="en-US" sz="1600" dirty="0">
                <a:solidFill>
                  <a:schemeClr val="bg1"/>
                </a:solidFill>
              </a:rPr>
              <a:t>Give one example bullet to set the style</a:t>
            </a:r>
            <a:endParaRPr lang="en-US" sz="1600" dirty="0"/>
          </a:p>
        </p:txBody>
      </p:sp>
      <p:sp>
        <p:nvSpPr>
          <p:cNvPr id="22" name="num-453"/>
          <p:cNvSpPr/>
          <p:nvPr/>
        </p:nvSpPr>
        <p:spPr>
          <a:xfrm>
            <a:off x="6278728" y="3218688"/>
            <a:ext cx="457200" cy="457200"/>
          </a:xfrm>
          <a:prstGeom prst="ellipse">
            <a:avLst/>
          </a:prstGeom>
          <a:solidFill>
            <a:schemeClr val="bg1"/>
          </a:solidFill>
          <a:ln/>
        </p:spPr>
      </p:sp>
      <p:sp>
        <p:nvSpPr>
          <p:cNvPr id="23" name="text-454"/>
          <p:cNvSpPr txBox="1"/>
          <p:nvPr/>
        </p:nvSpPr>
        <p:spPr>
          <a:xfrm>
            <a:off x="6278728" y="32186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4" name="text-455"/>
          <p:cNvSpPr txBox="1"/>
          <p:nvPr/>
        </p:nvSpPr>
        <p:spPr>
          <a:xfrm>
            <a:off x="6918808" y="3182112"/>
            <a:ext cx="4632808" cy="685800"/>
          </a:xfrm>
          <a:prstGeom prst="rect">
            <a:avLst/>
          </a:prstGeom>
          <a:noFill/>
          <a:ln/>
        </p:spPr>
        <p:txBody>
          <a:bodyPr wrap="square" lIns="0" tIns="0" rIns="0" bIns="0" rtlCol="0" anchor="t"/>
          <a:lstStyle/>
          <a:p>
            <a:pPr indent="0" marL="0">
              <a:buNone/>
            </a:pPr>
            <a:r>
              <a:rPr lang="en-US" sz="1600" dirty="0">
                <a:solidFill>
                  <a:schemeClr val="bg1"/>
                </a:solidFill>
              </a:rPr>
              <a:t>Run it, and check every bullet against the memo</a:t>
            </a:r>
            <a:endParaRPr lang="en-US" sz="1600" dirty="0"/>
          </a:p>
        </p:txBody>
      </p:sp>
      <p:sp>
        <p:nvSpPr>
          <p:cNvPr id="25" name="num-456"/>
          <p:cNvSpPr/>
          <p:nvPr/>
        </p:nvSpPr>
        <p:spPr>
          <a:xfrm>
            <a:off x="6278728" y="3968496"/>
            <a:ext cx="457200" cy="457200"/>
          </a:xfrm>
          <a:prstGeom prst="ellipse">
            <a:avLst/>
          </a:prstGeom>
          <a:solidFill>
            <a:schemeClr val="accent1"/>
          </a:solidFill>
          <a:ln/>
        </p:spPr>
      </p:sp>
      <p:sp>
        <p:nvSpPr>
          <p:cNvPr id="26" name="text-457"/>
          <p:cNvSpPr txBox="1"/>
          <p:nvPr/>
        </p:nvSpPr>
        <p:spPr>
          <a:xfrm>
            <a:off x="6278728" y="39684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7" name="text-458"/>
          <p:cNvSpPr txBox="1"/>
          <p:nvPr/>
        </p:nvSpPr>
        <p:spPr>
          <a:xfrm>
            <a:off x="6918808" y="3931920"/>
            <a:ext cx="4632808" cy="685800"/>
          </a:xfrm>
          <a:prstGeom prst="rect">
            <a:avLst/>
          </a:prstGeom>
          <a:noFill/>
          <a:ln/>
        </p:spPr>
        <p:txBody>
          <a:bodyPr wrap="square" lIns="0" tIns="0" rIns="0" bIns="0" rtlCol="0" anchor="t"/>
          <a:lstStyle/>
          <a:p>
            <a:pPr indent="0" marL="0">
              <a:buNone/>
            </a:pPr>
            <a:r>
              <a:rPr lang="en-US" sz="1600" dirty="0">
                <a:solidFill>
                  <a:schemeClr val="bg1"/>
                </a:solidFill>
              </a:rPr>
              <a:t>Test it: “Can I expense a rideshare to the airport?”</a:t>
            </a:r>
            <a:endParaRPr lang="en-US" sz="1600" dirty="0"/>
          </a:p>
        </p:txBody>
      </p:sp>
      <p:sp>
        <p:nvSpPr>
          <p:cNvPr id="28" name="text-459"/>
          <p:cNvSpPr txBox="1"/>
          <p:nvPr/>
        </p:nvSpPr>
        <p:spPr>
          <a:xfrm>
            <a:off x="6278728" y="4800600"/>
            <a:ext cx="5364328" cy="365760"/>
          </a:xfrm>
          <a:prstGeom prst="rect">
            <a:avLst/>
          </a:prstGeom>
          <a:noFill/>
          <a:ln/>
        </p:spPr>
        <p:txBody>
          <a:bodyPr wrap="square" lIns="0" tIns="0" rIns="0" bIns="0" rtlCol="0" anchor="t"/>
          <a:lstStyle/>
          <a:p>
            <a:pPr indent="0" marL="0">
              <a:buNone/>
            </a:pPr>
            <a:r>
              <a:rPr lang="en-US" sz="1600" i="1" dirty="0">
                <a:solidFill>
                  <a:schemeClr val="accent3"/>
                </a:solidFill>
              </a:rPr>
              <a:t>Swap typist and director halfway.</a:t>
            </a:r>
            <a:endParaRPr lang="en-US" sz="1600" dirty="0"/>
          </a:p>
        </p:txBody>
      </p:sp>
      <p:sp>
        <p:nvSpPr>
          <p:cNvPr id="29" name="text-460"/>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every bullet traces back to the memo, and the AI doesn't invent a rideshare rule.</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Where did it invent things, and what stopped it?</a:t>
            </a:r>
            <a:endParaRPr lang="en-US" sz="3400" dirty="0"/>
          </a:p>
        </p:txBody>
      </p:sp>
      <p:sp>
        <p:nvSpPr>
          <p:cNvPr id="3" name="badge-461"/>
          <p:cNvSpPr/>
          <p:nvPr/>
        </p:nvSpPr>
        <p:spPr>
          <a:xfrm>
            <a:off x="10042855" y="502920"/>
            <a:ext cx="1600200" cy="457200"/>
          </a:xfrm>
          <a:prstGeom prst="roundRect">
            <a:avLst>
              <a:gd name="adj" fmla="val 50000"/>
            </a:avLst>
          </a:prstGeom>
          <a:solidFill>
            <a:schemeClr val="bg2"/>
          </a:solidFill>
          <a:ln/>
        </p:spPr>
      </p:sp>
      <p:sp>
        <p:nvSpPr>
          <p:cNvPr id="4" name="text-462"/>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5 min</a:t>
            </a:r>
            <a:endParaRPr lang="en-US" sz="1600" dirty="0"/>
          </a:p>
        </p:txBody>
      </p:sp>
      <p:sp>
        <p:nvSpPr>
          <p:cNvPr id="5" name="text-463"/>
          <p:cNvSpPr txBox="1"/>
          <p:nvPr/>
        </p:nvSpPr>
        <p:spPr>
          <a:xfrm>
            <a:off x="548640" y="1417320"/>
            <a:ext cx="4572000" cy="274320"/>
          </a:xfrm>
          <a:prstGeom prst="rect">
            <a:avLst/>
          </a:prstGeom>
          <a:noFill/>
          <a:ln/>
        </p:spPr>
        <p:txBody>
          <a:bodyPr wrap="square" lIns="0" tIns="0" rIns="0" bIns="0" rtlCol="0" anchor="t"/>
          <a:lstStyle/>
          <a:p>
            <a:pPr indent="0" marL="0">
              <a:buNone/>
            </a:pPr>
            <a:r>
              <a:rPr lang="en-US" sz="1300" b="1" spc="200" kern="0" dirty="0">
                <a:solidFill>
                  <a:schemeClr val="tx2"/>
                </a:solidFill>
              </a:rPr>
              <a:t>WHAT WENT WRONG</a:t>
            </a:r>
            <a:endParaRPr lang="en-US" sz="1300" dirty="0"/>
          </a:p>
        </p:txBody>
      </p:sp>
      <p:sp>
        <p:nvSpPr>
          <p:cNvPr id="6" name="text-464"/>
          <p:cNvSpPr txBox="1"/>
          <p:nvPr/>
        </p:nvSpPr>
        <p:spPr>
          <a:xfrm>
            <a:off x="6537960" y="1417320"/>
            <a:ext cx="45720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WHAT FIXED IT</a:t>
            </a:r>
            <a:endParaRPr lang="en-US" sz="1300" dirty="0"/>
          </a:p>
        </p:txBody>
      </p:sp>
      <p:sp>
        <p:nvSpPr>
          <p:cNvPr id="7" name="card-465"/>
          <p:cNvSpPr/>
          <p:nvPr/>
        </p:nvSpPr>
        <p:spPr>
          <a:xfrm>
            <a:off x="548640" y="1783080"/>
            <a:ext cx="5257800" cy="1143000"/>
          </a:xfrm>
          <a:prstGeom prst="roundRect">
            <a:avLst>
              <a:gd name="adj" fmla="val 9600"/>
            </a:avLst>
          </a:prstGeom>
          <a:solidFill>
            <a:schemeClr val="bg2"/>
          </a:solidFill>
          <a:ln/>
        </p:spPr>
      </p:sp>
      <p:pic>
        <p:nvPicPr>
          <p:cNvPr id="8" name="icon-466" descr="preencoded.png">    </p:cNvPr>
          <p:cNvPicPr>
            <a:picLocks noChangeAspect="1"/>
          </p:cNvPicPr>
          <p:nvPr/>
        </p:nvPicPr>
        <p:blipFill>
          <a:blip r:embed="rId1"/>
          <a:stretch>
            <a:fillRect/>
          </a:stretch>
        </p:blipFill>
        <p:spPr>
          <a:xfrm>
            <a:off x="822960" y="2148840"/>
            <a:ext cx="411480" cy="411480"/>
          </a:xfrm>
          <a:prstGeom prst="rect">
            <a:avLst/>
          </a:prstGeom>
        </p:spPr>
      </p:pic>
      <p:sp>
        <p:nvSpPr>
          <p:cNvPr id="9" name="text-467"/>
          <p:cNvSpPr txBox="1"/>
          <p:nvPr/>
        </p:nvSpPr>
        <p:spPr>
          <a:xfrm>
            <a:off x="1463040" y="1783080"/>
            <a:ext cx="4160520" cy="1143000"/>
          </a:xfrm>
          <a:prstGeom prst="rect">
            <a:avLst/>
          </a:prstGeom>
          <a:noFill/>
          <a:ln/>
        </p:spPr>
        <p:txBody>
          <a:bodyPr wrap="square" lIns="0" tIns="0" rIns="0" bIns="0" rtlCol="0" anchor="ctr"/>
          <a:lstStyle/>
          <a:p>
            <a:pPr indent="0" marL="0">
              <a:buNone/>
            </a:pPr>
            <a:r>
              <a:rPr lang="en-US" sz="1800" dirty="0">
                <a:solidFill>
                  <a:schemeClr val="tx1"/>
                </a:solidFill>
              </a:rPr>
              <a:t>It added a rule the memo doesn't have</a:t>
            </a:r>
            <a:endParaRPr lang="en-US" sz="1800" dirty="0"/>
          </a:p>
        </p:txBody>
      </p:sp>
      <p:pic>
        <p:nvPicPr>
          <p:cNvPr id="10" name="icon-468" descr="preencoded.png">    </p:cNvPr>
          <p:cNvPicPr>
            <a:picLocks noChangeAspect="1"/>
          </p:cNvPicPr>
          <p:nvPr/>
        </p:nvPicPr>
        <p:blipFill>
          <a:blip r:embed="rId2"/>
          <a:stretch>
            <a:fillRect/>
          </a:stretch>
        </p:blipFill>
        <p:spPr>
          <a:xfrm>
            <a:off x="5943600" y="2148840"/>
            <a:ext cx="411480" cy="411480"/>
          </a:xfrm>
          <a:prstGeom prst="rect">
            <a:avLst/>
          </a:prstGeom>
        </p:spPr>
      </p:pic>
      <p:sp>
        <p:nvSpPr>
          <p:cNvPr id="11" name="card-469"/>
          <p:cNvSpPr/>
          <p:nvPr/>
        </p:nvSpPr>
        <p:spPr>
          <a:xfrm>
            <a:off x="6537960" y="1783080"/>
            <a:ext cx="5102352" cy="1143000"/>
          </a:xfrm>
          <a:prstGeom prst="roundRect">
            <a:avLst>
              <a:gd name="adj" fmla="val 9600"/>
            </a:avLst>
          </a:prstGeom>
          <a:solidFill>
            <a:schemeClr val="tx1"/>
          </a:solidFill>
          <a:ln/>
        </p:spPr>
      </p:sp>
      <p:pic>
        <p:nvPicPr>
          <p:cNvPr id="12" name="icon-470" descr="preencoded.png">    </p:cNvPr>
          <p:cNvPicPr>
            <a:picLocks noChangeAspect="1"/>
          </p:cNvPicPr>
          <p:nvPr/>
        </p:nvPicPr>
        <p:blipFill>
          <a:blip r:embed="rId3"/>
          <a:stretch>
            <a:fillRect/>
          </a:stretch>
        </p:blipFill>
        <p:spPr>
          <a:xfrm>
            <a:off x="6812280" y="2148840"/>
            <a:ext cx="411480" cy="411480"/>
          </a:xfrm>
          <a:prstGeom prst="rect">
            <a:avLst/>
          </a:prstGeom>
        </p:spPr>
      </p:pic>
      <p:sp>
        <p:nvSpPr>
          <p:cNvPr id="13" name="text-471"/>
          <p:cNvSpPr txBox="1"/>
          <p:nvPr/>
        </p:nvSpPr>
        <p:spPr>
          <a:xfrm>
            <a:off x="7452360" y="1783080"/>
            <a:ext cx="4023360" cy="1143000"/>
          </a:xfrm>
          <a:prstGeom prst="rect">
            <a:avLst/>
          </a:prstGeom>
          <a:noFill/>
          <a:ln/>
        </p:spPr>
        <p:txBody>
          <a:bodyPr wrap="square" lIns="0" tIns="0" rIns="0" bIns="0" rtlCol="0" anchor="ctr"/>
          <a:lstStyle/>
          <a:p>
            <a:pPr indent="0" marL="0">
              <a:buNone/>
            </a:pPr>
            <a:r>
              <a:rPr lang="en-US" sz="1800" dirty="0">
                <a:solidFill>
                  <a:schemeClr val="bg1"/>
                </a:solidFill>
              </a:rPr>
              <a:t>“Use only the memo” plus a test question it can't answer</a:t>
            </a:r>
            <a:endParaRPr lang="en-US" sz="1800" dirty="0"/>
          </a:p>
        </p:txBody>
      </p:sp>
      <p:sp>
        <p:nvSpPr>
          <p:cNvPr id="14" name="card-472"/>
          <p:cNvSpPr/>
          <p:nvPr/>
        </p:nvSpPr>
        <p:spPr>
          <a:xfrm>
            <a:off x="548640" y="3154680"/>
            <a:ext cx="5257800" cy="1143000"/>
          </a:xfrm>
          <a:prstGeom prst="roundRect">
            <a:avLst>
              <a:gd name="adj" fmla="val 9600"/>
            </a:avLst>
          </a:prstGeom>
          <a:solidFill>
            <a:schemeClr val="bg2"/>
          </a:solidFill>
          <a:ln/>
        </p:spPr>
      </p:sp>
      <p:pic>
        <p:nvPicPr>
          <p:cNvPr id="15" name="icon-473" descr="preencoded.png">    </p:cNvPr>
          <p:cNvPicPr>
            <a:picLocks noChangeAspect="1"/>
          </p:cNvPicPr>
          <p:nvPr/>
        </p:nvPicPr>
        <p:blipFill>
          <a:blip r:embed="rId4"/>
          <a:stretch>
            <a:fillRect/>
          </a:stretch>
        </p:blipFill>
        <p:spPr>
          <a:xfrm>
            <a:off x="822960" y="3520440"/>
            <a:ext cx="411480" cy="411480"/>
          </a:xfrm>
          <a:prstGeom prst="rect">
            <a:avLst/>
          </a:prstGeom>
        </p:spPr>
      </p:pic>
      <p:sp>
        <p:nvSpPr>
          <p:cNvPr id="16" name="text-474"/>
          <p:cNvSpPr txBox="1"/>
          <p:nvPr/>
        </p:nvSpPr>
        <p:spPr>
          <a:xfrm>
            <a:off x="1463040" y="3154680"/>
            <a:ext cx="4160520" cy="1143000"/>
          </a:xfrm>
          <a:prstGeom prst="rect">
            <a:avLst/>
          </a:prstGeom>
          <a:noFill/>
          <a:ln/>
        </p:spPr>
        <p:txBody>
          <a:bodyPr wrap="square" lIns="0" tIns="0" rIns="0" bIns="0" rtlCol="0" anchor="ctr"/>
          <a:lstStyle/>
          <a:p>
            <a:pPr indent="0" marL="0">
              <a:buNone/>
            </a:pPr>
            <a:r>
              <a:rPr lang="en-US" sz="1800" dirty="0">
                <a:solidFill>
                  <a:schemeClr val="tx1"/>
                </a:solidFill>
              </a:rPr>
              <a:t>It ignored the five-bullet limit</a:t>
            </a:r>
            <a:endParaRPr lang="en-US" sz="1800" dirty="0"/>
          </a:p>
        </p:txBody>
      </p:sp>
      <p:pic>
        <p:nvPicPr>
          <p:cNvPr id="17" name="icon-475" descr="preencoded.png">    </p:cNvPr>
          <p:cNvPicPr>
            <a:picLocks noChangeAspect="1"/>
          </p:cNvPicPr>
          <p:nvPr/>
        </p:nvPicPr>
        <p:blipFill>
          <a:blip r:embed="rId5"/>
          <a:stretch>
            <a:fillRect/>
          </a:stretch>
        </p:blipFill>
        <p:spPr>
          <a:xfrm>
            <a:off x="5943600" y="3520440"/>
            <a:ext cx="411480" cy="411480"/>
          </a:xfrm>
          <a:prstGeom prst="rect">
            <a:avLst/>
          </a:prstGeom>
        </p:spPr>
      </p:pic>
      <p:sp>
        <p:nvSpPr>
          <p:cNvPr id="18" name="card-476"/>
          <p:cNvSpPr/>
          <p:nvPr/>
        </p:nvSpPr>
        <p:spPr>
          <a:xfrm>
            <a:off x="6537960" y="3154680"/>
            <a:ext cx="5102352" cy="1143000"/>
          </a:xfrm>
          <a:prstGeom prst="roundRect">
            <a:avLst>
              <a:gd name="adj" fmla="val 9600"/>
            </a:avLst>
          </a:prstGeom>
          <a:solidFill>
            <a:schemeClr val="tx1"/>
          </a:solidFill>
          <a:ln/>
        </p:spPr>
      </p:sp>
      <p:pic>
        <p:nvPicPr>
          <p:cNvPr id="19" name="icon-477" descr="preencoded.png">    </p:cNvPr>
          <p:cNvPicPr>
            <a:picLocks noChangeAspect="1"/>
          </p:cNvPicPr>
          <p:nvPr/>
        </p:nvPicPr>
        <p:blipFill>
          <a:blip r:embed="rId6"/>
          <a:stretch>
            <a:fillRect/>
          </a:stretch>
        </p:blipFill>
        <p:spPr>
          <a:xfrm>
            <a:off x="6812280" y="3520440"/>
            <a:ext cx="411480" cy="411480"/>
          </a:xfrm>
          <a:prstGeom prst="rect">
            <a:avLst/>
          </a:prstGeom>
        </p:spPr>
      </p:pic>
      <p:sp>
        <p:nvSpPr>
          <p:cNvPr id="20" name="text-478"/>
          <p:cNvSpPr txBox="1"/>
          <p:nvPr/>
        </p:nvSpPr>
        <p:spPr>
          <a:xfrm>
            <a:off x="7452360" y="3154680"/>
            <a:ext cx="4023360" cy="1143000"/>
          </a:xfrm>
          <a:prstGeom prst="rect">
            <a:avLst/>
          </a:prstGeom>
          <a:noFill/>
          <a:ln/>
        </p:spPr>
        <p:txBody>
          <a:bodyPr wrap="square" lIns="0" tIns="0" rIns="0" bIns="0" rtlCol="0" anchor="ctr"/>
          <a:lstStyle/>
          <a:p>
            <a:pPr indent="0" marL="0">
              <a:buNone/>
            </a:pPr>
            <a:r>
              <a:rPr lang="en-US" sz="1800" dirty="0">
                <a:solidFill>
                  <a:schemeClr val="bg1"/>
                </a:solidFill>
              </a:rPr>
              <a:t>State the format exactly: “No more than 5 bullets.”</a:t>
            </a:r>
            <a:endParaRPr lang="en-US" sz="1800" dirty="0"/>
          </a:p>
        </p:txBody>
      </p:sp>
      <p:sp>
        <p:nvSpPr>
          <p:cNvPr id="21" name="card-479"/>
          <p:cNvSpPr/>
          <p:nvPr/>
        </p:nvSpPr>
        <p:spPr>
          <a:xfrm>
            <a:off x="548640" y="4526280"/>
            <a:ext cx="5257800" cy="1143000"/>
          </a:xfrm>
          <a:prstGeom prst="roundRect">
            <a:avLst>
              <a:gd name="adj" fmla="val 9600"/>
            </a:avLst>
          </a:prstGeom>
          <a:solidFill>
            <a:schemeClr val="bg2"/>
          </a:solidFill>
          <a:ln/>
        </p:spPr>
      </p:sp>
      <p:pic>
        <p:nvPicPr>
          <p:cNvPr id="22" name="icon-480" descr="preencoded.png">    </p:cNvPr>
          <p:cNvPicPr>
            <a:picLocks noChangeAspect="1"/>
          </p:cNvPicPr>
          <p:nvPr/>
        </p:nvPicPr>
        <p:blipFill>
          <a:blip r:embed="rId7"/>
          <a:stretch>
            <a:fillRect/>
          </a:stretch>
        </p:blipFill>
        <p:spPr>
          <a:xfrm>
            <a:off x="822960" y="4892040"/>
            <a:ext cx="411480" cy="411480"/>
          </a:xfrm>
          <a:prstGeom prst="rect">
            <a:avLst/>
          </a:prstGeom>
        </p:spPr>
      </p:pic>
      <p:sp>
        <p:nvSpPr>
          <p:cNvPr id="23" name="text-481"/>
          <p:cNvSpPr txBox="1"/>
          <p:nvPr/>
        </p:nvSpPr>
        <p:spPr>
          <a:xfrm>
            <a:off x="1463040" y="4526280"/>
            <a:ext cx="4160520" cy="1143000"/>
          </a:xfrm>
          <a:prstGeom prst="rect">
            <a:avLst/>
          </a:prstGeom>
          <a:noFill/>
          <a:ln/>
        </p:spPr>
        <p:txBody>
          <a:bodyPr wrap="square" lIns="0" tIns="0" rIns="0" bIns="0" rtlCol="0" anchor="ctr"/>
          <a:lstStyle/>
          <a:p>
            <a:pPr indent="0" marL="0">
              <a:buNone/>
            </a:pPr>
            <a:r>
              <a:rPr lang="en-US" sz="1800" dirty="0">
                <a:solidFill>
                  <a:schemeClr val="tx1"/>
                </a:solidFill>
              </a:rPr>
              <a:t>Bullets were vague or wordy</a:t>
            </a:r>
            <a:endParaRPr lang="en-US" sz="1800" dirty="0"/>
          </a:p>
        </p:txBody>
      </p:sp>
      <p:pic>
        <p:nvPicPr>
          <p:cNvPr id="24" name="icon-482" descr="preencoded.png">    </p:cNvPr>
          <p:cNvPicPr>
            <a:picLocks noChangeAspect="1"/>
          </p:cNvPicPr>
          <p:nvPr/>
        </p:nvPicPr>
        <p:blipFill>
          <a:blip r:embed="rId8"/>
          <a:stretch>
            <a:fillRect/>
          </a:stretch>
        </p:blipFill>
        <p:spPr>
          <a:xfrm>
            <a:off x="5943600" y="4892040"/>
            <a:ext cx="411480" cy="411480"/>
          </a:xfrm>
          <a:prstGeom prst="rect">
            <a:avLst/>
          </a:prstGeom>
        </p:spPr>
      </p:pic>
      <p:sp>
        <p:nvSpPr>
          <p:cNvPr id="25" name="card-483"/>
          <p:cNvSpPr/>
          <p:nvPr/>
        </p:nvSpPr>
        <p:spPr>
          <a:xfrm>
            <a:off x="6537960" y="4526280"/>
            <a:ext cx="5102352" cy="1143000"/>
          </a:xfrm>
          <a:prstGeom prst="roundRect">
            <a:avLst>
              <a:gd name="adj" fmla="val 9600"/>
            </a:avLst>
          </a:prstGeom>
          <a:solidFill>
            <a:schemeClr val="tx1"/>
          </a:solidFill>
          <a:ln/>
        </p:spPr>
      </p:sp>
      <p:pic>
        <p:nvPicPr>
          <p:cNvPr id="26" name="icon-484" descr="preencoded.png">    </p:cNvPr>
          <p:cNvPicPr>
            <a:picLocks noChangeAspect="1"/>
          </p:cNvPicPr>
          <p:nvPr/>
        </p:nvPicPr>
        <p:blipFill>
          <a:blip r:embed="rId9"/>
          <a:stretch>
            <a:fillRect/>
          </a:stretch>
        </p:blipFill>
        <p:spPr>
          <a:xfrm>
            <a:off x="6812280" y="4892040"/>
            <a:ext cx="411480" cy="411480"/>
          </a:xfrm>
          <a:prstGeom prst="rect">
            <a:avLst/>
          </a:prstGeom>
        </p:spPr>
      </p:pic>
      <p:sp>
        <p:nvSpPr>
          <p:cNvPr id="27" name="text-485"/>
          <p:cNvSpPr txBox="1"/>
          <p:nvPr/>
        </p:nvSpPr>
        <p:spPr>
          <a:xfrm>
            <a:off x="7452360" y="4526280"/>
            <a:ext cx="4023360" cy="1143000"/>
          </a:xfrm>
          <a:prstGeom prst="rect">
            <a:avLst/>
          </a:prstGeom>
          <a:noFill/>
          <a:ln/>
        </p:spPr>
        <p:txBody>
          <a:bodyPr wrap="square" lIns="0" tIns="0" rIns="0" bIns="0" rtlCol="0" anchor="ctr"/>
          <a:lstStyle/>
          <a:p>
            <a:pPr indent="0" marL="0">
              <a:buNone/>
            </a:pPr>
            <a:r>
              <a:rPr lang="en-US" sz="1800" dirty="0">
                <a:solidFill>
                  <a:schemeClr val="bg1"/>
                </a:solidFill>
              </a:rPr>
              <a:t>Give one example bullet in the style you want</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Prompting is a conversation</a:t>
            </a:r>
            <a:endParaRPr lang="en-US" sz="3400" dirty="0"/>
          </a:p>
        </p:txBody>
      </p:sp>
      <p:sp>
        <p:nvSpPr>
          <p:cNvPr id="3" name="arrow-486"/>
          <p:cNvSpPr/>
          <p:nvPr/>
        </p:nvSpPr>
        <p:spPr>
          <a:xfrm>
            <a:off x="3611880" y="3063240"/>
            <a:ext cx="594360" cy="868680"/>
          </a:xfrm>
          <a:prstGeom prst="line">
            <a:avLst/>
          </a:prstGeom>
          <a:noFill/>
          <a:ln w="31750">
            <a:solidFill>
              <a:schemeClr val="tx2"/>
            </a:solidFill>
            <a:prstDash val="solid"/>
            <a:tailEnd type="triangle"/>
          </a:ln>
        </p:spPr>
      </p:sp>
      <p:sp>
        <p:nvSpPr>
          <p:cNvPr id="4" name="arrow-487"/>
          <p:cNvSpPr/>
          <p:nvPr/>
        </p:nvSpPr>
        <p:spPr>
          <a:xfrm flipH="1">
            <a:off x="2286000" y="4736592"/>
            <a:ext cx="1508760" cy="9144"/>
          </a:xfrm>
          <a:prstGeom prst="line">
            <a:avLst/>
          </a:prstGeom>
          <a:noFill/>
          <a:ln w="31750">
            <a:solidFill>
              <a:schemeClr val="tx2"/>
            </a:solidFill>
            <a:prstDash val="solid"/>
            <a:tailEnd type="triangle"/>
          </a:ln>
        </p:spPr>
      </p:sp>
      <p:sp>
        <p:nvSpPr>
          <p:cNvPr id="5" name="arrow-488"/>
          <p:cNvSpPr/>
          <p:nvPr/>
        </p:nvSpPr>
        <p:spPr>
          <a:xfrm flipV="1">
            <a:off x="1508760" y="3017520"/>
            <a:ext cx="685800" cy="914400"/>
          </a:xfrm>
          <a:prstGeom prst="line">
            <a:avLst/>
          </a:prstGeom>
          <a:noFill/>
          <a:ln w="31750">
            <a:solidFill>
              <a:schemeClr val="tx2"/>
            </a:solidFill>
            <a:prstDash val="solid"/>
            <a:tailEnd type="triangle"/>
          </a:ln>
        </p:spPr>
      </p:sp>
      <p:sp>
        <p:nvSpPr>
          <p:cNvPr id="6" name="cycle-489"/>
          <p:cNvSpPr/>
          <p:nvPr/>
        </p:nvSpPr>
        <p:spPr>
          <a:xfrm>
            <a:off x="2240280" y="1508760"/>
            <a:ext cx="1600200" cy="1600200"/>
          </a:xfrm>
          <a:prstGeom prst="ellipse">
            <a:avLst/>
          </a:prstGeom>
          <a:solidFill>
            <a:schemeClr val="tx1"/>
          </a:solidFill>
          <a:ln/>
        </p:spPr>
      </p:sp>
      <p:sp>
        <p:nvSpPr>
          <p:cNvPr id="7" name="text-490"/>
          <p:cNvSpPr txBox="1"/>
          <p:nvPr/>
        </p:nvSpPr>
        <p:spPr>
          <a:xfrm>
            <a:off x="2240280" y="1508760"/>
            <a:ext cx="1600200" cy="1600200"/>
          </a:xfrm>
          <a:prstGeom prst="rect">
            <a:avLst/>
          </a:prstGeom>
          <a:noFill/>
          <a:ln/>
        </p:spPr>
        <p:txBody>
          <a:bodyPr wrap="square" lIns="0" tIns="0" rIns="0" bIns="0" rtlCol="0" anchor="ctr"/>
          <a:lstStyle/>
          <a:p>
            <a:pPr algn="ctr" indent="0" marL="0">
              <a:buNone/>
            </a:pPr>
            <a:r>
              <a:rPr lang="en-US" sz="2200" b="1" dirty="0">
                <a:solidFill>
                  <a:schemeClr val="bg1"/>
                </a:solidFill>
              </a:rPr>
              <a:t>Prompt</a:t>
            </a:r>
            <a:endParaRPr lang="en-US" sz="2200" dirty="0"/>
          </a:p>
        </p:txBody>
      </p:sp>
      <p:sp>
        <p:nvSpPr>
          <p:cNvPr id="8" name="cycle-491"/>
          <p:cNvSpPr/>
          <p:nvPr/>
        </p:nvSpPr>
        <p:spPr>
          <a:xfrm>
            <a:off x="3794760" y="3931920"/>
            <a:ext cx="1600200" cy="1600200"/>
          </a:xfrm>
          <a:prstGeom prst="ellipse">
            <a:avLst/>
          </a:prstGeom>
          <a:solidFill>
            <a:schemeClr val="bg2"/>
          </a:solidFill>
          <a:ln/>
        </p:spPr>
      </p:sp>
      <p:sp>
        <p:nvSpPr>
          <p:cNvPr id="9" name="text-492"/>
          <p:cNvSpPr txBox="1"/>
          <p:nvPr/>
        </p:nvSpPr>
        <p:spPr>
          <a:xfrm>
            <a:off x="3794760" y="3931920"/>
            <a:ext cx="1600200" cy="1600200"/>
          </a:xfrm>
          <a:prstGeom prst="rect">
            <a:avLst/>
          </a:prstGeom>
          <a:noFill/>
          <a:ln/>
        </p:spPr>
        <p:txBody>
          <a:bodyPr wrap="square" lIns="0" tIns="0" rIns="0" bIns="0" rtlCol="0" anchor="ctr"/>
          <a:lstStyle/>
          <a:p>
            <a:pPr algn="ctr" indent="0" marL="0">
              <a:buNone/>
            </a:pPr>
            <a:r>
              <a:rPr lang="en-US" sz="2200" b="1" dirty="0">
                <a:solidFill>
                  <a:schemeClr val="tx1"/>
                </a:solidFill>
              </a:rPr>
              <a:t>Review</a:t>
            </a:r>
            <a:endParaRPr lang="en-US" sz="2200" dirty="0"/>
          </a:p>
        </p:txBody>
      </p:sp>
      <p:sp>
        <p:nvSpPr>
          <p:cNvPr id="10" name="cycle-493"/>
          <p:cNvSpPr/>
          <p:nvPr/>
        </p:nvSpPr>
        <p:spPr>
          <a:xfrm>
            <a:off x="685800" y="3931920"/>
            <a:ext cx="1600200" cy="1600200"/>
          </a:xfrm>
          <a:prstGeom prst="ellipse">
            <a:avLst/>
          </a:prstGeom>
          <a:solidFill>
            <a:schemeClr val="bg2"/>
          </a:solidFill>
          <a:ln/>
        </p:spPr>
      </p:sp>
      <p:sp>
        <p:nvSpPr>
          <p:cNvPr id="11" name="text-494"/>
          <p:cNvSpPr txBox="1"/>
          <p:nvPr/>
        </p:nvSpPr>
        <p:spPr>
          <a:xfrm>
            <a:off x="685800" y="3931920"/>
            <a:ext cx="1600200" cy="1600200"/>
          </a:xfrm>
          <a:prstGeom prst="rect">
            <a:avLst/>
          </a:prstGeom>
          <a:noFill/>
          <a:ln/>
        </p:spPr>
        <p:txBody>
          <a:bodyPr wrap="square" lIns="0" tIns="0" rIns="0" bIns="0" rtlCol="0" anchor="ctr"/>
          <a:lstStyle/>
          <a:p>
            <a:pPr algn="ctr" indent="0" marL="0">
              <a:buNone/>
            </a:pPr>
            <a:r>
              <a:rPr lang="en-US" sz="2200" b="1" dirty="0">
                <a:solidFill>
                  <a:schemeClr val="tx1"/>
                </a:solidFill>
              </a:rPr>
              <a:t>Refine</a:t>
            </a:r>
            <a:endParaRPr lang="en-US" sz="2200" dirty="0"/>
          </a:p>
        </p:txBody>
      </p:sp>
      <p:sp>
        <p:nvSpPr>
          <p:cNvPr id="12" name="text-495"/>
          <p:cNvSpPr txBox="1"/>
          <p:nvPr/>
        </p:nvSpPr>
        <p:spPr>
          <a:xfrm>
            <a:off x="6400800" y="1737360"/>
            <a:ext cx="5239512" cy="1097280"/>
          </a:xfrm>
          <a:prstGeom prst="rect">
            <a:avLst/>
          </a:prstGeom>
          <a:noFill/>
          <a:ln/>
        </p:spPr>
        <p:txBody>
          <a:bodyPr wrap="square" lIns="0" tIns="0" rIns="0" bIns="0" rtlCol="0" anchor="t"/>
          <a:lstStyle/>
          <a:p>
            <a:pPr indent="0" marL="0">
              <a:buNone/>
            </a:pPr>
            <a:r>
              <a:rPr lang="en-US" sz="3000" b="1" dirty="0">
                <a:solidFill>
                  <a:schemeClr val="tx1"/>
                </a:solidFill>
              </a:rPr>
              <a:t>Treat the first answer as a first draft.</a:t>
            </a:r>
            <a:endParaRPr lang="en-US" sz="3000" dirty="0"/>
          </a:p>
        </p:txBody>
      </p:sp>
      <p:sp>
        <p:nvSpPr>
          <p:cNvPr id="13" name="text-496"/>
          <p:cNvSpPr txBox="1"/>
          <p:nvPr/>
        </p:nvSpPr>
        <p:spPr>
          <a:xfrm>
            <a:off x="6400800" y="2971800"/>
            <a:ext cx="5239512" cy="1188720"/>
          </a:xfrm>
          <a:prstGeom prst="rect">
            <a:avLst/>
          </a:prstGeom>
          <a:noFill/>
          <a:ln/>
        </p:spPr>
        <p:txBody>
          <a:bodyPr wrap="square" lIns="0" tIns="0" rIns="0" bIns="0" rtlCol="0" anchor="t"/>
          <a:lstStyle/>
          <a:p>
            <a:pPr indent="0" marL="0">
              <a:buNone/>
            </a:pPr>
            <a:r>
              <a:rPr lang="en-US" sz="1900" dirty="0">
                <a:solidFill>
                  <a:schemeClr val="tx2"/>
                </a:solidFill>
              </a:rPr>
              <a:t>Look at what's missing or off, then say so in a follow-up. Two or three short turns usually beat one long prompt.</a:t>
            </a:r>
            <a:endParaRPr lang="en-US" sz="1900" dirty="0"/>
          </a:p>
        </p:txBody>
      </p:sp>
      <p:sp>
        <p:nvSpPr>
          <p:cNvPr id="14" name="card-497"/>
          <p:cNvSpPr/>
          <p:nvPr/>
        </p:nvSpPr>
        <p:spPr>
          <a:xfrm>
            <a:off x="6400800" y="4526280"/>
            <a:ext cx="5239512" cy="1097280"/>
          </a:xfrm>
          <a:prstGeom prst="roundRect">
            <a:avLst>
              <a:gd name="adj" fmla="val 10000"/>
            </a:avLst>
          </a:prstGeom>
          <a:solidFill>
            <a:schemeClr val="bg2"/>
          </a:solidFill>
          <a:ln/>
        </p:spPr>
      </p:sp>
      <p:pic>
        <p:nvPicPr>
          <p:cNvPr id="15" name="icon-498" descr="preencoded.png">    </p:cNvPr>
          <p:cNvPicPr>
            <a:picLocks noChangeAspect="1"/>
          </p:cNvPicPr>
          <p:nvPr/>
        </p:nvPicPr>
        <p:blipFill>
          <a:blip r:embed="rId1"/>
          <a:stretch>
            <a:fillRect/>
          </a:stretch>
        </p:blipFill>
        <p:spPr>
          <a:xfrm>
            <a:off x="6675120" y="4846320"/>
            <a:ext cx="457200" cy="457200"/>
          </a:xfrm>
          <a:prstGeom prst="rect">
            <a:avLst/>
          </a:prstGeom>
        </p:spPr>
      </p:pic>
      <p:sp>
        <p:nvSpPr>
          <p:cNvPr id="16" name="text-499"/>
          <p:cNvSpPr txBox="1"/>
          <p:nvPr/>
        </p:nvSpPr>
        <p:spPr>
          <a:xfrm>
            <a:off x="7360920" y="4526280"/>
            <a:ext cx="4114800" cy="1097280"/>
          </a:xfrm>
          <a:prstGeom prst="rect">
            <a:avLst/>
          </a:prstGeom>
          <a:noFill/>
          <a:ln/>
        </p:spPr>
        <p:txBody>
          <a:bodyPr wrap="square" lIns="0" tIns="0" rIns="0" bIns="0" rtlCol="0" anchor="ctr"/>
          <a:lstStyle/>
          <a:p>
            <a:pPr indent="0" marL="0">
              <a:buNone/>
            </a:pPr>
            <a:r>
              <a:rPr lang="en-US" sz="1700" b="1" dirty="0">
                <a:solidFill>
                  <a:schemeClr val="tx1"/>
                </a:solidFill>
              </a:rPr>
              <a:t>Off the rails? Start a new chat with a better first prompt.</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Five follow-up moves</a:t>
            </a:r>
            <a:endParaRPr lang="en-US" sz="3400" dirty="0"/>
          </a:p>
        </p:txBody>
      </p:sp>
      <p:sp>
        <p:nvSpPr>
          <p:cNvPr id="3" name="num-500"/>
          <p:cNvSpPr/>
          <p:nvPr/>
        </p:nvSpPr>
        <p:spPr>
          <a:xfrm>
            <a:off x="548640" y="1581912"/>
            <a:ext cx="548640" cy="548640"/>
          </a:xfrm>
          <a:prstGeom prst="ellipse">
            <a:avLst/>
          </a:prstGeom>
          <a:solidFill>
            <a:schemeClr val="tx1"/>
          </a:solidFill>
          <a:ln/>
        </p:spPr>
      </p:sp>
      <p:sp>
        <p:nvSpPr>
          <p:cNvPr id="4" name="text-501"/>
          <p:cNvSpPr txBox="1"/>
          <p:nvPr/>
        </p:nvSpPr>
        <p:spPr>
          <a:xfrm>
            <a:off x="548640" y="15819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502"/>
          <p:cNvSpPr txBox="1"/>
          <p:nvPr/>
        </p:nvSpPr>
        <p:spPr>
          <a:xfrm>
            <a:off x="1325880" y="1463040"/>
            <a:ext cx="2834640" cy="777240"/>
          </a:xfrm>
          <a:prstGeom prst="rect">
            <a:avLst/>
          </a:prstGeom>
          <a:noFill/>
          <a:ln/>
        </p:spPr>
        <p:txBody>
          <a:bodyPr wrap="square" lIns="0" tIns="0" rIns="0" bIns="0" rtlCol="0" anchor="ctr"/>
          <a:lstStyle/>
          <a:p>
            <a:pPr indent="0" marL="0">
              <a:buNone/>
            </a:pPr>
            <a:r>
              <a:rPr lang="en-US" sz="2000" b="1" dirty="0">
                <a:solidFill>
                  <a:schemeClr val="tx1"/>
                </a:solidFill>
              </a:rPr>
              <a:t>Interview me</a:t>
            </a:r>
            <a:endParaRPr lang="en-US" sz="2000" dirty="0"/>
          </a:p>
        </p:txBody>
      </p:sp>
      <p:sp>
        <p:nvSpPr>
          <p:cNvPr id="6" name="card-503"/>
          <p:cNvSpPr/>
          <p:nvPr/>
        </p:nvSpPr>
        <p:spPr>
          <a:xfrm>
            <a:off x="4206240" y="1463040"/>
            <a:ext cx="7436815" cy="777240"/>
          </a:xfrm>
          <a:prstGeom prst="roundRect">
            <a:avLst>
              <a:gd name="adj" fmla="val 14118"/>
            </a:avLst>
          </a:prstGeom>
          <a:solidFill>
            <a:schemeClr val="bg2"/>
          </a:solidFill>
          <a:ln/>
        </p:spPr>
      </p:sp>
      <p:sp>
        <p:nvSpPr>
          <p:cNvPr id="7" name="text-504"/>
          <p:cNvSpPr txBox="1"/>
          <p:nvPr/>
        </p:nvSpPr>
        <p:spPr>
          <a:xfrm>
            <a:off x="4480560" y="1463040"/>
            <a:ext cx="68881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Before you start, ask me up to 5 questions you need answered.</a:t>
            </a:r>
            <a:endParaRPr lang="en-US" sz="1500" dirty="0"/>
          </a:p>
        </p:txBody>
      </p:sp>
      <p:sp>
        <p:nvSpPr>
          <p:cNvPr id="8" name="num-505"/>
          <p:cNvSpPr/>
          <p:nvPr/>
        </p:nvSpPr>
        <p:spPr>
          <a:xfrm>
            <a:off x="548640" y="2496312"/>
            <a:ext cx="548640" cy="548640"/>
          </a:xfrm>
          <a:prstGeom prst="ellipse">
            <a:avLst/>
          </a:prstGeom>
          <a:solidFill>
            <a:schemeClr val="tx1"/>
          </a:solidFill>
          <a:ln/>
        </p:spPr>
      </p:sp>
      <p:sp>
        <p:nvSpPr>
          <p:cNvPr id="9" name="text-506"/>
          <p:cNvSpPr txBox="1"/>
          <p:nvPr/>
        </p:nvSpPr>
        <p:spPr>
          <a:xfrm>
            <a:off x="548640" y="24963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507"/>
          <p:cNvSpPr txBox="1"/>
          <p:nvPr/>
        </p:nvSpPr>
        <p:spPr>
          <a:xfrm>
            <a:off x="1325880" y="2377440"/>
            <a:ext cx="2834640" cy="777240"/>
          </a:xfrm>
          <a:prstGeom prst="rect">
            <a:avLst/>
          </a:prstGeom>
          <a:noFill/>
          <a:ln/>
        </p:spPr>
        <p:txBody>
          <a:bodyPr wrap="square" lIns="0" tIns="0" rIns="0" bIns="0" rtlCol="0" anchor="ctr"/>
          <a:lstStyle/>
          <a:p>
            <a:pPr indent="0" marL="0">
              <a:buNone/>
            </a:pPr>
            <a:r>
              <a:rPr lang="en-US" sz="2000" b="1" dirty="0">
                <a:solidFill>
                  <a:schemeClr val="tx1"/>
                </a:solidFill>
              </a:rPr>
              <a:t>Adjust</a:t>
            </a:r>
            <a:endParaRPr lang="en-US" sz="2000" dirty="0"/>
          </a:p>
        </p:txBody>
      </p:sp>
      <p:sp>
        <p:nvSpPr>
          <p:cNvPr id="11" name="card-508"/>
          <p:cNvSpPr/>
          <p:nvPr/>
        </p:nvSpPr>
        <p:spPr>
          <a:xfrm>
            <a:off x="4206240" y="2377440"/>
            <a:ext cx="7436815" cy="777240"/>
          </a:xfrm>
          <a:prstGeom prst="roundRect">
            <a:avLst>
              <a:gd name="adj" fmla="val 14118"/>
            </a:avLst>
          </a:prstGeom>
          <a:solidFill>
            <a:schemeClr val="bg2"/>
          </a:solidFill>
          <a:ln/>
        </p:spPr>
      </p:sp>
      <p:sp>
        <p:nvSpPr>
          <p:cNvPr id="12" name="text-509"/>
          <p:cNvSpPr txBox="1"/>
          <p:nvPr/>
        </p:nvSpPr>
        <p:spPr>
          <a:xfrm>
            <a:off x="4480560" y="2377440"/>
            <a:ext cx="68881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Make it half as long and more conversational.</a:t>
            </a:r>
            <a:endParaRPr lang="en-US" sz="1500" dirty="0"/>
          </a:p>
        </p:txBody>
      </p:sp>
      <p:sp>
        <p:nvSpPr>
          <p:cNvPr id="13" name="num-510"/>
          <p:cNvSpPr/>
          <p:nvPr/>
        </p:nvSpPr>
        <p:spPr>
          <a:xfrm>
            <a:off x="548640" y="3410712"/>
            <a:ext cx="548640" cy="548640"/>
          </a:xfrm>
          <a:prstGeom prst="ellipse">
            <a:avLst/>
          </a:prstGeom>
          <a:solidFill>
            <a:schemeClr val="tx1"/>
          </a:solidFill>
          <a:ln/>
        </p:spPr>
      </p:sp>
      <p:sp>
        <p:nvSpPr>
          <p:cNvPr id="14" name="text-511"/>
          <p:cNvSpPr txBox="1"/>
          <p:nvPr/>
        </p:nvSpPr>
        <p:spPr>
          <a:xfrm>
            <a:off x="548640" y="34107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512"/>
          <p:cNvSpPr txBox="1"/>
          <p:nvPr/>
        </p:nvSpPr>
        <p:spPr>
          <a:xfrm>
            <a:off x="1325880" y="3291840"/>
            <a:ext cx="2834640" cy="777240"/>
          </a:xfrm>
          <a:prstGeom prst="rect">
            <a:avLst/>
          </a:prstGeom>
          <a:noFill/>
          <a:ln/>
        </p:spPr>
        <p:txBody>
          <a:bodyPr wrap="square" lIns="0" tIns="0" rIns="0" bIns="0" rtlCol="0" anchor="ctr"/>
          <a:lstStyle/>
          <a:p>
            <a:pPr indent="0" marL="0">
              <a:buNone/>
            </a:pPr>
            <a:r>
              <a:rPr lang="en-US" sz="2000" b="1" dirty="0">
                <a:solidFill>
                  <a:schemeClr val="tx1"/>
                </a:solidFill>
              </a:rPr>
              <a:t>Critique, then revise</a:t>
            </a:r>
            <a:endParaRPr lang="en-US" sz="2000" dirty="0"/>
          </a:p>
        </p:txBody>
      </p:sp>
      <p:sp>
        <p:nvSpPr>
          <p:cNvPr id="16" name="card-513"/>
          <p:cNvSpPr/>
          <p:nvPr/>
        </p:nvSpPr>
        <p:spPr>
          <a:xfrm>
            <a:off x="4206240" y="3291840"/>
            <a:ext cx="7436815" cy="777240"/>
          </a:xfrm>
          <a:prstGeom prst="roundRect">
            <a:avLst>
              <a:gd name="adj" fmla="val 14118"/>
            </a:avLst>
          </a:prstGeom>
          <a:solidFill>
            <a:schemeClr val="bg2"/>
          </a:solidFill>
          <a:ln/>
        </p:spPr>
      </p:sp>
      <p:sp>
        <p:nvSpPr>
          <p:cNvPr id="17" name="text-514"/>
          <p:cNvSpPr txBox="1"/>
          <p:nvPr/>
        </p:nvSpPr>
        <p:spPr>
          <a:xfrm>
            <a:off x="4480560" y="3291840"/>
            <a:ext cx="68881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Check your draft against these criteria: … List the weaknesses, then rewrite it.</a:t>
            </a:r>
            <a:endParaRPr lang="en-US" sz="1500" dirty="0"/>
          </a:p>
        </p:txBody>
      </p:sp>
      <p:sp>
        <p:nvSpPr>
          <p:cNvPr id="18" name="num-515"/>
          <p:cNvSpPr/>
          <p:nvPr/>
        </p:nvSpPr>
        <p:spPr>
          <a:xfrm>
            <a:off x="548640" y="4325112"/>
            <a:ext cx="548640" cy="548640"/>
          </a:xfrm>
          <a:prstGeom prst="ellipse">
            <a:avLst/>
          </a:prstGeom>
          <a:solidFill>
            <a:schemeClr val="tx1"/>
          </a:solidFill>
          <a:ln/>
        </p:spPr>
      </p:sp>
      <p:sp>
        <p:nvSpPr>
          <p:cNvPr id="19" name="text-516"/>
          <p:cNvSpPr txBox="1"/>
          <p:nvPr/>
        </p:nvSpPr>
        <p:spPr>
          <a:xfrm>
            <a:off x="548640" y="43251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517"/>
          <p:cNvSpPr txBox="1"/>
          <p:nvPr/>
        </p:nvSpPr>
        <p:spPr>
          <a:xfrm>
            <a:off x="1325880" y="4206240"/>
            <a:ext cx="2834640" cy="777240"/>
          </a:xfrm>
          <a:prstGeom prst="rect">
            <a:avLst/>
          </a:prstGeom>
          <a:noFill/>
          <a:ln/>
        </p:spPr>
        <p:txBody>
          <a:bodyPr wrap="square" lIns="0" tIns="0" rIns="0" bIns="0" rtlCol="0" anchor="ctr"/>
          <a:lstStyle/>
          <a:p>
            <a:pPr indent="0" marL="0">
              <a:buNone/>
            </a:pPr>
            <a:r>
              <a:rPr lang="en-US" sz="2000" b="1" dirty="0">
                <a:solidFill>
                  <a:schemeClr val="tx1"/>
                </a:solidFill>
              </a:rPr>
              <a:t>Break it into steps</a:t>
            </a:r>
            <a:endParaRPr lang="en-US" sz="2000" dirty="0"/>
          </a:p>
        </p:txBody>
      </p:sp>
      <p:sp>
        <p:nvSpPr>
          <p:cNvPr id="21" name="card-518"/>
          <p:cNvSpPr/>
          <p:nvPr/>
        </p:nvSpPr>
        <p:spPr>
          <a:xfrm>
            <a:off x="4206240" y="4206240"/>
            <a:ext cx="7436815" cy="777240"/>
          </a:xfrm>
          <a:prstGeom prst="roundRect">
            <a:avLst>
              <a:gd name="adj" fmla="val 14118"/>
            </a:avLst>
          </a:prstGeom>
          <a:solidFill>
            <a:schemeClr val="bg2"/>
          </a:solidFill>
          <a:ln/>
        </p:spPr>
      </p:sp>
      <p:sp>
        <p:nvSpPr>
          <p:cNvPr id="22" name="text-519"/>
          <p:cNvSpPr txBox="1"/>
          <p:nvPr/>
        </p:nvSpPr>
        <p:spPr>
          <a:xfrm>
            <a:off x="4480560" y="4206240"/>
            <a:ext cx="68881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First give me an outline. Wait for my OK before drafting.</a:t>
            </a:r>
            <a:endParaRPr lang="en-US" sz="1500" dirty="0"/>
          </a:p>
        </p:txBody>
      </p:sp>
      <p:sp>
        <p:nvSpPr>
          <p:cNvPr id="23" name="num-520"/>
          <p:cNvSpPr/>
          <p:nvPr/>
        </p:nvSpPr>
        <p:spPr>
          <a:xfrm>
            <a:off x="548640" y="5239512"/>
            <a:ext cx="548640" cy="548640"/>
          </a:xfrm>
          <a:prstGeom prst="ellipse">
            <a:avLst/>
          </a:prstGeom>
          <a:solidFill>
            <a:schemeClr val="tx1"/>
          </a:solidFill>
          <a:ln/>
        </p:spPr>
      </p:sp>
      <p:sp>
        <p:nvSpPr>
          <p:cNvPr id="24" name="text-521"/>
          <p:cNvSpPr txBox="1"/>
          <p:nvPr/>
        </p:nvSpPr>
        <p:spPr>
          <a:xfrm>
            <a:off x="548640" y="52395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522"/>
          <p:cNvSpPr txBox="1"/>
          <p:nvPr/>
        </p:nvSpPr>
        <p:spPr>
          <a:xfrm>
            <a:off x="1325880" y="5120640"/>
            <a:ext cx="2834640" cy="777240"/>
          </a:xfrm>
          <a:prstGeom prst="rect">
            <a:avLst/>
          </a:prstGeom>
          <a:noFill/>
          <a:ln/>
        </p:spPr>
        <p:txBody>
          <a:bodyPr wrap="square" lIns="0" tIns="0" rIns="0" bIns="0" rtlCol="0" anchor="ctr"/>
          <a:lstStyle/>
          <a:p>
            <a:pPr indent="0" marL="0">
              <a:buNone/>
            </a:pPr>
            <a:r>
              <a:rPr lang="en-US" sz="2000" b="1" dirty="0">
                <a:solidFill>
                  <a:schemeClr val="tx1"/>
                </a:solidFill>
              </a:rPr>
              <a:t>Ask for options</a:t>
            </a:r>
            <a:endParaRPr lang="en-US" sz="2000" dirty="0"/>
          </a:p>
        </p:txBody>
      </p:sp>
      <p:sp>
        <p:nvSpPr>
          <p:cNvPr id="26" name="card-523"/>
          <p:cNvSpPr/>
          <p:nvPr/>
        </p:nvSpPr>
        <p:spPr>
          <a:xfrm>
            <a:off x="4206240" y="5120640"/>
            <a:ext cx="7436815" cy="777240"/>
          </a:xfrm>
          <a:prstGeom prst="roundRect">
            <a:avLst>
              <a:gd name="adj" fmla="val 14118"/>
            </a:avLst>
          </a:prstGeom>
          <a:solidFill>
            <a:schemeClr val="bg2"/>
          </a:solidFill>
          <a:ln/>
        </p:spPr>
      </p:sp>
      <p:sp>
        <p:nvSpPr>
          <p:cNvPr id="27" name="text-524"/>
          <p:cNvSpPr txBox="1"/>
          <p:nvPr/>
        </p:nvSpPr>
        <p:spPr>
          <a:xfrm>
            <a:off x="4480560" y="5120640"/>
            <a:ext cx="6888175" cy="77724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Give me three versions: direct, warm, and persuasive.</a:t>
            </a:r>
            <a:endParaRPr lang="en-US" sz="15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Demo: four turns to a better announcement</a:t>
            </a:r>
            <a:endParaRPr lang="en-US" sz="3400" dirty="0"/>
          </a:p>
        </p:txBody>
      </p:sp>
      <p:sp>
        <p:nvSpPr>
          <p:cNvPr id="3" name="card-525"/>
          <p:cNvSpPr/>
          <p:nvPr/>
        </p:nvSpPr>
        <p:spPr>
          <a:xfrm>
            <a:off x="548640" y="1463040"/>
            <a:ext cx="2533574" cy="3657600"/>
          </a:xfrm>
          <a:prstGeom prst="roundRect">
            <a:avLst>
              <a:gd name="adj" fmla="val 4331"/>
            </a:avLst>
          </a:prstGeom>
          <a:solidFill>
            <a:schemeClr val="tx1"/>
          </a:solidFill>
          <a:ln/>
        </p:spPr>
      </p:sp>
      <p:sp>
        <p:nvSpPr>
          <p:cNvPr id="4" name="text-526"/>
          <p:cNvSpPr txBox="1"/>
          <p:nvPr/>
        </p:nvSpPr>
        <p:spPr>
          <a:xfrm>
            <a:off x="822960" y="1737360"/>
            <a:ext cx="1984934"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TURN 1</a:t>
            </a:r>
            <a:endParaRPr lang="en-US" sz="1300" dirty="0"/>
          </a:p>
        </p:txBody>
      </p:sp>
      <p:sp>
        <p:nvSpPr>
          <p:cNvPr id="5" name="text-527"/>
          <p:cNvSpPr txBox="1"/>
          <p:nvPr/>
        </p:nvSpPr>
        <p:spPr>
          <a:xfrm>
            <a:off x="822960" y="2103120"/>
            <a:ext cx="1984934" cy="731520"/>
          </a:xfrm>
          <a:prstGeom prst="rect">
            <a:avLst/>
          </a:prstGeom>
          <a:noFill/>
          <a:ln/>
        </p:spPr>
        <p:txBody>
          <a:bodyPr wrap="square" lIns="0" tIns="0" rIns="0" bIns="0" rtlCol="0" anchor="t"/>
          <a:lstStyle/>
          <a:p>
            <a:pPr indent="0" marL="0">
              <a:buNone/>
            </a:pPr>
            <a:r>
              <a:rPr lang="en-US" sz="2000" b="1" dirty="0">
                <a:solidFill>
                  <a:schemeClr val="bg1"/>
                </a:solidFill>
              </a:rPr>
              <a:t>Brief + interview me</a:t>
            </a:r>
            <a:endParaRPr lang="en-US" sz="2000" dirty="0"/>
          </a:p>
        </p:txBody>
      </p:sp>
      <p:sp>
        <p:nvSpPr>
          <p:cNvPr id="6" name="text-528"/>
          <p:cNvSpPr txBox="1"/>
          <p:nvPr/>
        </p:nvSpPr>
        <p:spPr>
          <a:xfrm>
            <a:off x="822960" y="2926080"/>
            <a:ext cx="2076374" cy="205740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…Draft a staff announcement. Before you start, ask me up to 4 questions.</a:t>
            </a:r>
            <a:endParaRPr lang="en-US" sz="1500" dirty="0"/>
          </a:p>
        </p:txBody>
      </p:sp>
      <p:pic>
        <p:nvPicPr>
          <p:cNvPr id="7" name="icon-529" descr="preencoded.png">    </p:cNvPr>
          <p:cNvPicPr>
            <a:picLocks noChangeAspect="1"/>
          </p:cNvPicPr>
          <p:nvPr/>
        </p:nvPicPr>
        <p:blipFill>
          <a:blip r:embed="rId1"/>
          <a:stretch>
            <a:fillRect/>
          </a:stretch>
        </p:blipFill>
        <p:spPr>
          <a:xfrm>
            <a:off x="3118790" y="3291840"/>
            <a:ext cx="246888" cy="246888"/>
          </a:xfrm>
          <a:prstGeom prst="rect">
            <a:avLst/>
          </a:prstGeom>
        </p:spPr>
      </p:pic>
      <p:sp>
        <p:nvSpPr>
          <p:cNvPr id="8" name="card-530"/>
          <p:cNvSpPr/>
          <p:nvPr/>
        </p:nvSpPr>
        <p:spPr>
          <a:xfrm>
            <a:off x="3402254" y="1463040"/>
            <a:ext cx="2533574" cy="3657600"/>
          </a:xfrm>
          <a:prstGeom prst="roundRect">
            <a:avLst>
              <a:gd name="adj" fmla="val 4331"/>
            </a:avLst>
          </a:prstGeom>
          <a:solidFill>
            <a:schemeClr val="bg2"/>
          </a:solidFill>
          <a:ln/>
        </p:spPr>
      </p:sp>
      <p:sp>
        <p:nvSpPr>
          <p:cNvPr id="9" name="text-531"/>
          <p:cNvSpPr txBox="1"/>
          <p:nvPr/>
        </p:nvSpPr>
        <p:spPr>
          <a:xfrm>
            <a:off x="3676574" y="1737360"/>
            <a:ext cx="1984934"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TURN 2</a:t>
            </a:r>
            <a:endParaRPr lang="en-US" sz="1300" dirty="0"/>
          </a:p>
        </p:txBody>
      </p:sp>
      <p:sp>
        <p:nvSpPr>
          <p:cNvPr id="10" name="text-532"/>
          <p:cNvSpPr txBox="1"/>
          <p:nvPr/>
        </p:nvSpPr>
        <p:spPr>
          <a:xfrm>
            <a:off x="3676574" y="2103120"/>
            <a:ext cx="1984934" cy="731520"/>
          </a:xfrm>
          <a:prstGeom prst="rect">
            <a:avLst/>
          </a:prstGeom>
          <a:noFill/>
          <a:ln/>
        </p:spPr>
        <p:txBody>
          <a:bodyPr wrap="square" lIns="0" tIns="0" rIns="0" bIns="0" rtlCol="0" anchor="t"/>
          <a:lstStyle/>
          <a:p>
            <a:pPr indent="0" marL="0">
              <a:buNone/>
            </a:pPr>
            <a:r>
              <a:rPr lang="en-US" sz="2000" b="1" dirty="0">
                <a:solidFill>
                  <a:schemeClr val="tx1"/>
                </a:solidFill>
              </a:rPr>
              <a:t>Answer its questions</a:t>
            </a:r>
            <a:endParaRPr lang="en-US" sz="2000" dirty="0"/>
          </a:p>
        </p:txBody>
      </p:sp>
      <p:sp>
        <p:nvSpPr>
          <p:cNvPr id="11" name="text-533"/>
          <p:cNvSpPr txBox="1"/>
          <p:nvPr/>
        </p:nvSpPr>
        <p:spPr>
          <a:xfrm>
            <a:off x="3676574" y="2926080"/>
            <a:ext cx="2076374" cy="20574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Starts July 1. Log hours in the HR portal. Any registered nonprofit.</a:t>
            </a:r>
            <a:endParaRPr lang="en-US" sz="1500" dirty="0"/>
          </a:p>
        </p:txBody>
      </p:sp>
      <p:pic>
        <p:nvPicPr>
          <p:cNvPr id="12" name="icon-534" descr="preencoded.png">    </p:cNvPr>
          <p:cNvPicPr>
            <a:picLocks noChangeAspect="1"/>
          </p:cNvPicPr>
          <p:nvPr/>
        </p:nvPicPr>
        <p:blipFill>
          <a:blip r:embed="rId2"/>
          <a:stretch>
            <a:fillRect/>
          </a:stretch>
        </p:blipFill>
        <p:spPr>
          <a:xfrm>
            <a:off x="5972404" y="3291840"/>
            <a:ext cx="246888" cy="246888"/>
          </a:xfrm>
          <a:prstGeom prst="rect">
            <a:avLst/>
          </a:prstGeom>
        </p:spPr>
      </p:pic>
      <p:sp>
        <p:nvSpPr>
          <p:cNvPr id="13" name="card-535"/>
          <p:cNvSpPr/>
          <p:nvPr/>
        </p:nvSpPr>
        <p:spPr>
          <a:xfrm>
            <a:off x="6255868" y="1463040"/>
            <a:ext cx="2533574" cy="3657600"/>
          </a:xfrm>
          <a:prstGeom prst="roundRect">
            <a:avLst>
              <a:gd name="adj" fmla="val 4331"/>
            </a:avLst>
          </a:prstGeom>
          <a:solidFill>
            <a:schemeClr val="bg2"/>
          </a:solidFill>
          <a:ln/>
        </p:spPr>
      </p:sp>
      <p:sp>
        <p:nvSpPr>
          <p:cNvPr id="14" name="text-536"/>
          <p:cNvSpPr txBox="1"/>
          <p:nvPr/>
        </p:nvSpPr>
        <p:spPr>
          <a:xfrm>
            <a:off x="6530188" y="1737360"/>
            <a:ext cx="1984934"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TURN 3</a:t>
            </a:r>
            <a:endParaRPr lang="en-US" sz="1300" dirty="0"/>
          </a:p>
        </p:txBody>
      </p:sp>
      <p:sp>
        <p:nvSpPr>
          <p:cNvPr id="15" name="text-537"/>
          <p:cNvSpPr txBox="1"/>
          <p:nvPr/>
        </p:nvSpPr>
        <p:spPr>
          <a:xfrm>
            <a:off x="6530188" y="2103120"/>
            <a:ext cx="1984934" cy="731520"/>
          </a:xfrm>
          <a:prstGeom prst="rect">
            <a:avLst/>
          </a:prstGeom>
          <a:noFill/>
          <a:ln/>
        </p:spPr>
        <p:txBody>
          <a:bodyPr wrap="square" lIns="0" tIns="0" rIns="0" bIns="0" rtlCol="0" anchor="t"/>
          <a:lstStyle/>
          <a:p>
            <a:pPr indent="0" marL="0">
              <a:buNone/>
            </a:pPr>
            <a:r>
              <a:rPr lang="en-US" sz="2000" b="1" dirty="0">
                <a:solidFill>
                  <a:schemeClr val="tx1"/>
                </a:solidFill>
              </a:rPr>
              <a:t>Critique, then revise</a:t>
            </a:r>
            <a:endParaRPr lang="en-US" sz="2000" dirty="0"/>
          </a:p>
        </p:txBody>
      </p:sp>
      <p:sp>
        <p:nvSpPr>
          <p:cNvPr id="16" name="text-538"/>
          <p:cNvSpPr txBox="1"/>
          <p:nvPr/>
        </p:nvSpPr>
        <p:spPr>
          <a:xfrm>
            <a:off x="6530188" y="2926080"/>
            <a:ext cx="2076374" cy="20574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Check it: under 120 words, one call to action, no jargon. List weaknesses, then rewrite.</a:t>
            </a:r>
            <a:endParaRPr lang="en-US" sz="1500" dirty="0"/>
          </a:p>
        </p:txBody>
      </p:sp>
      <p:pic>
        <p:nvPicPr>
          <p:cNvPr id="17" name="icon-539" descr="preencoded.png">    </p:cNvPr>
          <p:cNvPicPr>
            <a:picLocks noChangeAspect="1"/>
          </p:cNvPicPr>
          <p:nvPr/>
        </p:nvPicPr>
        <p:blipFill>
          <a:blip r:embed="rId3"/>
          <a:stretch>
            <a:fillRect/>
          </a:stretch>
        </p:blipFill>
        <p:spPr>
          <a:xfrm>
            <a:off x="8826017" y="3291840"/>
            <a:ext cx="246888" cy="246888"/>
          </a:xfrm>
          <a:prstGeom prst="rect">
            <a:avLst/>
          </a:prstGeom>
        </p:spPr>
      </p:pic>
      <p:sp>
        <p:nvSpPr>
          <p:cNvPr id="18" name="card-540"/>
          <p:cNvSpPr/>
          <p:nvPr/>
        </p:nvSpPr>
        <p:spPr>
          <a:xfrm>
            <a:off x="9109481" y="1463040"/>
            <a:ext cx="2533574" cy="3657600"/>
          </a:xfrm>
          <a:prstGeom prst="roundRect">
            <a:avLst>
              <a:gd name="adj" fmla="val 4331"/>
            </a:avLst>
          </a:prstGeom>
          <a:solidFill>
            <a:schemeClr val="bg2"/>
          </a:solidFill>
          <a:ln/>
        </p:spPr>
      </p:sp>
      <p:sp>
        <p:nvSpPr>
          <p:cNvPr id="19" name="text-541"/>
          <p:cNvSpPr txBox="1"/>
          <p:nvPr/>
        </p:nvSpPr>
        <p:spPr>
          <a:xfrm>
            <a:off x="9383801" y="1737360"/>
            <a:ext cx="1984934"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TURN 4</a:t>
            </a:r>
            <a:endParaRPr lang="en-US" sz="1300" dirty="0"/>
          </a:p>
        </p:txBody>
      </p:sp>
      <p:sp>
        <p:nvSpPr>
          <p:cNvPr id="20" name="text-542"/>
          <p:cNvSpPr txBox="1"/>
          <p:nvPr/>
        </p:nvSpPr>
        <p:spPr>
          <a:xfrm>
            <a:off x="9383801" y="2103120"/>
            <a:ext cx="1984934" cy="731520"/>
          </a:xfrm>
          <a:prstGeom prst="rect">
            <a:avLst/>
          </a:prstGeom>
          <a:noFill/>
          <a:ln/>
        </p:spPr>
        <p:txBody>
          <a:bodyPr wrap="square" lIns="0" tIns="0" rIns="0" bIns="0" rtlCol="0" anchor="t"/>
          <a:lstStyle/>
          <a:p>
            <a:pPr indent="0" marL="0">
              <a:buNone/>
            </a:pPr>
            <a:r>
              <a:rPr lang="en-US" sz="2000" b="1" dirty="0">
                <a:solidFill>
                  <a:schemeClr val="tx1"/>
                </a:solidFill>
              </a:rPr>
              <a:t>Ask for options</a:t>
            </a:r>
            <a:endParaRPr lang="en-US" sz="2000" dirty="0"/>
          </a:p>
        </p:txBody>
      </p:sp>
      <p:sp>
        <p:nvSpPr>
          <p:cNvPr id="21" name="text-543"/>
          <p:cNvSpPr txBox="1"/>
          <p:nvPr/>
        </p:nvSpPr>
        <p:spPr>
          <a:xfrm>
            <a:off x="9383801" y="2926080"/>
            <a:ext cx="2076374" cy="205740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Give me three subject lines: direct, warm, and playful.</a:t>
            </a:r>
            <a:endParaRPr lang="en-US" sz="1500" dirty="0"/>
          </a:p>
        </p:txBody>
      </p:sp>
      <p:sp>
        <p:nvSpPr>
          <p:cNvPr id="22" name="text-544"/>
          <p:cNvSpPr txBox="1"/>
          <p:nvPr/>
        </p:nvSpPr>
        <p:spPr>
          <a:xfrm>
            <a:off x="548640" y="5440680"/>
            <a:ext cx="11094415" cy="411480"/>
          </a:xfrm>
          <a:prstGeom prst="rect">
            <a:avLst/>
          </a:prstGeom>
          <a:noFill/>
          <a:ln/>
        </p:spPr>
        <p:txBody>
          <a:bodyPr wrap="square" lIns="0" tIns="0" rIns="0" bIns="0" rtlCol="0" anchor="t"/>
          <a:lstStyle/>
          <a:p>
            <a:pPr indent="0" marL="0">
              <a:buNone/>
            </a:pPr>
            <a:r>
              <a:rPr lang="en-US" sz="1600" dirty="0">
                <a:solidFill>
                  <a:schemeClr val="tx2"/>
                </a:solidFill>
              </a:rPr>
              <a:t>Scenario: Prairie Point gives every employee 8 paid volunteer hours a year.</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2.2  ·  PAIRS OR SOLO</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Four turns to great</a:t>
            </a:r>
            <a:endParaRPr lang="en-US" sz="3800" dirty="0"/>
          </a:p>
        </p:txBody>
      </p:sp>
      <p:sp>
        <p:nvSpPr>
          <p:cNvPr id="4" name="badge-545"/>
          <p:cNvSpPr/>
          <p:nvPr/>
        </p:nvSpPr>
        <p:spPr>
          <a:xfrm>
            <a:off x="10042855" y="502920"/>
            <a:ext cx="1600200" cy="457200"/>
          </a:xfrm>
          <a:prstGeom prst="roundRect">
            <a:avLst>
              <a:gd name="adj" fmla="val 50000"/>
            </a:avLst>
          </a:prstGeom>
          <a:solidFill>
            <a:schemeClr val="bg1"/>
          </a:solidFill>
          <a:ln/>
        </p:spPr>
      </p:sp>
      <p:sp>
        <p:nvSpPr>
          <p:cNvPr id="5" name="text-546"/>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22 min</a:t>
            </a:r>
            <a:endParaRPr lang="en-US" sz="1600" dirty="0"/>
          </a:p>
        </p:txBody>
      </p:sp>
      <p:sp>
        <p:nvSpPr>
          <p:cNvPr id="6" name="text-547"/>
          <p:cNvSpPr txBox="1"/>
          <p:nvPr/>
        </p:nvSpPr>
        <p:spPr>
          <a:xfrm>
            <a:off x="548640" y="1783080"/>
            <a:ext cx="5486400" cy="365760"/>
          </a:xfrm>
          <a:prstGeom prst="rect">
            <a:avLst/>
          </a:prstGeom>
          <a:noFill/>
          <a:ln/>
        </p:spPr>
        <p:txBody>
          <a:bodyPr wrap="square" lIns="0" tIns="0" rIns="0" bIns="0" rtlCol="0" anchor="t"/>
          <a:lstStyle/>
          <a:p>
            <a:pPr indent="0" marL="0">
              <a:buNone/>
            </a:pPr>
            <a:r>
              <a:rPr lang="en-US" sz="1700" dirty="0">
                <a:solidFill>
                  <a:schemeClr val="accent3"/>
                </a:solidFill>
              </a:rPr>
              <a:t>Choose one scenario:</a:t>
            </a:r>
            <a:endParaRPr lang="en-US" sz="1700" dirty="0"/>
          </a:p>
        </p:txBody>
      </p:sp>
      <p:sp>
        <p:nvSpPr>
          <p:cNvPr id="7" name="card-548"/>
          <p:cNvSpPr/>
          <p:nvPr/>
        </p:nvSpPr>
        <p:spPr>
          <a:xfrm>
            <a:off x="548640" y="2240280"/>
            <a:ext cx="6035040" cy="978408"/>
          </a:xfrm>
          <a:prstGeom prst="roundRect">
            <a:avLst>
              <a:gd name="adj" fmla="val 11215"/>
            </a:avLst>
          </a:prstGeom>
          <a:solidFill>
            <a:schemeClr val="accent2"/>
          </a:solidFill>
          <a:ln/>
        </p:spPr>
      </p:sp>
      <p:sp>
        <p:nvSpPr>
          <p:cNvPr id="8" name="text-549"/>
          <p:cNvSpPr txBox="1"/>
          <p:nvPr/>
        </p:nvSpPr>
        <p:spPr>
          <a:xfrm>
            <a:off x="822960" y="2240280"/>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A</a:t>
            </a:r>
            <a:endParaRPr lang="en-US" sz="2600" dirty="0"/>
          </a:p>
        </p:txBody>
      </p:sp>
      <p:sp>
        <p:nvSpPr>
          <p:cNvPr id="9" name="text-550"/>
          <p:cNvSpPr txBox="1"/>
          <p:nvPr/>
        </p:nvSpPr>
        <p:spPr>
          <a:xfrm>
            <a:off x="1371600" y="2240280"/>
            <a:ext cx="5029200" cy="978408"/>
          </a:xfrm>
          <a:prstGeom prst="rect">
            <a:avLst/>
          </a:prstGeom>
          <a:noFill/>
          <a:ln/>
        </p:spPr>
        <p:txBody>
          <a:bodyPr wrap="square" lIns="0" tIns="0" rIns="0" bIns="0" rtlCol="0" anchor="ctr"/>
          <a:lstStyle/>
          <a:p>
            <a:pPr indent="0" marL="0">
              <a:buNone/>
            </a:pPr>
            <a:r>
              <a:rPr lang="en-US" sz="1500" dirty="0">
                <a:solidFill>
                  <a:schemeClr val="bg1"/>
                </a:solidFill>
              </a:rPr>
              <a:t>Announce a new office recycling program to staff who were frustrated by the last workplace change.</a:t>
            </a:r>
            <a:endParaRPr lang="en-US" sz="1500" dirty="0"/>
          </a:p>
        </p:txBody>
      </p:sp>
      <p:sp>
        <p:nvSpPr>
          <p:cNvPr id="10" name="card-551"/>
          <p:cNvSpPr/>
          <p:nvPr/>
        </p:nvSpPr>
        <p:spPr>
          <a:xfrm>
            <a:off x="548640" y="3355848"/>
            <a:ext cx="6035040" cy="978408"/>
          </a:xfrm>
          <a:prstGeom prst="roundRect">
            <a:avLst>
              <a:gd name="adj" fmla="val 11215"/>
            </a:avLst>
          </a:prstGeom>
          <a:solidFill>
            <a:schemeClr val="accent2"/>
          </a:solidFill>
          <a:ln/>
        </p:spPr>
      </p:sp>
      <p:sp>
        <p:nvSpPr>
          <p:cNvPr id="11" name="text-552"/>
          <p:cNvSpPr txBox="1"/>
          <p:nvPr/>
        </p:nvSpPr>
        <p:spPr>
          <a:xfrm>
            <a:off x="822960" y="3355848"/>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B</a:t>
            </a:r>
            <a:endParaRPr lang="en-US" sz="2600" dirty="0"/>
          </a:p>
        </p:txBody>
      </p:sp>
      <p:sp>
        <p:nvSpPr>
          <p:cNvPr id="12" name="text-553"/>
          <p:cNvSpPr txBox="1"/>
          <p:nvPr/>
        </p:nvSpPr>
        <p:spPr>
          <a:xfrm>
            <a:off x="1371600" y="3355848"/>
            <a:ext cx="5029200" cy="978408"/>
          </a:xfrm>
          <a:prstGeom prst="rect">
            <a:avLst/>
          </a:prstGeom>
          <a:noFill/>
          <a:ln/>
        </p:spPr>
        <p:txBody>
          <a:bodyPr wrap="square" lIns="0" tIns="0" rIns="0" bIns="0" rtlCol="0" anchor="ctr"/>
          <a:lstStyle/>
          <a:p>
            <a:pPr indent="0" marL="0">
              <a:buNone/>
            </a:pPr>
            <a:r>
              <a:rPr lang="en-US" sz="1500" dirty="0">
                <a:solidFill>
                  <a:schemeClr val="bg1"/>
                </a:solidFill>
              </a:rPr>
              <a:t>Reply to a customer whose delivery was two days late and who wants a full refund. Policy: refund shipping, plus 10% off the next order.</a:t>
            </a:r>
            <a:endParaRPr lang="en-US" sz="1500" dirty="0"/>
          </a:p>
        </p:txBody>
      </p:sp>
      <p:sp>
        <p:nvSpPr>
          <p:cNvPr id="13" name="card-554"/>
          <p:cNvSpPr/>
          <p:nvPr/>
        </p:nvSpPr>
        <p:spPr>
          <a:xfrm>
            <a:off x="548640" y="4471416"/>
            <a:ext cx="6035040" cy="978408"/>
          </a:xfrm>
          <a:prstGeom prst="roundRect">
            <a:avLst>
              <a:gd name="adj" fmla="val 11215"/>
            </a:avLst>
          </a:prstGeom>
          <a:solidFill>
            <a:schemeClr val="accent2"/>
          </a:solidFill>
          <a:ln/>
        </p:spPr>
      </p:sp>
      <p:sp>
        <p:nvSpPr>
          <p:cNvPr id="14" name="text-555"/>
          <p:cNvSpPr txBox="1"/>
          <p:nvPr/>
        </p:nvSpPr>
        <p:spPr>
          <a:xfrm>
            <a:off x="822960" y="4471416"/>
            <a:ext cx="457200" cy="978408"/>
          </a:xfrm>
          <a:prstGeom prst="rect">
            <a:avLst/>
          </a:prstGeom>
          <a:noFill/>
          <a:ln/>
        </p:spPr>
        <p:txBody>
          <a:bodyPr wrap="square" lIns="0" tIns="0" rIns="0" bIns="0" rtlCol="0" anchor="ctr"/>
          <a:lstStyle/>
          <a:p>
            <a:pPr indent="0" marL="0">
              <a:buNone/>
            </a:pPr>
            <a:r>
              <a:rPr lang="en-US" sz="2600" b="1" dirty="0">
                <a:solidFill>
                  <a:schemeClr val="accent1"/>
                </a:solidFill>
              </a:rPr>
              <a:t>C</a:t>
            </a:r>
            <a:endParaRPr lang="en-US" sz="2600" dirty="0"/>
          </a:p>
        </p:txBody>
      </p:sp>
      <p:sp>
        <p:nvSpPr>
          <p:cNvPr id="15" name="text-556"/>
          <p:cNvSpPr txBox="1"/>
          <p:nvPr/>
        </p:nvSpPr>
        <p:spPr>
          <a:xfrm>
            <a:off x="1371600" y="4471416"/>
            <a:ext cx="5029200" cy="978408"/>
          </a:xfrm>
          <a:prstGeom prst="rect">
            <a:avLst/>
          </a:prstGeom>
          <a:noFill/>
          <a:ln/>
        </p:spPr>
        <p:txBody>
          <a:bodyPr wrap="square" lIns="0" tIns="0" rIns="0" bIns="0" rtlCol="0" anchor="ctr"/>
          <a:lstStyle/>
          <a:p>
            <a:pPr indent="0" marL="0">
              <a:buNone/>
            </a:pPr>
            <a:r>
              <a:rPr lang="en-US" sz="1500" dirty="0">
                <a:solidFill>
                  <a:schemeClr val="bg1"/>
                </a:solidFill>
              </a:rPr>
              <a:t>Write a short LinkedIn post celebrating your team for finishing a big project.</a:t>
            </a:r>
            <a:endParaRPr lang="en-US" sz="1500" dirty="0"/>
          </a:p>
        </p:txBody>
      </p:sp>
      <p:sp>
        <p:nvSpPr>
          <p:cNvPr id="16" name="text-557"/>
          <p:cNvSpPr txBox="1"/>
          <p:nvPr/>
        </p:nvSpPr>
        <p:spPr>
          <a:xfrm>
            <a:off x="708660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Rules</a:t>
            </a:r>
            <a:endParaRPr lang="en-US" sz="2100" dirty="0"/>
          </a:p>
        </p:txBody>
      </p:sp>
      <p:pic>
        <p:nvPicPr>
          <p:cNvPr id="17" name="icon-558" descr="preencoded.png">    </p:cNvPr>
          <p:cNvPicPr>
            <a:picLocks noChangeAspect="1"/>
          </p:cNvPicPr>
          <p:nvPr/>
        </p:nvPicPr>
        <p:blipFill>
          <a:blip r:embed="rId1"/>
          <a:stretch>
            <a:fillRect/>
          </a:stretch>
        </p:blipFill>
        <p:spPr>
          <a:xfrm>
            <a:off x="7086600" y="2377440"/>
            <a:ext cx="365760" cy="365760"/>
          </a:xfrm>
          <a:prstGeom prst="rect">
            <a:avLst/>
          </a:prstGeom>
        </p:spPr>
      </p:pic>
      <p:sp>
        <p:nvSpPr>
          <p:cNvPr id="18" name="text-559"/>
          <p:cNvSpPr txBox="1"/>
          <p:nvPr/>
        </p:nvSpPr>
        <p:spPr>
          <a:xfrm>
            <a:off x="7635240" y="2331720"/>
            <a:ext cx="4023360" cy="457200"/>
          </a:xfrm>
          <a:prstGeom prst="rect">
            <a:avLst/>
          </a:prstGeom>
          <a:noFill/>
          <a:ln/>
        </p:spPr>
        <p:txBody>
          <a:bodyPr wrap="square" lIns="0" tIns="0" rIns="0" bIns="0" rtlCol="0" anchor="ctr"/>
          <a:lstStyle/>
          <a:p>
            <a:pPr indent="0" marL="0">
              <a:buNone/>
            </a:pPr>
            <a:r>
              <a:rPr lang="en-US" sz="1800" dirty="0">
                <a:solidFill>
                  <a:schemeClr val="bg1"/>
                </a:solidFill>
              </a:rPr>
              <a:t>Four turns or fewer</a:t>
            </a:r>
            <a:endParaRPr lang="en-US" sz="1800" dirty="0"/>
          </a:p>
        </p:txBody>
      </p:sp>
      <p:pic>
        <p:nvPicPr>
          <p:cNvPr id="19" name="icon-560" descr="preencoded.png">    </p:cNvPr>
          <p:cNvPicPr>
            <a:picLocks noChangeAspect="1"/>
          </p:cNvPicPr>
          <p:nvPr/>
        </p:nvPicPr>
        <p:blipFill>
          <a:blip r:embed="rId2"/>
          <a:stretch>
            <a:fillRect/>
          </a:stretch>
        </p:blipFill>
        <p:spPr>
          <a:xfrm>
            <a:off x="7086600" y="3035808"/>
            <a:ext cx="365760" cy="365760"/>
          </a:xfrm>
          <a:prstGeom prst="rect">
            <a:avLst/>
          </a:prstGeom>
        </p:spPr>
      </p:pic>
      <p:sp>
        <p:nvSpPr>
          <p:cNvPr id="20" name="text-561"/>
          <p:cNvSpPr txBox="1"/>
          <p:nvPr/>
        </p:nvSpPr>
        <p:spPr>
          <a:xfrm>
            <a:off x="7635240" y="2990088"/>
            <a:ext cx="4023360" cy="457200"/>
          </a:xfrm>
          <a:prstGeom prst="rect">
            <a:avLst/>
          </a:prstGeom>
          <a:noFill/>
          <a:ln/>
        </p:spPr>
        <p:txBody>
          <a:bodyPr wrap="square" lIns="0" tIns="0" rIns="0" bIns="0" rtlCol="0" anchor="ctr"/>
          <a:lstStyle/>
          <a:p>
            <a:pPr indent="0" marL="0">
              <a:buNone/>
            </a:pPr>
            <a:r>
              <a:rPr lang="en-US" sz="1800" dirty="0">
                <a:solidFill>
                  <a:schemeClr val="bg1"/>
                </a:solidFill>
              </a:rPr>
              <a:t>Use at least two follow-up moves</a:t>
            </a:r>
            <a:endParaRPr lang="en-US" sz="1800" dirty="0"/>
          </a:p>
        </p:txBody>
      </p:sp>
      <p:pic>
        <p:nvPicPr>
          <p:cNvPr id="21" name="icon-562" descr="preencoded.png">    </p:cNvPr>
          <p:cNvPicPr>
            <a:picLocks noChangeAspect="1"/>
          </p:cNvPicPr>
          <p:nvPr/>
        </p:nvPicPr>
        <p:blipFill>
          <a:blip r:embed="rId3"/>
          <a:stretch>
            <a:fillRect/>
          </a:stretch>
        </p:blipFill>
        <p:spPr>
          <a:xfrm>
            <a:off x="7086600" y="3694176"/>
            <a:ext cx="365760" cy="365760"/>
          </a:xfrm>
          <a:prstGeom prst="rect">
            <a:avLst/>
          </a:prstGeom>
        </p:spPr>
      </p:pic>
      <p:sp>
        <p:nvSpPr>
          <p:cNvPr id="22" name="text-563"/>
          <p:cNvSpPr txBox="1"/>
          <p:nvPr/>
        </p:nvSpPr>
        <p:spPr>
          <a:xfrm>
            <a:off x="7635240" y="3648456"/>
            <a:ext cx="4023360" cy="457200"/>
          </a:xfrm>
          <a:prstGeom prst="rect">
            <a:avLst/>
          </a:prstGeom>
          <a:noFill/>
          <a:ln/>
        </p:spPr>
        <p:txBody>
          <a:bodyPr wrap="square" lIns="0" tIns="0" rIns="0" bIns="0" rtlCol="0" anchor="ctr"/>
          <a:lstStyle/>
          <a:p>
            <a:pPr indent="0" marL="0">
              <a:buNone/>
            </a:pPr>
            <a:r>
              <a:rPr lang="en-US" sz="1800" dirty="0">
                <a:solidFill>
                  <a:schemeClr val="bg1"/>
                </a:solidFill>
              </a:rPr>
              <a:t>Log each prompt in your workbook</a:t>
            </a:r>
            <a:endParaRPr lang="en-US" sz="1800" dirty="0"/>
          </a:p>
        </p:txBody>
      </p:sp>
      <p:pic>
        <p:nvPicPr>
          <p:cNvPr id="23" name="icon-564" descr="preencoded.png">    </p:cNvPr>
          <p:cNvPicPr>
            <a:picLocks noChangeAspect="1"/>
          </p:cNvPicPr>
          <p:nvPr/>
        </p:nvPicPr>
        <p:blipFill>
          <a:blip r:embed="rId4"/>
          <a:stretch>
            <a:fillRect/>
          </a:stretch>
        </p:blipFill>
        <p:spPr>
          <a:xfrm>
            <a:off x="7086600" y="4352544"/>
            <a:ext cx="365760" cy="365760"/>
          </a:xfrm>
          <a:prstGeom prst="rect">
            <a:avLst/>
          </a:prstGeom>
        </p:spPr>
      </p:pic>
      <p:sp>
        <p:nvSpPr>
          <p:cNvPr id="24" name="text-565"/>
          <p:cNvSpPr txBox="1"/>
          <p:nvPr/>
        </p:nvSpPr>
        <p:spPr>
          <a:xfrm>
            <a:off x="7635240" y="4306824"/>
            <a:ext cx="4023360" cy="457200"/>
          </a:xfrm>
          <a:prstGeom prst="rect">
            <a:avLst/>
          </a:prstGeom>
          <a:noFill/>
          <a:ln/>
        </p:spPr>
        <p:txBody>
          <a:bodyPr wrap="square" lIns="0" tIns="0" rIns="0" bIns="0" rtlCol="0" anchor="ctr"/>
          <a:lstStyle/>
          <a:p>
            <a:pPr indent="0" marL="0">
              <a:buNone/>
            </a:pPr>
            <a:r>
              <a:rPr lang="en-US" sz="1800" dirty="0">
                <a:solidFill>
                  <a:schemeClr val="bg1"/>
                </a:solidFill>
              </a:rPr>
              <a:t>Checkpoint at 11:41</a:t>
            </a:r>
            <a:endParaRPr lang="en-US" sz="1800" dirty="0"/>
          </a:p>
        </p:txBody>
      </p:sp>
      <p:sp>
        <p:nvSpPr>
          <p:cNvPr id="25" name="text-566"/>
          <p:cNvSpPr txBox="1"/>
          <p:nvPr/>
        </p:nvSpPr>
        <p:spPr>
          <a:xfrm>
            <a:off x="548640" y="5623560"/>
            <a:ext cx="10180015" cy="365760"/>
          </a:xfrm>
          <a:prstGeom prst="rect">
            <a:avLst/>
          </a:prstGeom>
          <a:noFill/>
          <a:ln/>
        </p:spPr>
        <p:txBody>
          <a:bodyPr wrap="square" lIns="0" tIns="0" rIns="0" bIns="0" rtlCol="0" anchor="t"/>
          <a:lstStyle/>
          <a:p>
            <a:pPr indent="0" marL="0">
              <a:buNone/>
            </a:pPr>
            <a:r>
              <a:rPr lang="en-US" sz="1700" b="1" dirty="0">
                <a:solidFill>
                  <a:schemeClr val="accent1"/>
                </a:solidFill>
              </a:rPr>
              <a:t>Done when: </a:t>
            </a:r>
            <a:pPr indent="0" marL="0">
              <a:buNone/>
            </a:pPr>
            <a:r>
              <a:rPr lang="en-US" sz="1700" dirty="0">
                <a:solidFill>
                  <a:schemeClr val="bg1"/>
                </a:solidFill>
              </a:rPr>
              <a:t>you have a version you'd actually send, and a log of the moves you used.</a:t>
            </a:r>
            <a:endParaRPr lang="en-US" sz="1700" dirty="0"/>
          </a:p>
        </p:txBody>
      </p:sp>
      <p:sp>
        <p:nvSpPr>
          <p:cNvPr id="26" name="text-567"/>
          <p:cNvSpPr txBox="1"/>
          <p:nvPr/>
        </p:nvSpPr>
        <p:spPr>
          <a:xfrm>
            <a:off x="548640" y="5989320"/>
            <a:ext cx="10180015" cy="365760"/>
          </a:xfrm>
          <a:prstGeom prst="rect">
            <a:avLst/>
          </a:prstGeom>
          <a:noFill/>
          <a:ln/>
        </p:spPr>
        <p:txBody>
          <a:bodyPr wrap="square" lIns="0" tIns="0" rIns="0" bIns="0" rtlCol="0" anchor="t"/>
          <a:lstStyle/>
          <a:p>
            <a:pPr indent="0" marL="0">
              <a:buNone/>
            </a:pPr>
            <a:r>
              <a:rPr lang="en-US" sz="1400" dirty="0">
                <a:solidFill>
                  <a:schemeClr val="accent3"/>
                </a:solidFill>
              </a:rPr>
              <a:t>Finished early? Ask it to turn the whole conversation into one prompt that gets the final result in one go.</a:t>
            </a:r>
            <a:endParaRPr lang="en-US" sz="14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Before lunch</a:t>
            </a:r>
            <a:endParaRPr lang="en-US" sz="3400" dirty="0"/>
          </a:p>
        </p:txBody>
      </p:sp>
      <p:sp>
        <p:nvSpPr>
          <p:cNvPr id="3" name="card-568"/>
          <p:cNvSpPr/>
          <p:nvPr/>
        </p:nvSpPr>
        <p:spPr>
          <a:xfrm>
            <a:off x="548640" y="1463040"/>
            <a:ext cx="6035040" cy="4114800"/>
          </a:xfrm>
          <a:prstGeom prst="roundRect">
            <a:avLst>
              <a:gd name="adj" fmla="val 2667"/>
            </a:avLst>
          </a:prstGeom>
          <a:solidFill>
            <a:schemeClr val="tx1"/>
          </a:solidFill>
          <a:ln/>
        </p:spPr>
      </p:sp>
      <p:sp>
        <p:nvSpPr>
          <p:cNvPr id="4" name="text-569"/>
          <p:cNvSpPr txBox="1"/>
          <p:nvPr/>
        </p:nvSpPr>
        <p:spPr>
          <a:xfrm>
            <a:off x="914400" y="1783080"/>
            <a:ext cx="45720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EXIT QUESTION</a:t>
            </a:r>
            <a:endParaRPr lang="en-US" sz="1300" dirty="0"/>
          </a:p>
        </p:txBody>
      </p:sp>
      <p:sp>
        <p:nvSpPr>
          <p:cNvPr id="5" name="text-570"/>
          <p:cNvSpPr txBox="1"/>
          <p:nvPr/>
        </p:nvSpPr>
        <p:spPr>
          <a:xfrm>
            <a:off x="914400" y="2240280"/>
            <a:ext cx="5303520" cy="1188720"/>
          </a:xfrm>
          <a:prstGeom prst="rect">
            <a:avLst/>
          </a:prstGeom>
          <a:noFill/>
          <a:ln/>
        </p:spPr>
        <p:txBody>
          <a:bodyPr wrap="square" lIns="0" tIns="0" rIns="0" bIns="0" rtlCol="0" anchor="t"/>
          <a:lstStyle/>
          <a:p>
            <a:pPr indent="0" marL="0">
              <a:buNone/>
            </a:pPr>
            <a:r>
              <a:rPr lang="en-US" sz="2200" dirty="0">
                <a:solidFill>
                  <a:schemeClr val="bg1"/>
                </a:solidFill>
              </a:rPr>
              <a:t>Your AI summary includes a deadline that isn't in the memo you pasted.</a:t>
            </a:r>
            <a:endParaRPr lang="en-US" sz="2200" dirty="0"/>
          </a:p>
        </p:txBody>
      </p:sp>
      <p:sp>
        <p:nvSpPr>
          <p:cNvPr id="6" name="text-571"/>
          <p:cNvSpPr txBox="1"/>
          <p:nvPr/>
        </p:nvSpPr>
        <p:spPr>
          <a:xfrm>
            <a:off x="914400" y="3566160"/>
            <a:ext cx="5303520" cy="1188720"/>
          </a:xfrm>
          <a:prstGeom prst="rect">
            <a:avLst/>
          </a:prstGeom>
          <a:noFill/>
          <a:ln/>
        </p:spPr>
        <p:txBody>
          <a:bodyPr wrap="square" lIns="0" tIns="0" rIns="0" bIns="0" rtlCol="0" anchor="t"/>
          <a:lstStyle/>
          <a:p>
            <a:pPr indent="0" marL="0">
              <a:buNone/>
            </a:pPr>
            <a:r>
              <a:rPr lang="en-US" sz="2200" b="1" dirty="0">
                <a:solidFill>
                  <a:schemeClr val="bg1"/>
                </a:solidFill>
              </a:rPr>
              <a:t>Name two things you could add to your prompt to prevent this.</a:t>
            </a:r>
            <a:endParaRPr lang="en-US" sz="2200" dirty="0"/>
          </a:p>
        </p:txBody>
      </p:sp>
      <p:sp>
        <p:nvSpPr>
          <p:cNvPr id="7" name="text-572"/>
          <p:cNvSpPr txBox="1"/>
          <p:nvPr/>
        </p:nvSpPr>
        <p:spPr>
          <a:xfrm>
            <a:off x="7086600" y="1463040"/>
            <a:ext cx="4572000" cy="457200"/>
          </a:xfrm>
          <a:prstGeom prst="rect">
            <a:avLst/>
          </a:prstGeom>
          <a:noFill/>
          <a:ln/>
        </p:spPr>
        <p:txBody>
          <a:bodyPr wrap="square" lIns="0" tIns="0" rIns="0" bIns="0" rtlCol="0" anchor="t"/>
          <a:lstStyle/>
          <a:p>
            <a:pPr indent="0" marL="0">
              <a:buNone/>
            </a:pPr>
            <a:r>
              <a:rPr lang="en-US" sz="2400" b="1" dirty="0">
                <a:solidFill>
                  <a:schemeClr val="tx1"/>
                </a:solidFill>
              </a:rPr>
              <a:t>This afternoon</a:t>
            </a:r>
            <a:endParaRPr lang="en-US" sz="2400" dirty="0"/>
          </a:p>
        </p:txBody>
      </p:sp>
      <p:sp>
        <p:nvSpPr>
          <p:cNvPr id="8" name="dot-573"/>
          <p:cNvSpPr/>
          <p:nvPr/>
        </p:nvSpPr>
        <p:spPr>
          <a:xfrm>
            <a:off x="7086600" y="2148840"/>
            <a:ext cx="594360" cy="594360"/>
          </a:xfrm>
          <a:prstGeom prst="ellipse">
            <a:avLst/>
          </a:prstGeom>
          <a:solidFill>
            <a:schemeClr val="tx1"/>
          </a:solidFill>
          <a:ln/>
        </p:spPr>
      </p:sp>
      <p:pic>
        <p:nvPicPr>
          <p:cNvPr id="9" name="icon-574" descr="preencoded.png">    </p:cNvPr>
          <p:cNvPicPr>
            <a:picLocks noChangeAspect="1"/>
          </p:cNvPicPr>
          <p:nvPr/>
        </p:nvPicPr>
        <p:blipFill>
          <a:blip r:embed="rId1"/>
          <a:stretch>
            <a:fillRect/>
          </a:stretch>
        </p:blipFill>
        <p:spPr>
          <a:xfrm>
            <a:off x="7217359" y="2279599"/>
            <a:ext cx="332842" cy="332842"/>
          </a:xfrm>
          <a:prstGeom prst="rect">
            <a:avLst/>
          </a:prstGeom>
        </p:spPr>
      </p:pic>
      <p:sp>
        <p:nvSpPr>
          <p:cNvPr id="10" name="text-575"/>
          <p:cNvSpPr txBox="1"/>
          <p:nvPr/>
        </p:nvSpPr>
        <p:spPr>
          <a:xfrm>
            <a:off x="7863840" y="2148840"/>
            <a:ext cx="3776472" cy="685800"/>
          </a:xfrm>
          <a:prstGeom prst="rect">
            <a:avLst/>
          </a:prstGeom>
          <a:noFill/>
          <a:ln/>
        </p:spPr>
        <p:txBody>
          <a:bodyPr wrap="square" lIns="0" tIns="0" rIns="0" bIns="0" rtlCol="0" anchor="ctr"/>
          <a:lstStyle/>
          <a:p>
            <a:pPr indent="0" marL="0">
              <a:buNone/>
            </a:pPr>
            <a:r>
              <a:rPr lang="en-US" sz="1800" dirty="0">
                <a:solidFill>
                  <a:schemeClr val="tx1"/>
                </a:solidFill>
              </a:rPr>
              <a:t>Apply everything to a realistic workplace case</a:t>
            </a:r>
            <a:endParaRPr lang="en-US" sz="1800" dirty="0"/>
          </a:p>
        </p:txBody>
      </p:sp>
      <p:sp>
        <p:nvSpPr>
          <p:cNvPr id="11" name="dot-576"/>
          <p:cNvSpPr/>
          <p:nvPr/>
        </p:nvSpPr>
        <p:spPr>
          <a:xfrm>
            <a:off x="7086600" y="3108960"/>
            <a:ext cx="594360" cy="594360"/>
          </a:xfrm>
          <a:prstGeom prst="ellipse">
            <a:avLst/>
          </a:prstGeom>
          <a:solidFill>
            <a:schemeClr val="tx1"/>
          </a:solidFill>
          <a:ln/>
        </p:spPr>
      </p:sp>
      <p:pic>
        <p:nvPicPr>
          <p:cNvPr id="12" name="icon-577" descr="preencoded.png">    </p:cNvPr>
          <p:cNvPicPr>
            <a:picLocks noChangeAspect="1"/>
          </p:cNvPicPr>
          <p:nvPr/>
        </p:nvPicPr>
        <p:blipFill>
          <a:blip r:embed="rId2"/>
          <a:stretch>
            <a:fillRect/>
          </a:stretch>
        </p:blipFill>
        <p:spPr>
          <a:xfrm>
            <a:off x="7217359" y="3239719"/>
            <a:ext cx="332842" cy="332842"/>
          </a:xfrm>
          <a:prstGeom prst="rect">
            <a:avLst/>
          </a:prstGeom>
        </p:spPr>
      </p:pic>
      <p:sp>
        <p:nvSpPr>
          <p:cNvPr id="13" name="text-578"/>
          <p:cNvSpPr txBox="1"/>
          <p:nvPr/>
        </p:nvSpPr>
        <p:spPr>
          <a:xfrm>
            <a:off x="7863840" y="3108960"/>
            <a:ext cx="3776472" cy="685800"/>
          </a:xfrm>
          <a:prstGeom prst="rect">
            <a:avLst/>
          </a:prstGeom>
          <a:noFill/>
          <a:ln/>
        </p:spPr>
        <p:txBody>
          <a:bodyPr wrap="square" lIns="0" tIns="0" rIns="0" bIns="0" rtlCol="0" anchor="ctr"/>
          <a:lstStyle/>
          <a:p>
            <a:pPr indent="0" marL="0">
              <a:buNone/>
            </a:pPr>
            <a:r>
              <a:rPr lang="en-US" sz="1800" dirty="0">
                <a:solidFill>
                  <a:schemeClr val="tx1"/>
                </a:solidFill>
              </a:rPr>
              <a:t>Build a prompt template for your own work</a:t>
            </a:r>
            <a:endParaRPr lang="en-US" sz="1800" dirty="0"/>
          </a:p>
        </p:txBody>
      </p:sp>
      <p:sp>
        <p:nvSpPr>
          <p:cNvPr id="14" name="card-579"/>
          <p:cNvSpPr/>
          <p:nvPr/>
        </p:nvSpPr>
        <p:spPr>
          <a:xfrm>
            <a:off x="7086600" y="4206240"/>
            <a:ext cx="4553712" cy="1371600"/>
          </a:xfrm>
          <a:prstGeom prst="roundRect">
            <a:avLst>
              <a:gd name="adj" fmla="val 8000"/>
            </a:avLst>
          </a:prstGeom>
          <a:solidFill>
            <a:schemeClr val="bg2"/>
          </a:solidFill>
          <a:ln/>
        </p:spPr>
      </p:sp>
      <p:sp>
        <p:nvSpPr>
          <p:cNvPr id="15" name="text-580"/>
          <p:cNvSpPr txBox="1"/>
          <p:nvPr/>
        </p:nvSpPr>
        <p:spPr>
          <a:xfrm>
            <a:off x="7360920" y="4206240"/>
            <a:ext cx="4023360" cy="1371600"/>
          </a:xfrm>
          <a:prstGeom prst="rect">
            <a:avLst/>
          </a:prstGeom>
          <a:noFill/>
          <a:ln/>
        </p:spPr>
        <p:txBody>
          <a:bodyPr wrap="square" lIns="0" tIns="0" rIns="0" bIns="0" rtlCol="0" anchor="ctr"/>
          <a:lstStyle/>
          <a:p>
            <a:pPr indent="0" marL="0">
              <a:buNone/>
            </a:pPr>
            <a:r>
              <a:rPr lang="en-US" sz="1600" i="1" dirty="0">
                <a:solidFill>
                  <a:schemeClr val="tx1"/>
                </a:solidFill>
              </a:rPr>
              <a:t>Over lunch, think of a task you do every week or month that involves writing or summarizing.</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548640" y="1234440"/>
            <a:ext cx="3657600" cy="1554480"/>
          </a:xfrm>
          <a:prstGeom prst="rect">
            <a:avLst/>
          </a:prstGeom>
          <a:noFill/>
          <a:ln/>
        </p:spPr>
        <p:txBody>
          <a:bodyPr wrap="square" lIns="0" tIns="0" rIns="0" bIns="0" rtlCol="0" anchor="b"/>
          <a:lstStyle/>
          <a:p>
            <a:pPr algn="l" indent="0" marL="0">
              <a:buNone/>
            </a:pPr>
            <a:r>
              <a:rPr lang="en-US" sz="11000" b="1" dirty="0">
                <a:solidFill>
                  <a:schemeClr val="accent1"/>
                </a:solidFill>
              </a:rPr>
              <a:t>03</a:t>
            </a:r>
            <a:endParaRPr lang="en-US" sz="11000" dirty="0"/>
          </a:p>
        </p:txBody>
      </p:sp>
      <p:sp>
        <p:nvSpPr>
          <p:cNvPr id="3" name="Text 0"/>
          <p:cNvSpPr/>
          <p:nvPr>
            <p:ph idx="102" type="title" hasCustomPrompt="1"/>
          </p:nvPr>
        </p:nvSpPr>
        <p:spPr>
          <a:xfrm>
            <a:off x="548640" y="2926080"/>
            <a:ext cx="10515600" cy="1005840"/>
          </a:xfrm>
          <a:prstGeom prst="rect">
            <a:avLst/>
          </a:prstGeom>
          <a:noFill/>
          <a:ln/>
        </p:spPr>
        <p:txBody>
          <a:bodyPr wrap="square" lIns="0" tIns="0" rIns="0" bIns="0" rtlCol="0" anchor="t"/>
          <a:lstStyle/>
          <a:p>
            <a:pPr algn="l" indent="0" marL="0">
              <a:buNone/>
            </a:pPr>
            <a:r>
              <a:rPr lang="en-US" sz="5000" b="1" dirty="0">
                <a:solidFill>
                  <a:schemeClr val="bg1"/>
                </a:solidFill>
              </a:rPr>
              <a:t>Applied practice</a:t>
            </a:r>
            <a:endParaRPr lang="en-US" sz="5000" dirty="0"/>
          </a:p>
        </p:txBody>
      </p:sp>
      <p:sp>
        <p:nvSpPr>
          <p:cNvPr id="4" name="Text 0"/>
          <p:cNvSpPr/>
          <p:nvPr>
            <p:ph idx="103" type="body" hasCustomPrompt="1"/>
          </p:nvPr>
        </p:nvSpPr>
        <p:spPr>
          <a:xfrm>
            <a:off x="548640" y="3931920"/>
            <a:ext cx="10515600" cy="640080"/>
          </a:xfrm>
          <a:prstGeom prst="rect">
            <a:avLst/>
          </a:prstGeom>
          <a:noFill/>
          <a:ln/>
        </p:spPr>
        <p:txBody>
          <a:bodyPr wrap="square" lIns="0" tIns="0" rIns="0" bIns="0" rtlCol="0" anchor="t"/>
          <a:lstStyle/>
          <a:p>
            <a:pPr algn="l" indent="0" marL="0">
              <a:buNone/>
            </a:pPr>
            <a:r>
              <a:rPr lang="en-US" sz="2600" dirty="0">
                <a:solidFill>
                  <a:schemeClr val="accent3"/>
                </a:solidFill>
              </a:rPr>
              <a:t>A realistic case, done responsibly</a:t>
            </a:r>
            <a:endParaRPr lang="en-US" sz="2600" dirty="0"/>
          </a:p>
        </p:txBody>
      </p:sp>
      <p:sp>
        <p:nvSpPr>
          <p:cNvPr id="5" name="Text 0"/>
          <p:cNvSpPr/>
          <p:nvPr>
            <p:ph idx="104" type="body" hasCustomPrompt="1"/>
          </p:nvPr>
        </p:nvSpPr>
        <p:spPr>
          <a:xfrm>
            <a:off x="548640" y="4983480"/>
            <a:ext cx="5486400" cy="411480"/>
          </a:xfrm>
          <a:prstGeom prst="rect">
            <a:avLst/>
          </a:prstGeom>
          <a:noFill/>
          <a:ln/>
        </p:spPr>
        <p:txBody>
          <a:bodyPr wrap="square" lIns="0" tIns="0" rIns="0" bIns="0" rtlCol="0" anchor="t"/>
          <a:lstStyle/>
          <a:p>
            <a:pPr algn="l" indent="0" marL="0">
              <a:buNone/>
            </a:pPr>
            <a:r>
              <a:rPr lang="en-US" sz="1600" dirty="0">
                <a:solidFill>
                  <a:schemeClr val="accent3"/>
                </a:solidFill>
              </a:rPr>
              <a:t>1:00 – 2:15 p.m.</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ENERGIZER  ·  TABLE GROUPS</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What do you remember?</a:t>
            </a:r>
            <a:endParaRPr lang="en-US" sz="3800" dirty="0"/>
          </a:p>
        </p:txBody>
      </p:sp>
      <p:sp>
        <p:nvSpPr>
          <p:cNvPr id="4" name="badge-581"/>
          <p:cNvSpPr/>
          <p:nvPr/>
        </p:nvSpPr>
        <p:spPr>
          <a:xfrm>
            <a:off x="10042855" y="502920"/>
            <a:ext cx="1600200" cy="457200"/>
          </a:xfrm>
          <a:prstGeom prst="roundRect">
            <a:avLst>
              <a:gd name="adj" fmla="val 50000"/>
            </a:avLst>
          </a:prstGeom>
          <a:solidFill>
            <a:schemeClr val="bg1"/>
          </a:solidFill>
          <a:ln/>
        </p:spPr>
      </p:sp>
      <p:sp>
        <p:nvSpPr>
          <p:cNvPr id="5" name="text-582"/>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7 min</a:t>
            </a:r>
            <a:endParaRPr lang="en-US" sz="1600" dirty="0"/>
          </a:p>
        </p:txBody>
      </p:sp>
      <p:sp>
        <p:nvSpPr>
          <p:cNvPr id="6" name="card-583"/>
          <p:cNvSpPr/>
          <p:nvPr/>
        </p:nvSpPr>
        <p:spPr>
          <a:xfrm>
            <a:off x="548640" y="1920240"/>
            <a:ext cx="5318608" cy="3108960"/>
          </a:xfrm>
          <a:prstGeom prst="roundRect">
            <a:avLst>
              <a:gd name="adj" fmla="val 3529"/>
            </a:avLst>
          </a:prstGeom>
          <a:solidFill>
            <a:schemeClr val="accent2"/>
          </a:solidFill>
          <a:ln w="25400">
            <a:solidFill>
              <a:srgbClr val="FFFFFF"/>
            </a:solidFill>
            <a:prstDash val="dash"/>
          </a:ln>
        </p:spPr>
      </p:sp>
      <p:sp>
        <p:nvSpPr>
          <p:cNvPr id="7" name="text-584"/>
          <p:cNvSpPr txBox="1"/>
          <p:nvPr/>
        </p:nvSpPr>
        <p:spPr>
          <a:xfrm>
            <a:off x="548640" y="1920240"/>
            <a:ext cx="5318608" cy="3108960"/>
          </a:xfrm>
          <a:prstGeom prst="rect">
            <a:avLst/>
          </a:prstGeom>
          <a:noFill/>
          <a:ln/>
        </p:spPr>
        <p:txBody>
          <a:bodyPr wrap="square" lIns="0" tIns="0" rIns="0" bIns="0" rtlCol="0" anchor="ctr"/>
          <a:lstStyle/>
          <a:p>
            <a:pPr algn="ctr" indent="0" marL="0">
              <a:buNone/>
            </a:pPr>
            <a:r>
              <a:rPr lang="en-US" sz="4000" b="1" dirty="0">
                <a:solidFill>
                  <a:schemeClr val="bg1"/>
                </a:solidFill>
              </a:rPr>
              <a:t>CRAFT</a:t>
            </a:r>
            <a:endParaRPr lang="en-US" sz="4000" dirty="0"/>
          </a:p>
        </p:txBody>
      </p:sp>
      <p:sp>
        <p:nvSpPr>
          <p:cNvPr id="8" name="card-585"/>
          <p:cNvSpPr/>
          <p:nvPr/>
        </p:nvSpPr>
        <p:spPr>
          <a:xfrm>
            <a:off x="6324448" y="1920240"/>
            <a:ext cx="5318608" cy="3108960"/>
          </a:xfrm>
          <a:prstGeom prst="roundRect">
            <a:avLst>
              <a:gd name="adj" fmla="val 3529"/>
            </a:avLst>
          </a:prstGeom>
          <a:solidFill>
            <a:schemeClr val="accent2"/>
          </a:solidFill>
          <a:ln w="25400">
            <a:solidFill>
              <a:srgbClr val="FFFFFF"/>
            </a:solidFill>
            <a:prstDash val="dash"/>
          </a:ln>
        </p:spPr>
      </p:sp>
      <p:sp>
        <p:nvSpPr>
          <p:cNvPr id="9" name="text-586"/>
          <p:cNvSpPr txBox="1"/>
          <p:nvPr/>
        </p:nvSpPr>
        <p:spPr>
          <a:xfrm>
            <a:off x="6324448" y="1920240"/>
            <a:ext cx="5318608" cy="3108960"/>
          </a:xfrm>
          <a:prstGeom prst="rect">
            <a:avLst/>
          </a:prstGeom>
          <a:noFill/>
          <a:ln/>
        </p:spPr>
        <p:txBody>
          <a:bodyPr wrap="square" lIns="0" tIns="0" rIns="0" bIns="0" rtlCol="0" anchor="ctr"/>
          <a:lstStyle/>
          <a:p>
            <a:pPr algn="ctr" indent="0" marL="0">
              <a:buNone/>
            </a:pPr>
            <a:r>
              <a:rPr lang="en-US" sz="4000" b="1" dirty="0">
                <a:solidFill>
                  <a:schemeClr val="bg1"/>
                </a:solidFill>
              </a:rPr>
              <a:t>Techniques</a:t>
            </a:r>
            <a:endParaRPr lang="en-US" sz="4000" dirty="0"/>
          </a:p>
        </p:txBody>
      </p:sp>
      <p:sp>
        <p:nvSpPr>
          <p:cNvPr id="10" name="text-587"/>
          <p:cNvSpPr txBox="1"/>
          <p:nvPr/>
        </p:nvSpPr>
        <p:spPr>
          <a:xfrm>
            <a:off x="548640" y="5303520"/>
            <a:ext cx="10180015" cy="822960"/>
          </a:xfrm>
          <a:prstGeom prst="rect">
            <a:avLst/>
          </a:prstGeom>
          <a:noFill/>
          <a:ln/>
        </p:spPr>
        <p:txBody>
          <a:bodyPr wrap="square" lIns="0" tIns="0" rIns="0" bIns="0" rtlCol="0" anchor="t"/>
          <a:lstStyle/>
          <a:p>
            <a:pPr indent="0" marL="0">
              <a:buNone/>
            </a:pPr>
            <a:r>
              <a:rPr lang="en-US" sz="1800" b="1" dirty="0">
                <a:solidFill>
                  <a:schemeClr val="bg1"/>
                </a:solidFill>
              </a:rPr>
              <a:t>Stand at your flipchart and write everything you remember, without notes.</a:t>
            </a:r>
            <a:endParaRPr lang="en-US" sz="1800" dirty="0"/>
          </a:p>
          <a:p>
            <a:pPr indent="0" marL="0">
              <a:buNone/>
            </a:pPr>
            <a:r>
              <a:rPr lang="en-US" sz="1800" dirty="0">
                <a:solidFill>
                  <a:schemeClr val="accent3"/>
                </a:solidFill>
              </a:rPr>
              <a:t>5 minutes writing, then 2 minutes looking at the other tables.</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Before you paste: the data traffic light</a:t>
            </a:r>
            <a:endParaRPr lang="en-US" sz="3400" dirty="0"/>
          </a:p>
        </p:txBody>
      </p:sp>
      <p:sp>
        <p:nvSpPr>
          <p:cNvPr id="3" name="card-588"/>
          <p:cNvSpPr/>
          <p:nvPr/>
        </p:nvSpPr>
        <p:spPr>
          <a:xfrm>
            <a:off x="548640" y="1463040"/>
            <a:ext cx="3515258" cy="4572000"/>
          </a:xfrm>
          <a:prstGeom prst="roundRect">
            <a:avLst>
              <a:gd name="adj" fmla="val 3121"/>
            </a:avLst>
          </a:prstGeom>
          <a:solidFill>
            <a:schemeClr val="bg2"/>
          </a:solidFill>
          <a:ln/>
        </p:spPr>
      </p:sp>
      <p:sp>
        <p:nvSpPr>
          <p:cNvPr id="4" name="light-589"/>
          <p:cNvSpPr/>
          <p:nvPr/>
        </p:nvSpPr>
        <p:spPr>
          <a:xfrm>
            <a:off x="868680" y="1783080"/>
            <a:ext cx="640080" cy="640080"/>
          </a:xfrm>
          <a:prstGeom prst="ellipse">
            <a:avLst/>
          </a:prstGeom>
          <a:solidFill>
            <a:srgbClr val="2E8540"/>
          </a:solidFill>
          <a:ln/>
        </p:spPr>
      </p:sp>
      <p:sp>
        <p:nvSpPr>
          <p:cNvPr id="5" name="text-590"/>
          <p:cNvSpPr txBox="1"/>
          <p:nvPr/>
        </p:nvSpPr>
        <p:spPr>
          <a:xfrm>
            <a:off x="1691640" y="1783080"/>
            <a:ext cx="2143658" cy="640080"/>
          </a:xfrm>
          <a:prstGeom prst="rect">
            <a:avLst/>
          </a:prstGeom>
          <a:noFill/>
          <a:ln/>
        </p:spPr>
        <p:txBody>
          <a:bodyPr wrap="square" lIns="0" tIns="0" rIns="0" bIns="0" rtlCol="0" anchor="ctr"/>
          <a:lstStyle/>
          <a:p>
            <a:pPr indent="0" marL="0">
              <a:buNone/>
            </a:pPr>
            <a:r>
              <a:rPr lang="en-US" sz="2600" b="1" dirty="0">
                <a:solidFill>
                  <a:schemeClr val="tx1"/>
                </a:solidFill>
              </a:rPr>
              <a:t>Green</a:t>
            </a:r>
            <a:endParaRPr lang="en-US" sz="2600" dirty="0"/>
          </a:p>
        </p:txBody>
      </p:sp>
      <p:sp>
        <p:nvSpPr>
          <p:cNvPr id="6" name="text-591"/>
          <p:cNvSpPr txBox="1"/>
          <p:nvPr/>
        </p:nvSpPr>
        <p:spPr>
          <a:xfrm>
            <a:off x="868680" y="2697480"/>
            <a:ext cx="2875178" cy="685800"/>
          </a:xfrm>
          <a:prstGeom prst="rect">
            <a:avLst/>
          </a:prstGeom>
          <a:noFill/>
          <a:ln/>
        </p:spPr>
        <p:txBody>
          <a:bodyPr wrap="square" lIns="0" tIns="0" rIns="0" bIns="0" rtlCol="0" anchor="t"/>
          <a:lstStyle/>
          <a:p>
            <a:pPr indent="0" marL="0">
              <a:buNone/>
            </a:pPr>
            <a:r>
              <a:rPr lang="en-US" sz="1900" b="1" dirty="0">
                <a:solidFill>
                  <a:schemeClr val="tx1"/>
                </a:solidFill>
              </a:rPr>
              <a:t>Public or fictional</a:t>
            </a:r>
            <a:endParaRPr lang="en-US" sz="1900" dirty="0"/>
          </a:p>
        </p:txBody>
      </p:sp>
      <p:sp>
        <p:nvSpPr>
          <p:cNvPr id="7" name="text-592"/>
          <p:cNvSpPr txBox="1"/>
          <p:nvPr/>
        </p:nvSpPr>
        <p:spPr>
          <a:xfrm>
            <a:off x="868680" y="3429000"/>
            <a:ext cx="2875178" cy="1280160"/>
          </a:xfrm>
          <a:prstGeom prst="rect">
            <a:avLst/>
          </a:prstGeom>
          <a:noFill/>
          <a:ln/>
        </p:spPr>
        <p:txBody>
          <a:bodyPr wrap="square" lIns="0" tIns="0" rIns="0" bIns="0" rtlCol="0" anchor="t"/>
          <a:lstStyle/>
          <a:p>
            <a:pPr indent="0" marL="0">
              <a:buNone/>
            </a:pPr>
            <a:r>
              <a:rPr lang="en-US" sz="1500" dirty="0">
                <a:solidFill>
                  <a:schemeClr val="tx2"/>
                </a:solidFill>
              </a:rPr>
              <a:t>Published information, general questions, your own fictional test examples</a:t>
            </a:r>
            <a:endParaRPr lang="en-US" sz="1500" dirty="0"/>
          </a:p>
        </p:txBody>
      </p:sp>
      <p:sp>
        <p:nvSpPr>
          <p:cNvPr id="8" name="text-593"/>
          <p:cNvSpPr txBox="1"/>
          <p:nvPr/>
        </p:nvSpPr>
        <p:spPr>
          <a:xfrm>
            <a:off x="868680" y="4754880"/>
            <a:ext cx="2875178" cy="1097280"/>
          </a:xfrm>
          <a:prstGeom prst="rect">
            <a:avLst/>
          </a:prstGeom>
          <a:noFill/>
          <a:ln/>
        </p:spPr>
        <p:txBody>
          <a:bodyPr wrap="square" lIns="0" tIns="0" rIns="0" bIns="0" rtlCol="0" anchor="t"/>
          <a:lstStyle/>
          <a:p>
            <a:pPr indent="0" marL="0">
              <a:buNone/>
            </a:pPr>
            <a:r>
              <a:rPr lang="en-US" sz="1600" b="1" dirty="0">
                <a:solidFill>
                  <a:schemeClr val="tx1"/>
                </a:solidFill>
              </a:rPr>
              <a:t>Fine in any tool</a:t>
            </a:r>
            <a:endParaRPr lang="en-US" sz="1600" dirty="0"/>
          </a:p>
        </p:txBody>
      </p:sp>
      <p:sp>
        <p:nvSpPr>
          <p:cNvPr id="9" name="card-594"/>
          <p:cNvSpPr/>
          <p:nvPr/>
        </p:nvSpPr>
        <p:spPr>
          <a:xfrm>
            <a:off x="4338218" y="1463040"/>
            <a:ext cx="3515258" cy="4572000"/>
          </a:xfrm>
          <a:prstGeom prst="roundRect">
            <a:avLst>
              <a:gd name="adj" fmla="val 3121"/>
            </a:avLst>
          </a:prstGeom>
          <a:solidFill>
            <a:schemeClr val="bg2"/>
          </a:solidFill>
          <a:ln/>
        </p:spPr>
      </p:sp>
      <p:sp>
        <p:nvSpPr>
          <p:cNvPr id="10" name="light-595"/>
          <p:cNvSpPr/>
          <p:nvPr/>
        </p:nvSpPr>
        <p:spPr>
          <a:xfrm>
            <a:off x="4658258" y="1783080"/>
            <a:ext cx="640080" cy="640080"/>
          </a:xfrm>
          <a:prstGeom prst="ellipse">
            <a:avLst/>
          </a:prstGeom>
          <a:solidFill>
            <a:srgbClr val="E8A317"/>
          </a:solidFill>
          <a:ln/>
        </p:spPr>
      </p:sp>
      <p:sp>
        <p:nvSpPr>
          <p:cNvPr id="11" name="text-596"/>
          <p:cNvSpPr txBox="1"/>
          <p:nvPr/>
        </p:nvSpPr>
        <p:spPr>
          <a:xfrm>
            <a:off x="5481218" y="1783080"/>
            <a:ext cx="2143658" cy="640080"/>
          </a:xfrm>
          <a:prstGeom prst="rect">
            <a:avLst/>
          </a:prstGeom>
          <a:noFill/>
          <a:ln/>
        </p:spPr>
        <p:txBody>
          <a:bodyPr wrap="square" lIns="0" tIns="0" rIns="0" bIns="0" rtlCol="0" anchor="ctr"/>
          <a:lstStyle/>
          <a:p>
            <a:pPr indent="0" marL="0">
              <a:buNone/>
            </a:pPr>
            <a:r>
              <a:rPr lang="en-US" sz="2600" b="1" dirty="0">
                <a:solidFill>
                  <a:schemeClr val="tx1"/>
                </a:solidFill>
              </a:rPr>
              <a:t>Yellow</a:t>
            </a:r>
            <a:endParaRPr lang="en-US" sz="2600" dirty="0"/>
          </a:p>
        </p:txBody>
      </p:sp>
      <p:sp>
        <p:nvSpPr>
          <p:cNvPr id="12" name="text-597"/>
          <p:cNvSpPr txBox="1"/>
          <p:nvPr/>
        </p:nvSpPr>
        <p:spPr>
          <a:xfrm>
            <a:off x="4658258" y="2697480"/>
            <a:ext cx="2875178" cy="685800"/>
          </a:xfrm>
          <a:prstGeom prst="rect">
            <a:avLst/>
          </a:prstGeom>
          <a:noFill/>
          <a:ln/>
        </p:spPr>
        <p:txBody>
          <a:bodyPr wrap="square" lIns="0" tIns="0" rIns="0" bIns="0" rtlCol="0" anchor="t"/>
          <a:lstStyle/>
          <a:p>
            <a:pPr indent="0" marL="0">
              <a:buNone/>
            </a:pPr>
            <a:r>
              <a:rPr lang="en-US" sz="1900" b="1" dirty="0">
                <a:solidFill>
                  <a:schemeClr val="tx1"/>
                </a:solidFill>
              </a:rPr>
              <a:t>Internal, not sensitive</a:t>
            </a:r>
            <a:endParaRPr lang="en-US" sz="1900" dirty="0"/>
          </a:p>
        </p:txBody>
      </p:sp>
      <p:sp>
        <p:nvSpPr>
          <p:cNvPr id="13" name="text-598"/>
          <p:cNvSpPr txBox="1"/>
          <p:nvPr/>
        </p:nvSpPr>
        <p:spPr>
          <a:xfrm>
            <a:off x="4658258" y="3429000"/>
            <a:ext cx="2875178" cy="1280160"/>
          </a:xfrm>
          <a:prstGeom prst="rect">
            <a:avLst/>
          </a:prstGeom>
          <a:noFill/>
          <a:ln/>
        </p:spPr>
        <p:txBody>
          <a:bodyPr wrap="square" lIns="0" tIns="0" rIns="0" bIns="0" rtlCol="0" anchor="t"/>
          <a:lstStyle/>
          <a:p>
            <a:pPr indent="0" marL="0">
              <a:buNone/>
            </a:pPr>
            <a:r>
              <a:rPr lang="en-US" sz="1500" dirty="0">
                <a:solidFill>
                  <a:schemeClr val="tx2"/>
                </a:solidFill>
              </a:rPr>
              <a:t>Draft agendas, generic processes, non-confidential documents</a:t>
            </a:r>
            <a:endParaRPr lang="en-US" sz="1500" dirty="0"/>
          </a:p>
        </p:txBody>
      </p:sp>
      <p:sp>
        <p:nvSpPr>
          <p:cNvPr id="14" name="text-599"/>
          <p:cNvSpPr txBox="1"/>
          <p:nvPr/>
        </p:nvSpPr>
        <p:spPr>
          <a:xfrm>
            <a:off x="4658258" y="4754880"/>
            <a:ext cx="2875178" cy="1097280"/>
          </a:xfrm>
          <a:prstGeom prst="rect">
            <a:avLst/>
          </a:prstGeom>
          <a:noFill/>
          <a:ln/>
        </p:spPr>
        <p:txBody>
          <a:bodyPr wrap="square" lIns="0" tIns="0" rIns="0" bIns="0" rtlCol="0" anchor="t"/>
          <a:lstStyle/>
          <a:p>
            <a:pPr indent="0" marL="0">
              <a:buNone/>
            </a:pPr>
            <a:r>
              <a:rPr lang="en-US" sz="1600" b="1" dirty="0">
                <a:solidFill>
                  <a:schemeClr val="tx1"/>
                </a:solidFill>
              </a:rPr>
              <a:t>Only in tools your organization approves</a:t>
            </a:r>
            <a:endParaRPr lang="en-US" sz="1600" dirty="0"/>
          </a:p>
        </p:txBody>
      </p:sp>
      <p:sp>
        <p:nvSpPr>
          <p:cNvPr id="15" name="card-600"/>
          <p:cNvSpPr/>
          <p:nvPr/>
        </p:nvSpPr>
        <p:spPr>
          <a:xfrm>
            <a:off x="8127797" y="1463040"/>
            <a:ext cx="3515258" cy="4572000"/>
          </a:xfrm>
          <a:prstGeom prst="roundRect">
            <a:avLst>
              <a:gd name="adj" fmla="val 3121"/>
            </a:avLst>
          </a:prstGeom>
          <a:solidFill>
            <a:schemeClr val="tx1"/>
          </a:solidFill>
          <a:ln/>
        </p:spPr>
      </p:sp>
      <p:sp>
        <p:nvSpPr>
          <p:cNvPr id="16" name="light-601"/>
          <p:cNvSpPr/>
          <p:nvPr/>
        </p:nvSpPr>
        <p:spPr>
          <a:xfrm>
            <a:off x="8447837" y="1783080"/>
            <a:ext cx="640080" cy="640080"/>
          </a:xfrm>
          <a:prstGeom prst="ellipse">
            <a:avLst/>
          </a:prstGeom>
          <a:solidFill>
            <a:srgbClr val="D71920"/>
          </a:solidFill>
          <a:ln/>
        </p:spPr>
      </p:sp>
      <p:sp>
        <p:nvSpPr>
          <p:cNvPr id="17" name="text-602"/>
          <p:cNvSpPr txBox="1"/>
          <p:nvPr/>
        </p:nvSpPr>
        <p:spPr>
          <a:xfrm>
            <a:off x="9270797" y="1783080"/>
            <a:ext cx="2143658" cy="640080"/>
          </a:xfrm>
          <a:prstGeom prst="rect">
            <a:avLst/>
          </a:prstGeom>
          <a:noFill/>
          <a:ln/>
        </p:spPr>
        <p:txBody>
          <a:bodyPr wrap="square" lIns="0" tIns="0" rIns="0" bIns="0" rtlCol="0" anchor="ctr"/>
          <a:lstStyle/>
          <a:p>
            <a:pPr indent="0" marL="0">
              <a:buNone/>
            </a:pPr>
            <a:r>
              <a:rPr lang="en-US" sz="2600" b="1" dirty="0">
                <a:solidFill>
                  <a:schemeClr val="bg1"/>
                </a:solidFill>
              </a:rPr>
              <a:t>Red</a:t>
            </a:r>
            <a:endParaRPr lang="en-US" sz="2600" dirty="0"/>
          </a:p>
        </p:txBody>
      </p:sp>
      <p:sp>
        <p:nvSpPr>
          <p:cNvPr id="18" name="text-603"/>
          <p:cNvSpPr txBox="1"/>
          <p:nvPr/>
        </p:nvSpPr>
        <p:spPr>
          <a:xfrm>
            <a:off x="8447837" y="2697480"/>
            <a:ext cx="2875178" cy="685800"/>
          </a:xfrm>
          <a:prstGeom prst="rect">
            <a:avLst/>
          </a:prstGeom>
          <a:noFill/>
          <a:ln/>
        </p:spPr>
        <p:txBody>
          <a:bodyPr wrap="square" lIns="0" tIns="0" rIns="0" bIns="0" rtlCol="0" anchor="t"/>
          <a:lstStyle/>
          <a:p>
            <a:pPr indent="0" marL="0">
              <a:buNone/>
            </a:pPr>
            <a:r>
              <a:rPr lang="en-US" sz="1900" b="1" dirty="0">
                <a:solidFill>
                  <a:schemeClr val="bg1"/>
                </a:solidFill>
              </a:rPr>
              <a:t>Personal, confidential, or regulated</a:t>
            </a:r>
            <a:endParaRPr lang="en-US" sz="1900" dirty="0"/>
          </a:p>
        </p:txBody>
      </p:sp>
      <p:sp>
        <p:nvSpPr>
          <p:cNvPr id="19" name="text-604"/>
          <p:cNvSpPr txBox="1"/>
          <p:nvPr/>
        </p:nvSpPr>
        <p:spPr>
          <a:xfrm>
            <a:off x="8447837" y="3429000"/>
            <a:ext cx="2875178" cy="1280160"/>
          </a:xfrm>
          <a:prstGeom prst="rect">
            <a:avLst/>
          </a:prstGeom>
          <a:noFill/>
          <a:ln/>
        </p:spPr>
        <p:txBody>
          <a:bodyPr wrap="square" lIns="0" tIns="0" rIns="0" bIns="0" rtlCol="0" anchor="t"/>
          <a:lstStyle/>
          <a:p>
            <a:pPr indent="0" marL="0">
              <a:buNone/>
            </a:pPr>
            <a:r>
              <a:rPr lang="en-US" sz="1500" dirty="0">
                <a:solidFill>
                  <a:schemeClr val="accent3"/>
                </a:solidFill>
              </a:rPr>
              <a:t>Names tied to performance or health, student or customer records, financials, passwords</a:t>
            </a:r>
            <a:endParaRPr lang="en-US" sz="1500" dirty="0"/>
          </a:p>
        </p:txBody>
      </p:sp>
      <p:sp>
        <p:nvSpPr>
          <p:cNvPr id="20" name="text-605"/>
          <p:cNvSpPr txBox="1"/>
          <p:nvPr/>
        </p:nvSpPr>
        <p:spPr>
          <a:xfrm>
            <a:off x="8447837" y="4754880"/>
            <a:ext cx="2875178" cy="1097280"/>
          </a:xfrm>
          <a:prstGeom prst="rect">
            <a:avLst/>
          </a:prstGeom>
          <a:noFill/>
          <a:ln/>
        </p:spPr>
        <p:txBody>
          <a:bodyPr wrap="square" lIns="0" tIns="0" rIns="0" bIns="0" rtlCol="0" anchor="t"/>
          <a:lstStyle/>
          <a:p>
            <a:pPr indent="0" marL="0">
              <a:buNone/>
            </a:pPr>
            <a:r>
              <a:rPr lang="en-US" sz="1600" b="1" dirty="0">
                <a:solidFill>
                  <a:schemeClr val="bg1"/>
                </a:solidFill>
              </a:rPr>
              <a:t>Don't paste it. Remove identifying details, or describe the situation in general terms.</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After you get output: verify</a:t>
            </a:r>
            <a:endParaRPr lang="en-US" sz="3400" dirty="0"/>
          </a:p>
        </p:txBody>
      </p:sp>
      <p:sp>
        <p:nvSpPr>
          <p:cNvPr id="3" name="dot-606"/>
          <p:cNvSpPr/>
          <p:nvPr/>
        </p:nvSpPr>
        <p:spPr>
          <a:xfrm>
            <a:off x="548640" y="1554480"/>
            <a:ext cx="566928" cy="566928"/>
          </a:xfrm>
          <a:prstGeom prst="ellipse">
            <a:avLst/>
          </a:prstGeom>
          <a:solidFill>
            <a:schemeClr val="tx1"/>
          </a:solidFill>
          <a:ln/>
        </p:spPr>
      </p:sp>
      <p:pic>
        <p:nvPicPr>
          <p:cNvPr id="4" name="icon-607" descr="preencoded.png">    </p:cNvPr>
          <p:cNvPicPr>
            <a:picLocks noChangeAspect="1"/>
          </p:cNvPicPr>
          <p:nvPr/>
        </p:nvPicPr>
        <p:blipFill>
          <a:blip r:embed="rId1"/>
          <a:stretch>
            <a:fillRect/>
          </a:stretch>
        </p:blipFill>
        <p:spPr>
          <a:xfrm>
            <a:off x="673364" y="1679204"/>
            <a:ext cx="317480" cy="317480"/>
          </a:xfrm>
          <a:prstGeom prst="rect">
            <a:avLst/>
          </a:prstGeom>
        </p:spPr>
      </p:pic>
      <p:sp>
        <p:nvSpPr>
          <p:cNvPr id="5" name="text-608"/>
          <p:cNvSpPr txBox="1"/>
          <p:nvPr/>
        </p:nvSpPr>
        <p:spPr>
          <a:xfrm>
            <a:off x="1371600" y="14813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Accurate?</a:t>
            </a:r>
            <a:endParaRPr lang="en-US" sz="2000" dirty="0"/>
          </a:p>
        </p:txBody>
      </p:sp>
      <p:sp>
        <p:nvSpPr>
          <p:cNvPr id="6" name="text-609"/>
          <p:cNvSpPr txBox="1"/>
          <p:nvPr/>
        </p:nvSpPr>
        <p:spPr>
          <a:xfrm>
            <a:off x="1371600" y="1865376"/>
            <a:ext cx="5486400" cy="365760"/>
          </a:xfrm>
          <a:prstGeom prst="rect">
            <a:avLst/>
          </a:prstGeom>
          <a:noFill/>
          <a:ln/>
        </p:spPr>
        <p:txBody>
          <a:bodyPr wrap="square" lIns="0" tIns="0" rIns="0" bIns="0" rtlCol="0" anchor="t"/>
          <a:lstStyle/>
          <a:p>
            <a:pPr indent="0" marL="0">
              <a:buNone/>
            </a:pPr>
            <a:r>
              <a:rPr lang="en-US" sz="1600" dirty="0">
                <a:solidFill>
                  <a:schemeClr val="tx2"/>
                </a:solidFill>
              </a:rPr>
              <a:t>Facts, numbers, and dates match your source</a:t>
            </a:r>
            <a:endParaRPr lang="en-US" sz="1600" dirty="0"/>
          </a:p>
        </p:txBody>
      </p:sp>
      <p:sp>
        <p:nvSpPr>
          <p:cNvPr id="7" name="dot-610"/>
          <p:cNvSpPr/>
          <p:nvPr/>
        </p:nvSpPr>
        <p:spPr>
          <a:xfrm>
            <a:off x="548640" y="2468880"/>
            <a:ext cx="566928" cy="566928"/>
          </a:xfrm>
          <a:prstGeom prst="ellipse">
            <a:avLst/>
          </a:prstGeom>
          <a:solidFill>
            <a:schemeClr val="tx1"/>
          </a:solidFill>
          <a:ln/>
        </p:spPr>
      </p:sp>
      <p:pic>
        <p:nvPicPr>
          <p:cNvPr id="8" name="icon-611" descr="preencoded.png">    </p:cNvPr>
          <p:cNvPicPr>
            <a:picLocks noChangeAspect="1"/>
          </p:cNvPicPr>
          <p:nvPr/>
        </p:nvPicPr>
        <p:blipFill>
          <a:blip r:embed="rId2"/>
          <a:stretch>
            <a:fillRect/>
          </a:stretch>
        </p:blipFill>
        <p:spPr>
          <a:xfrm>
            <a:off x="673364" y="2593604"/>
            <a:ext cx="317480" cy="317480"/>
          </a:xfrm>
          <a:prstGeom prst="rect">
            <a:avLst/>
          </a:prstGeom>
        </p:spPr>
      </p:pic>
      <p:sp>
        <p:nvSpPr>
          <p:cNvPr id="9" name="text-612"/>
          <p:cNvSpPr txBox="1"/>
          <p:nvPr/>
        </p:nvSpPr>
        <p:spPr>
          <a:xfrm>
            <a:off x="1371600" y="23957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Complete?</a:t>
            </a:r>
            <a:endParaRPr lang="en-US" sz="2000" dirty="0"/>
          </a:p>
        </p:txBody>
      </p:sp>
      <p:sp>
        <p:nvSpPr>
          <p:cNvPr id="10" name="text-613"/>
          <p:cNvSpPr txBox="1"/>
          <p:nvPr/>
        </p:nvSpPr>
        <p:spPr>
          <a:xfrm>
            <a:off x="1371600" y="2779776"/>
            <a:ext cx="5486400" cy="365760"/>
          </a:xfrm>
          <a:prstGeom prst="rect">
            <a:avLst/>
          </a:prstGeom>
          <a:noFill/>
          <a:ln/>
        </p:spPr>
        <p:txBody>
          <a:bodyPr wrap="square" lIns="0" tIns="0" rIns="0" bIns="0" rtlCol="0" anchor="t"/>
          <a:lstStyle/>
          <a:p>
            <a:pPr indent="0" marL="0">
              <a:buNone/>
            </a:pPr>
            <a:r>
              <a:rPr lang="en-US" sz="1600" dirty="0">
                <a:solidFill>
                  <a:schemeClr val="tx2"/>
                </a:solidFill>
              </a:rPr>
              <a:t>Nothing important is missing</a:t>
            </a:r>
            <a:endParaRPr lang="en-US" sz="1600" dirty="0"/>
          </a:p>
        </p:txBody>
      </p:sp>
      <p:sp>
        <p:nvSpPr>
          <p:cNvPr id="11" name="dot-614"/>
          <p:cNvSpPr/>
          <p:nvPr/>
        </p:nvSpPr>
        <p:spPr>
          <a:xfrm>
            <a:off x="548640" y="3383280"/>
            <a:ext cx="566928" cy="566928"/>
          </a:xfrm>
          <a:prstGeom prst="ellipse">
            <a:avLst/>
          </a:prstGeom>
          <a:solidFill>
            <a:schemeClr val="accent1"/>
          </a:solidFill>
          <a:ln/>
        </p:spPr>
      </p:sp>
      <p:pic>
        <p:nvPicPr>
          <p:cNvPr id="12" name="icon-615" descr="preencoded.png">    </p:cNvPr>
          <p:cNvPicPr>
            <a:picLocks noChangeAspect="1"/>
          </p:cNvPicPr>
          <p:nvPr/>
        </p:nvPicPr>
        <p:blipFill>
          <a:blip r:embed="rId3"/>
          <a:stretch>
            <a:fillRect/>
          </a:stretch>
        </p:blipFill>
        <p:spPr>
          <a:xfrm>
            <a:off x="673364" y="3508004"/>
            <a:ext cx="317480" cy="317480"/>
          </a:xfrm>
          <a:prstGeom prst="rect">
            <a:avLst/>
          </a:prstGeom>
        </p:spPr>
      </p:pic>
      <p:sp>
        <p:nvSpPr>
          <p:cNvPr id="13" name="text-616"/>
          <p:cNvSpPr txBox="1"/>
          <p:nvPr/>
        </p:nvSpPr>
        <p:spPr>
          <a:xfrm>
            <a:off x="1371600" y="33101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Invented?</a:t>
            </a:r>
            <a:endParaRPr lang="en-US" sz="2000" dirty="0"/>
          </a:p>
        </p:txBody>
      </p:sp>
      <p:sp>
        <p:nvSpPr>
          <p:cNvPr id="14" name="text-617"/>
          <p:cNvSpPr txBox="1"/>
          <p:nvPr/>
        </p:nvSpPr>
        <p:spPr>
          <a:xfrm>
            <a:off x="1371600" y="3694176"/>
            <a:ext cx="5486400" cy="365760"/>
          </a:xfrm>
          <a:prstGeom prst="rect">
            <a:avLst/>
          </a:prstGeom>
          <a:noFill/>
          <a:ln/>
        </p:spPr>
        <p:txBody>
          <a:bodyPr wrap="square" lIns="0" tIns="0" rIns="0" bIns="0" rtlCol="0" anchor="t"/>
          <a:lstStyle/>
          <a:p>
            <a:pPr indent="0" marL="0">
              <a:buNone/>
            </a:pPr>
            <a:r>
              <a:rPr lang="en-US" sz="1600" dirty="0">
                <a:solidFill>
                  <a:schemeClr val="tx2"/>
                </a:solidFill>
              </a:rPr>
              <a:t>No names, policies, quotes, or citations you didn't provide</a:t>
            </a:r>
            <a:endParaRPr lang="en-US" sz="1600" dirty="0"/>
          </a:p>
        </p:txBody>
      </p:sp>
      <p:sp>
        <p:nvSpPr>
          <p:cNvPr id="15" name="dot-618"/>
          <p:cNvSpPr/>
          <p:nvPr/>
        </p:nvSpPr>
        <p:spPr>
          <a:xfrm>
            <a:off x="548640" y="4297680"/>
            <a:ext cx="566928" cy="566928"/>
          </a:xfrm>
          <a:prstGeom prst="ellipse">
            <a:avLst/>
          </a:prstGeom>
          <a:solidFill>
            <a:schemeClr val="tx1"/>
          </a:solidFill>
          <a:ln/>
        </p:spPr>
      </p:sp>
      <p:pic>
        <p:nvPicPr>
          <p:cNvPr id="16" name="icon-619" descr="preencoded.png">    </p:cNvPr>
          <p:cNvPicPr>
            <a:picLocks noChangeAspect="1"/>
          </p:cNvPicPr>
          <p:nvPr/>
        </p:nvPicPr>
        <p:blipFill>
          <a:blip r:embed="rId4"/>
          <a:stretch>
            <a:fillRect/>
          </a:stretch>
        </p:blipFill>
        <p:spPr>
          <a:xfrm>
            <a:off x="673364" y="4422404"/>
            <a:ext cx="317480" cy="317480"/>
          </a:xfrm>
          <a:prstGeom prst="rect">
            <a:avLst/>
          </a:prstGeom>
        </p:spPr>
      </p:pic>
      <p:sp>
        <p:nvSpPr>
          <p:cNvPr id="17" name="text-620"/>
          <p:cNvSpPr txBox="1"/>
          <p:nvPr/>
        </p:nvSpPr>
        <p:spPr>
          <a:xfrm>
            <a:off x="1371600" y="42245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Fair and appropriate?</a:t>
            </a:r>
            <a:endParaRPr lang="en-US" sz="2000" dirty="0"/>
          </a:p>
        </p:txBody>
      </p:sp>
      <p:sp>
        <p:nvSpPr>
          <p:cNvPr id="18" name="text-621"/>
          <p:cNvSpPr txBox="1"/>
          <p:nvPr/>
        </p:nvSpPr>
        <p:spPr>
          <a:xfrm>
            <a:off x="1371600" y="4608576"/>
            <a:ext cx="5486400" cy="365760"/>
          </a:xfrm>
          <a:prstGeom prst="rect">
            <a:avLst/>
          </a:prstGeom>
          <a:noFill/>
          <a:ln/>
        </p:spPr>
        <p:txBody>
          <a:bodyPr wrap="square" lIns="0" tIns="0" rIns="0" bIns="0" rtlCol="0" anchor="t"/>
          <a:lstStyle/>
          <a:p>
            <a:pPr indent="0" marL="0">
              <a:buNone/>
            </a:pPr>
            <a:r>
              <a:rPr lang="en-US" sz="1600" dirty="0">
                <a:solidFill>
                  <a:schemeClr val="tx2"/>
                </a:solidFill>
              </a:rPr>
              <a:t>Check tone and bias. Would you sign it?</a:t>
            </a:r>
            <a:endParaRPr lang="en-US" sz="1600" dirty="0"/>
          </a:p>
        </p:txBody>
      </p:sp>
      <p:sp>
        <p:nvSpPr>
          <p:cNvPr id="19" name="dot-622"/>
          <p:cNvSpPr/>
          <p:nvPr/>
        </p:nvSpPr>
        <p:spPr>
          <a:xfrm>
            <a:off x="548640" y="5212080"/>
            <a:ext cx="566928" cy="566928"/>
          </a:xfrm>
          <a:prstGeom prst="ellipse">
            <a:avLst/>
          </a:prstGeom>
          <a:solidFill>
            <a:schemeClr val="tx1"/>
          </a:solidFill>
          <a:ln/>
        </p:spPr>
      </p:sp>
      <p:pic>
        <p:nvPicPr>
          <p:cNvPr id="20" name="icon-623" descr="preencoded.png">    </p:cNvPr>
          <p:cNvPicPr>
            <a:picLocks noChangeAspect="1"/>
          </p:cNvPicPr>
          <p:nvPr/>
        </p:nvPicPr>
        <p:blipFill>
          <a:blip r:embed="rId5"/>
          <a:stretch>
            <a:fillRect/>
          </a:stretch>
        </p:blipFill>
        <p:spPr>
          <a:xfrm>
            <a:off x="673364" y="5336804"/>
            <a:ext cx="317480" cy="317480"/>
          </a:xfrm>
          <a:prstGeom prst="rect">
            <a:avLst/>
          </a:prstGeom>
        </p:spPr>
      </p:pic>
      <p:sp>
        <p:nvSpPr>
          <p:cNvPr id="21" name="text-624"/>
          <p:cNvSpPr txBox="1"/>
          <p:nvPr/>
        </p:nvSpPr>
        <p:spPr>
          <a:xfrm>
            <a:off x="1371600" y="5138928"/>
            <a:ext cx="5486400" cy="384048"/>
          </a:xfrm>
          <a:prstGeom prst="rect">
            <a:avLst/>
          </a:prstGeom>
          <a:noFill/>
          <a:ln/>
        </p:spPr>
        <p:txBody>
          <a:bodyPr wrap="square" lIns="0" tIns="0" rIns="0" bIns="0" rtlCol="0" anchor="t"/>
          <a:lstStyle/>
          <a:p>
            <a:pPr indent="0" marL="0">
              <a:buNone/>
            </a:pPr>
            <a:r>
              <a:rPr lang="en-US" sz="2000" b="1" dirty="0">
                <a:solidFill>
                  <a:schemeClr val="tx1"/>
                </a:solidFill>
              </a:rPr>
              <a:t>Fit for purpose?</a:t>
            </a:r>
            <a:endParaRPr lang="en-US" sz="2000" dirty="0"/>
          </a:p>
        </p:txBody>
      </p:sp>
      <p:sp>
        <p:nvSpPr>
          <p:cNvPr id="22" name="text-625"/>
          <p:cNvSpPr txBox="1"/>
          <p:nvPr/>
        </p:nvSpPr>
        <p:spPr>
          <a:xfrm>
            <a:off x="1371600" y="5522976"/>
            <a:ext cx="5486400" cy="365760"/>
          </a:xfrm>
          <a:prstGeom prst="rect">
            <a:avLst/>
          </a:prstGeom>
          <a:noFill/>
          <a:ln/>
        </p:spPr>
        <p:txBody>
          <a:bodyPr wrap="square" lIns="0" tIns="0" rIns="0" bIns="0" rtlCol="0" anchor="t"/>
          <a:lstStyle/>
          <a:p>
            <a:pPr indent="0" marL="0">
              <a:buNone/>
            </a:pPr>
            <a:r>
              <a:rPr lang="en-US" sz="1600" dirty="0">
                <a:solidFill>
                  <a:schemeClr val="tx2"/>
                </a:solidFill>
              </a:rPr>
              <a:t>Right for this audience and this job</a:t>
            </a:r>
            <a:endParaRPr lang="en-US" sz="1600" dirty="0"/>
          </a:p>
        </p:txBody>
      </p:sp>
      <p:sp>
        <p:nvSpPr>
          <p:cNvPr id="23" name="card-626"/>
          <p:cNvSpPr/>
          <p:nvPr/>
        </p:nvSpPr>
        <p:spPr>
          <a:xfrm>
            <a:off x="7315200" y="1463040"/>
            <a:ext cx="4325112" cy="4572000"/>
          </a:xfrm>
          <a:prstGeom prst="roundRect">
            <a:avLst>
              <a:gd name="adj" fmla="val 2537"/>
            </a:avLst>
          </a:prstGeom>
          <a:solidFill>
            <a:schemeClr val="tx1"/>
          </a:solidFill>
          <a:ln/>
        </p:spPr>
      </p:sp>
      <p:sp>
        <p:nvSpPr>
          <p:cNvPr id="24" name="text-627"/>
          <p:cNvSpPr txBox="1"/>
          <p:nvPr/>
        </p:nvSpPr>
        <p:spPr>
          <a:xfrm>
            <a:off x="7680960" y="2011680"/>
            <a:ext cx="3657600" cy="1828800"/>
          </a:xfrm>
          <a:prstGeom prst="rect">
            <a:avLst/>
          </a:prstGeom>
          <a:noFill/>
          <a:ln/>
        </p:spPr>
        <p:txBody>
          <a:bodyPr wrap="square" lIns="0" tIns="0" rIns="0" bIns="0" rtlCol="0" anchor="t"/>
          <a:lstStyle/>
          <a:p>
            <a:pPr indent="0" marL="0">
              <a:buNone/>
            </a:pPr>
            <a:r>
              <a:rPr lang="en-US" sz="3200" b="1" dirty="0">
                <a:solidFill>
                  <a:schemeClr val="bg1"/>
                </a:solidFill>
              </a:rPr>
              <a:t>You're the editor, not the audience.</a:t>
            </a:r>
            <a:endParaRPr lang="en-US" sz="3200" dirty="0"/>
          </a:p>
        </p:txBody>
      </p:sp>
      <p:sp>
        <p:nvSpPr>
          <p:cNvPr id="25" name="text-628"/>
          <p:cNvSpPr txBox="1"/>
          <p:nvPr/>
        </p:nvSpPr>
        <p:spPr>
          <a:xfrm>
            <a:off x="7680960" y="4023360"/>
            <a:ext cx="3657600" cy="1280160"/>
          </a:xfrm>
          <a:prstGeom prst="rect">
            <a:avLst/>
          </a:prstGeom>
          <a:noFill/>
          <a:ln/>
        </p:spPr>
        <p:txBody>
          <a:bodyPr wrap="square" lIns="0" tIns="0" rIns="0" bIns="0" rtlCol="0" anchor="t"/>
          <a:lstStyle/>
          <a:p>
            <a:pPr indent="0" marL="0">
              <a:buNone/>
            </a:pPr>
            <a:r>
              <a:rPr lang="en-US" sz="1900" dirty="0">
                <a:solidFill>
                  <a:schemeClr val="accent3"/>
                </a:solidFill>
              </a:rPr>
              <a:t>The AI drafts. You decide what goes out under your name.</a:t>
            </a:r>
            <a:endParaRPr lang="en-US" sz="19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The case: Prairie Point's hybrid work pilot</a:t>
            </a:r>
            <a:endParaRPr lang="en-US" sz="3400" dirty="0"/>
          </a:p>
        </p:txBody>
      </p:sp>
      <p:sp>
        <p:nvSpPr>
          <p:cNvPr id="3" name="text-629"/>
          <p:cNvSpPr txBox="1"/>
          <p:nvPr/>
        </p:nvSpPr>
        <p:spPr>
          <a:xfrm>
            <a:off x="548640" y="1417320"/>
            <a:ext cx="4572000" cy="274320"/>
          </a:xfrm>
          <a:prstGeom prst="rect">
            <a:avLst/>
          </a:prstGeom>
          <a:noFill/>
          <a:ln/>
        </p:spPr>
        <p:txBody>
          <a:bodyPr wrap="square" lIns="0" tIns="0" rIns="0" bIns="0" rtlCol="0" anchor="t"/>
          <a:lstStyle/>
          <a:p>
            <a:pPr indent="0" marL="0">
              <a:buNone/>
            </a:pPr>
            <a:r>
              <a:rPr lang="en-US" sz="1300" b="1" spc="200" kern="0" dirty="0">
                <a:solidFill>
                  <a:schemeClr val="tx2"/>
                </a:solidFill>
              </a:rPr>
              <a:t>YOU HAVE</a:t>
            </a:r>
            <a:endParaRPr lang="en-US" sz="1300" dirty="0"/>
          </a:p>
        </p:txBody>
      </p:sp>
      <p:sp>
        <p:nvSpPr>
          <p:cNvPr id="4" name="text-630"/>
          <p:cNvSpPr txBox="1"/>
          <p:nvPr/>
        </p:nvSpPr>
        <p:spPr>
          <a:xfrm>
            <a:off x="6537960" y="1417320"/>
            <a:ext cx="45720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YOU PRODUCE</a:t>
            </a:r>
            <a:endParaRPr lang="en-US" sz="1300" dirty="0"/>
          </a:p>
        </p:txBody>
      </p:sp>
      <p:sp>
        <p:nvSpPr>
          <p:cNvPr id="5" name="card-631"/>
          <p:cNvSpPr/>
          <p:nvPr/>
        </p:nvSpPr>
        <p:spPr>
          <a:xfrm>
            <a:off x="548640" y="1783080"/>
            <a:ext cx="5257800" cy="1234440"/>
          </a:xfrm>
          <a:prstGeom prst="roundRect">
            <a:avLst>
              <a:gd name="adj" fmla="val 8889"/>
            </a:avLst>
          </a:prstGeom>
          <a:solidFill>
            <a:schemeClr val="bg2"/>
          </a:solidFill>
          <a:ln/>
        </p:spPr>
      </p:sp>
      <p:pic>
        <p:nvPicPr>
          <p:cNvPr id="6" name="icon-632" descr="preencoded.png">    </p:cNvPr>
          <p:cNvPicPr>
            <a:picLocks noChangeAspect="1"/>
          </p:cNvPicPr>
          <p:nvPr/>
        </p:nvPicPr>
        <p:blipFill>
          <a:blip r:embed="rId1"/>
          <a:stretch>
            <a:fillRect/>
          </a:stretch>
        </p:blipFill>
        <p:spPr>
          <a:xfrm>
            <a:off x="822960" y="2167128"/>
            <a:ext cx="457200" cy="457200"/>
          </a:xfrm>
          <a:prstGeom prst="rect">
            <a:avLst/>
          </a:prstGeom>
        </p:spPr>
      </p:pic>
      <p:sp>
        <p:nvSpPr>
          <p:cNvPr id="7" name="text-633"/>
          <p:cNvSpPr txBox="1"/>
          <p:nvPr/>
        </p:nvSpPr>
        <p:spPr>
          <a:xfrm>
            <a:off x="1508760" y="1947672"/>
            <a:ext cx="4114800" cy="411480"/>
          </a:xfrm>
          <a:prstGeom prst="rect">
            <a:avLst/>
          </a:prstGeom>
          <a:noFill/>
          <a:ln/>
        </p:spPr>
        <p:txBody>
          <a:bodyPr wrap="square" lIns="0" tIns="0" rIns="0" bIns="0" rtlCol="0" anchor="t"/>
          <a:lstStyle/>
          <a:p>
            <a:pPr indent="0" marL="0">
              <a:buNone/>
            </a:pPr>
            <a:r>
              <a:rPr lang="en-US" sz="1900" b="1" dirty="0">
                <a:solidFill>
                  <a:schemeClr val="tx1"/>
                </a:solidFill>
              </a:rPr>
              <a:t>Draft pilot policy</a:t>
            </a:r>
            <a:endParaRPr lang="en-US" sz="1900" dirty="0"/>
          </a:p>
        </p:txBody>
      </p:sp>
      <p:sp>
        <p:nvSpPr>
          <p:cNvPr id="8" name="text-634"/>
          <p:cNvSpPr txBox="1"/>
          <p:nvPr/>
        </p:nvSpPr>
        <p:spPr>
          <a:xfrm>
            <a:off x="1508760" y="2359152"/>
            <a:ext cx="4114800" cy="594360"/>
          </a:xfrm>
          <a:prstGeom prst="rect">
            <a:avLst/>
          </a:prstGeom>
          <a:noFill/>
          <a:ln/>
        </p:spPr>
        <p:txBody>
          <a:bodyPr wrap="square" lIns="0" tIns="0" rIns="0" bIns="0" rtlCol="0" anchor="t"/>
          <a:lstStyle/>
          <a:p>
            <a:pPr indent="0" marL="0">
              <a:buNone/>
            </a:pPr>
            <a:r>
              <a:rPr lang="en-US" sz="1500" dirty="0">
                <a:solidFill>
                  <a:schemeClr val="tx2"/>
                </a:solidFill>
              </a:rPr>
              <a:t>Who's eligible, core days, approval, equipment, 90 days</a:t>
            </a:r>
            <a:endParaRPr lang="en-US" sz="1500" dirty="0"/>
          </a:p>
        </p:txBody>
      </p:sp>
      <p:sp>
        <p:nvSpPr>
          <p:cNvPr id="9" name="card-635"/>
          <p:cNvSpPr/>
          <p:nvPr/>
        </p:nvSpPr>
        <p:spPr>
          <a:xfrm>
            <a:off x="6537960" y="1783080"/>
            <a:ext cx="5102352" cy="1234440"/>
          </a:xfrm>
          <a:prstGeom prst="roundRect">
            <a:avLst>
              <a:gd name="adj" fmla="val 8889"/>
            </a:avLst>
          </a:prstGeom>
          <a:solidFill>
            <a:schemeClr val="tx1"/>
          </a:solidFill>
          <a:ln/>
        </p:spPr>
      </p:sp>
      <p:sp>
        <p:nvSpPr>
          <p:cNvPr id="10" name="text-636"/>
          <p:cNvSpPr txBox="1"/>
          <p:nvPr/>
        </p:nvSpPr>
        <p:spPr>
          <a:xfrm>
            <a:off x="6812280" y="178308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11" name="text-637"/>
          <p:cNvSpPr txBox="1"/>
          <p:nvPr/>
        </p:nvSpPr>
        <p:spPr>
          <a:xfrm>
            <a:off x="7360920" y="1947672"/>
            <a:ext cx="4114800" cy="411480"/>
          </a:xfrm>
          <a:prstGeom prst="rect">
            <a:avLst/>
          </a:prstGeom>
          <a:noFill/>
          <a:ln/>
        </p:spPr>
        <p:txBody>
          <a:bodyPr wrap="square" lIns="0" tIns="0" rIns="0" bIns="0" rtlCol="0" anchor="t"/>
          <a:lstStyle/>
          <a:p>
            <a:pPr indent="0" marL="0">
              <a:buNone/>
            </a:pPr>
            <a:r>
              <a:rPr lang="en-US" sz="1900" b="1" dirty="0">
                <a:solidFill>
                  <a:schemeClr val="bg1"/>
                </a:solidFill>
              </a:rPr>
              <a:t>Staff FAQ</a:t>
            </a:r>
            <a:endParaRPr lang="en-US" sz="1900" dirty="0"/>
          </a:p>
        </p:txBody>
      </p:sp>
      <p:sp>
        <p:nvSpPr>
          <p:cNvPr id="12" name="text-638"/>
          <p:cNvSpPr txBox="1"/>
          <p:nvPr/>
        </p:nvSpPr>
        <p:spPr>
          <a:xfrm>
            <a:off x="7360920" y="235915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All six questions, using only the policy. Unknowns marked “To confirm with HR”.</a:t>
            </a:r>
            <a:endParaRPr lang="en-US" sz="1500" dirty="0"/>
          </a:p>
        </p:txBody>
      </p:sp>
      <p:sp>
        <p:nvSpPr>
          <p:cNvPr id="13" name="card-639"/>
          <p:cNvSpPr/>
          <p:nvPr/>
        </p:nvSpPr>
        <p:spPr>
          <a:xfrm>
            <a:off x="548640" y="3200400"/>
            <a:ext cx="5257800" cy="1234440"/>
          </a:xfrm>
          <a:prstGeom prst="roundRect">
            <a:avLst>
              <a:gd name="adj" fmla="val 8889"/>
            </a:avLst>
          </a:prstGeom>
          <a:solidFill>
            <a:schemeClr val="bg2"/>
          </a:solidFill>
          <a:ln/>
        </p:spPr>
      </p:sp>
      <p:pic>
        <p:nvPicPr>
          <p:cNvPr id="14" name="icon-640" descr="preencoded.png">    </p:cNvPr>
          <p:cNvPicPr>
            <a:picLocks noChangeAspect="1"/>
          </p:cNvPicPr>
          <p:nvPr/>
        </p:nvPicPr>
        <p:blipFill>
          <a:blip r:embed="rId2"/>
          <a:stretch>
            <a:fillRect/>
          </a:stretch>
        </p:blipFill>
        <p:spPr>
          <a:xfrm>
            <a:off x="822960" y="3584448"/>
            <a:ext cx="457200" cy="457200"/>
          </a:xfrm>
          <a:prstGeom prst="rect">
            <a:avLst/>
          </a:prstGeom>
        </p:spPr>
      </p:pic>
      <p:sp>
        <p:nvSpPr>
          <p:cNvPr id="15" name="text-641"/>
          <p:cNvSpPr txBox="1"/>
          <p:nvPr/>
        </p:nvSpPr>
        <p:spPr>
          <a:xfrm>
            <a:off x="1508760" y="3364992"/>
            <a:ext cx="4114800" cy="411480"/>
          </a:xfrm>
          <a:prstGeom prst="rect">
            <a:avLst/>
          </a:prstGeom>
          <a:noFill/>
          <a:ln/>
        </p:spPr>
        <p:txBody>
          <a:bodyPr wrap="square" lIns="0" tIns="0" rIns="0" bIns="0" rtlCol="0" anchor="t"/>
          <a:lstStyle/>
          <a:p>
            <a:pPr indent="0" marL="0">
              <a:buNone/>
            </a:pPr>
            <a:r>
              <a:rPr lang="en-US" sz="1900" b="1" dirty="0">
                <a:solidFill>
                  <a:schemeClr val="tx1"/>
                </a:solidFill>
              </a:rPr>
              <a:t>Email from a manager</a:t>
            </a:r>
            <a:endParaRPr lang="en-US" sz="1900" dirty="0"/>
          </a:p>
        </p:txBody>
      </p:sp>
      <p:sp>
        <p:nvSpPr>
          <p:cNvPr id="16" name="text-642"/>
          <p:cNvSpPr txBox="1"/>
          <p:nvPr/>
        </p:nvSpPr>
        <p:spPr>
          <a:xfrm>
            <a:off x="1508760" y="3776472"/>
            <a:ext cx="4114800" cy="594360"/>
          </a:xfrm>
          <a:prstGeom prst="rect">
            <a:avLst/>
          </a:prstGeom>
          <a:noFill/>
          <a:ln/>
        </p:spPr>
        <p:txBody>
          <a:bodyPr wrap="square" lIns="0" tIns="0" rIns="0" bIns="0" rtlCol="0" anchor="t"/>
          <a:lstStyle/>
          <a:p>
            <a:pPr indent="0" marL="0">
              <a:buNone/>
            </a:pPr>
            <a:r>
              <a:rPr lang="en-US" sz="1500" dirty="0">
                <a:solidFill>
                  <a:schemeClr val="tx2"/>
                </a:solidFill>
              </a:rPr>
              <a:t>Two real concerns, plus details that shouldn't go into an AI</a:t>
            </a:r>
            <a:endParaRPr lang="en-US" sz="1500" dirty="0"/>
          </a:p>
        </p:txBody>
      </p:sp>
      <p:sp>
        <p:nvSpPr>
          <p:cNvPr id="17" name="card-643"/>
          <p:cNvSpPr/>
          <p:nvPr/>
        </p:nvSpPr>
        <p:spPr>
          <a:xfrm>
            <a:off x="6537960" y="3200400"/>
            <a:ext cx="5102352" cy="1234440"/>
          </a:xfrm>
          <a:prstGeom prst="roundRect">
            <a:avLst>
              <a:gd name="adj" fmla="val 8889"/>
            </a:avLst>
          </a:prstGeom>
          <a:solidFill>
            <a:schemeClr val="tx1"/>
          </a:solidFill>
          <a:ln/>
        </p:spPr>
      </p:sp>
      <p:sp>
        <p:nvSpPr>
          <p:cNvPr id="18" name="text-644"/>
          <p:cNvSpPr txBox="1"/>
          <p:nvPr/>
        </p:nvSpPr>
        <p:spPr>
          <a:xfrm>
            <a:off x="6812280" y="320040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2</a:t>
            </a:r>
            <a:endParaRPr lang="en-US" sz="3000" dirty="0"/>
          </a:p>
        </p:txBody>
      </p:sp>
      <p:sp>
        <p:nvSpPr>
          <p:cNvPr id="19" name="text-645"/>
          <p:cNvSpPr txBox="1"/>
          <p:nvPr/>
        </p:nvSpPr>
        <p:spPr>
          <a:xfrm>
            <a:off x="7360920" y="3364992"/>
            <a:ext cx="4114800" cy="411480"/>
          </a:xfrm>
          <a:prstGeom prst="rect">
            <a:avLst/>
          </a:prstGeom>
          <a:noFill/>
          <a:ln/>
        </p:spPr>
        <p:txBody>
          <a:bodyPr wrap="square" lIns="0" tIns="0" rIns="0" bIns="0" rtlCol="0" anchor="t"/>
          <a:lstStyle/>
          <a:p>
            <a:pPr indent="0" marL="0">
              <a:buNone/>
            </a:pPr>
            <a:r>
              <a:rPr lang="en-US" sz="1900" b="1" dirty="0">
                <a:solidFill>
                  <a:schemeClr val="bg1"/>
                </a:solidFill>
              </a:rPr>
              <a:t>Manager talking points</a:t>
            </a:r>
            <a:endParaRPr lang="en-US" sz="1900" dirty="0"/>
          </a:p>
        </p:txBody>
      </p:sp>
      <p:sp>
        <p:nvSpPr>
          <p:cNvPr id="20" name="text-646"/>
          <p:cNvSpPr txBox="1"/>
          <p:nvPr/>
        </p:nvSpPr>
        <p:spPr>
          <a:xfrm>
            <a:off x="7360920" y="377647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Eight bullets at most. No names.</a:t>
            </a:r>
            <a:endParaRPr lang="en-US" sz="1500" dirty="0"/>
          </a:p>
        </p:txBody>
      </p:sp>
      <p:sp>
        <p:nvSpPr>
          <p:cNvPr id="21" name="card-647"/>
          <p:cNvSpPr/>
          <p:nvPr/>
        </p:nvSpPr>
        <p:spPr>
          <a:xfrm>
            <a:off x="548640" y="4617720"/>
            <a:ext cx="5257800" cy="1234440"/>
          </a:xfrm>
          <a:prstGeom prst="roundRect">
            <a:avLst>
              <a:gd name="adj" fmla="val 8889"/>
            </a:avLst>
          </a:prstGeom>
          <a:solidFill>
            <a:schemeClr val="bg2"/>
          </a:solidFill>
          <a:ln/>
        </p:spPr>
      </p:sp>
      <p:pic>
        <p:nvPicPr>
          <p:cNvPr id="22" name="icon-648" descr="preencoded.png">    </p:cNvPr>
          <p:cNvPicPr>
            <a:picLocks noChangeAspect="1"/>
          </p:cNvPicPr>
          <p:nvPr/>
        </p:nvPicPr>
        <p:blipFill>
          <a:blip r:embed="rId3"/>
          <a:stretch>
            <a:fillRect/>
          </a:stretch>
        </p:blipFill>
        <p:spPr>
          <a:xfrm>
            <a:off x="822960" y="5001768"/>
            <a:ext cx="457200" cy="457200"/>
          </a:xfrm>
          <a:prstGeom prst="rect">
            <a:avLst/>
          </a:prstGeom>
        </p:spPr>
      </p:pic>
      <p:sp>
        <p:nvSpPr>
          <p:cNvPr id="23" name="text-649"/>
          <p:cNvSpPr txBox="1"/>
          <p:nvPr/>
        </p:nvSpPr>
        <p:spPr>
          <a:xfrm>
            <a:off x="1508760" y="4782312"/>
            <a:ext cx="4114800" cy="411480"/>
          </a:xfrm>
          <a:prstGeom prst="rect">
            <a:avLst/>
          </a:prstGeom>
          <a:noFill/>
          <a:ln/>
        </p:spPr>
        <p:txBody>
          <a:bodyPr wrap="square" lIns="0" tIns="0" rIns="0" bIns="0" rtlCol="0" anchor="t"/>
          <a:lstStyle/>
          <a:p>
            <a:pPr indent="0" marL="0">
              <a:buNone/>
            </a:pPr>
            <a:r>
              <a:rPr lang="en-US" sz="1900" b="1" dirty="0">
                <a:solidFill>
                  <a:schemeClr val="tx1"/>
                </a:solidFill>
              </a:rPr>
              <a:t>Six town-hall questions</a:t>
            </a:r>
            <a:endParaRPr lang="en-US" sz="1900" dirty="0"/>
          </a:p>
        </p:txBody>
      </p:sp>
      <p:sp>
        <p:nvSpPr>
          <p:cNvPr id="24" name="text-650"/>
          <p:cNvSpPr txBox="1"/>
          <p:nvPr/>
        </p:nvSpPr>
        <p:spPr>
          <a:xfrm>
            <a:off x="1508760" y="5193792"/>
            <a:ext cx="4114800" cy="594360"/>
          </a:xfrm>
          <a:prstGeom prst="rect">
            <a:avLst/>
          </a:prstGeom>
          <a:noFill/>
          <a:ln/>
        </p:spPr>
        <p:txBody>
          <a:bodyPr wrap="square" lIns="0" tIns="0" rIns="0" bIns="0" rtlCol="0" anchor="t"/>
          <a:lstStyle/>
          <a:p>
            <a:pPr indent="0" marL="0">
              <a:buNone/>
            </a:pPr>
            <a:r>
              <a:rPr lang="en-US" sz="1500" dirty="0">
                <a:solidFill>
                  <a:schemeClr val="tx2"/>
                </a:solidFill>
              </a:rPr>
              <a:t>Three of them the policy doesn't answer</a:t>
            </a:r>
            <a:endParaRPr lang="en-US" sz="1500" dirty="0"/>
          </a:p>
        </p:txBody>
      </p:sp>
      <p:sp>
        <p:nvSpPr>
          <p:cNvPr id="25" name="card-651"/>
          <p:cNvSpPr/>
          <p:nvPr/>
        </p:nvSpPr>
        <p:spPr>
          <a:xfrm>
            <a:off x="6537960" y="4617720"/>
            <a:ext cx="5102352" cy="1234440"/>
          </a:xfrm>
          <a:prstGeom prst="roundRect">
            <a:avLst>
              <a:gd name="adj" fmla="val 8889"/>
            </a:avLst>
          </a:prstGeom>
          <a:solidFill>
            <a:schemeClr val="tx1"/>
          </a:solidFill>
          <a:ln/>
        </p:spPr>
      </p:sp>
      <p:sp>
        <p:nvSpPr>
          <p:cNvPr id="26" name="text-652"/>
          <p:cNvSpPr txBox="1"/>
          <p:nvPr/>
        </p:nvSpPr>
        <p:spPr>
          <a:xfrm>
            <a:off x="6812280" y="4617720"/>
            <a:ext cx="411480" cy="123444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27" name="text-653"/>
          <p:cNvSpPr txBox="1"/>
          <p:nvPr/>
        </p:nvSpPr>
        <p:spPr>
          <a:xfrm>
            <a:off x="7360920" y="4782312"/>
            <a:ext cx="4114800" cy="411480"/>
          </a:xfrm>
          <a:prstGeom prst="rect">
            <a:avLst/>
          </a:prstGeom>
          <a:noFill/>
          <a:ln/>
        </p:spPr>
        <p:txBody>
          <a:bodyPr wrap="square" lIns="0" tIns="0" rIns="0" bIns="0" rtlCol="0" anchor="t"/>
          <a:lstStyle/>
          <a:p>
            <a:pPr indent="0" marL="0">
              <a:buNone/>
            </a:pPr>
            <a:r>
              <a:rPr lang="en-US" sz="1900" b="1" dirty="0">
                <a:solidFill>
                  <a:schemeClr val="bg1"/>
                </a:solidFill>
              </a:rPr>
              <a:t>Verification note</a:t>
            </a:r>
            <a:endParaRPr lang="en-US" sz="1900" dirty="0"/>
          </a:p>
        </p:txBody>
      </p:sp>
      <p:sp>
        <p:nvSpPr>
          <p:cNvPr id="28" name="text-654"/>
          <p:cNvSpPr txBox="1"/>
          <p:nvPr/>
        </p:nvSpPr>
        <p:spPr>
          <a:xfrm>
            <a:off x="7360920" y="5193792"/>
            <a:ext cx="4114800" cy="594360"/>
          </a:xfrm>
          <a:prstGeom prst="rect">
            <a:avLst/>
          </a:prstGeom>
          <a:noFill/>
          <a:ln/>
        </p:spPr>
        <p:txBody>
          <a:bodyPr wrap="square" lIns="0" tIns="0" rIns="0" bIns="0" rtlCol="0" anchor="t"/>
          <a:lstStyle/>
          <a:p>
            <a:pPr indent="0" marL="0">
              <a:buNone/>
            </a:pPr>
            <a:r>
              <a:rPr lang="en-US" sz="1500" dirty="0">
                <a:solidFill>
                  <a:schemeClr val="accent3"/>
                </a:solidFill>
              </a:rPr>
              <a:t>What the AI got wrong, and what you chose not to paste</a:t>
            </a:r>
            <a:endParaRPr lang="en-US" sz="1500" dirty="0"/>
          </a:p>
        </p:txBody>
      </p:sp>
      <p:pic>
        <p:nvPicPr>
          <p:cNvPr id="29" name="icon-655" descr="preencoded.png">    </p:cNvPr>
          <p:cNvPicPr>
            <a:picLocks noChangeAspect="1"/>
          </p:cNvPicPr>
          <p:nvPr/>
        </p:nvPicPr>
        <p:blipFill>
          <a:blip r:embed="rId4"/>
          <a:stretch>
            <a:fillRect/>
          </a:stretch>
        </p:blipFill>
        <p:spPr>
          <a:xfrm>
            <a:off x="5943600" y="3520440"/>
            <a:ext cx="457200" cy="457200"/>
          </a:xfrm>
          <a:prstGeom prst="rect">
            <a:avLst/>
          </a:prstGeom>
        </p:spPr>
      </p:pic>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82296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rPr>
              <a:t>ACTIVITY 3.1  ·  GROUPS OF 3–4</a:t>
            </a:r>
            <a:endParaRPr lang="en-US" sz="1400" dirty="0"/>
          </a:p>
        </p:txBody>
      </p:sp>
      <p:sp>
        <p:nvSpPr>
          <p:cNvPr id="3" name="Text 1"/>
          <p:cNvSpPr/>
          <p:nvPr>
            <p:ph idx="103" type="title" hasCustomPrompt="1"/>
          </p:nvPr>
        </p:nvSpPr>
        <p:spPr>
          <a:xfrm>
            <a:off x="548640" y="777240"/>
            <a:ext cx="8778240" cy="822960"/>
          </a:xfrm>
          <a:prstGeom prst="rect">
            <a:avLst/>
          </a:prstGeom>
          <a:noFill/>
          <a:ln/>
        </p:spPr>
        <p:txBody>
          <a:bodyPr wrap="square" lIns="0" tIns="0" rIns="0" bIns="0" rtlCol="0" anchor="ctr"/>
          <a:lstStyle/>
          <a:p>
            <a:pPr algn="l" indent="0" marL="0">
              <a:buNone/>
            </a:pPr>
            <a:r>
              <a:rPr lang="en-US" sz="3800" b="1" dirty="0">
                <a:solidFill>
                  <a:schemeClr val="bg1"/>
                </a:solidFill>
              </a:rPr>
              <a:t>Hybrid pilot case</a:t>
            </a:r>
            <a:endParaRPr lang="en-US" sz="3800" dirty="0"/>
          </a:p>
        </p:txBody>
      </p:sp>
      <p:sp>
        <p:nvSpPr>
          <p:cNvPr id="4" name="badge-656"/>
          <p:cNvSpPr/>
          <p:nvPr/>
        </p:nvSpPr>
        <p:spPr>
          <a:xfrm>
            <a:off x="10042855" y="502920"/>
            <a:ext cx="1600200" cy="457200"/>
          </a:xfrm>
          <a:prstGeom prst="roundRect">
            <a:avLst>
              <a:gd name="adj" fmla="val 50000"/>
            </a:avLst>
          </a:prstGeom>
          <a:solidFill>
            <a:schemeClr val="bg1"/>
          </a:solidFill>
          <a:ln/>
        </p:spPr>
      </p:sp>
      <p:sp>
        <p:nvSpPr>
          <p:cNvPr id="5" name="text-657"/>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35 min</a:t>
            </a:r>
            <a:endParaRPr lang="en-US" sz="1600" dirty="0"/>
          </a:p>
        </p:txBody>
      </p:sp>
      <p:sp>
        <p:nvSpPr>
          <p:cNvPr id="6" name="text-658"/>
          <p:cNvSpPr txBox="1"/>
          <p:nvPr/>
        </p:nvSpPr>
        <p:spPr>
          <a:xfrm>
            <a:off x="54864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Roles</a:t>
            </a:r>
            <a:endParaRPr lang="en-US" sz="2100" dirty="0"/>
          </a:p>
        </p:txBody>
      </p:sp>
      <p:sp>
        <p:nvSpPr>
          <p:cNvPr id="7" name="dot-659"/>
          <p:cNvSpPr/>
          <p:nvPr/>
        </p:nvSpPr>
        <p:spPr>
          <a:xfrm>
            <a:off x="548640" y="2331720"/>
            <a:ext cx="594360" cy="594360"/>
          </a:xfrm>
          <a:prstGeom prst="ellipse">
            <a:avLst/>
          </a:prstGeom>
          <a:solidFill>
            <a:schemeClr val="bg1"/>
          </a:solidFill>
          <a:ln/>
        </p:spPr>
      </p:sp>
      <p:pic>
        <p:nvPicPr>
          <p:cNvPr id="8" name="icon-660" descr="preencoded.png">    </p:cNvPr>
          <p:cNvPicPr>
            <a:picLocks noChangeAspect="1"/>
          </p:cNvPicPr>
          <p:nvPr/>
        </p:nvPicPr>
        <p:blipFill>
          <a:blip r:embed="rId1"/>
          <a:stretch>
            <a:fillRect/>
          </a:stretch>
        </p:blipFill>
        <p:spPr>
          <a:xfrm>
            <a:off x="679399" y="2462479"/>
            <a:ext cx="332842" cy="332842"/>
          </a:xfrm>
          <a:prstGeom prst="rect">
            <a:avLst/>
          </a:prstGeom>
        </p:spPr>
      </p:pic>
      <p:sp>
        <p:nvSpPr>
          <p:cNvPr id="9" name="text-661"/>
          <p:cNvSpPr txBox="1"/>
          <p:nvPr/>
        </p:nvSpPr>
        <p:spPr>
          <a:xfrm>
            <a:off x="1371600" y="2331720"/>
            <a:ext cx="4480560" cy="914400"/>
          </a:xfrm>
          <a:prstGeom prst="rect">
            <a:avLst/>
          </a:prstGeom>
          <a:noFill/>
          <a:ln/>
        </p:spPr>
        <p:txBody>
          <a:bodyPr wrap="square" lIns="0" tIns="0" rIns="0" bIns="0" rtlCol="0" anchor="t"/>
          <a:lstStyle/>
          <a:p>
            <a:pPr indent="0" marL="0">
              <a:buNone/>
            </a:pPr>
            <a:r>
              <a:rPr lang="en-US" sz="1700" b="1" dirty="0">
                <a:solidFill>
                  <a:schemeClr val="bg1"/>
                </a:solidFill>
              </a:rPr>
              <a:t>Navigator  </a:t>
            </a:r>
            <a:pPr indent="0" marL="0">
              <a:buNone/>
            </a:pPr>
            <a:r>
              <a:rPr lang="en-US" sz="1700" dirty="0">
                <a:solidFill>
                  <a:schemeClr val="accent3"/>
                </a:solidFill>
              </a:rPr>
              <a:t>writes the prompts</a:t>
            </a:r>
            <a:endParaRPr lang="en-US" sz="1700" dirty="0"/>
          </a:p>
        </p:txBody>
      </p:sp>
      <p:sp>
        <p:nvSpPr>
          <p:cNvPr id="10" name="dot-662"/>
          <p:cNvSpPr/>
          <p:nvPr/>
        </p:nvSpPr>
        <p:spPr>
          <a:xfrm>
            <a:off x="548640" y="3355848"/>
            <a:ext cx="594360" cy="594360"/>
          </a:xfrm>
          <a:prstGeom prst="ellipse">
            <a:avLst/>
          </a:prstGeom>
          <a:solidFill>
            <a:schemeClr val="bg1"/>
          </a:solidFill>
          <a:ln/>
        </p:spPr>
      </p:sp>
      <p:pic>
        <p:nvPicPr>
          <p:cNvPr id="11" name="icon-663" descr="preencoded.png">    </p:cNvPr>
          <p:cNvPicPr>
            <a:picLocks noChangeAspect="1"/>
          </p:cNvPicPr>
          <p:nvPr/>
        </p:nvPicPr>
        <p:blipFill>
          <a:blip r:embed="rId2"/>
          <a:stretch>
            <a:fillRect/>
          </a:stretch>
        </p:blipFill>
        <p:spPr>
          <a:xfrm>
            <a:off x="679399" y="3486607"/>
            <a:ext cx="332842" cy="332842"/>
          </a:xfrm>
          <a:prstGeom prst="rect">
            <a:avLst/>
          </a:prstGeom>
        </p:spPr>
      </p:pic>
      <p:sp>
        <p:nvSpPr>
          <p:cNvPr id="12" name="text-664"/>
          <p:cNvSpPr txBox="1"/>
          <p:nvPr/>
        </p:nvSpPr>
        <p:spPr>
          <a:xfrm>
            <a:off x="1371600" y="3355848"/>
            <a:ext cx="4480560" cy="914400"/>
          </a:xfrm>
          <a:prstGeom prst="rect">
            <a:avLst/>
          </a:prstGeom>
          <a:noFill/>
          <a:ln/>
        </p:spPr>
        <p:txBody>
          <a:bodyPr wrap="square" lIns="0" tIns="0" rIns="0" bIns="0" rtlCol="0" anchor="t"/>
          <a:lstStyle/>
          <a:p>
            <a:pPr indent="0" marL="0">
              <a:buNone/>
            </a:pPr>
            <a:r>
              <a:rPr lang="en-US" sz="1700" b="1" dirty="0">
                <a:solidFill>
                  <a:schemeClr val="bg1"/>
                </a:solidFill>
              </a:rPr>
              <a:t>Driver  </a:t>
            </a:r>
            <a:pPr indent="0" marL="0">
              <a:buNone/>
            </a:pPr>
            <a:r>
              <a:rPr lang="en-US" sz="1700" dirty="0">
                <a:solidFill>
                  <a:schemeClr val="accent3"/>
                </a:solidFill>
              </a:rPr>
              <a:t>types and runs them</a:t>
            </a:r>
            <a:endParaRPr lang="en-US" sz="1700" dirty="0"/>
          </a:p>
        </p:txBody>
      </p:sp>
      <p:sp>
        <p:nvSpPr>
          <p:cNvPr id="13" name="dot-665"/>
          <p:cNvSpPr/>
          <p:nvPr/>
        </p:nvSpPr>
        <p:spPr>
          <a:xfrm>
            <a:off x="548640" y="4379976"/>
            <a:ext cx="594360" cy="594360"/>
          </a:xfrm>
          <a:prstGeom prst="ellipse">
            <a:avLst/>
          </a:prstGeom>
          <a:solidFill>
            <a:schemeClr val="accent1"/>
          </a:solidFill>
          <a:ln/>
        </p:spPr>
      </p:sp>
      <p:pic>
        <p:nvPicPr>
          <p:cNvPr id="14" name="icon-666" descr="preencoded.png">    </p:cNvPr>
          <p:cNvPicPr>
            <a:picLocks noChangeAspect="1"/>
          </p:cNvPicPr>
          <p:nvPr/>
        </p:nvPicPr>
        <p:blipFill>
          <a:blip r:embed="rId3"/>
          <a:stretch>
            <a:fillRect/>
          </a:stretch>
        </p:blipFill>
        <p:spPr>
          <a:xfrm>
            <a:off x="679399" y="4510735"/>
            <a:ext cx="332842" cy="332842"/>
          </a:xfrm>
          <a:prstGeom prst="rect">
            <a:avLst/>
          </a:prstGeom>
        </p:spPr>
      </p:pic>
      <p:sp>
        <p:nvSpPr>
          <p:cNvPr id="15" name="text-667"/>
          <p:cNvSpPr txBox="1"/>
          <p:nvPr/>
        </p:nvSpPr>
        <p:spPr>
          <a:xfrm>
            <a:off x="1371600" y="4379976"/>
            <a:ext cx="4480560" cy="914400"/>
          </a:xfrm>
          <a:prstGeom prst="rect">
            <a:avLst/>
          </a:prstGeom>
          <a:noFill/>
          <a:ln/>
        </p:spPr>
        <p:txBody>
          <a:bodyPr wrap="square" lIns="0" tIns="0" rIns="0" bIns="0" rtlCol="0" anchor="t"/>
          <a:lstStyle/>
          <a:p>
            <a:pPr indent="0" marL="0">
              <a:buNone/>
            </a:pPr>
            <a:r>
              <a:rPr lang="en-US" sz="1700" b="1" dirty="0">
                <a:solidFill>
                  <a:schemeClr val="bg1"/>
                </a:solidFill>
              </a:rPr>
              <a:t>Checker  </a:t>
            </a:r>
            <a:pPr indent="0" marL="0">
              <a:buNone/>
            </a:pPr>
            <a:r>
              <a:rPr lang="en-US" sz="1700" dirty="0">
                <a:solidFill>
                  <a:schemeClr val="accent3"/>
                </a:solidFill>
              </a:rPr>
              <a:t>compares every answer with the source, and watches for personal information</a:t>
            </a:r>
            <a:endParaRPr lang="en-US" sz="1700" dirty="0"/>
          </a:p>
        </p:txBody>
      </p:sp>
      <p:sp>
        <p:nvSpPr>
          <p:cNvPr id="16" name="text-668"/>
          <p:cNvSpPr txBox="1"/>
          <p:nvPr/>
        </p:nvSpPr>
        <p:spPr>
          <a:xfrm>
            <a:off x="6263640" y="1783080"/>
            <a:ext cx="4572000" cy="411480"/>
          </a:xfrm>
          <a:prstGeom prst="rect">
            <a:avLst/>
          </a:prstGeom>
          <a:noFill/>
          <a:ln/>
        </p:spPr>
        <p:txBody>
          <a:bodyPr wrap="square" lIns="0" tIns="0" rIns="0" bIns="0" rtlCol="0" anchor="t"/>
          <a:lstStyle/>
          <a:p>
            <a:pPr indent="0" marL="0">
              <a:buNone/>
            </a:pPr>
            <a:r>
              <a:rPr lang="en-US" sz="2100" b="1" dirty="0">
                <a:solidFill>
                  <a:schemeClr val="bg1"/>
                </a:solidFill>
              </a:rPr>
              <a:t>Done when</a:t>
            </a:r>
            <a:endParaRPr lang="en-US" sz="2100" dirty="0"/>
          </a:p>
        </p:txBody>
      </p:sp>
      <p:pic>
        <p:nvPicPr>
          <p:cNvPr id="17" name="icon-669" descr="preencoded.png">    </p:cNvPr>
          <p:cNvPicPr>
            <a:picLocks noChangeAspect="1"/>
          </p:cNvPicPr>
          <p:nvPr/>
        </p:nvPicPr>
        <p:blipFill>
          <a:blip r:embed="rId4"/>
          <a:stretch>
            <a:fillRect/>
          </a:stretch>
        </p:blipFill>
        <p:spPr>
          <a:xfrm>
            <a:off x="6263640" y="2359152"/>
            <a:ext cx="384048" cy="384048"/>
          </a:xfrm>
          <a:prstGeom prst="rect">
            <a:avLst/>
          </a:prstGeom>
        </p:spPr>
      </p:pic>
      <p:sp>
        <p:nvSpPr>
          <p:cNvPr id="18" name="text-670"/>
          <p:cNvSpPr txBox="1"/>
          <p:nvPr/>
        </p:nvSpPr>
        <p:spPr>
          <a:xfrm>
            <a:off x="6812280" y="2331720"/>
            <a:ext cx="4828032" cy="731520"/>
          </a:xfrm>
          <a:prstGeom prst="rect">
            <a:avLst/>
          </a:prstGeom>
          <a:noFill/>
          <a:ln/>
        </p:spPr>
        <p:txBody>
          <a:bodyPr wrap="square" lIns="0" tIns="0" rIns="0" bIns="0" rtlCol="0" anchor="t"/>
          <a:lstStyle/>
          <a:p>
            <a:pPr indent="0" marL="0">
              <a:buNone/>
            </a:pPr>
            <a:r>
              <a:rPr lang="en-US" sz="1700" dirty="0">
                <a:solidFill>
                  <a:schemeClr val="bg1"/>
                </a:solidFill>
              </a:rPr>
              <a:t>Every FAQ answer traced to the policy, or flagged “To confirm with HR”</a:t>
            </a:r>
            <a:endParaRPr lang="en-US" sz="1700" dirty="0"/>
          </a:p>
        </p:txBody>
      </p:sp>
      <p:pic>
        <p:nvPicPr>
          <p:cNvPr id="19" name="icon-671" descr="preencoded.png">    </p:cNvPr>
          <p:cNvPicPr>
            <a:picLocks noChangeAspect="1"/>
          </p:cNvPicPr>
          <p:nvPr/>
        </p:nvPicPr>
        <p:blipFill>
          <a:blip r:embed="rId5"/>
          <a:stretch>
            <a:fillRect/>
          </a:stretch>
        </p:blipFill>
        <p:spPr>
          <a:xfrm>
            <a:off x="6263640" y="3136392"/>
            <a:ext cx="384048" cy="384048"/>
          </a:xfrm>
          <a:prstGeom prst="rect">
            <a:avLst/>
          </a:prstGeom>
        </p:spPr>
      </p:pic>
      <p:sp>
        <p:nvSpPr>
          <p:cNvPr id="20" name="text-672"/>
          <p:cNvSpPr txBox="1"/>
          <p:nvPr/>
        </p:nvSpPr>
        <p:spPr>
          <a:xfrm>
            <a:off x="6812280" y="3108960"/>
            <a:ext cx="4828032" cy="731520"/>
          </a:xfrm>
          <a:prstGeom prst="rect">
            <a:avLst/>
          </a:prstGeom>
          <a:noFill/>
          <a:ln/>
        </p:spPr>
        <p:txBody>
          <a:bodyPr wrap="square" lIns="0" tIns="0" rIns="0" bIns="0" rtlCol="0" anchor="t"/>
          <a:lstStyle/>
          <a:p>
            <a:pPr indent="0" marL="0">
              <a:buNone/>
            </a:pPr>
            <a:r>
              <a:rPr lang="en-US" sz="1700" dirty="0">
                <a:solidFill>
                  <a:schemeClr val="bg1"/>
                </a:solidFill>
              </a:rPr>
              <a:t>No personal information went into the AI</a:t>
            </a:r>
            <a:endParaRPr lang="en-US" sz="1700" dirty="0"/>
          </a:p>
        </p:txBody>
      </p:sp>
      <p:pic>
        <p:nvPicPr>
          <p:cNvPr id="21" name="icon-673" descr="preencoded.png">    </p:cNvPr>
          <p:cNvPicPr>
            <a:picLocks noChangeAspect="1"/>
          </p:cNvPicPr>
          <p:nvPr/>
        </p:nvPicPr>
        <p:blipFill>
          <a:blip r:embed="rId6"/>
          <a:stretch>
            <a:fillRect/>
          </a:stretch>
        </p:blipFill>
        <p:spPr>
          <a:xfrm>
            <a:off x="6263640" y="3913632"/>
            <a:ext cx="384048" cy="384048"/>
          </a:xfrm>
          <a:prstGeom prst="rect">
            <a:avLst/>
          </a:prstGeom>
        </p:spPr>
      </p:pic>
      <p:sp>
        <p:nvSpPr>
          <p:cNvPr id="22" name="text-674"/>
          <p:cNvSpPr txBox="1"/>
          <p:nvPr/>
        </p:nvSpPr>
        <p:spPr>
          <a:xfrm>
            <a:off x="6812280" y="3886200"/>
            <a:ext cx="4828032" cy="731520"/>
          </a:xfrm>
          <a:prstGeom prst="rect">
            <a:avLst/>
          </a:prstGeom>
          <a:noFill/>
          <a:ln/>
        </p:spPr>
        <p:txBody>
          <a:bodyPr wrap="square" lIns="0" tIns="0" rIns="0" bIns="0" rtlCol="0" anchor="t"/>
          <a:lstStyle/>
          <a:p>
            <a:pPr indent="0" marL="0">
              <a:buNone/>
            </a:pPr>
            <a:r>
              <a:rPr lang="en-US" sz="1700" dirty="0">
                <a:solidFill>
                  <a:schemeClr val="bg1"/>
                </a:solidFill>
              </a:rPr>
              <a:t>Prompts use CRAFT and at least two techniques</a:t>
            </a:r>
            <a:endParaRPr lang="en-US" sz="1700" dirty="0"/>
          </a:p>
        </p:txBody>
      </p:sp>
      <p:pic>
        <p:nvPicPr>
          <p:cNvPr id="23" name="icon-675" descr="preencoded.png">    </p:cNvPr>
          <p:cNvPicPr>
            <a:picLocks noChangeAspect="1"/>
          </p:cNvPicPr>
          <p:nvPr/>
        </p:nvPicPr>
        <p:blipFill>
          <a:blip r:embed="rId7"/>
          <a:stretch>
            <a:fillRect/>
          </a:stretch>
        </p:blipFill>
        <p:spPr>
          <a:xfrm>
            <a:off x="6263640" y="4690872"/>
            <a:ext cx="384048" cy="384048"/>
          </a:xfrm>
          <a:prstGeom prst="rect">
            <a:avLst/>
          </a:prstGeom>
        </p:spPr>
      </p:pic>
      <p:sp>
        <p:nvSpPr>
          <p:cNvPr id="24" name="text-676"/>
          <p:cNvSpPr txBox="1"/>
          <p:nvPr/>
        </p:nvSpPr>
        <p:spPr>
          <a:xfrm>
            <a:off x="6812280" y="4663440"/>
            <a:ext cx="4828032" cy="731520"/>
          </a:xfrm>
          <a:prstGeom prst="rect">
            <a:avLst/>
          </a:prstGeom>
          <a:noFill/>
          <a:ln/>
        </p:spPr>
        <p:txBody>
          <a:bodyPr wrap="square" lIns="0" tIns="0" rIns="0" bIns="0" rtlCol="0" anchor="t"/>
          <a:lstStyle/>
          <a:p>
            <a:pPr indent="0" marL="0">
              <a:buNone/>
            </a:pPr>
            <a:r>
              <a:rPr lang="en-US" sz="1700" dirty="0">
                <a:solidFill>
                  <a:schemeClr val="bg1"/>
                </a:solidFill>
              </a:rPr>
              <a:t>Verification note complete</a:t>
            </a:r>
            <a:endParaRPr lang="en-US" sz="1700" dirty="0"/>
          </a:p>
        </p:txBody>
      </p:sp>
      <p:sp>
        <p:nvSpPr>
          <p:cNvPr id="25" name="text-677"/>
          <p:cNvSpPr txBox="1"/>
          <p:nvPr/>
        </p:nvSpPr>
        <p:spPr>
          <a:xfrm>
            <a:off x="548640" y="5715000"/>
            <a:ext cx="10180015" cy="411480"/>
          </a:xfrm>
          <a:prstGeom prst="rect">
            <a:avLst/>
          </a:prstGeom>
          <a:noFill/>
          <a:ln/>
        </p:spPr>
        <p:txBody>
          <a:bodyPr wrap="square" lIns="0" tIns="0" rIns="0" bIns="0" rtlCol="0" anchor="t"/>
          <a:lstStyle/>
          <a:p>
            <a:pPr indent="0" marL="0">
              <a:buNone/>
            </a:pPr>
            <a:r>
              <a:rPr lang="en-US" sz="1700" b="1" dirty="0">
                <a:solidFill>
                  <a:schemeClr val="accent1"/>
                </a:solidFill>
              </a:rPr>
              <a:t>Checkpoint at 1:32: </a:t>
            </a:r>
            <a:pPr indent="0" marL="0">
              <a:buNone/>
            </a:pPr>
            <a:r>
              <a:rPr lang="en-US" sz="1700" dirty="0">
                <a:solidFill>
                  <a:schemeClr val="bg1"/>
                </a:solidFill>
              </a:rPr>
              <a:t>one sentence from each group on where you are.</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CBBB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Gallery walk</a:t>
            </a:r>
            <a:endParaRPr lang="en-US" sz="3400" dirty="0"/>
          </a:p>
        </p:txBody>
      </p:sp>
      <p:sp>
        <p:nvSpPr>
          <p:cNvPr id="3" name="badge-678"/>
          <p:cNvSpPr/>
          <p:nvPr/>
        </p:nvSpPr>
        <p:spPr>
          <a:xfrm>
            <a:off x="10042855" y="502920"/>
            <a:ext cx="1600200" cy="457200"/>
          </a:xfrm>
          <a:prstGeom prst="roundRect">
            <a:avLst>
              <a:gd name="adj" fmla="val 50000"/>
            </a:avLst>
          </a:prstGeom>
          <a:solidFill>
            <a:schemeClr val="bg2"/>
          </a:solidFill>
          <a:ln/>
        </p:spPr>
      </p:sp>
      <p:sp>
        <p:nvSpPr>
          <p:cNvPr id="4" name="text-679"/>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15 min</a:t>
            </a:r>
            <a:endParaRPr lang="en-US" sz="1600" dirty="0"/>
          </a:p>
        </p:txBody>
      </p:sp>
      <p:sp>
        <p:nvSpPr>
          <p:cNvPr id="5" name="num-680"/>
          <p:cNvSpPr/>
          <p:nvPr/>
        </p:nvSpPr>
        <p:spPr>
          <a:xfrm>
            <a:off x="548640" y="1600200"/>
            <a:ext cx="566928" cy="566928"/>
          </a:xfrm>
          <a:prstGeom prst="ellipse">
            <a:avLst/>
          </a:prstGeom>
          <a:solidFill>
            <a:schemeClr val="tx1"/>
          </a:solidFill>
          <a:ln/>
        </p:spPr>
      </p:sp>
      <p:sp>
        <p:nvSpPr>
          <p:cNvPr id="6" name="text-681"/>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682"/>
          <p:cNvSpPr txBox="1"/>
          <p:nvPr/>
        </p:nvSpPr>
        <p:spPr>
          <a:xfrm>
            <a:off x="1417320" y="1563624"/>
            <a:ext cx="5760720" cy="914400"/>
          </a:xfrm>
          <a:prstGeom prst="rect">
            <a:avLst/>
          </a:prstGeom>
          <a:noFill/>
          <a:ln/>
        </p:spPr>
        <p:txBody>
          <a:bodyPr wrap="square" lIns="0" tIns="0" rIns="0" bIns="0" rtlCol="0" anchor="t"/>
          <a:lstStyle/>
          <a:p>
            <a:pPr indent="0" marL="0">
              <a:buNone/>
            </a:pPr>
            <a:r>
              <a:rPr lang="en-US" sz="2000" dirty="0">
                <a:solidFill>
                  <a:schemeClr val="tx1"/>
                </a:solidFill>
              </a:rPr>
              <a:t>Leave your FAQ open on screen</a:t>
            </a:r>
            <a:endParaRPr lang="en-US" sz="2000" dirty="0"/>
          </a:p>
        </p:txBody>
      </p:sp>
      <p:sp>
        <p:nvSpPr>
          <p:cNvPr id="8" name="num-683"/>
          <p:cNvSpPr/>
          <p:nvPr/>
        </p:nvSpPr>
        <p:spPr>
          <a:xfrm>
            <a:off x="548640" y="2651760"/>
            <a:ext cx="566928" cy="566928"/>
          </a:xfrm>
          <a:prstGeom prst="ellipse">
            <a:avLst/>
          </a:prstGeom>
          <a:solidFill>
            <a:schemeClr val="tx1"/>
          </a:solidFill>
          <a:ln/>
        </p:spPr>
      </p:sp>
      <p:sp>
        <p:nvSpPr>
          <p:cNvPr id="9" name="text-684"/>
          <p:cNvSpPr txBox="1"/>
          <p:nvPr/>
        </p:nvSpPr>
        <p:spPr>
          <a:xfrm>
            <a:off x="548640" y="265176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685"/>
          <p:cNvSpPr txBox="1"/>
          <p:nvPr/>
        </p:nvSpPr>
        <p:spPr>
          <a:xfrm>
            <a:off x="1417320" y="2615184"/>
            <a:ext cx="5760720" cy="914400"/>
          </a:xfrm>
          <a:prstGeom prst="rect">
            <a:avLst/>
          </a:prstGeom>
          <a:noFill/>
          <a:ln/>
        </p:spPr>
        <p:txBody>
          <a:bodyPr wrap="square" lIns="0" tIns="0" rIns="0" bIns="0" rtlCol="0" anchor="t"/>
          <a:lstStyle/>
          <a:p>
            <a:pPr indent="0" marL="0">
              <a:buNone/>
            </a:pPr>
            <a:r>
              <a:rPr lang="en-US" sz="2000" dirty="0">
                <a:solidFill>
                  <a:schemeClr val="tx1"/>
                </a:solidFill>
              </a:rPr>
              <a:t>Move clockwise to the next table</a:t>
            </a:r>
            <a:endParaRPr lang="en-US" sz="2000" dirty="0"/>
          </a:p>
        </p:txBody>
      </p:sp>
      <p:sp>
        <p:nvSpPr>
          <p:cNvPr id="11" name="num-686"/>
          <p:cNvSpPr/>
          <p:nvPr/>
        </p:nvSpPr>
        <p:spPr>
          <a:xfrm>
            <a:off x="548640" y="3703320"/>
            <a:ext cx="566928" cy="566928"/>
          </a:xfrm>
          <a:prstGeom prst="ellipse">
            <a:avLst/>
          </a:prstGeom>
          <a:solidFill>
            <a:schemeClr val="tx1"/>
          </a:solidFill>
          <a:ln/>
        </p:spPr>
      </p:sp>
      <p:sp>
        <p:nvSpPr>
          <p:cNvPr id="12" name="text-687"/>
          <p:cNvSpPr txBox="1"/>
          <p:nvPr/>
        </p:nvSpPr>
        <p:spPr>
          <a:xfrm>
            <a:off x="548640" y="370332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688"/>
          <p:cNvSpPr txBox="1"/>
          <p:nvPr/>
        </p:nvSpPr>
        <p:spPr>
          <a:xfrm>
            <a:off x="1417320" y="3666744"/>
            <a:ext cx="5760720" cy="914400"/>
          </a:xfrm>
          <a:prstGeom prst="rect">
            <a:avLst/>
          </a:prstGeom>
          <a:noFill/>
          <a:ln/>
        </p:spPr>
        <p:txBody>
          <a:bodyPr wrap="square" lIns="0" tIns="0" rIns="0" bIns="0" rtlCol="0" anchor="t"/>
          <a:lstStyle/>
          <a:p>
            <a:pPr indent="0" marL="0">
              <a:buNone/>
            </a:pPr>
            <a:r>
              <a:rPr lang="en-US" sz="2000" dirty="0">
                <a:solidFill>
                  <a:schemeClr val="tx1"/>
                </a:solidFill>
              </a:rPr>
              <a:t>Leave one sticky note: one thing done well, and one answer you'd double-check</a:t>
            </a:r>
            <a:endParaRPr lang="en-US" sz="2000" dirty="0"/>
          </a:p>
        </p:txBody>
      </p:sp>
      <p:sp>
        <p:nvSpPr>
          <p:cNvPr id="14" name="num-689"/>
          <p:cNvSpPr/>
          <p:nvPr/>
        </p:nvSpPr>
        <p:spPr>
          <a:xfrm>
            <a:off x="548640" y="4754880"/>
            <a:ext cx="566928" cy="566928"/>
          </a:xfrm>
          <a:prstGeom prst="ellipse">
            <a:avLst/>
          </a:prstGeom>
          <a:solidFill>
            <a:schemeClr val="tx1"/>
          </a:solidFill>
          <a:ln/>
        </p:spPr>
      </p:sp>
      <p:sp>
        <p:nvSpPr>
          <p:cNvPr id="15" name="text-690"/>
          <p:cNvSpPr txBox="1"/>
          <p:nvPr/>
        </p:nvSpPr>
        <p:spPr>
          <a:xfrm>
            <a:off x="548640" y="475488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691"/>
          <p:cNvSpPr txBox="1"/>
          <p:nvPr/>
        </p:nvSpPr>
        <p:spPr>
          <a:xfrm>
            <a:off x="1417320" y="4718304"/>
            <a:ext cx="5760720" cy="914400"/>
          </a:xfrm>
          <a:prstGeom prst="rect">
            <a:avLst/>
          </a:prstGeom>
          <a:noFill/>
          <a:ln/>
        </p:spPr>
        <p:txBody>
          <a:bodyPr wrap="square" lIns="0" tIns="0" rIns="0" bIns="0" rtlCol="0" anchor="t"/>
          <a:lstStyle/>
          <a:p>
            <a:pPr indent="0" marL="0">
              <a:buNone/>
            </a:pPr>
            <a:r>
              <a:rPr lang="en-US" sz="2000" dirty="0">
                <a:solidFill>
                  <a:schemeClr val="tx1"/>
                </a:solidFill>
              </a:rPr>
              <a:t>After three stops, go back and read your notes</a:t>
            </a:r>
            <a:endParaRPr lang="en-US" sz="2000" dirty="0"/>
          </a:p>
        </p:txBody>
      </p:sp>
      <p:sp>
        <p:nvSpPr>
          <p:cNvPr id="17" name="sticky"/>
          <p:cNvSpPr/>
          <p:nvPr/>
        </p:nvSpPr>
        <p:spPr>
          <a:xfrm rot="180000">
            <a:off x="7955280" y="1828800"/>
            <a:ext cx="3291840" cy="3291840"/>
          </a:xfrm>
          <a:prstGeom prst="rect">
            <a:avLst/>
          </a:prstGeom>
          <a:solidFill>
            <a:schemeClr val="bg2"/>
          </a:solidFill>
          <a:ln/>
          <a:effectLst>
            <a:outerShdw sx="100000" sy="100000" kx="0" ky="0" algn="bl" rotWithShape="0" blurRad="101600" dist="38100" dir="5400000">
              <a:srgbClr val="000000">
                <a:alpha val="18000"/>
              </a:srgbClr>
            </a:outerShdw>
          </a:effectLst>
        </p:spPr>
      </p:sp>
      <p:sp>
        <p:nvSpPr>
          <p:cNvPr id="18" name="text-692"/>
          <p:cNvSpPr txBox="1"/>
          <p:nvPr/>
        </p:nvSpPr>
        <p:spPr>
          <a:xfrm rot="180000">
            <a:off x="8229600" y="2103120"/>
            <a:ext cx="2743200" cy="2743200"/>
          </a:xfrm>
          <a:prstGeom prst="rect">
            <a:avLst/>
          </a:prstGeom>
          <a:noFill/>
          <a:ln/>
        </p:spPr>
        <p:txBody>
          <a:bodyPr wrap="square" lIns="0" tIns="0" rIns="0" bIns="0" rtlCol="0" anchor="t"/>
          <a:lstStyle/>
          <a:p>
            <a:pPr indent="0" marL="0">
              <a:buNone/>
            </a:pPr>
            <a:r>
              <a:rPr lang="en-US" sz="1700" b="1" dirty="0">
                <a:solidFill>
                  <a:schemeClr val="tx1"/>
                </a:solidFill>
              </a:rPr>
              <a:t>Done well:</a:t>
            </a:r>
            <a:endParaRPr lang="en-US" sz="1700" dirty="0"/>
          </a:p>
          <a:p>
            <a:pPr indent="0" marL="0">
              <a:buNone/>
            </a:pPr>
            <a:r>
              <a:rPr lang="en-US" sz="1700" dirty="0">
                <a:solidFill>
                  <a:schemeClr val="tx1"/>
                </a:solidFill>
              </a:rPr>
              <a:t>Flagged question 6 instead of guessing</a:t>
            </a:r>
            <a:endParaRPr lang="en-US" sz="1700" dirty="0"/>
          </a:p>
          <a:p>
            <a:pPr indent="0" marL="0">
              <a:buNone/>
            </a:pPr>
            <a:r>
              <a:rPr lang="en-US" sz="1700" dirty="0">
                <a:solidFill>
                  <a:schemeClr val="tx1"/>
                </a:solidFill>
              </a:rPr>
              <a:t> </a:t>
            </a:r>
            <a:endParaRPr lang="en-US" sz="1700" dirty="0"/>
          </a:p>
          <a:p>
            <a:pPr indent="0" marL="0">
              <a:buNone/>
            </a:pPr>
            <a:r>
              <a:rPr lang="en-US" sz="1700" b="1" dirty="0">
                <a:solidFill>
                  <a:schemeClr val="tx1"/>
                </a:solidFill>
              </a:rPr>
              <a:t>Double-check:</a:t>
            </a:r>
            <a:endParaRPr lang="en-US" sz="1700" dirty="0"/>
          </a:p>
          <a:p>
            <a:pPr indent="0" marL="0">
              <a:buNone/>
            </a:pPr>
            <a:r>
              <a:rPr lang="en-US" sz="1700" dirty="0">
                <a:solidFill>
                  <a:schemeClr val="tx1"/>
                </a:solidFill>
              </a:rPr>
              <a:t>Is question 1 really in the policy?</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What strong solutions had in common</a:t>
            </a:r>
            <a:endParaRPr lang="en-US" sz="3400" dirty="0"/>
          </a:p>
        </p:txBody>
      </p:sp>
      <p:sp>
        <p:nvSpPr>
          <p:cNvPr id="3" name="dot-693"/>
          <p:cNvSpPr/>
          <p:nvPr/>
        </p:nvSpPr>
        <p:spPr>
          <a:xfrm>
            <a:off x="548640" y="1508760"/>
            <a:ext cx="548640" cy="548640"/>
          </a:xfrm>
          <a:prstGeom prst="ellipse">
            <a:avLst/>
          </a:prstGeom>
          <a:solidFill>
            <a:schemeClr val="tx1"/>
          </a:solidFill>
          <a:ln/>
        </p:spPr>
      </p:sp>
      <p:pic>
        <p:nvPicPr>
          <p:cNvPr id="4" name="icon-694" descr="preencoded.png">    </p:cNvPr>
          <p:cNvPicPr>
            <a:picLocks noChangeAspect="1"/>
          </p:cNvPicPr>
          <p:nvPr/>
        </p:nvPicPr>
        <p:blipFill>
          <a:blip r:embed="rId1"/>
          <a:stretch>
            <a:fillRect/>
          </a:stretch>
        </p:blipFill>
        <p:spPr>
          <a:xfrm>
            <a:off x="669341" y="1629461"/>
            <a:ext cx="307238" cy="307238"/>
          </a:xfrm>
          <a:prstGeom prst="rect">
            <a:avLst/>
          </a:prstGeom>
        </p:spPr>
      </p:pic>
      <p:sp>
        <p:nvSpPr>
          <p:cNvPr id="5" name="text-695"/>
          <p:cNvSpPr txBox="1"/>
          <p:nvPr/>
        </p:nvSpPr>
        <p:spPr>
          <a:xfrm>
            <a:off x="1325880" y="1508760"/>
            <a:ext cx="5760720" cy="548640"/>
          </a:xfrm>
          <a:prstGeom prst="rect">
            <a:avLst/>
          </a:prstGeom>
          <a:noFill/>
          <a:ln/>
        </p:spPr>
        <p:txBody>
          <a:bodyPr wrap="square" lIns="0" tIns="0" rIns="0" bIns="0" rtlCol="0" anchor="ctr"/>
          <a:lstStyle/>
          <a:p>
            <a:pPr indent="0" marL="0">
              <a:buNone/>
            </a:pPr>
            <a:r>
              <a:rPr lang="en-US" sz="2000" dirty="0">
                <a:solidFill>
                  <a:schemeClr val="tx1"/>
                </a:solidFill>
              </a:rPr>
              <a:t>Fenced the policy and said “use only”</a:t>
            </a:r>
            <a:endParaRPr lang="en-US" sz="2000" dirty="0"/>
          </a:p>
        </p:txBody>
      </p:sp>
      <p:sp>
        <p:nvSpPr>
          <p:cNvPr id="6" name="dot-696"/>
          <p:cNvSpPr/>
          <p:nvPr/>
        </p:nvSpPr>
        <p:spPr>
          <a:xfrm>
            <a:off x="548640" y="2377440"/>
            <a:ext cx="548640" cy="548640"/>
          </a:xfrm>
          <a:prstGeom prst="ellipse">
            <a:avLst/>
          </a:prstGeom>
          <a:solidFill>
            <a:schemeClr val="tx1"/>
          </a:solidFill>
          <a:ln/>
        </p:spPr>
      </p:sp>
      <p:pic>
        <p:nvPicPr>
          <p:cNvPr id="7" name="icon-697" descr="preencoded.png">    </p:cNvPr>
          <p:cNvPicPr>
            <a:picLocks noChangeAspect="1"/>
          </p:cNvPicPr>
          <p:nvPr/>
        </p:nvPicPr>
        <p:blipFill>
          <a:blip r:embed="rId2"/>
          <a:stretch>
            <a:fillRect/>
          </a:stretch>
        </p:blipFill>
        <p:spPr>
          <a:xfrm>
            <a:off x="669341" y="2498141"/>
            <a:ext cx="307238" cy="307238"/>
          </a:xfrm>
          <a:prstGeom prst="rect">
            <a:avLst/>
          </a:prstGeom>
        </p:spPr>
      </p:pic>
      <p:sp>
        <p:nvSpPr>
          <p:cNvPr id="8" name="text-698"/>
          <p:cNvSpPr txBox="1"/>
          <p:nvPr/>
        </p:nvSpPr>
        <p:spPr>
          <a:xfrm>
            <a:off x="1325880" y="2377440"/>
            <a:ext cx="5760720" cy="548640"/>
          </a:xfrm>
          <a:prstGeom prst="rect">
            <a:avLst/>
          </a:prstGeom>
          <a:noFill/>
          <a:ln/>
        </p:spPr>
        <p:txBody>
          <a:bodyPr wrap="square" lIns="0" tIns="0" rIns="0" bIns="0" rtlCol="0" anchor="ctr"/>
          <a:lstStyle/>
          <a:p>
            <a:pPr indent="0" marL="0">
              <a:buNone/>
            </a:pPr>
            <a:r>
              <a:rPr lang="en-US" sz="2000" dirty="0">
                <a:solidFill>
                  <a:schemeClr val="tx1"/>
                </a:solidFill>
              </a:rPr>
              <a:t>Flagged unknowns instead of guessing</a:t>
            </a:r>
            <a:endParaRPr lang="en-US" sz="2000" dirty="0"/>
          </a:p>
        </p:txBody>
      </p:sp>
      <p:sp>
        <p:nvSpPr>
          <p:cNvPr id="9" name="dot-699"/>
          <p:cNvSpPr/>
          <p:nvPr/>
        </p:nvSpPr>
        <p:spPr>
          <a:xfrm>
            <a:off x="548640" y="3246120"/>
            <a:ext cx="548640" cy="548640"/>
          </a:xfrm>
          <a:prstGeom prst="ellipse">
            <a:avLst/>
          </a:prstGeom>
          <a:solidFill>
            <a:schemeClr val="tx1"/>
          </a:solidFill>
          <a:ln/>
        </p:spPr>
      </p:sp>
      <p:pic>
        <p:nvPicPr>
          <p:cNvPr id="10" name="icon-700" descr="preencoded.png">    </p:cNvPr>
          <p:cNvPicPr>
            <a:picLocks noChangeAspect="1"/>
          </p:cNvPicPr>
          <p:nvPr/>
        </p:nvPicPr>
        <p:blipFill>
          <a:blip r:embed="rId3"/>
          <a:stretch>
            <a:fillRect/>
          </a:stretch>
        </p:blipFill>
        <p:spPr>
          <a:xfrm>
            <a:off x="669341" y="3366821"/>
            <a:ext cx="307238" cy="307238"/>
          </a:xfrm>
          <a:prstGeom prst="rect">
            <a:avLst/>
          </a:prstGeom>
        </p:spPr>
      </p:pic>
      <p:sp>
        <p:nvSpPr>
          <p:cNvPr id="11" name="text-701"/>
          <p:cNvSpPr txBox="1"/>
          <p:nvPr/>
        </p:nvSpPr>
        <p:spPr>
          <a:xfrm>
            <a:off x="1325880" y="3246120"/>
            <a:ext cx="5760720" cy="548640"/>
          </a:xfrm>
          <a:prstGeom prst="rect">
            <a:avLst/>
          </a:prstGeom>
          <a:noFill/>
          <a:ln/>
        </p:spPr>
        <p:txBody>
          <a:bodyPr wrap="square" lIns="0" tIns="0" rIns="0" bIns="0" rtlCol="0" anchor="ctr"/>
          <a:lstStyle/>
          <a:p>
            <a:pPr indent="0" marL="0">
              <a:buNone/>
            </a:pPr>
            <a:r>
              <a:rPr lang="en-US" sz="2000" dirty="0">
                <a:solidFill>
                  <a:schemeClr val="tx1"/>
                </a:solidFill>
              </a:rPr>
              <a:t>Gave a format and an example answer</a:t>
            </a:r>
            <a:endParaRPr lang="en-US" sz="2000" dirty="0"/>
          </a:p>
        </p:txBody>
      </p:sp>
      <p:sp>
        <p:nvSpPr>
          <p:cNvPr id="12" name="dot-702"/>
          <p:cNvSpPr/>
          <p:nvPr/>
        </p:nvSpPr>
        <p:spPr>
          <a:xfrm>
            <a:off x="548640" y="4114800"/>
            <a:ext cx="548640" cy="548640"/>
          </a:xfrm>
          <a:prstGeom prst="ellipse">
            <a:avLst/>
          </a:prstGeom>
          <a:solidFill>
            <a:schemeClr val="tx1"/>
          </a:solidFill>
          <a:ln/>
        </p:spPr>
      </p:sp>
      <p:pic>
        <p:nvPicPr>
          <p:cNvPr id="13" name="icon-703" descr="preencoded.png">    </p:cNvPr>
          <p:cNvPicPr>
            <a:picLocks noChangeAspect="1"/>
          </p:cNvPicPr>
          <p:nvPr/>
        </p:nvPicPr>
        <p:blipFill>
          <a:blip r:embed="rId4"/>
          <a:stretch>
            <a:fillRect/>
          </a:stretch>
        </p:blipFill>
        <p:spPr>
          <a:xfrm>
            <a:off x="669341" y="4235501"/>
            <a:ext cx="307238" cy="307238"/>
          </a:xfrm>
          <a:prstGeom prst="rect">
            <a:avLst/>
          </a:prstGeom>
        </p:spPr>
      </p:pic>
      <p:sp>
        <p:nvSpPr>
          <p:cNvPr id="14" name="text-704"/>
          <p:cNvSpPr txBox="1"/>
          <p:nvPr/>
        </p:nvSpPr>
        <p:spPr>
          <a:xfrm>
            <a:off x="1325880" y="4114800"/>
            <a:ext cx="5760720" cy="548640"/>
          </a:xfrm>
          <a:prstGeom prst="rect">
            <a:avLst/>
          </a:prstGeom>
          <a:noFill/>
          <a:ln/>
        </p:spPr>
        <p:txBody>
          <a:bodyPr wrap="square" lIns="0" tIns="0" rIns="0" bIns="0" rtlCol="0" anchor="ctr"/>
          <a:lstStyle/>
          <a:p>
            <a:pPr indent="0" marL="0">
              <a:buNone/>
            </a:pPr>
            <a:r>
              <a:rPr lang="en-US" sz="2000" dirty="0">
                <a:solidFill>
                  <a:schemeClr val="tx1"/>
                </a:solidFill>
              </a:rPr>
              <a:t>Iterated: two or three turns, not one</a:t>
            </a:r>
            <a:endParaRPr lang="en-US" sz="2000" dirty="0"/>
          </a:p>
        </p:txBody>
      </p:sp>
      <p:sp>
        <p:nvSpPr>
          <p:cNvPr id="15" name="dot-705"/>
          <p:cNvSpPr/>
          <p:nvPr/>
        </p:nvSpPr>
        <p:spPr>
          <a:xfrm>
            <a:off x="548640" y="4983480"/>
            <a:ext cx="548640" cy="548640"/>
          </a:xfrm>
          <a:prstGeom prst="ellipse">
            <a:avLst/>
          </a:prstGeom>
          <a:solidFill>
            <a:schemeClr val="tx1"/>
          </a:solidFill>
          <a:ln/>
        </p:spPr>
      </p:sp>
      <p:pic>
        <p:nvPicPr>
          <p:cNvPr id="16" name="icon-706" descr="preencoded.png">    </p:cNvPr>
          <p:cNvPicPr>
            <a:picLocks noChangeAspect="1"/>
          </p:cNvPicPr>
          <p:nvPr/>
        </p:nvPicPr>
        <p:blipFill>
          <a:blip r:embed="rId5"/>
          <a:stretch>
            <a:fillRect/>
          </a:stretch>
        </p:blipFill>
        <p:spPr>
          <a:xfrm>
            <a:off x="669341" y="5104181"/>
            <a:ext cx="307238" cy="307238"/>
          </a:xfrm>
          <a:prstGeom prst="rect">
            <a:avLst/>
          </a:prstGeom>
        </p:spPr>
      </p:pic>
      <p:sp>
        <p:nvSpPr>
          <p:cNvPr id="17" name="text-707"/>
          <p:cNvSpPr txBox="1"/>
          <p:nvPr/>
        </p:nvSpPr>
        <p:spPr>
          <a:xfrm>
            <a:off x="1325880" y="4983480"/>
            <a:ext cx="5760720" cy="548640"/>
          </a:xfrm>
          <a:prstGeom prst="rect">
            <a:avLst/>
          </a:prstGeom>
          <a:noFill/>
          <a:ln/>
        </p:spPr>
        <p:txBody>
          <a:bodyPr wrap="square" lIns="0" tIns="0" rIns="0" bIns="0" rtlCol="0" anchor="ctr"/>
          <a:lstStyle/>
          <a:p>
            <a:pPr indent="0" marL="0">
              <a:buNone/>
            </a:pPr>
            <a:r>
              <a:rPr lang="en-US" sz="2000" dirty="0">
                <a:solidFill>
                  <a:schemeClr val="tx1"/>
                </a:solidFill>
              </a:rPr>
              <a:t>The checker caught at least one invented answer</a:t>
            </a:r>
            <a:endParaRPr lang="en-US" sz="2000" dirty="0"/>
          </a:p>
        </p:txBody>
      </p:sp>
      <p:sp>
        <p:nvSpPr>
          <p:cNvPr id="18" name="card-708"/>
          <p:cNvSpPr/>
          <p:nvPr/>
        </p:nvSpPr>
        <p:spPr>
          <a:xfrm>
            <a:off x="7406640" y="1463040"/>
            <a:ext cx="4233672" cy="4572000"/>
          </a:xfrm>
          <a:prstGeom prst="roundRect">
            <a:avLst>
              <a:gd name="adj" fmla="val 2592"/>
            </a:avLst>
          </a:prstGeom>
          <a:solidFill>
            <a:schemeClr val="tx1"/>
          </a:solidFill>
          <a:ln/>
        </p:spPr>
      </p:sp>
      <p:pic>
        <p:nvPicPr>
          <p:cNvPr id="19" name="icon-709" descr="preencoded.png">    </p:cNvPr>
          <p:cNvPicPr>
            <a:picLocks noChangeAspect="1"/>
          </p:cNvPicPr>
          <p:nvPr/>
        </p:nvPicPr>
        <p:blipFill>
          <a:blip r:embed="rId6"/>
          <a:stretch>
            <a:fillRect/>
          </a:stretch>
        </p:blipFill>
        <p:spPr>
          <a:xfrm>
            <a:off x="7772400" y="1783080"/>
            <a:ext cx="548640" cy="548640"/>
          </a:xfrm>
          <a:prstGeom prst="rect">
            <a:avLst/>
          </a:prstGeom>
        </p:spPr>
      </p:pic>
      <p:sp>
        <p:nvSpPr>
          <p:cNvPr id="20" name="text-710"/>
          <p:cNvSpPr txBox="1"/>
          <p:nvPr/>
        </p:nvSpPr>
        <p:spPr>
          <a:xfrm>
            <a:off x="7772400" y="2514600"/>
            <a:ext cx="3657600" cy="457200"/>
          </a:xfrm>
          <a:prstGeom prst="rect">
            <a:avLst/>
          </a:prstGeom>
          <a:noFill/>
          <a:ln/>
        </p:spPr>
        <p:txBody>
          <a:bodyPr wrap="square" lIns="0" tIns="0" rIns="0" bIns="0" rtlCol="0" anchor="t"/>
          <a:lstStyle/>
          <a:p>
            <a:pPr indent="0" marL="0">
              <a:buNone/>
            </a:pPr>
            <a:r>
              <a:rPr lang="en-US" sz="2200" b="1" dirty="0">
                <a:solidFill>
                  <a:schemeClr val="bg1"/>
                </a:solidFill>
              </a:rPr>
              <a:t>The privacy trap</a:t>
            </a:r>
            <a:endParaRPr lang="en-US" sz="2200" dirty="0"/>
          </a:p>
        </p:txBody>
      </p:sp>
      <p:sp>
        <p:nvSpPr>
          <p:cNvPr id="21" name="text-711"/>
          <p:cNvSpPr txBox="1"/>
          <p:nvPr/>
        </p:nvSpPr>
        <p:spPr>
          <a:xfrm>
            <a:off x="7772400" y="3017520"/>
            <a:ext cx="3611880" cy="1554480"/>
          </a:xfrm>
          <a:prstGeom prst="rect">
            <a:avLst/>
          </a:prstGeom>
          <a:noFill/>
          <a:ln/>
        </p:spPr>
        <p:txBody>
          <a:bodyPr wrap="square" lIns="0" tIns="0" rIns="0" bIns="0" rtlCol="0" anchor="t"/>
          <a:lstStyle/>
          <a:p>
            <a:pPr indent="0" marL="0">
              <a:buNone/>
            </a:pPr>
            <a:r>
              <a:rPr lang="en-US" sz="1600" dirty="0">
                <a:solidFill>
                  <a:schemeClr val="accent3"/>
                </a:solidFill>
              </a:rPr>
              <a:t>The manager's email named an employee and their performance plan. Strong groups described the concern in general terms instead:</a:t>
            </a:r>
            <a:endParaRPr lang="en-US" sz="1600" dirty="0"/>
          </a:p>
        </p:txBody>
      </p:sp>
      <p:sp>
        <p:nvSpPr>
          <p:cNvPr id="22" name="text-712"/>
          <p:cNvSpPr txBox="1"/>
          <p:nvPr/>
        </p:nvSpPr>
        <p:spPr>
          <a:xfrm>
            <a:off x="7772400" y="4617720"/>
            <a:ext cx="3611880" cy="1097280"/>
          </a:xfrm>
          <a:prstGeom prst="rect">
            <a:avLst/>
          </a:prstGeom>
          <a:noFill/>
          <a:ln/>
        </p:spPr>
        <p:txBody>
          <a:bodyPr wrap="square" lIns="0" tIns="0" rIns="0" bIns="0" rtlCol="0" anchor="t"/>
          <a:lstStyle/>
          <a:p>
            <a:pPr indent="0" marL="0">
              <a:buNone/>
            </a:pPr>
            <a:r>
              <a:rPr lang="en-US" sz="1700" i="1" dirty="0">
                <a:solidFill>
                  <a:schemeClr val="bg1"/>
                </a:solidFill>
              </a:rPr>
              <a:t>“Can performance be a factor in approving remote work?”</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548640" y="1234440"/>
            <a:ext cx="3657600" cy="1554480"/>
          </a:xfrm>
          <a:prstGeom prst="rect">
            <a:avLst/>
          </a:prstGeom>
          <a:noFill/>
          <a:ln/>
        </p:spPr>
        <p:txBody>
          <a:bodyPr wrap="square" lIns="0" tIns="0" rIns="0" bIns="0" rtlCol="0" anchor="b"/>
          <a:lstStyle/>
          <a:p>
            <a:pPr algn="l" indent="0" marL="0">
              <a:buNone/>
            </a:pPr>
            <a:r>
              <a:rPr lang="en-US" sz="11000" b="1" dirty="0">
                <a:solidFill>
                  <a:schemeClr val="accent1"/>
                </a:solidFill>
              </a:rPr>
              <a:t>04</a:t>
            </a:r>
            <a:endParaRPr lang="en-US" sz="11000" dirty="0"/>
          </a:p>
        </p:txBody>
      </p:sp>
      <p:sp>
        <p:nvSpPr>
          <p:cNvPr id="3" name="Text 0"/>
          <p:cNvSpPr/>
          <p:nvPr>
            <p:ph idx="102" type="title" hasCustomPrompt="1"/>
          </p:nvPr>
        </p:nvSpPr>
        <p:spPr>
          <a:xfrm>
            <a:off x="548640" y="2926080"/>
            <a:ext cx="10515600" cy="1005840"/>
          </a:xfrm>
          <a:prstGeom prst="rect">
            <a:avLst/>
          </a:prstGeom>
          <a:noFill/>
          <a:ln/>
        </p:spPr>
        <p:txBody>
          <a:bodyPr wrap="square" lIns="0" tIns="0" rIns="0" bIns="0" rtlCol="0" anchor="t"/>
          <a:lstStyle/>
          <a:p>
            <a:pPr algn="l" indent="0" marL="0">
              <a:buNone/>
            </a:pPr>
            <a:r>
              <a:rPr lang="en-US" sz="5000" b="1" dirty="0">
                <a:solidFill>
                  <a:schemeClr val="bg1"/>
                </a:solidFill>
              </a:rPr>
              <a:t>Capstone</a:t>
            </a:r>
            <a:endParaRPr lang="en-US" sz="5000" dirty="0"/>
          </a:p>
        </p:txBody>
      </p:sp>
      <p:sp>
        <p:nvSpPr>
          <p:cNvPr id="4" name="Text 0"/>
          <p:cNvSpPr/>
          <p:nvPr>
            <p:ph idx="103" type="body" hasCustomPrompt="1"/>
          </p:nvPr>
        </p:nvSpPr>
        <p:spPr>
          <a:xfrm>
            <a:off x="548640" y="3931920"/>
            <a:ext cx="10515600" cy="640080"/>
          </a:xfrm>
          <a:prstGeom prst="rect">
            <a:avLst/>
          </a:prstGeom>
          <a:noFill/>
          <a:ln/>
        </p:spPr>
        <p:txBody>
          <a:bodyPr wrap="square" lIns="0" tIns="0" rIns="0" bIns="0" rtlCol="0" anchor="t"/>
          <a:lstStyle/>
          <a:p>
            <a:pPr algn="l" indent="0" marL="0">
              <a:buNone/>
            </a:pPr>
            <a:r>
              <a:rPr lang="en-US" sz="2600" dirty="0">
                <a:solidFill>
                  <a:schemeClr val="accent3"/>
                </a:solidFill>
              </a:rPr>
              <a:t>Your reusable prompt template</a:t>
            </a:r>
            <a:endParaRPr lang="en-US" sz="2600" dirty="0"/>
          </a:p>
        </p:txBody>
      </p:sp>
      <p:sp>
        <p:nvSpPr>
          <p:cNvPr id="5" name="Text 0"/>
          <p:cNvSpPr/>
          <p:nvPr>
            <p:ph idx="104" type="body" hasCustomPrompt="1"/>
          </p:nvPr>
        </p:nvSpPr>
        <p:spPr>
          <a:xfrm>
            <a:off x="548640" y="4983480"/>
            <a:ext cx="5486400" cy="411480"/>
          </a:xfrm>
          <a:prstGeom prst="rect">
            <a:avLst/>
          </a:prstGeom>
          <a:noFill/>
          <a:ln/>
        </p:spPr>
        <p:txBody>
          <a:bodyPr wrap="square" lIns="0" tIns="0" rIns="0" bIns="0" rtlCol="0" anchor="t"/>
          <a:lstStyle/>
          <a:p>
            <a:pPr algn="l" indent="0" marL="0">
              <a:buNone/>
            </a:pPr>
            <a:r>
              <a:rPr lang="en-US" sz="1600" dirty="0">
                <a:solidFill>
                  <a:schemeClr val="accent3"/>
                </a:solidFill>
              </a:rPr>
              <a:t>2:30 – 3:30 p.m.</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Build a prompt template you'll actually reuse</a:t>
            </a:r>
            <a:endParaRPr lang="en-US" sz="3400" dirty="0"/>
          </a:p>
        </p:txBody>
      </p:sp>
      <p:sp>
        <p:nvSpPr>
          <p:cNvPr id="3" name="badge-713"/>
          <p:cNvSpPr/>
          <p:nvPr/>
        </p:nvSpPr>
        <p:spPr>
          <a:xfrm>
            <a:off x="10042855" y="502920"/>
            <a:ext cx="1600200" cy="457200"/>
          </a:xfrm>
          <a:prstGeom prst="roundRect">
            <a:avLst>
              <a:gd name="adj" fmla="val 50000"/>
            </a:avLst>
          </a:prstGeom>
          <a:solidFill>
            <a:schemeClr val="bg2"/>
          </a:solidFill>
          <a:ln/>
        </p:spPr>
      </p:sp>
      <p:sp>
        <p:nvSpPr>
          <p:cNvPr id="4" name="text-714"/>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35 min build</a:t>
            </a:r>
            <a:endParaRPr lang="en-US" sz="1600" dirty="0"/>
          </a:p>
        </p:txBody>
      </p:sp>
      <p:sp>
        <p:nvSpPr>
          <p:cNvPr id="5" name="stepper-line"/>
          <p:cNvSpPr/>
          <p:nvPr/>
        </p:nvSpPr>
        <p:spPr>
          <a:xfrm>
            <a:off x="1566642" y="1874520"/>
            <a:ext cx="9058412" cy="0"/>
          </a:xfrm>
          <a:prstGeom prst="line">
            <a:avLst/>
          </a:prstGeom>
          <a:noFill/>
          <a:ln w="25400">
            <a:solidFill>
              <a:srgbClr val="BCBBBA"/>
            </a:solidFill>
            <a:prstDash val="solid"/>
          </a:ln>
        </p:spPr>
      </p:sp>
      <p:sp>
        <p:nvSpPr>
          <p:cNvPr id="6" name="num-715"/>
          <p:cNvSpPr/>
          <p:nvPr/>
        </p:nvSpPr>
        <p:spPr>
          <a:xfrm>
            <a:off x="1246602" y="1554480"/>
            <a:ext cx="640080" cy="640080"/>
          </a:xfrm>
          <a:prstGeom prst="ellipse">
            <a:avLst/>
          </a:prstGeom>
          <a:solidFill>
            <a:schemeClr val="tx1"/>
          </a:solidFill>
          <a:ln/>
        </p:spPr>
      </p:sp>
      <p:sp>
        <p:nvSpPr>
          <p:cNvPr id="7" name="text-716"/>
          <p:cNvSpPr txBox="1"/>
          <p:nvPr/>
        </p:nvSpPr>
        <p:spPr>
          <a:xfrm>
            <a:off x="1246602"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717"/>
          <p:cNvSpPr txBox="1"/>
          <p:nvPr/>
        </p:nvSpPr>
        <p:spPr>
          <a:xfrm>
            <a:off x="548640"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Pick a task</a:t>
            </a:r>
            <a:endParaRPr lang="en-US" sz="1900" dirty="0"/>
          </a:p>
        </p:txBody>
      </p:sp>
      <p:sp>
        <p:nvSpPr>
          <p:cNvPr id="9" name="text-718"/>
          <p:cNvSpPr txBox="1"/>
          <p:nvPr/>
        </p:nvSpPr>
        <p:spPr>
          <a:xfrm>
            <a:off x="594360"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Something you do at least monthly that involves writing or summarizing</a:t>
            </a:r>
            <a:endParaRPr lang="en-US" sz="1500" dirty="0"/>
          </a:p>
        </p:txBody>
      </p:sp>
      <p:sp>
        <p:nvSpPr>
          <p:cNvPr id="10" name="num-719"/>
          <p:cNvSpPr/>
          <p:nvPr/>
        </p:nvSpPr>
        <p:spPr>
          <a:xfrm>
            <a:off x="3511205" y="1554480"/>
            <a:ext cx="640080" cy="640080"/>
          </a:xfrm>
          <a:prstGeom prst="ellipse">
            <a:avLst/>
          </a:prstGeom>
          <a:solidFill>
            <a:schemeClr val="tx1"/>
          </a:solidFill>
          <a:ln/>
        </p:spPr>
      </p:sp>
      <p:sp>
        <p:nvSpPr>
          <p:cNvPr id="11" name="text-720"/>
          <p:cNvSpPr txBox="1"/>
          <p:nvPr/>
        </p:nvSpPr>
        <p:spPr>
          <a:xfrm>
            <a:off x="3511205"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721"/>
          <p:cNvSpPr txBox="1"/>
          <p:nvPr/>
        </p:nvSpPr>
        <p:spPr>
          <a:xfrm>
            <a:off x="2813243"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Build it</a:t>
            </a:r>
            <a:endParaRPr lang="en-US" sz="1900" dirty="0"/>
          </a:p>
        </p:txBody>
      </p:sp>
      <p:sp>
        <p:nvSpPr>
          <p:cNvPr id="13" name="text-722"/>
          <p:cNvSpPr txBox="1"/>
          <p:nvPr/>
        </p:nvSpPr>
        <p:spPr>
          <a:xfrm>
            <a:off x="2858963"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CRAFT plus at least one technique, with [PLACEHOLDERS]</a:t>
            </a:r>
            <a:endParaRPr lang="en-US" sz="1500" dirty="0"/>
          </a:p>
        </p:txBody>
      </p:sp>
      <p:sp>
        <p:nvSpPr>
          <p:cNvPr id="14" name="num-723"/>
          <p:cNvSpPr/>
          <p:nvPr/>
        </p:nvSpPr>
        <p:spPr>
          <a:xfrm>
            <a:off x="5775808" y="1554480"/>
            <a:ext cx="640080" cy="640080"/>
          </a:xfrm>
          <a:prstGeom prst="ellipse">
            <a:avLst/>
          </a:prstGeom>
          <a:solidFill>
            <a:schemeClr val="tx1"/>
          </a:solidFill>
          <a:ln/>
        </p:spPr>
      </p:sp>
      <p:sp>
        <p:nvSpPr>
          <p:cNvPr id="15" name="text-724"/>
          <p:cNvSpPr txBox="1"/>
          <p:nvPr/>
        </p:nvSpPr>
        <p:spPr>
          <a:xfrm>
            <a:off x="5775808"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ext-725"/>
          <p:cNvSpPr txBox="1"/>
          <p:nvPr/>
        </p:nvSpPr>
        <p:spPr>
          <a:xfrm>
            <a:off x="5077846"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Test it twice</a:t>
            </a:r>
            <a:endParaRPr lang="en-US" sz="1900" dirty="0"/>
          </a:p>
        </p:txBody>
      </p:sp>
      <p:sp>
        <p:nvSpPr>
          <p:cNvPr id="17" name="text-726"/>
          <p:cNvSpPr txBox="1"/>
          <p:nvPr/>
        </p:nvSpPr>
        <p:spPr>
          <a:xfrm>
            <a:off x="5123566"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Two different inputs: fictional or safe material only</a:t>
            </a:r>
            <a:endParaRPr lang="en-US" sz="1500" dirty="0"/>
          </a:p>
        </p:txBody>
      </p:sp>
      <p:sp>
        <p:nvSpPr>
          <p:cNvPr id="18" name="num-727"/>
          <p:cNvSpPr/>
          <p:nvPr/>
        </p:nvSpPr>
        <p:spPr>
          <a:xfrm>
            <a:off x="8040411" y="1554480"/>
            <a:ext cx="640080" cy="640080"/>
          </a:xfrm>
          <a:prstGeom prst="ellipse">
            <a:avLst/>
          </a:prstGeom>
          <a:solidFill>
            <a:schemeClr val="tx1"/>
          </a:solidFill>
          <a:ln/>
        </p:spPr>
      </p:sp>
      <p:sp>
        <p:nvSpPr>
          <p:cNvPr id="19" name="text-728"/>
          <p:cNvSpPr txBox="1"/>
          <p:nvPr/>
        </p:nvSpPr>
        <p:spPr>
          <a:xfrm>
            <a:off x="8040411"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0" name="text-729"/>
          <p:cNvSpPr txBox="1"/>
          <p:nvPr/>
        </p:nvSpPr>
        <p:spPr>
          <a:xfrm>
            <a:off x="7342449"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Revise once</a:t>
            </a:r>
            <a:endParaRPr lang="en-US" sz="1900" dirty="0"/>
          </a:p>
        </p:txBody>
      </p:sp>
      <p:sp>
        <p:nvSpPr>
          <p:cNvPr id="21" name="text-730"/>
          <p:cNvSpPr txBox="1"/>
          <p:nvPr/>
        </p:nvSpPr>
        <p:spPr>
          <a:xfrm>
            <a:off x="7388169"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Fix what the tests showed you</a:t>
            </a:r>
            <a:endParaRPr lang="en-US" sz="1500" dirty="0"/>
          </a:p>
        </p:txBody>
      </p:sp>
      <p:sp>
        <p:nvSpPr>
          <p:cNvPr id="22" name="num-731"/>
          <p:cNvSpPr/>
          <p:nvPr/>
        </p:nvSpPr>
        <p:spPr>
          <a:xfrm>
            <a:off x="10305014" y="1554480"/>
            <a:ext cx="640080" cy="640080"/>
          </a:xfrm>
          <a:prstGeom prst="ellipse">
            <a:avLst/>
          </a:prstGeom>
          <a:solidFill>
            <a:schemeClr val="tx1"/>
          </a:solidFill>
          <a:ln/>
        </p:spPr>
      </p:sp>
      <p:sp>
        <p:nvSpPr>
          <p:cNvPr id="23" name="text-732"/>
          <p:cNvSpPr txBox="1"/>
          <p:nvPr/>
        </p:nvSpPr>
        <p:spPr>
          <a:xfrm>
            <a:off x="10305014" y="15544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4" name="text-733"/>
          <p:cNvSpPr txBox="1"/>
          <p:nvPr/>
        </p:nvSpPr>
        <p:spPr>
          <a:xfrm>
            <a:off x="9607052" y="2377440"/>
            <a:ext cx="2036003" cy="411480"/>
          </a:xfrm>
          <a:prstGeom prst="rect">
            <a:avLst/>
          </a:prstGeom>
          <a:noFill/>
          <a:ln/>
        </p:spPr>
        <p:txBody>
          <a:bodyPr wrap="square" lIns="0" tIns="0" rIns="0" bIns="0" rtlCol="0" anchor="t"/>
          <a:lstStyle/>
          <a:p>
            <a:pPr algn="ctr" indent="0" marL="0">
              <a:buNone/>
            </a:pPr>
            <a:r>
              <a:rPr lang="en-US" sz="1900" b="1" dirty="0">
                <a:solidFill>
                  <a:schemeClr val="tx1"/>
                </a:solidFill>
              </a:rPr>
              <a:t>Check it</a:t>
            </a:r>
            <a:endParaRPr lang="en-US" sz="1900" dirty="0"/>
          </a:p>
        </p:txBody>
      </p:sp>
      <p:sp>
        <p:nvSpPr>
          <p:cNvPr id="25" name="text-734"/>
          <p:cNvSpPr txBox="1"/>
          <p:nvPr/>
        </p:nvSpPr>
        <p:spPr>
          <a:xfrm>
            <a:off x="9652772" y="2834640"/>
            <a:ext cx="1944563" cy="1188720"/>
          </a:xfrm>
          <a:prstGeom prst="rect">
            <a:avLst/>
          </a:prstGeom>
          <a:noFill/>
          <a:ln/>
        </p:spPr>
        <p:txBody>
          <a:bodyPr wrap="square" lIns="0" tIns="0" rIns="0" bIns="0" rtlCol="0" anchor="t"/>
          <a:lstStyle/>
          <a:p>
            <a:pPr algn="ctr" indent="0" marL="0">
              <a:buNone/>
            </a:pPr>
            <a:r>
              <a:rPr lang="en-US" sz="1500" dirty="0">
                <a:solidFill>
                  <a:schemeClr val="tx2"/>
                </a:solidFill>
              </a:rPr>
              <a:t>Score it against the rubric</a:t>
            </a:r>
            <a:endParaRPr lang="en-US" sz="1500" dirty="0"/>
          </a:p>
        </p:txBody>
      </p:sp>
      <p:sp>
        <p:nvSpPr>
          <p:cNvPr id="26" name="card-735"/>
          <p:cNvSpPr/>
          <p:nvPr/>
        </p:nvSpPr>
        <p:spPr>
          <a:xfrm>
            <a:off x="548640" y="4297680"/>
            <a:ext cx="5387188" cy="1691640"/>
          </a:xfrm>
          <a:prstGeom prst="roundRect">
            <a:avLst>
              <a:gd name="adj" fmla="val 6486"/>
            </a:avLst>
          </a:prstGeom>
          <a:solidFill>
            <a:schemeClr val="bg2"/>
          </a:solidFill>
          <a:ln/>
        </p:spPr>
      </p:sp>
      <p:sp>
        <p:nvSpPr>
          <p:cNvPr id="27" name="text-736"/>
          <p:cNvSpPr txBox="1"/>
          <p:nvPr/>
        </p:nvSpPr>
        <p:spPr>
          <a:xfrm>
            <a:off x="868680" y="4480560"/>
            <a:ext cx="4747108" cy="1371600"/>
          </a:xfrm>
          <a:prstGeom prst="rect">
            <a:avLst/>
          </a:prstGeom>
          <a:noFill/>
          <a:ln/>
        </p:spPr>
        <p:txBody>
          <a:bodyPr wrap="square" lIns="0" tIns="0" rIns="0" bIns="0" rtlCol="0" anchor="t"/>
          <a:lstStyle/>
          <a:p>
            <a:pPr indent="0" marL="0">
              <a:buNone/>
            </a:pPr>
            <a:r>
              <a:rPr lang="en-US" sz="1600" b="1" dirty="0">
                <a:solidFill>
                  <a:schemeClr val="tx1"/>
                </a:solidFill>
              </a:rPr>
              <a:t>No task in mind?</a:t>
            </a:r>
            <a:endParaRPr lang="en-US" sz="1600" dirty="0"/>
          </a:p>
          <a:p>
            <a:pPr indent="0" marL="0">
              <a:buNone/>
            </a:pPr>
            <a:r>
              <a:rPr lang="en-US" sz="1600" dirty="0">
                <a:solidFill>
                  <a:schemeClr val="tx1"/>
                </a:solidFill>
              </a:rPr>
              <a:t>Use the fallback: a weekly operations update for Prairie Point's warehouse supervisors.</a:t>
            </a:r>
            <a:endParaRPr lang="en-US" sz="1600" dirty="0"/>
          </a:p>
        </p:txBody>
      </p:sp>
      <p:sp>
        <p:nvSpPr>
          <p:cNvPr id="28" name="card-737"/>
          <p:cNvSpPr/>
          <p:nvPr/>
        </p:nvSpPr>
        <p:spPr>
          <a:xfrm>
            <a:off x="6255868" y="4297680"/>
            <a:ext cx="5387188" cy="1691640"/>
          </a:xfrm>
          <a:prstGeom prst="roundRect">
            <a:avLst>
              <a:gd name="adj" fmla="val 6486"/>
            </a:avLst>
          </a:prstGeom>
          <a:solidFill>
            <a:schemeClr val="tx1"/>
          </a:solidFill>
          <a:ln/>
        </p:spPr>
      </p:sp>
      <p:sp>
        <p:nvSpPr>
          <p:cNvPr id="29" name="text-738"/>
          <p:cNvSpPr txBox="1"/>
          <p:nvPr/>
        </p:nvSpPr>
        <p:spPr>
          <a:xfrm>
            <a:off x="6575908" y="4480560"/>
            <a:ext cx="4747108" cy="1371600"/>
          </a:xfrm>
          <a:prstGeom prst="rect">
            <a:avLst/>
          </a:prstGeom>
          <a:noFill/>
          <a:ln/>
        </p:spPr>
        <p:txBody>
          <a:bodyPr wrap="square" lIns="0" tIns="0" rIns="0" bIns="0" rtlCol="0" anchor="t"/>
          <a:lstStyle/>
          <a:p>
            <a:pPr indent="0" marL="0">
              <a:buNone/>
            </a:pPr>
            <a:r>
              <a:rPr lang="en-US" sz="1600" b="1" dirty="0">
                <a:solidFill>
                  <a:schemeClr val="bg1"/>
                </a:solidFill>
              </a:rPr>
              <a:t>Deliverable</a:t>
            </a:r>
            <a:endParaRPr lang="en-US" sz="1600" dirty="0"/>
          </a:p>
          <a:p>
            <a:pPr indent="0" marL="0">
              <a:buNone/>
            </a:pPr>
            <a:r>
              <a:rPr lang="en-US" sz="1600" dirty="0">
                <a:solidFill>
                  <a:schemeClr val="accent3"/>
                </a:solidFill>
              </a:rPr>
              <a:t>Your template, saved somewhere you'll find it, plus one sentence on what you changed after testing.</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Start from this skeleton</a:t>
            </a:r>
            <a:endParaRPr lang="en-US" sz="3400" dirty="0"/>
          </a:p>
        </p:txBody>
      </p:sp>
      <p:sp>
        <p:nvSpPr>
          <p:cNvPr id="3" name="card-739"/>
          <p:cNvSpPr/>
          <p:nvPr/>
        </p:nvSpPr>
        <p:spPr>
          <a:xfrm>
            <a:off x="548640" y="1417320"/>
            <a:ext cx="7406640" cy="4663440"/>
          </a:xfrm>
          <a:prstGeom prst="roundRect">
            <a:avLst>
              <a:gd name="adj" fmla="val 2353"/>
            </a:avLst>
          </a:prstGeom>
          <a:solidFill>
            <a:schemeClr val="tx1"/>
          </a:solidFill>
          <a:ln/>
        </p:spPr>
      </p:sp>
      <p:sp>
        <p:nvSpPr>
          <p:cNvPr id="4" name="text-740"/>
          <p:cNvSpPr txBox="1"/>
          <p:nvPr/>
        </p:nvSpPr>
        <p:spPr>
          <a:xfrm>
            <a:off x="822960" y="1618488"/>
            <a:ext cx="68580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TEMPLATE</a:t>
            </a:r>
            <a:endParaRPr lang="en-US" sz="1200" dirty="0"/>
          </a:p>
        </p:txBody>
      </p:sp>
      <p:sp>
        <p:nvSpPr>
          <p:cNvPr id="5" name="text-741"/>
          <p:cNvSpPr txBox="1"/>
          <p:nvPr/>
        </p:nvSpPr>
        <p:spPr>
          <a:xfrm>
            <a:off x="822960" y="1947672"/>
            <a:ext cx="6858000" cy="3950208"/>
          </a:xfrm>
          <a:prstGeom prst="rect">
            <a:avLst/>
          </a:prstGeom>
          <a:noFill/>
          <a:ln/>
        </p:spPr>
        <p:txBody>
          <a:bodyPr wrap="square" lIns="0" tIns="0" rIns="0" bIns="0" rtlCol="0" anchor="t"/>
          <a:lstStyle/>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Act as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CONTEXT: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I am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[your role]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[type of organization]</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This is for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[purpose]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ASK:</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[Action verb]</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[deliverable]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about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[topic]</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SOURCE: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Use only the text between the ### marks.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If something is missing, write "Not stated."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[paste source material]</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FORMAT: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[length]</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[bullets / table / headings]</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TONE &amp; AUDIENCE: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For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[audience]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Tone: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[tone]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EXAMPLE:</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rgbClr val="F2777C"/>
                </a:solidFill>
                <a:latin typeface="Courier New" pitchFamily="34" charset="0"/>
                <a:ea typeface="Courier New" pitchFamily="34" charset="-122"/>
                <a:cs typeface="Courier New" pitchFamily="34" charset="-120"/>
              </a:rPr>
              <a:t>[optional sample of what good looks like]</a:t>
            </a:r>
            <a:endParaRPr lang="en-US" sz="1400" dirty="0"/>
          </a:p>
          <a:p>
            <a:pPr indent="0" marL="0">
              <a:spcAft>
                <a:spcPts val="200"/>
              </a:spcAft>
              <a:buNone/>
            </a:pPr>
            <a:r>
              <a:rPr lang="en-US" sz="1400" b="1" dirty="0">
                <a:solidFill>
                  <a:schemeClr val="bg1"/>
                </a:solidFill>
                <a:latin typeface="Courier New" pitchFamily="34" charset="0"/>
                <a:ea typeface="Courier New" pitchFamily="34" charset="-122"/>
                <a:cs typeface="Courier New" pitchFamily="34" charset="-120"/>
              </a:rPr>
              <a:t>BEFORE YOU START:</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Ask me up to 3 questions if</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anything important is unclear.</a:t>
            </a:r>
            <a:endParaRPr lang="en-US" sz="1400" dirty="0"/>
          </a:p>
        </p:txBody>
      </p:sp>
      <p:sp>
        <p:nvSpPr>
          <p:cNvPr id="6" name="card-742"/>
          <p:cNvSpPr/>
          <p:nvPr/>
        </p:nvSpPr>
        <p:spPr>
          <a:xfrm>
            <a:off x="8275320" y="1508760"/>
            <a:ext cx="3364992" cy="1280160"/>
          </a:xfrm>
          <a:prstGeom prst="roundRect">
            <a:avLst>
              <a:gd name="adj" fmla="val 8571"/>
            </a:avLst>
          </a:prstGeom>
          <a:solidFill>
            <a:schemeClr val="bg2"/>
          </a:solidFill>
          <a:ln/>
        </p:spPr>
      </p:sp>
      <p:sp>
        <p:nvSpPr>
          <p:cNvPr id="7" name="text-743"/>
          <p:cNvSpPr txBox="1"/>
          <p:nvPr/>
        </p:nvSpPr>
        <p:spPr>
          <a:xfrm>
            <a:off x="8503920" y="1645920"/>
            <a:ext cx="2926080" cy="1005840"/>
          </a:xfrm>
          <a:prstGeom prst="rect">
            <a:avLst/>
          </a:prstGeom>
          <a:noFill/>
          <a:ln/>
        </p:spPr>
        <p:txBody>
          <a:bodyPr wrap="square" lIns="0" tIns="0" rIns="0" bIns="0" rtlCol="0" anchor="ctr"/>
          <a:lstStyle/>
          <a:p>
            <a:pPr indent="0" marL="0">
              <a:buNone/>
            </a:pPr>
            <a:r>
              <a:rPr lang="en-US" sz="1600" b="1" dirty="0">
                <a:solidFill>
                  <a:schemeClr val="accent1"/>
                </a:solidFill>
              </a:rPr>
              <a:t>[Brackets] </a:t>
            </a:r>
            <a:pPr indent="0" marL="0">
              <a:buNone/>
            </a:pPr>
            <a:r>
              <a:rPr lang="en-US" sz="1600" dirty="0">
                <a:solidFill>
                  <a:schemeClr val="tx1"/>
                </a:solidFill>
              </a:rPr>
              <a:t>are what changes each time. Everything else stays the same.</a:t>
            </a:r>
            <a:endParaRPr lang="en-US" sz="1600" dirty="0"/>
          </a:p>
        </p:txBody>
      </p:sp>
      <p:sp>
        <p:nvSpPr>
          <p:cNvPr id="8" name="card-744"/>
          <p:cNvSpPr/>
          <p:nvPr/>
        </p:nvSpPr>
        <p:spPr>
          <a:xfrm>
            <a:off x="8275320" y="2971800"/>
            <a:ext cx="3364992" cy="1280160"/>
          </a:xfrm>
          <a:prstGeom prst="roundRect">
            <a:avLst>
              <a:gd name="adj" fmla="val 8571"/>
            </a:avLst>
          </a:prstGeom>
          <a:solidFill>
            <a:schemeClr val="bg2"/>
          </a:solidFill>
          <a:ln/>
        </p:spPr>
      </p:sp>
      <p:sp>
        <p:nvSpPr>
          <p:cNvPr id="9" name="text-745"/>
          <p:cNvSpPr txBox="1"/>
          <p:nvPr/>
        </p:nvSpPr>
        <p:spPr>
          <a:xfrm>
            <a:off x="8503920" y="3108960"/>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Delete </a:t>
            </a:r>
            <a:pPr indent="0" marL="0">
              <a:buNone/>
            </a:pPr>
            <a:r>
              <a:rPr lang="en-US" sz="1600" dirty="0">
                <a:solidFill>
                  <a:schemeClr val="tx1"/>
                </a:solidFill>
              </a:rPr>
              <a:t>any line your task doesn't need.</a:t>
            </a:r>
            <a:endParaRPr lang="en-US" sz="1600" dirty="0"/>
          </a:p>
        </p:txBody>
      </p:sp>
      <p:sp>
        <p:nvSpPr>
          <p:cNvPr id="10" name="card-746"/>
          <p:cNvSpPr/>
          <p:nvPr/>
        </p:nvSpPr>
        <p:spPr>
          <a:xfrm>
            <a:off x="8275320" y="4434840"/>
            <a:ext cx="3364992" cy="1280160"/>
          </a:xfrm>
          <a:prstGeom prst="roundRect">
            <a:avLst>
              <a:gd name="adj" fmla="val 8571"/>
            </a:avLst>
          </a:prstGeom>
          <a:solidFill>
            <a:schemeClr val="bg2"/>
          </a:solidFill>
          <a:ln/>
        </p:spPr>
      </p:sp>
      <p:sp>
        <p:nvSpPr>
          <p:cNvPr id="11" name="text-747"/>
          <p:cNvSpPr txBox="1"/>
          <p:nvPr/>
        </p:nvSpPr>
        <p:spPr>
          <a:xfrm>
            <a:off x="8503920" y="4572000"/>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Save it </a:t>
            </a:r>
            <a:pPr indent="0" marL="0">
              <a:buNone/>
            </a:pPr>
            <a:r>
              <a:rPr lang="en-US" sz="1600" dirty="0">
                <a:solidFill>
                  <a:schemeClr val="tx1"/>
                </a:solidFill>
              </a:rPr>
              <a:t>where you'll find it on Monday: a notes app, a document, or an email to yourself.</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How to check your template</a:t>
            </a:r>
            <a:endParaRPr lang="en-US" sz="3400" dirty="0"/>
          </a:p>
        </p:txBody>
      </p:sp>
      <p:graphicFrame>
        <p:nvGraphicFramePr>
          <p:cNvPr id="46" name="rubric-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2514600"/>
                <a:gridCol w="3099816"/>
                <a:gridCol w="3099816"/>
              </a:tblGrid>
              <a:tr h="50292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Criterion</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Not yet</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Meets</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Strong</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solidFill>
                      <a:schemeClr val="tx1"/>
                    </a:solidFill>
                  </a:tcPr>
                </a:tc>
              </a:tr>
              <a:tr h="8686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CRAFT elements</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Two or three elements</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All five, each specific to the task</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Specific and tailored throughout; nothing generic</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8686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Techniques</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None used</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At least one, used appropriately</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Two or more, each addressing a likely failure point</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8686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Evaluation and safety</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Outputs not checked</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Both test outputs checked against the source; no sensitive data</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Safeguards built into the template itself</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r h="8686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Reusability</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Only works for one case</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Placeholders for what changes; works on both inputs</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 colleague could use it without explanation</a:t>
                      </a:r>
                      <a:endParaRPr lang="en-US" sz="1500" dirty="0">
                        <a:latin typeface="Calibri" charset="0"/>
                        <a:ea typeface="Calibri" charset="0"/>
                        <a:cs typeface="Calibri" charset="0"/>
                      </a:endParaRPr>
                    </a:p>
                  </a:txBody>
                  <a:tcPr marL="91440" marR="91440" marT="91440" marB="91440" anchor="ctr">
                    <a:lnL w="9525" cap="flat" cmpd="sng" algn="ctr">
                      <a:solidFill>
                        <a:srgbClr val="BCBBBA"/>
                      </a:solidFill>
                      <a:prstDash val="solid"/>
                      <a:round/>
                      <a:headEnd type="none" w="med" len="med"/>
                      <a:tailEnd type="none" w="med" len="med"/>
                    </a:lnL>
                    <a:lnR w="9525" cap="flat" cmpd="sng" algn="ctr">
                      <a:solidFill>
                        <a:srgbClr val="BCBBBA"/>
                      </a:solidFill>
                      <a:prstDash val="solid"/>
                      <a:round/>
                      <a:headEnd type="none" w="med" len="med"/>
                      <a:tailEnd type="none" w="med" len="med"/>
                    </a:lnR>
                    <a:lnT w="9525" cap="flat" cmpd="sng" algn="ctr">
                      <a:solidFill>
                        <a:srgbClr val="BCBBBA"/>
                      </a:solidFill>
                      <a:prstDash val="solid"/>
                      <a:round/>
                      <a:headEnd type="none" w="med" len="med"/>
                      <a:tailEnd type="none" w="med" len="med"/>
                    </a:lnT>
                    <a:lnB w="9525" cap="flat" cmpd="sng" algn="ctr">
                      <a:solidFill>
                        <a:srgbClr val="BCBBBA"/>
                      </a:solidFill>
                      <a:prstDash val="solid"/>
                      <a:round/>
                      <a:headEnd type="none" w="med" len="med"/>
                      <a:tailEnd type="none" w="med" len="med"/>
                    </a:lnB>
                  </a:tcPr>
                </a:tc>
              </a:tr>
            </a:tbl>
          </a:graphicData>
        </a:graphic>
      </p:graphicFrame>
      <p:sp>
        <p:nvSpPr>
          <p:cNvPr id="4" name="text-748"/>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600" dirty="0">
                <a:solidFill>
                  <a:schemeClr val="tx2"/>
                </a:solidFill>
              </a:rPr>
              <a:t>“Meets” is the bar for today. Aim for it on every row before you polish any one.</a:t>
            </a:r>
            <a:endParaRPr lang="en-US" sz="16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Share-outs</a:t>
            </a:r>
            <a:endParaRPr lang="en-US" sz="3400" dirty="0"/>
          </a:p>
        </p:txBody>
      </p:sp>
      <p:sp>
        <p:nvSpPr>
          <p:cNvPr id="3" name="badge-749"/>
          <p:cNvSpPr/>
          <p:nvPr/>
        </p:nvSpPr>
        <p:spPr>
          <a:xfrm>
            <a:off x="10042855" y="502920"/>
            <a:ext cx="1600200" cy="457200"/>
          </a:xfrm>
          <a:prstGeom prst="roundRect">
            <a:avLst>
              <a:gd name="adj" fmla="val 50000"/>
            </a:avLst>
          </a:prstGeom>
          <a:solidFill>
            <a:schemeClr val="bg2"/>
          </a:solidFill>
          <a:ln/>
        </p:spPr>
      </p:sp>
      <p:sp>
        <p:nvSpPr>
          <p:cNvPr id="4" name="text-750"/>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15 min</a:t>
            </a:r>
            <a:endParaRPr lang="en-US" sz="1600" dirty="0"/>
          </a:p>
        </p:txBody>
      </p:sp>
      <p:sp>
        <p:nvSpPr>
          <p:cNvPr id="5" name="text-751"/>
          <p:cNvSpPr txBox="1"/>
          <p:nvPr/>
        </p:nvSpPr>
        <p:spPr>
          <a:xfrm>
            <a:off x="548640" y="1554480"/>
            <a:ext cx="5943600" cy="640080"/>
          </a:xfrm>
          <a:prstGeom prst="rect">
            <a:avLst/>
          </a:prstGeom>
          <a:noFill/>
          <a:ln/>
        </p:spPr>
        <p:txBody>
          <a:bodyPr wrap="square" lIns="0" tIns="0" rIns="0" bIns="0" rtlCol="0" anchor="t"/>
          <a:lstStyle/>
          <a:p>
            <a:pPr indent="0" marL="0">
              <a:buNone/>
            </a:pPr>
            <a:r>
              <a:rPr lang="en-US" sz="3200" b="1" dirty="0">
                <a:solidFill>
                  <a:schemeClr val="tx1"/>
                </a:solidFill>
              </a:rPr>
              <a:t>3 minutes each</a:t>
            </a:r>
            <a:endParaRPr lang="en-US" sz="3200" dirty="0"/>
          </a:p>
        </p:txBody>
      </p:sp>
      <p:sp>
        <p:nvSpPr>
          <p:cNvPr id="6" name="num-752"/>
          <p:cNvSpPr/>
          <p:nvPr/>
        </p:nvSpPr>
        <p:spPr>
          <a:xfrm>
            <a:off x="548640" y="2514600"/>
            <a:ext cx="548640" cy="548640"/>
          </a:xfrm>
          <a:prstGeom prst="ellipse">
            <a:avLst/>
          </a:prstGeom>
          <a:solidFill>
            <a:schemeClr val="tx1"/>
          </a:solidFill>
          <a:ln/>
        </p:spPr>
      </p:sp>
      <p:sp>
        <p:nvSpPr>
          <p:cNvPr id="7" name="text-753"/>
          <p:cNvSpPr txBox="1"/>
          <p:nvPr/>
        </p:nvSpPr>
        <p:spPr>
          <a:xfrm>
            <a:off x="548640" y="2514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754"/>
          <p:cNvSpPr txBox="1"/>
          <p:nvPr/>
        </p:nvSpPr>
        <p:spPr>
          <a:xfrm>
            <a:off x="1325880" y="2514600"/>
            <a:ext cx="5486400" cy="548640"/>
          </a:xfrm>
          <a:prstGeom prst="rect">
            <a:avLst/>
          </a:prstGeom>
          <a:noFill/>
          <a:ln/>
        </p:spPr>
        <p:txBody>
          <a:bodyPr wrap="square" lIns="0" tIns="0" rIns="0" bIns="0" rtlCol="0" anchor="ctr"/>
          <a:lstStyle/>
          <a:p>
            <a:pPr indent="0" marL="0">
              <a:buNone/>
            </a:pPr>
            <a:r>
              <a:rPr lang="en-US" sz="2100" dirty="0">
                <a:solidFill>
                  <a:schemeClr val="tx1"/>
                </a:solidFill>
              </a:rPr>
              <a:t>The task your template is for</a:t>
            </a:r>
            <a:endParaRPr lang="en-US" sz="2100" dirty="0"/>
          </a:p>
        </p:txBody>
      </p:sp>
      <p:sp>
        <p:nvSpPr>
          <p:cNvPr id="9" name="num-755"/>
          <p:cNvSpPr/>
          <p:nvPr/>
        </p:nvSpPr>
        <p:spPr>
          <a:xfrm>
            <a:off x="548640" y="3429000"/>
            <a:ext cx="548640" cy="548640"/>
          </a:xfrm>
          <a:prstGeom prst="ellipse">
            <a:avLst/>
          </a:prstGeom>
          <a:solidFill>
            <a:schemeClr val="tx1"/>
          </a:solidFill>
          <a:ln/>
        </p:spPr>
      </p:sp>
      <p:sp>
        <p:nvSpPr>
          <p:cNvPr id="10" name="text-756"/>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757"/>
          <p:cNvSpPr txBox="1"/>
          <p:nvPr/>
        </p:nvSpPr>
        <p:spPr>
          <a:xfrm>
            <a:off x="1325880" y="3429000"/>
            <a:ext cx="5486400" cy="548640"/>
          </a:xfrm>
          <a:prstGeom prst="rect">
            <a:avLst/>
          </a:prstGeom>
          <a:noFill/>
          <a:ln/>
        </p:spPr>
        <p:txBody>
          <a:bodyPr wrap="square" lIns="0" tIns="0" rIns="0" bIns="0" rtlCol="0" anchor="ctr"/>
          <a:lstStyle/>
          <a:p>
            <a:pPr indent="0" marL="0">
              <a:buNone/>
            </a:pPr>
            <a:r>
              <a:rPr lang="en-US" sz="2100" dirty="0">
                <a:solidFill>
                  <a:schemeClr val="tx1"/>
                </a:solidFill>
              </a:rPr>
              <a:t>The template itself</a:t>
            </a:r>
            <a:endParaRPr lang="en-US" sz="2100" dirty="0"/>
          </a:p>
        </p:txBody>
      </p:sp>
      <p:sp>
        <p:nvSpPr>
          <p:cNvPr id="12" name="num-758"/>
          <p:cNvSpPr/>
          <p:nvPr/>
        </p:nvSpPr>
        <p:spPr>
          <a:xfrm>
            <a:off x="548640" y="4343400"/>
            <a:ext cx="548640" cy="548640"/>
          </a:xfrm>
          <a:prstGeom prst="ellipse">
            <a:avLst/>
          </a:prstGeom>
          <a:solidFill>
            <a:schemeClr val="tx1"/>
          </a:solidFill>
          <a:ln/>
        </p:spPr>
      </p:sp>
      <p:sp>
        <p:nvSpPr>
          <p:cNvPr id="13" name="text-759"/>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760"/>
          <p:cNvSpPr txBox="1"/>
          <p:nvPr/>
        </p:nvSpPr>
        <p:spPr>
          <a:xfrm>
            <a:off x="1325880" y="4343400"/>
            <a:ext cx="5486400" cy="548640"/>
          </a:xfrm>
          <a:prstGeom prst="rect">
            <a:avLst/>
          </a:prstGeom>
          <a:noFill/>
          <a:ln/>
        </p:spPr>
        <p:txBody>
          <a:bodyPr wrap="square" lIns="0" tIns="0" rIns="0" bIns="0" rtlCol="0" anchor="ctr"/>
          <a:lstStyle/>
          <a:p>
            <a:pPr indent="0" marL="0">
              <a:buNone/>
            </a:pPr>
            <a:r>
              <a:rPr lang="en-US" sz="2100" dirty="0">
                <a:solidFill>
                  <a:schemeClr val="tx1"/>
                </a:solidFill>
              </a:rPr>
              <a:t>What changed after testing</a:t>
            </a:r>
            <a:endParaRPr lang="en-US" sz="2100" dirty="0"/>
          </a:p>
        </p:txBody>
      </p:sp>
      <p:sp>
        <p:nvSpPr>
          <p:cNvPr id="15" name="card-761"/>
          <p:cNvSpPr/>
          <p:nvPr/>
        </p:nvSpPr>
        <p:spPr>
          <a:xfrm>
            <a:off x="7223760" y="1554480"/>
            <a:ext cx="4416552" cy="3657600"/>
          </a:xfrm>
          <a:prstGeom prst="roundRect">
            <a:avLst>
              <a:gd name="adj" fmla="val 3000"/>
            </a:avLst>
          </a:prstGeom>
          <a:solidFill>
            <a:schemeClr val="tx1"/>
          </a:solidFill>
          <a:ln/>
        </p:spPr>
      </p:sp>
      <p:pic>
        <p:nvPicPr>
          <p:cNvPr id="16" name="icon-762" descr="preencoded.png">    </p:cNvPr>
          <p:cNvPicPr>
            <a:picLocks noChangeAspect="1"/>
          </p:cNvPicPr>
          <p:nvPr/>
        </p:nvPicPr>
        <p:blipFill>
          <a:blip r:embed="rId1"/>
          <a:stretch>
            <a:fillRect/>
          </a:stretch>
        </p:blipFill>
        <p:spPr>
          <a:xfrm>
            <a:off x="7589520" y="1920240"/>
            <a:ext cx="640080" cy="640080"/>
          </a:xfrm>
          <a:prstGeom prst="rect">
            <a:avLst/>
          </a:prstGeom>
        </p:spPr>
      </p:pic>
      <p:sp>
        <p:nvSpPr>
          <p:cNvPr id="17" name="text-763"/>
          <p:cNvSpPr txBox="1"/>
          <p:nvPr/>
        </p:nvSpPr>
        <p:spPr>
          <a:xfrm>
            <a:off x="7589520" y="2788920"/>
            <a:ext cx="3749040" cy="457200"/>
          </a:xfrm>
          <a:prstGeom prst="rect">
            <a:avLst/>
          </a:prstGeom>
          <a:noFill/>
          <a:ln/>
        </p:spPr>
        <p:txBody>
          <a:bodyPr wrap="square" lIns="0" tIns="0" rIns="0" bIns="0" rtlCol="0" anchor="t"/>
          <a:lstStyle/>
          <a:p>
            <a:pPr indent="0" marL="0">
              <a:buNone/>
            </a:pPr>
            <a:r>
              <a:rPr lang="en-US" sz="2200" b="1" dirty="0">
                <a:solidFill>
                  <a:schemeClr val="bg1"/>
                </a:solidFill>
              </a:rPr>
              <a:t>While you listen</a:t>
            </a:r>
            <a:endParaRPr lang="en-US" sz="2200" dirty="0"/>
          </a:p>
        </p:txBody>
      </p:sp>
      <p:sp>
        <p:nvSpPr>
          <p:cNvPr id="18" name="text-764"/>
          <p:cNvSpPr txBox="1"/>
          <p:nvPr/>
        </p:nvSpPr>
        <p:spPr>
          <a:xfrm>
            <a:off x="7589520" y="3337560"/>
            <a:ext cx="3749040" cy="1280160"/>
          </a:xfrm>
          <a:prstGeom prst="rect">
            <a:avLst/>
          </a:prstGeom>
          <a:noFill/>
          <a:ln/>
        </p:spPr>
        <p:txBody>
          <a:bodyPr wrap="square" lIns="0" tIns="0" rIns="0" bIns="0" rtlCol="0" anchor="t"/>
          <a:lstStyle/>
          <a:p>
            <a:pPr indent="0" marL="0">
              <a:buNone/>
            </a:pPr>
            <a:r>
              <a:rPr lang="en-US" sz="1900" dirty="0">
                <a:solidFill>
                  <a:schemeClr val="accent3"/>
                </a:solidFill>
              </a:rPr>
              <a:t>Note one idea you'll steal for your own template.</a:t>
            </a:r>
            <a:endParaRPr lang="en-US" sz="19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body" hasCustomPrompt="1"/>
          </p:nvPr>
        </p:nvSpPr>
        <p:spPr>
          <a:xfrm>
            <a:off x="548640" y="1234440"/>
            <a:ext cx="3657600" cy="1554480"/>
          </a:xfrm>
          <a:prstGeom prst="rect">
            <a:avLst/>
          </a:prstGeom>
          <a:noFill/>
          <a:ln/>
        </p:spPr>
        <p:txBody>
          <a:bodyPr wrap="square" lIns="0" tIns="0" rIns="0" bIns="0" rtlCol="0" anchor="b"/>
          <a:lstStyle/>
          <a:p>
            <a:pPr algn="l" indent="0" marL="0">
              <a:buNone/>
            </a:pPr>
            <a:r>
              <a:rPr lang="en-US" sz="11000" b="1" dirty="0">
                <a:solidFill>
                  <a:schemeClr val="accent1"/>
                </a:solidFill>
              </a:rPr>
              <a:t>05</a:t>
            </a:r>
            <a:endParaRPr lang="en-US" sz="11000" dirty="0"/>
          </a:p>
        </p:txBody>
      </p:sp>
      <p:sp>
        <p:nvSpPr>
          <p:cNvPr id="3" name="Text 0"/>
          <p:cNvSpPr/>
          <p:nvPr>
            <p:ph idx="102" type="title" hasCustomPrompt="1"/>
          </p:nvPr>
        </p:nvSpPr>
        <p:spPr>
          <a:xfrm>
            <a:off x="548640" y="2926080"/>
            <a:ext cx="10515600" cy="1005840"/>
          </a:xfrm>
          <a:prstGeom prst="rect">
            <a:avLst/>
          </a:prstGeom>
          <a:noFill/>
          <a:ln/>
        </p:spPr>
        <p:txBody>
          <a:bodyPr wrap="square" lIns="0" tIns="0" rIns="0" bIns="0" rtlCol="0" anchor="t"/>
          <a:lstStyle/>
          <a:p>
            <a:pPr algn="l" indent="0" marL="0">
              <a:buNone/>
            </a:pPr>
            <a:r>
              <a:rPr lang="en-US" sz="5000" b="1" dirty="0">
                <a:solidFill>
                  <a:schemeClr val="bg1"/>
                </a:solidFill>
              </a:rPr>
              <a:t>Wrap-up</a:t>
            </a:r>
            <a:endParaRPr lang="en-US" sz="5000" dirty="0"/>
          </a:p>
        </p:txBody>
      </p:sp>
      <p:sp>
        <p:nvSpPr>
          <p:cNvPr id="4" name="Text 0"/>
          <p:cNvSpPr/>
          <p:nvPr>
            <p:ph idx="103" type="body" hasCustomPrompt="1"/>
          </p:nvPr>
        </p:nvSpPr>
        <p:spPr>
          <a:xfrm>
            <a:off x="548640" y="3931920"/>
            <a:ext cx="10515600" cy="640080"/>
          </a:xfrm>
          <a:prstGeom prst="rect">
            <a:avLst/>
          </a:prstGeom>
          <a:noFill/>
          <a:ln/>
        </p:spPr>
        <p:txBody>
          <a:bodyPr wrap="square" lIns="0" tIns="0" rIns="0" bIns="0" rtlCol="0" anchor="t"/>
          <a:lstStyle/>
          <a:p>
            <a:pPr algn="l" indent="0" marL="0">
              <a:buNone/>
            </a:pPr>
            <a:r>
              <a:rPr lang="en-US" sz="2600" dirty="0">
                <a:solidFill>
                  <a:schemeClr val="accent3"/>
                </a:solidFill>
              </a:rPr>
              <a:t>What you'll take with you</a:t>
            </a:r>
            <a:endParaRPr lang="en-US" sz="2600" dirty="0"/>
          </a:p>
        </p:txBody>
      </p:sp>
      <p:sp>
        <p:nvSpPr>
          <p:cNvPr id="5" name="Text 0"/>
          <p:cNvSpPr/>
          <p:nvPr>
            <p:ph idx="104" type="body" hasCustomPrompt="1"/>
          </p:nvPr>
        </p:nvSpPr>
        <p:spPr>
          <a:xfrm>
            <a:off x="548640" y="4983480"/>
            <a:ext cx="5486400" cy="411480"/>
          </a:xfrm>
          <a:prstGeom prst="rect">
            <a:avLst/>
          </a:prstGeom>
          <a:noFill/>
          <a:ln/>
        </p:spPr>
        <p:txBody>
          <a:bodyPr wrap="square" lIns="0" tIns="0" rIns="0" bIns="0" rtlCol="0" anchor="t"/>
          <a:lstStyle/>
          <a:p>
            <a:pPr algn="l" indent="0" marL="0">
              <a:buNone/>
            </a:pPr>
            <a:r>
              <a:rPr lang="en-US" sz="1600" dirty="0">
                <a:solidFill>
                  <a:schemeClr val="accent3"/>
                </a:solidFill>
              </a:rPr>
              <a:t>3:30 – 4:00 p.m.</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The day on one slide</a:t>
            </a:r>
            <a:endParaRPr lang="en-US" sz="3400" dirty="0"/>
          </a:p>
        </p:txBody>
      </p:sp>
      <p:sp>
        <p:nvSpPr>
          <p:cNvPr id="3" name="card-765"/>
          <p:cNvSpPr/>
          <p:nvPr/>
        </p:nvSpPr>
        <p:spPr>
          <a:xfrm>
            <a:off x="548640" y="1463040"/>
            <a:ext cx="3515258" cy="4572000"/>
          </a:xfrm>
          <a:prstGeom prst="roundRect">
            <a:avLst>
              <a:gd name="adj" fmla="val 3121"/>
            </a:avLst>
          </a:prstGeom>
          <a:solidFill>
            <a:schemeClr val="bg2"/>
          </a:solidFill>
          <a:ln/>
        </p:spPr>
      </p:sp>
      <p:sp>
        <p:nvSpPr>
          <p:cNvPr id="4" name="text-766"/>
          <p:cNvSpPr txBox="1"/>
          <p:nvPr/>
        </p:nvSpPr>
        <p:spPr>
          <a:xfrm>
            <a:off x="868680" y="1737360"/>
            <a:ext cx="2875178" cy="457200"/>
          </a:xfrm>
          <a:prstGeom prst="rect">
            <a:avLst/>
          </a:prstGeom>
          <a:noFill/>
          <a:ln/>
        </p:spPr>
        <p:txBody>
          <a:bodyPr wrap="square" lIns="0" tIns="0" rIns="0" bIns="0" rtlCol="0" anchor="t"/>
          <a:lstStyle/>
          <a:p>
            <a:pPr indent="0" marL="0">
              <a:buNone/>
            </a:pPr>
            <a:r>
              <a:rPr lang="en-US" sz="2200" b="1" dirty="0">
                <a:solidFill>
                  <a:schemeClr val="tx1"/>
                </a:solidFill>
              </a:rPr>
              <a:t>Write it: CRAFT</a:t>
            </a:r>
            <a:endParaRPr lang="en-US" sz="2200" dirty="0"/>
          </a:p>
        </p:txBody>
      </p:sp>
      <p:sp>
        <p:nvSpPr>
          <p:cNvPr id="5" name="text-767"/>
          <p:cNvSpPr txBox="1"/>
          <p:nvPr/>
        </p:nvSpPr>
        <p:spPr>
          <a:xfrm>
            <a:off x="868680"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Context</a:t>
            </a:r>
            <a:endParaRPr lang="en-US" sz="1800" dirty="0"/>
          </a:p>
          <a:p>
            <a:pPr marL="228600" indent="-228600">
              <a:spcAft>
                <a:spcPts val="1200"/>
              </a:spcAft>
              <a:buSzPct val="100000"/>
              <a:buChar char="•"/>
            </a:pPr>
            <a:r>
              <a:rPr lang="en-US" sz="1800" dirty="0">
                <a:solidFill>
                  <a:schemeClr val="tx1"/>
                </a:solidFill>
              </a:rPr>
              <a:t>Role</a:t>
            </a:r>
            <a:endParaRPr lang="en-US" sz="1800" dirty="0"/>
          </a:p>
          <a:p>
            <a:pPr marL="228600" indent="-228600">
              <a:spcAft>
                <a:spcPts val="1200"/>
              </a:spcAft>
              <a:buSzPct val="100000"/>
              <a:buChar char="•"/>
            </a:pPr>
            <a:r>
              <a:rPr lang="en-US" sz="1800" dirty="0">
                <a:solidFill>
                  <a:schemeClr val="tx1"/>
                </a:solidFill>
              </a:rPr>
              <a:t>Ask</a:t>
            </a:r>
            <a:endParaRPr lang="en-US" sz="1800" dirty="0"/>
          </a:p>
          <a:p>
            <a:pPr marL="228600" indent="-228600">
              <a:spcAft>
                <a:spcPts val="1200"/>
              </a:spcAft>
              <a:buSzPct val="100000"/>
              <a:buChar char="•"/>
            </a:pPr>
            <a:r>
              <a:rPr lang="en-US" sz="1800" dirty="0">
                <a:solidFill>
                  <a:schemeClr val="tx1"/>
                </a:solidFill>
              </a:rPr>
              <a:t>Format</a:t>
            </a:r>
            <a:endParaRPr lang="en-US" sz="1800" dirty="0"/>
          </a:p>
          <a:p>
            <a:pPr marL="228600" indent="-228600">
              <a:spcAft>
                <a:spcPts val="1200"/>
              </a:spcAft>
              <a:buSzPct val="100000"/>
              <a:buChar char="•"/>
            </a:pPr>
            <a:r>
              <a:rPr lang="en-US" sz="1800" dirty="0">
                <a:solidFill>
                  <a:schemeClr val="tx1"/>
                </a:solidFill>
              </a:rPr>
              <a:t>Tone &amp; audience</a:t>
            </a:r>
            <a:endParaRPr lang="en-US" sz="1800" dirty="0"/>
          </a:p>
        </p:txBody>
      </p:sp>
      <p:sp>
        <p:nvSpPr>
          <p:cNvPr id="6" name="card-768"/>
          <p:cNvSpPr/>
          <p:nvPr/>
        </p:nvSpPr>
        <p:spPr>
          <a:xfrm>
            <a:off x="4338218" y="1463040"/>
            <a:ext cx="3515258" cy="4572000"/>
          </a:xfrm>
          <a:prstGeom prst="roundRect">
            <a:avLst>
              <a:gd name="adj" fmla="val 3121"/>
            </a:avLst>
          </a:prstGeom>
          <a:solidFill>
            <a:schemeClr val="bg2"/>
          </a:solidFill>
          <a:ln/>
        </p:spPr>
      </p:sp>
      <p:sp>
        <p:nvSpPr>
          <p:cNvPr id="7" name="text-769"/>
          <p:cNvSpPr txBox="1"/>
          <p:nvPr/>
        </p:nvSpPr>
        <p:spPr>
          <a:xfrm>
            <a:off x="4658258" y="1737360"/>
            <a:ext cx="2875178" cy="457200"/>
          </a:xfrm>
          <a:prstGeom prst="rect">
            <a:avLst/>
          </a:prstGeom>
          <a:noFill/>
          <a:ln/>
        </p:spPr>
        <p:txBody>
          <a:bodyPr wrap="square" lIns="0" tIns="0" rIns="0" bIns="0" rtlCol="0" anchor="t"/>
          <a:lstStyle/>
          <a:p>
            <a:pPr indent="0" marL="0">
              <a:buNone/>
            </a:pPr>
            <a:r>
              <a:rPr lang="en-US" sz="2200" b="1" dirty="0">
                <a:solidFill>
                  <a:schemeClr val="tx1"/>
                </a:solidFill>
              </a:rPr>
              <a:t>Strengthen it</a:t>
            </a:r>
            <a:endParaRPr lang="en-US" sz="2200" dirty="0"/>
          </a:p>
        </p:txBody>
      </p:sp>
      <p:sp>
        <p:nvSpPr>
          <p:cNvPr id="8" name="text-770"/>
          <p:cNvSpPr txBox="1"/>
          <p:nvPr/>
        </p:nvSpPr>
        <p:spPr>
          <a:xfrm>
            <a:off x="4658258"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Give an example</a:t>
            </a:r>
            <a:endParaRPr lang="en-US" sz="1800" dirty="0"/>
          </a:p>
          <a:p>
            <a:pPr marL="228600" indent="-228600">
              <a:spcAft>
                <a:spcPts val="1200"/>
              </a:spcAft>
              <a:buSzPct val="100000"/>
              <a:buChar char="•"/>
            </a:pPr>
            <a:r>
              <a:rPr lang="en-US" sz="1800" dirty="0">
                <a:solidFill>
                  <a:schemeClr val="tx1"/>
                </a:solidFill>
              </a:rPr>
              <a:t>Fence the source</a:t>
            </a:r>
            <a:endParaRPr lang="en-US" sz="1800" dirty="0"/>
          </a:p>
          <a:p>
            <a:pPr marL="228600" indent="-228600">
              <a:spcAft>
                <a:spcPts val="1200"/>
              </a:spcAft>
              <a:buSzPct val="100000"/>
              <a:buChar char="•"/>
            </a:pPr>
            <a:r>
              <a:rPr lang="en-US" sz="1800" dirty="0">
                <a:solidFill>
                  <a:schemeClr val="tx1"/>
                </a:solidFill>
              </a:rPr>
              <a:t>Ground it: “Not stated”</a:t>
            </a:r>
            <a:endParaRPr lang="en-US" sz="1800" dirty="0"/>
          </a:p>
          <a:p>
            <a:pPr marL="228600" indent="-228600">
              <a:spcAft>
                <a:spcPts val="1200"/>
              </a:spcAft>
              <a:buSzPct val="100000"/>
              <a:buChar char="•"/>
            </a:pPr>
            <a:r>
              <a:rPr lang="en-US" sz="1800" dirty="0">
                <a:solidFill>
                  <a:schemeClr val="tx1"/>
                </a:solidFill>
              </a:rPr>
              <a:t>Specify the structure</a:t>
            </a:r>
            <a:endParaRPr lang="en-US" sz="1800" dirty="0"/>
          </a:p>
          <a:p>
            <a:pPr marL="228600" indent="-228600">
              <a:spcAft>
                <a:spcPts val="1200"/>
              </a:spcAft>
              <a:buSzPct val="100000"/>
              <a:buChar char="•"/>
            </a:pPr>
            <a:r>
              <a:rPr lang="en-US" sz="1800" dirty="0">
                <a:solidFill>
                  <a:schemeClr val="tx1"/>
                </a:solidFill>
              </a:rPr>
              <a:t>Iterate with follow-ups</a:t>
            </a:r>
            <a:endParaRPr lang="en-US" sz="1800" dirty="0"/>
          </a:p>
        </p:txBody>
      </p:sp>
      <p:sp>
        <p:nvSpPr>
          <p:cNvPr id="9" name="card-771"/>
          <p:cNvSpPr/>
          <p:nvPr/>
        </p:nvSpPr>
        <p:spPr>
          <a:xfrm>
            <a:off x="8127797" y="1463040"/>
            <a:ext cx="3515258" cy="4572000"/>
          </a:xfrm>
          <a:prstGeom prst="roundRect">
            <a:avLst>
              <a:gd name="adj" fmla="val 3121"/>
            </a:avLst>
          </a:prstGeom>
          <a:solidFill>
            <a:schemeClr val="tx1"/>
          </a:solidFill>
          <a:ln/>
        </p:spPr>
      </p:sp>
      <p:sp>
        <p:nvSpPr>
          <p:cNvPr id="10" name="text-772"/>
          <p:cNvSpPr txBox="1"/>
          <p:nvPr/>
        </p:nvSpPr>
        <p:spPr>
          <a:xfrm>
            <a:off x="8447837" y="1737360"/>
            <a:ext cx="2875178" cy="457200"/>
          </a:xfrm>
          <a:prstGeom prst="rect">
            <a:avLst/>
          </a:prstGeom>
          <a:noFill/>
          <a:ln/>
        </p:spPr>
        <p:txBody>
          <a:bodyPr wrap="square" lIns="0" tIns="0" rIns="0" bIns="0" rtlCol="0" anchor="t"/>
          <a:lstStyle/>
          <a:p>
            <a:pPr indent="0" marL="0">
              <a:buNone/>
            </a:pPr>
            <a:r>
              <a:rPr lang="en-US" sz="2200" b="1" dirty="0">
                <a:solidFill>
                  <a:schemeClr val="bg1"/>
                </a:solidFill>
              </a:rPr>
              <a:t>Use it responsibly</a:t>
            </a:r>
            <a:endParaRPr lang="en-US" sz="2200" dirty="0"/>
          </a:p>
        </p:txBody>
      </p:sp>
      <p:sp>
        <p:nvSpPr>
          <p:cNvPr id="11" name="text-773"/>
          <p:cNvSpPr txBox="1"/>
          <p:nvPr/>
        </p:nvSpPr>
        <p:spPr>
          <a:xfrm>
            <a:off x="8447837" y="2377440"/>
            <a:ext cx="2966618" cy="34747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bg1"/>
                </a:solidFill>
              </a:rPr>
              <a:t>Check before you paste</a:t>
            </a:r>
            <a:endParaRPr lang="en-US" sz="1800" dirty="0"/>
          </a:p>
          <a:p>
            <a:pPr marL="228600" indent="-228600">
              <a:spcAft>
                <a:spcPts val="1200"/>
              </a:spcAft>
              <a:buSzPct val="100000"/>
              <a:buChar char="•"/>
            </a:pPr>
            <a:r>
              <a:rPr lang="en-US" sz="1800" dirty="0">
                <a:solidFill>
                  <a:schemeClr val="bg1"/>
                </a:solidFill>
              </a:rPr>
              <a:t>Verify every output</a:t>
            </a:r>
            <a:endParaRPr lang="en-US" sz="1800" dirty="0"/>
          </a:p>
          <a:p>
            <a:pPr marL="228600" indent="-228600">
              <a:spcAft>
                <a:spcPts val="1200"/>
              </a:spcAft>
              <a:buSzPct val="100000"/>
              <a:buChar char="•"/>
            </a:pPr>
            <a:r>
              <a:rPr lang="en-US" sz="1800" dirty="0">
                <a:solidFill>
                  <a:schemeClr val="bg1"/>
                </a:solidFill>
              </a:rPr>
              <a:t>You're the editor</a:t>
            </a:r>
            <a:endParaRPr lang="en-US" sz="1800" dirty="0"/>
          </a:p>
          <a:p>
            <a:pPr marL="228600" indent="-228600">
              <a:spcAft>
                <a:spcPts val="1200"/>
              </a:spcAft>
              <a:buSzPct val="100000"/>
              <a:buChar char="•"/>
            </a:pPr>
            <a:r>
              <a:rPr lang="en-US" sz="1800" dirty="0">
                <a:solidFill>
                  <a:schemeClr val="bg1"/>
                </a:solidFill>
              </a:rPr>
              <a:t>Follow your organization's AI policy</a:t>
            </a:r>
            <a:endParaRPr lang="en-US" sz="18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Quick check, again</a:t>
            </a:r>
            <a:endParaRPr lang="en-US" sz="3400" dirty="0"/>
          </a:p>
        </p:txBody>
      </p:sp>
      <p:sp>
        <p:nvSpPr>
          <p:cNvPr id="3" name="badge-774"/>
          <p:cNvSpPr/>
          <p:nvPr/>
        </p:nvSpPr>
        <p:spPr>
          <a:xfrm>
            <a:off x="10042855" y="502920"/>
            <a:ext cx="1600200" cy="457200"/>
          </a:xfrm>
          <a:prstGeom prst="roundRect">
            <a:avLst>
              <a:gd name="adj" fmla="val 50000"/>
            </a:avLst>
          </a:prstGeom>
          <a:solidFill>
            <a:schemeClr val="bg2"/>
          </a:solidFill>
          <a:ln/>
        </p:spPr>
      </p:sp>
      <p:sp>
        <p:nvSpPr>
          <p:cNvPr id="4" name="text-775"/>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7 min</a:t>
            </a:r>
            <a:endParaRPr lang="en-US" sz="1600" dirty="0"/>
          </a:p>
        </p:txBody>
      </p:sp>
      <p:sp>
        <p:nvSpPr>
          <p:cNvPr id="5" name="dot-776"/>
          <p:cNvSpPr/>
          <p:nvPr/>
        </p:nvSpPr>
        <p:spPr>
          <a:xfrm>
            <a:off x="548640" y="1737360"/>
            <a:ext cx="1371600" cy="1371600"/>
          </a:xfrm>
          <a:prstGeom prst="ellipse">
            <a:avLst/>
          </a:prstGeom>
          <a:solidFill>
            <a:schemeClr val="tx1"/>
          </a:solidFill>
          <a:ln/>
        </p:spPr>
      </p:sp>
      <p:pic>
        <p:nvPicPr>
          <p:cNvPr id="6" name="icon-777" descr="preencoded.png">    </p:cNvPr>
          <p:cNvPicPr>
            <a:picLocks noChangeAspect="1"/>
          </p:cNvPicPr>
          <p:nvPr/>
        </p:nvPicPr>
        <p:blipFill>
          <a:blip r:embed="rId1"/>
          <a:stretch>
            <a:fillRect/>
          </a:stretch>
        </p:blipFill>
        <p:spPr>
          <a:xfrm>
            <a:off x="850392" y="2039112"/>
            <a:ext cx="768096" cy="768096"/>
          </a:xfrm>
          <a:prstGeom prst="rect">
            <a:avLst/>
          </a:prstGeom>
        </p:spPr>
      </p:pic>
      <p:sp>
        <p:nvSpPr>
          <p:cNvPr id="7" name="text-778"/>
          <p:cNvSpPr txBox="1"/>
          <p:nvPr/>
        </p:nvSpPr>
        <p:spPr>
          <a:xfrm>
            <a:off x="2377440" y="1783080"/>
            <a:ext cx="8686800" cy="731520"/>
          </a:xfrm>
          <a:prstGeom prst="rect">
            <a:avLst/>
          </a:prstGeom>
          <a:noFill/>
          <a:ln/>
        </p:spPr>
        <p:txBody>
          <a:bodyPr wrap="square" lIns="0" tIns="0" rIns="0" bIns="0" rtlCol="0" anchor="t"/>
          <a:lstStyle/>
          <a:p>
            <a:pPr indent="0" marL="0">
              <a:buNone/>
            </a:pPr>
            <a:r>
              <a:rPr lang="en-US" sz="3200" b="1" dirty="0">
                <a:solidFill>
                  <a:schemeClr val="tx1"/>
                </a:solidFill>
              </a:rPr>
              <a:t>Same 8 questions. Same check code.</a:t>
            </a:r>
            <a:endParaRPr lang="en-US" sz="3200" dirty="0"/>
          </a:p>
        </p:txBody>
      </p:sp>
      <p:sp>
        <p:nvSpPr>
          <p:cNvPr id="8" name="text-779"/>
          <p:cNvSpPr txBox="1"/>
          <p:nvPr/>
        </p:nvSpPr>
        <p:spPr>
          <a:xfrm>
            <a:off x="2377440" y="2606040"/>
            <a:ext cx="8686800" cy="822960"/>
          </a:xfrm>
          <a:prstGeom prst="rect">
            <a:avLst/>
          </a:prstGeom>
          <a:noFill/>
          <a:ln/>
        </p:spPr>
        <p:txBody>
          <a:bodyPr wrap="square" lIns="0" tIns="0" rIns="0" bIns="0" rtlCol="0" anchor="t"/>
          <a:lstStyle/>
          <a:p>
            <a:pPr indent="0" marL="0">
              <a:buNone/>
            </a:pPr>
            <a:r>
              <a:rPr lang="en-US" sz="2200" dirty="0">
                <a:solidFill>
                  <a:schemeClr val="tx2"/>
                </a:solidFill>
              </a:rPr>
              <a:t>Compare with your answers from this morning: that's what today changed.</a:t>
            </a:r>
            <a:endParaRPr lang="en-US" sz="2200" dirty="0"/>
          </a:p>
        </p:txBody>
      </p:sp>
      <p:sp>
        <p:nvSpPr>
          <p:cNvPr id="9" name="card-780"/>
          <p:cNvSpPr/>
          <p:nvPr/>
        </p:nvSpPr>
        <p:spPr>
          <a:xfrm>
            <a:off x="548640" y="3840480"/>
            <a:ext cx="3515258" cy="1828800"/>
          </a:xfrm>
          <a:prstGeom prst="roundRect">
            <a:avLst>
              <a:gd name="adj" fmla="val 6000"/>
            </a:avLst>
          </a:prstGeom>
          <a:solidFill>
            <a:schemeClr val="bg2"/>
          </a:solidFill>
          <a:ln/>
        </p:spPr>
      </p:sp>
      <p:sp>
        <p:nvSpPr>
          <p:cNvPr id="10" name="dot-781"/>
          <p:cNvSpPr/>
          <p:nvPr/>
        </p:nvSpPr>
        <p:spPr>
          <a:xfrm>
            <a:off x="868680" y="4160520"/>
            <a:ext cx="594360" cy="594360"/>
          </a:xfrm>
          <a:prstGeom prst="ellipse">
            <a:avLst/>
          </a:prstGeom>
          <a:solidFill>
            <a:schemeClr val="tx1"/>
          </a:solidFill>
          <a:ln/>
        </p:spPr>
      </p:sp>
      <p:pic>
        <p:nvPicPr>
          <p:cNvPr id="11" name="icon-782" descr="preencoded.png">    </p:cNvPr>
          <p:cNvPicPr>
            <a:picLocks noChangeAspect="1"/>
          </p:cNvPicPr>
          <p:nvPr/>
        </p:nvPicPr>
        <p:blipFill>
          <a:blip r:embed="rId2"/>
          <a:stretch>
            <a:fillRect/>
          </a:stretch>
        </p:blipFill>
        <p:spPr>
          <a:xfrm>
            <a:off x="999439" y="4291279"/>
            <a:ext cx="332842" cy="332842"/>
          </a:xfrm>
          <a:prstGeom prst="rect">
            <a:avLst/>
          </a:prstGeom>
        </p:spPr>
      </p:pic>
      <p:sp>
        <p:nvSpPr>
          <p:cNvPr id="12" name="text-783"/>
          <p:cNvSpPr txBox="1"/>
          <p:nvPr/>
        </p:nvSpPr>
        <p:spPr>
          <a:xfrm>
            <a:off x="868680" y="4800600"/>
            <a:ext cx="2875178" cy="731520"/>
          </a:xfrm>
          <a:prstGeom prst="rect">
            <a:avLst/>
          </a:prstGeom>
          <a:noFill/>
          <a:ln/>
        </p:spPr>
        <p:txBody>
          <a:bodyPr wrap="square" lIns="0" tIns="0" rIns="0" bIns="0" rtlCol="0" anchor="t"/>
          <a:lstStyle/>
          <a:p>
            <a:pPr indent="0" marL="0">
              <a:buNone/>
            </a:pPr>
            <a:r>
              <a:rPr lang="en-US" sz="1700" dirty="0">
                <a:solidFill>
                  <a:schemeClr val="tx1"/>
                </a:solidFill>
              </a:rPr>
              <a:t>Same sheet or link as this morning</a:t>
            </a:r>
            <a:endParaRPr lang="en-US" sz="1700" dirty="0"/>
          </a:p>
        </p:txBody>
      </p:sp>
      <p:sp>
        <p:nvSpPr>
          <p:cNvPr id="13" name="card-784"/>
          <p:cNvSpPr/>
          <p:nvPr/>
        </p:nvSpPr>
        <p:spPr>
          <a:xfrm>
            <a:off x="4338218" y="3840480"/>
            <a:ext cx="3515258" cy="1828800"/>
          </a:xfrm>
          <a:prstGeom prst="roundRect">
            <a:avLst>
              <a:gd name="adj" fmla="val 6000"/>
            </a:avLst>
          </a:prstGeom>
          <a:solidFill>
            <a:schemeClr val="bg2"/>
          </a:solidFill>
          <a:ln/>
        </p:spPr>
      </p:sp>
      <p:sp>
        <p:nvSpPr>
          <p:cNvPr id="14" name="dot-785"/>
          <p:cNvSpPr/>
          <p:nvPr/>
        </p:nvSpPr>
        <p:spPr>
          <a:xfrm>
            <a:off x="4658258" y="4160520"/>
            <a:ext cx="594360" cy="594360"/>
          </a:xfrm>
          <a:prstGeom prst="ellipse">
            <a:avLst/>
          </a:prstGeom>
          <a:solidFill>
            <a:schemeClr val="tx1"/>
          </a:solidFill>
          <a:ln/>
        </p:spPr>
      </p:sp>
      <p:pic>
        <p:nvPicPr>
          <p:cNvPr id="15" name="icon-786" descr="preencoded.png">    </p:cNvPr>
          <p:cNvPicPr>
            <a:picLocks noChangeAspect="1"/>
          </p:cNvPicPr>
          <p:nvPr/>
        </p:nvPicPr>
        <p:blipFill>
          <a:blip r:embed="rId3"/>
          <a:stretch>
            <a:fillRect/>
          </a:stretch>
        </p:blipFill>
        <p:spPr>
          <a:xfrm>
            <a:off x="4789018" y="4291279"/>
            <a:ext cx="332842" cy="332842"/>
          </a:xfrm>
          <a:prstGeom prst="rect">
            <a:avLst/>
          </a:prstGeom>
        </p:spPr>
      </p:pic>
      <p:sp>
        <p:nvSpPr>
          <p:cNvPr id="16" name="text-787"/>
          <p:cNvSpPr txBox="1"/>
          <p:nvPr/>
        </p:nvSpPr>
        <p:spPr>
          <a:xfrm>
            <a:off x="4658258" y="4800600"/>
            <a:ext cx="2875178" cy="731520"/>
          </a:xfrm>
          <a:prstGeom prst="rect">
            <a:avLst/>
          </a:prstGeom>
          <a:noFill/>
          <a:ln/>
        </p:spPr>
        <p:txBody>
          <a:bodyPr wrap="square" lIns="0" tIns="0" rIns="0" bIns="0" rtlCol="0" anchor="t"/>
          <a:lstStyle/>
          <a:p>
            <a:pPr indent="0" marL="0">
              <a:buNone/>
            </a:pPr>
            <a:r>
              <a:rPr lang="en-US" sz="1700" dirty="0">
                <a:solidFill>
                  <a:schemeClr val="tx1"/>
                </a:solidFill>
              </a:rPr>
              <a:t>Still not graded, still anonymous</a:t>
            </a:r>
            <a:endParaRPr lang="en-US" sz="1700" dirty="0"/>
          </a:p>
        </p:txBody>
      </p:sp>
      <p:sp>
        <p:nvSpPr>
          <p:cNvPr id="17" name="card-788"/>
          <p:cNvSpPr/>
          <p:nvPr/>
        </p:nvSpPr>
        <p:spPr>
          <a:xfrm>
            <a:off x="8127797" y="3840480"/>
            <a:ext cx="3515258" cy="1828800"/>
          </a:xfrm>
          <a:prstGeom prst="roundRect">
            <a:avLst>
              <a:gd name="adj" fmla="val 6000"/>
            </a:avLst>
          </a:prstGeom>
          <a:solidFill>
            <a:schemeClr val="bg2"/>
          </a:solidFill>
          <a:ln/>
        </p:spPr>
      </p:sp>
      <p:sp>
        <p:nvSpPr>
          <p:cNvPr id="18" name="dot-789"/>
          <p:cNvSpPr/>
          <p:nvPr/>
        </p:nvSpPr>
        <p:spPr>
          <a:xfrm>
            <a:off x="8447837" y="4160520"/>
            <a:ext cx="594360" cy="594360"/>
          </a:xfrm>
          <a:prstGeom prst="ellipse">
            <a:avLst/>
          </a:prstGeom>
          <a:solidFill>
            <a:schemeClr val="tx1"/>
          </a:solidFill>
          <a:ln/>
        </p:spPr>
      </p:sp>
      <p:pic>
        <p:nvPicPr>
          <p:cNvPr id="19" name="icon-790" descr="preencoded.png">    </p:cNvPr>
          <p:cNvPicPr>
            <a:picLocks noChangeAspect="1"/>
          </p:cNvPicPr>
          <p:nvPr/>
        </p:nvPicPr>
        <p:blipFill>
          <a:blip r:embed="rId4"/>
          <a:stretch>
            <a:fillRect/>
          </a:stretch>
        </p:blipFill>
        <p:spPr>
          <a:xfrm>
            <a:off x="8578596" y="4291279"/>
            <a:ext cx="332842" cy="332842"/>
          </a:xfrm>
          <a:prstGeom prst="rect">
            <a:avLst/>
          </a:prstGeom>
        </p:spPr>
      </p:pic>
      <p:sp>
        <p:nvSpPr>
          <p:cNvPr id="20" name="text-791"/>
          <p:cNvSpPr txBox="1"/>
          <p:nvPr/>
        </p:nvSpPr>
        <p:spPr>
          <a:xfrm>
            <a:off x="8447837" y="4800600"/>
            <a:ext cx="2875178" cy="731520"/>
          </a:xfrm>
          <a:prstGeom prst="rect">
            <a:avLst/>
          </a:prstGeom>
          <a:noFill/>
          <a:ln/>
        </p:spPr>
        <p:txBody>
          <a:bodyPr wrap="square" lIns="0" tIns="0" rIns="0" bIns="0" rtlCol="0" anchor="t"/>
          <a:lstStyle/>
          <a:p>
            <a:pPr indent="0" marL="0">
              <a:buNone/>
            </a:pPr>
            <a:r>
              <a:rPr lang="en-US" sz="1700" dirty="0">
                <a:solidFill>
                  <a:schemeClr val="tx1"/>
                </a:solidFill>
              </a:rPr>
              <a:t>“I don't know yet” is still a fine answer</a:t>
            </a:r>
            <a:endParaRPr lang="en-US" sz="17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Your action plan</a:t>
            </a:r>
            <a:endParaRPr lang="en-US" sz="3400" dirty="0"/>
          </a:p>
        </p:txBody>
      </p:sp>
      <p:sp>
        <p:nvSpPr>
          <p:cNvPr id="3" name="badge-792"/>
          <p:cNvSpPr/>
          <p:nvPr/>
        </p:nvSpPr>
        <p:spPr>
          <a:xfrm>
            <a:off x="10042855" y="502920"/>
            <a:ext cx="1600200" cy="457200"/>
          </a:xfrm>
          <a:prstGeom prst="roundRect">
            <a:avLst>
              <a:gd name="adj" fmla="val 50000"/>
            </a:avLst>
          </a:prstGeom>
          <a:solidFill>
            <a:schemeClr val="bg2"/>
          </a:solidFill>
          <a:ln/>
        </p:spPr>
      </p:sp>
      <p:sp>
        <p:nvSpPr>
          <p:cNvPr id="4" name="text-793"/>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6 min</a:t>
            </a:r>
            <a:endParaRPr lang="en-US" sz="1600" dirty="0"/>
          </a:p>
        </p:txBody>
      </p:sp>
      <p:sp>
        <p:nvSpPr>
          <p:cNvPr id="5" name="card-794"/>
          <p:cNvSpPr/>
          <p:nvPr/>
        </p:nvSpPr>
        <p:spPr>
          <a:xfrm>
            <a:off x="548640" y="1554480"/>
            <a:ext cx="3515258" cy="3566160"/>
          </a:xfrm>
          <a:prstGeom prst="roundRect">
            <a:avLst>
              <a:gd name="adj" fmla="val 3121"/>
            </a:avLst>
          </a:prstGeom>
          <a:solidFill>
            <a:schemeClr val="tx1"/>
          </a:solidFill>
          <a:ln/>
        </p:spPr>
      </p:sp>
      <p:sp>
        <p:nvSpPr>
          <p:cNvPr id="6" name="text-795"/>
          <p:cNvSpPr txBox="1"/>
          <p:nvPr/>
        </p:nvSpPr>
        <p:spPr>
          <a:xfrm>
            <a:off x="868680" y="1783080"/>
            <a:ext cx="914400" cy="731520"/>
          </a:xfrm>
          <a:prstGeom prst="rect">
            <a:avLst/>
          </a:prstGeom>
          <a:noFill/>
          <a:ln/>
        </p:spPr>
        <p:txBody>
          <a:bodyPr wrap="square" lIns="0" tIns="0" rIns="0" bIns="0" rtlCol="0" anchor="t"/>
          <a:lstStyle/>
          <a:p>
            <a:pPr indent="0" marL="0">
              <a:buNone/>
            </a:pPr>
            <a:r>
              <a:rPr lang="en-US" sz="4400" b="1" dirty="0">
                <a:solidFill>
                  <a:schemeClr val="accent1"/>
                </a:solidFill>
              </a:rPr>
              <a:t>1</a:t>
            </a:r>
            <a:endParaRPr lang="en-US" sz="4400" dirty="0"/>
          </a:p>
        </p:txBody>
      </p:sp>
      <p:sp>
        <p:nvSpPr>
          <p:cNvPr id="7" name="text-796"/>
          <p:cNvSpPr txBox="1"/>
          <p:nvPr/>
        </p:nvSpPr>
        <p:spPr>
          <a:xfrm>
            <a:off x="868680" y="2697480"/>
            <a:ext cx="2875178" cy="1645920"/>
          </a:xfrm>
          <a:prstGeom prst="rect">
            <a:avLst/>
          </a:prstGeom>
          <a:noFill/>
          <a:ln/>
        </p:spPr>
        <p:txBody>
          <a:bodyPr wrap="square" lIns="0" tIns="0" rIns="0" bIns="0" rtlCol="0" anchor="t"/>
          <a:lstStyle/>
          <a:p>
            <a:pPr indent="0" marL="0">
              <a:buNone/>
            </a:pPr>
            <a:r>
              <a:rPr lang="en-US" sz="2100" b="1" dirty="0">
                <a:solidFill>
                  <a:schemeClr val="bg1"/>
                </a:solidFill>
              </a:rPr>
              <a:t>One thing I'll do with this in the next week</a:t>
            </a:r>
            <a:endParaRPr lang="en-US" sz="2100" dirty="0"/>
          </a:p>
        </p:txBody>
      </p:sp>
      <p:sp>
        <p:nvSpPr>
          <p:cNvPr id="8" name="card-797"/>
          <p:cNvSpPr/>
          <p:nvPr/>
        </p:nvSpPr>
        <p:spPr>
          <a:xfrm>
            <a:off x="4338218" y="1554480"/>
            <a:ext cx="3515258" cy="3566160"/>
          </a:xfrm>
          <a:prstGeom prst="roundRect">
            <a:avLst>
              <a:gd name="adj" fmla="val 3121"/>
            </a:avLst>
          </a:prstGeom>
          <a:solidFill>
            <a:schemeClr val="bg2"/>
          </a:solidFill>
          <a:ln/>
        </p:spPr>
      </p:sp>
      <p:sp>
        <p:nvSpPr>
          <p:cNvPr id="9" name="text-798"/>
          <p:cNvSpPr txBox="1"/>
          <p:nvPr/>
        </p:nvSpPr>
        <p:spPr>
          <a:xfrm>
            <a:off x="4658258" y="1783080"/>
            <a:ext cx="914400" cy="73152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p:txBody>
      </p:sp>
      <p:sp>
        <p:nvSpPr>
          <p:cNvPr id="10" name="text-799"/>
          <p:cNvSpPr txBox="1"/>
          <p:nvPr/>
        </p:nvSpPr>
        <p:spPr>
          <a:xfrm>
            <a:off x="4658258" y="2697480"/>
            <a:ext cx="2875178" cy="1645920"/>
          </a:xfrm>
          <a:prstGeom prst="rect">
            <a:avLst/>
          </a:prstGeom>
          <a:noFill/>
          <a:ln/>
        </p:spPr>
        <p:txBody>
          <a:bodyPr wrap="square" lIns="0" tIns="0" rIns="0" bIns="0" rtlCol="0" anchor="t"/>
          <a:lstStyle/>
          <a:p>
            <a:pPr indent="0" marL="0">
              <a:buNone/>
            </a:pPr>
            <a:r>
              <a:rPr lang="en-US" sz="2100" b="1" dirty="0">
                <a:solidFill>
                  <a:schemeClr val="tx1"/>
                </a:solidFill>
              </a:rPr>
              <a:t>What might get in the way</a:t>
            </a:r>
            <a:endParaRPr lang="en-US" sz="2100" dirty="0"/>
          </a:p>
        </p:txBody>
      </p:sp>
      <p:sp>
        <p:nvSpPr>
          <p:cNvPr id="11" name="card-800"/>
          <p:cNvSpPr/>
          <p:nvPr/>
        </p:nvSpPr>
        <p:spPr>
          <a:xfrm>
            <a:off x="8127797" y="1554480"/>
            <a:ext cx="3515258" cy="3566160"/>
          </a:xfrm>
          <a:prstGeom prst="roundRect">
            <a:avLst>
              <a:gd name="adj" fmla="val 3121"/>
            </a:avLst>
          </a:prstGeom>
          <a:solidFill>
            <a:schemeClr val="bg2"/>
          </a:solidFill>
          <a:ln/>
        </p:spPr>
      </p:sp>
      <p:sp>
        <p:nvSpPr>
          <p:cNvPr id="12" name="text-801"/>
          <p:cNvSpPr txBox="1"/>
          <p:nvPr/>
        </p:nvSpPr>
        <p:spPr>
          <a:xfrm>
            <a:off x="8447837" y="1783080"/>
            <a:ext cx="914400" cy="731520"/>
          </a:xfrm>
          <a:prstGeom prst="rect">
            <a:avLst/>
          </a:prstGeom>
          <a:noFill/>
          <a:ln/>
        </p:spPr>
        <p:txBody>
          <a:bodyPr wrap="square" lIns="0" tIns="0" rIns="0" bIns="0" rtlCol="0" anchor="t"/>
          <a:lstStyle/>
          <a:p>
            <a:pPr indent="0" marL="0">
              <a:buNone/>
            </a:pPr>
            <a:r>
              <a:rPr lang="en-US" sz="4400" b="1" dirty="0">
                <a:solidFill>
                  <a:schemeClr val="accent1"/>
                </a:solidFill>
              </a:rPr>
              <a:t>3</a:t>
            </a:r>
            <a:endParaRPr lang="en-US" sz="4400" dirty="0"/>
          </a:p>
        </p:txBody>
      </p:sp>
      <p:sp>
        <p:nvSpPr>
          <p:cNvPr id="13" name="text-802"/>
          <p:cNvSpPr txBox="1"/>
          <p:nvPr/>
        </p:nvSpPr>
        <p:spPr>
          <a:xfrm>
            <a:off x="8447837" y="2697480"/>
            <a:ext cx="2875178" cy="1645920"/>
          </a:xfrm>
          <a:prstGeom prst="rect">
            <a:avLst/>
          </a:prstGeom>
          <a:noFill/>
          <a:ln/>
        </p:spPr>
        <p:txBody>
          <a:bodyPr wrap="square" lIns="0" tIns="0" rIns="0" bIns="0" rtlCol="0" anchor="t"/>
          <a:lstStyle/>
          <a:p>
            <a:pPr indent="0" marL="0">
              <a:buNone/>
            </a:pPr>
            <a:r>
              <a:rPr lang="en-US" sz="2100" b="1" dirty="0">
                <a:solidFill>
                  <a:schemeClr val="tx1"/>
                </a:solidFill>
              </a:rPr>
              <a:t>Who or what will help</a:t>
            </a:r>
            <a:endParaRPr lang="en-US" sz="2100" dirty="0"/>
          </a:p>
        </p:txBody>
      </p:sp>
      <p:sp>
        <p:nvSpPr>
          <p:cNvPr id="14" name="text-803"/>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900" b="1" dirty="0">
                <a:solidFill>
                  <a:schemeClr val="tx1"/>
                </a:solidFill>
              </a:rPr>
              <a:t>Make #1 specific: </a:t>
            </a:r>
            <a:pPr indent="0" marL="0">
              <a:buNone/>
            </a:pPr>
            <a:r>
              <a:rPr lang="en-US" sz="1900" dirty="0">
                <a:solidFill>
                  <a:schemeClr val="tx1"/>
                </a:solidFill>
              </a:rPr>
              <a:t>which task, which template, which day.</a:t>
            </a:r>
            <a:endParaRPr lang="en-US" sz="1900" dirty="0"/>
          </a:p>
        </p:txBody>
      </p:sp>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9082735" cy="868680"/>
          </a:xfrm>
          <a:prstGeom prst="rect">
            <a:avLst/>
          </a:prstGeom>
          <a:noFill/>
          <a:ln/>
        </p:spPr>
        <p:txBody>
          <a:bodyPr wrap="square" lIns="0" tIns="0" rIns="0" bIns="0" rtlCol="0" anchor="ctr"/>
          <a:lstStyle/>
          <a:p>
            <a:pPr algn="l" indent="0" marL="0">
              <a:buNone/>
            </a:pPr>
            <a:r>
              <a:rPr lang="en-US" sz="3400" b="1" dirty="0">
                <a:solidFill>
                  <a:schemeClr val="tx1"/>
                </a:solidFill>
              </a:rPr>
              <a:t>Tell us how it went</a:t>
            </a:r>
            <a:endParaRPr lang="en-US" sz="3400" dirty="0"/>
          </a:p>
        </p:txBody>
      </p:sp>
      <p:sp>
        <p:nvSpPr>
          <p:cNvPr id="3" name="badge-804"/>
          <p:cNvSpPr/>
          <p:nvPr/>
        </p:nvSpPr>
        <p:spPr>
          <a:xfrm>
            <a:off x="10042855" y="502920"/>
            <a:ext cx="1600200" cy="457200"/>
          </a:xfrm>
          <a:prstGeom prst="roundRect">
            <a:avLst>
              <a:gd name="adj" fmla="val 50000"/>
            </a:avLst>
          </a:prstGeom>
          <a:solidFill>
            <a:schemeClr val="bg2"/>
          </a:solidFill>
          <a:ln/>
        </p:spPr>
      </p:sp>
      <p:sp>
        <p:nvSpPr>
          <p:cNvPr id="4" name="text-805"/>
          <p:cNvSpPr txBox="1"/>
          <p:nvPr/>
        </p:nvSpPr>
        <p:spPr>
          <a:xfrm>
            <a:off x="10042855" y="502920"/>
            <a:ext cx="1600200" cy="457200"/>
          </a:xfrm>
          <a:prstGeom prst="rect">
            <a:avLst/>
          </a:prstGeom>
          <a:noFill/>
          <a:ln/>
        </p:spPr>
        <p:txBody>
          <a:bodyPr wrap="square" lIns="0" tIns="0" rIns="0" bIns="0" rtlCol="0" anchor="ctr"/>
          <a:lstStyle/>
          <a:p>
            <a:pPr algn="ctr" indent="0" marL="0">
              <a:buNone/>
            </a:pPr>
            <a:r>
              <a:rPr lang="en-US" sz="1600" b="1" dirty="0">
                <a:solidFill>
                  <a:schemeClr val="tx1"/>
                </a:solidFill>
              </a:rPr>
              <a:t>5 min</a:t>
            </a:r>
            <a:endParaRPr lang="en-US" sz="1600" dirty="0"/>
          </a:p>
        </p:txBody>
      </p:sp>
      <p:sp>
        <p:nvSpPr>
          <p:cNvPr id="5" name="text-806"/>
          <p:cNvSpPr txBox="1"/>
          <p:nvPr/>
        </p:nvSpPr>
        <p:spPr>
          <a:xfrm>
            <a:off x="548640" y="2377440"/>
            <a:ext cx="6858000" cy="640080"/>
          </a:xfrm>
          <a:prstGeom prst="rect">
            <a:avLst/>
          </a:prstGeom>
          <a:noFill/>
          <a:ln/>
        </p:spPr>
        <p:txBody>
          <a:bodyPr wrap="square" lIns="0" tIns="0" rIns="0" bIns="0" rtlCol="0" anchor="t"/>
          <a:lstStyle/>
          <a:p>
            <a:pPr indent="0" marL="0">
              <a:buNone/>
            </a:pPr>
            <a:r>
              <a:rPr lang="en-US" sz="3000" b="1" dirty="0">
                <a:solidFill>
                  <a:schemeClr val="tx1"/>
                </a:solidFill>
              </a:rPr>
              <a:t>One page. Anonymous. Five minutes.</a:t>
            </a:r>
            <a:endParaRPr lang="en-US" sz="3000" dirty="0"/>
          </a:p>
        </p:txBody>
      </p:sp>
      <p:sp>
        <p:nvSpPr>
          <p:cNvPr id="6" name="text-807"/>
          <p:cNvSpPr txBox="1"/>
          <p:nvPr/>
        </p:nvSpPr>
        <p:spPr>
          <a:xfrm>
            <a:off x="548640" y="3200400"/>
            <a:ext cx="6675120" cy="1280160"/>
          </a:xfrm>
          <a:prstGeom prst="rect">
            <a:avLst/>
          </a:prstGeom>
          <a:noFill/>
          <a:ln/>
        </p:spPr>
        <p:txBody>
          <a:bodyPr wrap="square" lIns="0" tIns="0" rIns="0" bIns="0" rtlCol="0" anchor="t"/>
          <a:lstStyle/>
          <a:p>
            <a:pPr indent="0" marL="0">
              <a:buNone/>
            </a:pPr>
            <a:r>
              <a:rPr lang="en-US" sz="2100" dirty="0">
                <a:solidFill>
                  <a:schemeClr val="tx2"/>
                </a:solidFill>
              </a:rPr>
              <a:t>What was most useful? What would you cut? Every form is read, and the course changes because of them.</a:t>
            </a:r>
            <a:endParaRPr lang="en-US" sz="2100" dirty="0"/>
          </a:p>
        </p:txBody>
      </p:sp>
      <p:sp>
        <p:nvSpPr>
          <p:cNvPr id="7" name="dot-808"/>
          <p:cNvSpPr/>
          <p:nvPr/>
        </p:nvSpPr>
        <p:spPr>
          <a:xfrm>
            <a:off x="8503920" y="2194560"/>
            <a:ext cx="2377440" cy="2377440"/>
          </a:xfrm>
          <a:prstGeom prst="ellipse">
            <a:avLst/>
          </a:prstGeom>
          <a:solidFill>
            <a:schemeClr val="accent1"/>
          </a:solidFill>
          <a:ln/>
        </p:spPr>
      </p:sp>
      <p:pic>
        <p:nvPicPr>
          <p:cNvPr id="8" name="icon-809" descr="preencoded.png">    </p:cNvPr>
          <p:cNvPicPr>
            <a:picLocks noChangeAspect="1"/>
          </p:cNvPicPr>
          <p:nvPr/>
        </p:nvPicPr>
        <p:blipFill>
          <a:blip r:embed="rId1"/>
          <a:stretch>
            <a:fillRect/>
          </a:stretch>
        </p:blipFill>
        <p:spPr>
          <a:xfrm>
            <a:off x="9026957" y="2717597"/>
            <a:ext cx="1331366" cy="1331366"/>
          </a:xfrm>
          <a:prstGeom prst="rect">
            <a:avLst/>
          </a:prstGeom>
        </p:spPr>
      </p:pic>
      <p:sp>
        <p:nvSpPr>
          <p:cNvPr id="25" name="Slide Number Placeholder 0"/>
          <p:cNvSpPr>
            <a:spLocks noGrp="1"/>
          </p:cNvSpPr>
          <p:nvPr>
            <p:ph type="sldNum" sz="quarter" idx="4294967295"/>
          </p:nvPr>
        </p:nvSpPr>
        <p:spPr>
          <a:xfrm>
            <a:off x="10362895" y="6382512"/>
            <a:ext cx="7772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56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2" type="title" hasCustomPrompt="1"/>
          </p:nvPr>
        </p:nvSpPr>
        <p:spPr>
          <a:xfrm>
            <a:off x="548640" y="2103120"/>
            <a:ext cx="9875520" cy="155448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3" type="body" hasCustomPrompt="1"/>
          </p:nvPr>
        </p:nvSpPr>
        <p:spPr>
          <a:xfrm>
            <a:off x="548640" y="3794760"/>
            <a:ext cx="9875520" cy="731520"/>
          </a:xfrm>
          <a:prstGeom prst="rect">
            <a:avLst/>
          </a:prstGeom>
          <a:noFill/>
          <a:ln/>
        </p:spPr>
        <p:txBody>
          <a:bodyPr wrap="square" lIns="0" tIns="0" rIns="0" bIns="0" rtlCol="0" anchor="t"/>
          <a:lstStyle/>
          <a:p>
            <a:pPr algn="l" indent="0" marL="0">
              <a:buNone/>
            </a:pPr>
            <a:r>
              <a:rPr lang="en-US" sz="2400" dirty="0">
                <a:solidFill>
                  <a:schemeClr val="accent3"/>
                </a:solidFill>
              </a:rPr>
              <a:t>Pick one task this week, and use your template on it.</a:t>
            </a:r>
            <a:endParaRPr lang="en-US" sz="2400" dirty="0"/>
          </a:p>
        </p:txBody>
      </p:sp>
      <p:sp>
        <p:nvSpPr>
          <p:cNvPr id="4" name="Text 0"/>
          <p:cNvSpPr/>
          <p:nvPr>
            <p:ph idx="104" type="body" hasCustomPrompt="1"/>
          </p:nvPr>
        </p:nvSpPr>
        <p:spPr>
          <a:xfrm>
            <a:off x="548640" y="4754880"/>
            <a:ext cx="7863840" cy="822960"/>
          </a:xfrm>
          <a:prstGeom prst="rect">
            <a:avLst/>
          </a:prstGeom>
          <a:noFill/>
          <a:ln/>
        </p:spPr>
        <p:txBody>
          <a:bodyPr wrap="square" lIns="0" tIns="0" rIns="0" bIns="0" rtlCol="0" anchor="t"/>
          <a:lstStyle/>
          <a:p>
            <a:pPr algn="l" indent="0" marL="0">
              <a:buNone/>
            </a:pPr>
            <a:r>
              <a:rPr lang="en-US" sz="1600" dirty="0">
                <a:solidFill>
                  <a:schemeClr val="bg1"/>
                </a:solidFill>
              </a:rPr>
              <a:t>Keep practising: your workbook, plus the OpenAI, Anthropic, and Microsoft prompting guides linked in the follow-up email.</a:t>
            </a:r>
            <a:endParaRPr lang="en-US" sz="1600" dirty="0"/>
          </a:p>
        </p:txBody>
      </p:sp>
    </p:spTree>
  </p:cSld>
  <p:clrMapOvr>
    <a:masterClrMapping/>
  </p:clrMapOvr>
</p:sld>
</file>

<file path=ppt/theme/theme1.xml><?xml version="1.0" encoding="utf-8"?>
<a:theme xmlns:a="http://schemas.openxmlformats.org/drawingml/2006/main" name="UNO Black and Red">
  <a:themeElements>
    <a:clrScheme name="UNO Black and Red">
      <a:dk1>
        <a:srgbClr val="000000"/>
      </a:dk1>
      <a:lt1>
        <a:srgbClr val="FFFFFF"/>
      </a:lt1>
      <a:dk2>
        <a:srgbClr val="636568"/>
      </a:dk2>
      <a:lt2>
        <a:srgbClr val="EFEFEF"/>
      </a:lt2>
      <a:accent1>
        <a:srgbClr val="D71920"/>
      </a:accent1>
      <a:accent2>
        <a:srgbClr val="262626"/>
      </a:accent2>
      <a:accent3>
        <a:srgbClr val="BCBBBA"/>
      </a:accent3>
      <a:accent4>
        <a:srgbClr val="636568"/>
      </a:accent4>
      <a:accent5>
        <a:srgbClr val="8E8F91"/>
      </a:accent5>
      <a:accent6>
        <a:srgbClr val="000000"/>
      </a:accent6>
      <a:hlink>
        <a:srgbClr val="D71920"/>
      </a:hlink>
      <a:folHlink>
        <a:srgbClr val="636568"/>
      </a:folHlink>
    </a:clrScheme>
    <a:fontScheme name="UNO Black and Re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University of Nebraska at Omaha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Essentials</dc:title>
  <dc:subject>A one-day prompt engineering workshop for professionals</dc:subject>
  <dc:creator>PptxGenJS</dc:creator>
  <cp:lastModifiedBy>PptxGenJS</cp:lastModifiedBy>
  <cp:revision>1</cp:revision>
  <dcterms:created xsi:type="dcterms:W3CDTF">2026-10-16T15:06:34Z</dcterms:created>
  <dcterms:modified xsi:type="dcterms:W3CDTF">2026-10-16T15:06:34Z</dcterms:modified>
</cp:coreProperties>
</file>