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d81b0ff-9822-76d2-00ac-585aa1087463}">
          <p14:sldIdLst>
            <p14:sldId id="256"/>
            <p14:sldId id="257"/>
            <p14:sldId id="258"/>
          </p14:sldIdLst>
        </p14:section>
        <p14:section name="1 Foundations" id="{a692fc28-361c-2b49-2126-5220314e43b2}">
          <p14:sldIdLst>
            <p14:sldId id="259"/>
            <p14:sldId id="260"/>
            <p14:sldId id="261"/>
            <p14:sldId id="262"/>
            <p14:sldId id="263"/>
            <p14:sldId id="264"/>
          </p14:sldIdLst>
        </p14:section>
        <p14:section name="2 Techniques" id="{8dc87dd4-7dbe-386d-f7f1-98185fca68f3}">
          <p14:sldIdLst>
            <p14:sldId id="265"/>
            <p14:sldId id="266"/>
            <p14:sldId id="267"/>
            <p14:sldId id="268"/>
            <p14:sldId id="269"/>
          </p14:sldIdLst>
        </p14:section>
        <p14:section name="3 Use it responsibly" id="{2ea34c63-2a0d-9a50-296d-b3fa3d5ea580}">
          <p14:sldIdLst>
            <p14:sldId id="270"/>
            <p14:sldId id="271"/>
            <p14:sldId id="272"/>
            <p14:sldId id="273"/>
            <p14:sldId id="274"/>
          </p14:sldIdLst>
        </p14:section>
        <p14:section name="4 Capstone" id="{165d7d32-e721-8b55-f524-609ac07489ba}">
          <p14:sldIdLst>
            <p14:sldId id="275"/>
            <p14:sldId id="276"/>
          </p14:sldIdLst>
        </p14:section>
        <p14:section name="Review" id="{d8c37e58-feb3-391f-f65d-bde692b75669}">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Likelihood</c:v>
                </c:pt>
              </c:strCache>
            </c:strRef>
          </c:tx>
          <c:spPr>
            <a:solidFill>
              <a:srgbClr val="000000"/>
            </a:solidFill>
            <a:effectLst/>
          </c:spPr>
          <c:invertIfNegative val="0"/>
          <c:dLbls>
            <c:numFmt formatCode="0&quot;%&quot;" sourceLinked="0"/>
            <c:txPr>
              <a:bodyPr/>
              <a:lstStyle/>
              <a:p>
                <a:pPr>
                  <a:defRPr b="0" i="0" strike="noStrike" sz="14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Thursday</c:v>
                  </c:pt>
                  <c:pt idx="1">
                    <c:v>Friday</c:v>
                  </c:pt>
                  <c:pt idx="2">
                    <c:v>next</c:v>
                  </c:pt>
                  <c:pt idx="3">
                    <c:v>Monday</c:v>
                  </c:pt>
                  <c:pt idx="4">
                    <c:v>the</c:v>
                  </c:pt>
                </c:lvl>
              </c:multiLvlStrCache>
            </c:multiLvlStrRef>
          </c:cat>
          <c:val>
            <c:numRef>
              <c:f>Sheet1!$B$2:$B$6</c:f>
              <c:numCache>
                <c:formatCode>General</c:formatCode>
                <c:ptCount val="5"/>
                <c:pt idx="0">
                  <c:v>38</c:v>
                </c:pt>
                <c:pt idx="1">
                  <c:v>21</c:v>
                </c:pt>
                <c:pt idx="2">
                  <c:v>14</c:v>
                </c:pt>
                <c:pt idx="3">
                  <c:v>9</c:v>
                </c:pt>
                <c:pt idx="4">
                  <c:v>8</c:v>
                </c:pt>
              </c:numCache>
            </c:numRef>
          </c:val>
        </c:ser>
        <c:dLbls>
          <c:numFmt formatCode="0&quot;%&quot;" sourceLinked="0"/>
          <c:txPr>
            <a:bodyPr/>
            <a:lstStyle/>
            <a:p>
              <a:pPr>
                <a:defRPr b="0" i="0" strike="noStrike" sz="1400" u="none">
                  <a:solidFill>
                    <a:srgbClr val="00000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6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4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Welcome, logistics (restrooms, breaks at 10:30 and 2:15, lunch at noon, finish at 4:00), and a one-line round of names if the group is small. Keep a countdown timer on screen for every activity today: it helps everyone, especially anyone who finds long sessions hard to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9:05. The five course objectives, word for word from the course charter. Part 1 serves objective 1 and 2, Part 2 objectives 3 and 4, Part 3 objectives 3 and 4 (accuracy and evaluation), and the capstone objective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9:10–9:20. A response proves the account, browser, and Wi-Fi work. Note who is on a personal account versus a work or school account: it matters in Part 3. Anyone who can't get in pairs with a neighbour; fix it at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9:30–9:42, with the next slide (objective 1). Open with a hook: type 'Write an email about the meeting' into Gemini and ask the room what it had to guess (which meeting, who's reading, purpose, tone, length, what readers should do). Everything you don't say, Gemini guesses.
Then this slide: Gemini is a prediction engine for text. Your prompt and the context you give it are what it predicts from, which is why prompting matters. It can search Google while answering, but still writes the answer by prediction. The chart numbers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 comes with a habit. 'Hallucination' is the industry word for limit 1. The colleague model: widely read, knows nothing about your organization or audience, eager to please, more likely to guess than ask, and you're accountable for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9:42–9:52. Common mistake: asking again in the same chat instead of clicking New chat. Gemini may search the web for Prairie Point and find nothing; some learners get a sensible 'I couldn't find it', others an invented policy. Both make the point. One-minute debrief: who got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9:52–10:04, with the next slide (objective 2). CRAFT is the framework for the whole day. Order doesn't matter much; clarity does. You don't always need all five: the more that's riding on the result, the more you specify.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both prompts live in Gemini. Point at each letter: every sentence removes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10:04–10:30. Call each step aloud when its time is up. Extension: remove one element at a time from the rewrite: which removal hurts most?
Quick check before the break: 'Write a short, friendly reminder for our volunteers about Saturday's food drive.' What will Gemini have to invent? (Time, place, what to bring: Context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10:45–10:50 (objective 3: accuracy, consistency, format). Warm-up first: in pairs, name the five CRAFT elements without looking.
'Ground it' is the single most effective defence against made-up details: 'Not stated' gives Gemini permission not to guess. Examples teach style better than a paragraph of instructions, and fixed structure gives consistent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10:50–10:58. Type the prompt live in Gemini, narrating each choice: grounding rule, structure, one example row. The table shows the expected result. If time allows, run it once without the 'Not stated' line: Gemini often makes Dev the owner or invents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10:58–11:20, including a 5-minute debrief. A good summary covers: mileage $0.65/mile with start and end addresses; hotels up to $150 a night ($210 in high-cost cities) via TravelDesk; $55 a day meals on overnight trips only; economy flights booked 14+ days ahead unless approved; receipts over $25; claims in Expensa within 30 days.
The memo says nothing about rideshares. Good answer: not stated. Common failure: 'rideshares are typically reimbursable'. Debrief: where did Gemini invent things, and what stopped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11:20–11:30 (objective 4: iterative testing). Demo live, in four turns: (1) 'Act as an internal communications specialist. Prairie Point is launching a volunteer program: 8 paid hours a year per employee. Draft a staff announcement. Before you start, ask me up to 4 questions.' (2) Answer: starts July 1, log hours in the HR portal, any registered nonprofit. (3) 'Check it: under 120 words, one call to action, no jargon. List weaknesses, then rewrite.' (4) 'Give me three subject lines: direct, warm, playful.' Turn 3 usually gives the biggest jump.
Gemini tips: edit a sent prompt with the pencil icon instead of piling on corrections; if a chat goes off the rails, click New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11:30–12:00. Checkpoint at 11:41: 'how many turns have you used?' If most are stuck on turn 1, demo 'interview me' for a minute. The extension previews the capstone.
Before lunch: 'Gemini's summary includes a deadline that isn't in the memo you pasted. What two things would you add to your prompt?' (Fence the source; 'use only'; 'write Not stated'; ask it to quote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1:00–1:08. The habit that turns limit 4 into practice. Ask learners to check which account they're in (from setup). Not sure? Ask the IT team whether the account is covered by the organization's Gemini license.
Sources: Google's Gemini Apps Privacy Hub and the Workspace with Gemini FAQ. Turning off Keep Activity on a personal account reduces what's stored but doesn't stop human review. Re-check these facts the week before you teach. Anonymizing isn't just deleting a name: a job title plus a date can still identify someone.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1:08–1:15 (objective 4: evaluation). 'Invented?' is highlighted because it's the check people skip: invented details sound as confident as real ones. A real source link can still be summarised wrongly.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All three documents are in the workbook. Don't point out the privacy trap in the manager's email: let groups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1:15–1:50, then 15 minutes for groups to compare answers. Hints for stuck groups: (1) Gemini answered a question the policy doesn't cover: add 'If the policy doesn't answer it, write To confirm with HR.' (2) Unsure about the manager's email: don't paste it; describe the concern in general terms. (3) Output long and generic: add format and audience, and give one example answer.
Extension: leadership makes Friday a core in-office day too. Update the FAQ in one follow-up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2:05–2:15. Reference FAQ: (1) Choose my days? Tue and Wed are core in-office days; who picks the others isn't stated: confirm with HR. (2) Work from another state? Not covered: confirm with HR. (3) Manager approval? Yes, form HR-22, decided within 10 business days, based on role requirements. (4) Own computer? No, company laptop only. (5) After 90 days? Surveys at days 45 and 85, then leadership decides. (6) Home internet paid? Not covered: confirm with HR.
Usual invented answers: pick any two days; out-of-state 'with approval'; internet 'typically not reimbursed'. None are in the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2:30–3:30 (objective 5: efficiency without losing quality). 40 minutes building, then 15 minutes of share-outs: 3–4 volunteers show the task, the prompt, and what changed after testing. Check everyone has a task by 2:40; anyone undecided takes the fallback. Learners whose real tasks involve sensitive data test with fictional inputs: exactly how they should test 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skeleton is in the workbook, ready to copy. The best prompts end up shorter than this.
Saving: Gemini skills are saved prompts called with '/'. Create one by asking Gemini in chat or from Settings → Skills. Google is replacing Gems with skills (personal accounts from 17 November 2026; Workspace accounts in 2027), so some work or school accounts still show Gems. Check the current menus before you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3:30–3:55. Review and open questions. Ask: what will you use first? Common questions: 'Will AI take my job?' (it changes tasks; people who can direct and check it benefit). 'Does this work in other AI tools?' (yes; only Sources and skills are Gemini-specific). 'Can I trust it for facts?' (only what you can verify, or what came from source text you gave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3:55–4:00. Finish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00000"/>
        </a:solidFill>
      </p:bgPr>
    </p:bg>
    <p:spTree>
      <p:nvGrpSpPr>
        <p:cNvPr id="1" name=""/>
        <p:cNvGrpSpPr/>
        <p:nvPr/>
      </p:nvGrpSpPr>
      <p:grpSpPr>
        <a:xfrm>
          <a:off x="0" y="0"/>
          <a:ext cx="0" cy="0"/>
          <a:chOff x="0" y="0"/>
          <a:chExt cx="0" cy="0"/>
        </a:xfrm>
      </p:grpSpPr>
      <p:pic>
        <p:nvPicPr>
          <p:cNvPr id="2" name="Image 0" descr="/Users/zijunluo/Documents/GitHub/pb-group-D/build/brand/uno-o-white.png">    </p:cNvPr>
          <p:cNvPicPr>
            <a:picLocks noChangeAspect="1"/>
          </p:cNvPicPr>
          <p:nvPr/>
        </p:nvPicPr>
        <p:blipFill>
          <a:blip r:embed="rId1"/>
          <a:stretch>
            <a:fillRect/>
          </a:stretch>
        </p:blipFill>
        <p:spPr>
          <a:xfrm>
            <a:off x="548640" y="502920"/>
            <a:ext cx="1143000" cy="1115568"/>
          </a:xfrm>
          <a:prstGeom prst="rect">
            <a:avLst/>
          </a:prstGeom>
        </p:spPr>
      </p:pic>
      <p:pic>
        <p:nvPicPr>
          <p:cNvPr id="3" name="Image 1" descr="/Users/zijunluo/Documents/GitHub/pb-group-D/build/brand/uno-wordmark-white.png">    </p:cNvPr>
          <p:cNvPicPr>
            <a:picLocks noChangeAspect="1"/>
          </p:cNvPicPr>
          <p:nvPr/>
        </p:nvPicPr>
        <p:blipFill>
          <a:blip r:embed="rId2"/>
          <a:stretch>
            <a:fillRect/>
          </a:stretch>
        </p:blipFill>
        <p:spPr>
          <a:xfrm>
            <a:off x="9539935" y="5486400"/>
            <a:ext cx="2103120" cy="841248"/>
          </a:xfrm>
          <a:prstGeom prst="rect">
            <a:avLst/>
          </a:prstGeom>
        </p:spPr>
      </p:pic>
      <p:sp>
        <p:nvSpPr>
          <p:cNvPr id="4" name="Text 0"/>
          <p:cNvSpPr/>
          <p:nvPr>
            <p:ph idx="102" type="title" hasCustomPrompt="1"/>
          </p:nvPr>
        </p:nvSpPr>
        <p:spPr>
          <a:xfrm>
            <a:off x="548640" y="2103120"/>
            <a:ext cx="9875520" cy="15544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5" name="Text 0"/>
          <p:cNvSpPr/>
          <p:nvPr>
            <p:ph idx="103" type="body" hasCustomPrompt="1"/>
          </p:nvPr>
        </p:nvSpPr>
        <p:spPr>
          <a:xfrm>
            <a:off x="548640" y="3794760"/>
            <a:ext cx="9875520" cy="731520"/>
          </a:xfrm>
          <a:prstGeom prst="rect">
            <a:avLst/>
          </a:prstGeom>
          <a:noFill/>
          <a:ln/>
        </p:spPr>
        <p:txBody>
          <a:bodyPr wrap="square" rtlCol="0"/>
          <a:lstStyle>
            <a:lvl1pPr algn="l" indent="0" marL="0">
              <a:buNone/>
              <a:defRPr lang="en-US" sz="2400" dirty="0">
                <a:solidFill>
                  <a:schemeClr val="accent3"/>
                </a:solidFill>
              </a:defRPr>
            </a:lvl1pPr>
          </a:lstStyle>
          <a:p>
            <a:pPr algn="l" indent="0" marL="0">
              <a:buNone/>
            </a:pPr>
            <a:endParaRPr lang="en-US" sz="2400" dirty="0"/>
          </a:p>
        </p:txBody>
      </p:sp>
      <p:sp>
        <p:nvSpPr>
          <p:cNvPr id="6" name="Text 0"/>
          <p:cNvSpPr/>
          <p:nvPr>
            <p:ph idx="104" type="body" hasCustomPrompt="1"/>
          </p:nvPr>
        </p:nvSpPr>
        <p:spPr>
          <a:xfrm>
            <a:off x="548640" y="4754880"/>
            <a:ext cx="7863840" cy="822960"/>
          </a:xfrm>
          <a:prstGeom prst="rect">
            <a:avLst/>
          </a:prstGeom>
          <a:noFill/>
          <a:ln/>
        </p:spPr>
        <p:txBody>
          <a:bodyPr wrap="square" rtlCol="0"/>
          <a:lstStyle>
            <a:lvl1pPr algn="l" indent="0" marL="0">
              <a:buNone/>
              <a:defRPr lang="en-US" sz="1600" dirty="0">
                <a:solidFill>
                  <a:schemeClr val="bg1"/>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Users/zijunluo/Documents/GitHub/pb-group-D/build/brand/uno-o.png">    </p:cNvPr>
          <p:cNvPicPr>
            <a:picLocks noChangeAspect="1"/>
          </p:cNvPicPr>
          <p:nvPr/>
        </p:nvPicPr>
        <p:blipFill>
          <a:blip r:embed="rId1"/>
          <a:stretch>
            <a:fillRect/>
          </a:stretch>
        </p:blipFill>
        <p:spPr>
          <a:xfrm>
            <a:off x="11277295" y="6309360"/>
            <a:ext cx="365760" cy="356616"/>
          </a:xfrm>
          <a:prstGeom prst="rect">
            <a:avLst/>
          </a:prstGeom>
        </p:spPr>
      </p:pic>
      <p:sp>
        <p:nvSpPr>
          <p:cNvPr id="3" name="Text 0"/>
          <p:cNvSpPr/>
          <p:nvPr>
            <p:ph idx="101" type="title" hasCustomPrompt="1"/>
          </p:nvPr>
        </p:nvSpPr>
        <p:spPr>
          <a:xfrm>
            <a:off x="548640" y="365760"/>
            <a:ext cx="9082735"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CTIVITY_DARK">
    <p:bg>
      <p:bgPr>
        <a:solidFill>
          <a:srgbClr val="000000"/>
        </a:solidFill>
      </p:bgPr>
    </p:bg>
    <p:spTree>
      <p:nvGrpSpPr>
        <p:cNvPr id="1" name=""/>
        <p:cNvGrpSpPr/>
        <p:nvPr/>
      </p:nvGrpSpPr>
      <p:grpSpPr>
        <a:xfrm>
          <a:off x="0" y="0"/>
          <a:ext cx="0" cy="0"/>
          <a:chOff x="0" y="0"/>
          <a:chExt cx="0" cy="0"/>
        </a:xfrm>
      </p:grpSpPr>
      <p:pic>
        <p:nvPicPr>
          <p:cNvPr id="2" name="Image 0" descr="/Users/zijunluo/Documents/GitHub/pb-group-D/build/brand/uno-o-white.png">    </p:cNvPr>
          <p:cNvPicPr>
            <a:picLocks noChangeAspect="1"/>
          </p:cNvPicPr>
          <p:nvPr/>
        </p:nvPicPr>
        <p:blipFill>
          <a:blip r:embed="rId1"/>
          <a:stretch>
            <a:fillRect/>
          </a:stretch>
        </p:blipFill>
        <p:spPr>
          <a:xfrm>
            <a:off x="11277295" y="6309360"/>
            <a:ext cx="365760" cy="356616"/>
          </a:xfrm>
          <a:prstGeom prst="rect">
            <a:avLst/>
          </a:prstGeom>
        </p:spPr>
      </p:pic>
      <p:sp>
        <p:nvSpPr>
          <p:cNvPr id="3" name="Text 0"/>
          <p:cNvSpPr/>
          <p:nvPr>
            <p:ph idx="101" type="body" hasCustomPrompt="1"/>
          </p:nvPr>
        </p:nvSpPr>
        <p:spPr>
          <a:xfrm>
            <a:off x="548640" y="411480"/>
            <a:ext cx="8229600" cy="365760"/>
          </a:xfrm>
          <a:prstGeom prst="rect">
            <a:avLst/>
          </a:prstGeom>
          <a:noFill/>
          <a:ln/>
        </p:spPr>
        <p:txBody>
          <a:bodyPr wrap="square" rtlCol="0"/>
          <a:lstStyle>
            <a:lvl1pPr algn="l" indent="0" marL="0">
              <a:buNone/>
              <a:defRPr lang="en-US" sz="1400" b="1" spc="200" kern="0" dirty="0">
                <a:solidFill>
                  <a:schemeClr val="accent1"/>
                </a:solidFill>
              </a:defRPr>
            </a:lvl1pPr>
          </a:lstStyle>
          <a:p>
            <a:pPr algn="l" indent="0" marL="0">
              <a:buNone/>
            </a:pPr>
            <a:endParaRPr lang="en-US" sz="1400" dirty="0"/>
          </a:p>
        </p:txBody>
      </p:sp>
      <p:sp>
        <p:nvSpPr>
          <p:cNvPr id="4" name="Text 0"/>
          <p:cNvSpPr/>
          <p:nvPr>
            <p:ph idx="102" type="title" hasCustomPrompt="1"/>
          </p:nvPr>
        </p:nvSpPr>
        <p:spPr>
          <a:xfrm>
            <a:off x="548640" y="777240"/>
            <a:ext cx="8778240" cy="8229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CBBBA"/>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4.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title" hasCustomPrompt="1"/>
          </p:nvPr>
        </p:nvSpPr>
        <p:spPr>
          <a:xfrm>
            <a:off x="548640" y="2103120"/>
            <a:ext cx="9875520" cy="1554480"/>
          </a:xfrm>
          <a:prstGeom prst="rect">
            <a:avLst/>
          </a:prstGeom>
          <a:noFill/>
          <a:ln/>
        </p:spPr>
        <p:txBody>
          <a:bodyPr wrap="square" lIns="0" tIns="0" rIns="0" bIns="0" rtlCol="0" anchor="b"/>
          <a:lstStyle/>
          <a:p>
            <a:pPr algn="l" indent="0" marL="0">
              <a:buNone/>
            </a:pPr>
            <a:r>
              <a:rPr lang="en-US" sz="5400" b="1" dirty="0">
                <a:solidFill>
                  <a:schemeClr val="bg1"/>
                </a:solidFill>
              </a:rPr>
              <a:t>Prompt Engineering Essentials</a:t>
            </a:r>
            <a:endParaRPr lang="en-US" sz="5400" dirty="0"/>
          </a:p>
        </p:txBody>
      </p:sp>
      <p:sp>
        <p:nvSpPr>
          <p:cNvPr id="3" name="Text 0"/>
          <p:cNvSpPr/>
          <p:nvPr>
            <p:ph idx="103" type="body" hasCustomPrompt="1"/>
          </p:nvPr>
        </p:nvSpPr>
        <p:spPr>
          <a:xfrm>
            <a:off x="548640" y="3794760"/>
            <a:ext cx="9875520" cy="731520"/>
          </a:xfrm>
          <a:prstGeom prst="rect">
            <a:avLst/>
          </a:prstGeom>
          <a:noFill/>
          <a:ln/>
        </p:spPr>
        <p:txBody>
          <a:bodyPr wrap="square" lIns="0" tIns="0" rIns="0" bIns="0" rtlCol="0" anchor="t"/>
          <a:lstStyle/>
          <a:p>
            <a:pPr algn="l" indent="0" marL="0">
              <a:buNone/>
            </a:pPr>
            <a:r>
              <a:rPr lang="en-US" sz="2400" dirty="0">
                <a:solidFill>
                  <a:schemeClr val="accent3"/>
                </a:solidFill>
              </a:rPr>
              <a:t>Getting reliable, useful results from Google Gemini</a:t>
            </a:r>
            <a:endParaRPr lang="en-US" sz="2400" dirty="0"/>
          </a:p>
        </p:txBody>
      </p:sp>
      <p:sp>
        <p:nvSpPr>
          <p:cNvPr id="4" name="Text 0"/>
          <p:cNvSpPr/>
          <p:nvPr>
            <p:ph idx="104" type="body" hasCustomPrompt="1"/>
          </p:nvPr>
        </p:nvSpPr>
        <p:spPr>
          <a:xfrm>
            <a:off x="548640" y="4754880"/>
            <a:ext cx="7863840" cy="822960"/>
          </a:xfrm>
          <a:prstGeom prst="rect">
            <a:avLst/>
          </a:prstGeom>
          <a:noFill/>
          <a:ln/>
        </p:spPr>
        <p:txBody>
          <a:bodyPr wrap="square" lIns="0" tIns="0" rIns="0" bIns="0" rtlCol="0" anchor="t"/>
          <a:lstStyle/>
          <a:p>
            <a:pPr algn="l" indent="0" marL="0">
              <a:buNone/>
            </a:pPr>
            <a:r>
              <a:rPr lang="en-US" sz="1600" dirty="0">
                <a:solidFill>
                  <a:schemeClr val="bg1"/>
                </a:solidFill>
              </a:rPr>
              <a:t>A one-day, hands-on workshop for professionals</a:t>
            </a:r>
            <a:endParaRPr lang="en-US" sz="1600" dirty="0"/>
          </a:p>
          <a:p>
            <a:pPr algn="l" indent="0" marL="0">
              <a:buNone/>
            </a:pPr>
            <a:r>
              <a:rPr lang="en-US" sz="1600" dirty="0">
                <a:solidFill>
                  <a:schemeClr val="bg1"/>
                </a:solidFill>
              </a:rPr>
              <a:t>9:00 a.m. – 4:00 p.m.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Today</a:t>
            </a:r>
            <a:endParaRPr lang="en-US" sz="3400" dirty="0"/>
          </a:p>
        </p:txBody>
      </p:sp>
      <p:sp>
        <p:nvSpPr>
          <p:cNvPr id="3" name="text-1"/>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tx2"/>
                </a:solidFill>
              </a:rPr>
              <a:t>Prompt Engineering Essentials</a:t>
            </a:r>
            <a:endParaRPr lang="en-US" sz="1000" dirty="0"/>
          </a:p>
        </p:txBody>
      </p:sp>
      <p:sp>
        <p:nvSpPr>
          <p:cNvPr id="4" name="card-2"/>
          <p:cNvSpPr/>
          <p:nvPr/>
        </p:nvSpPr>
        <p:spPr>
          <a:xfrm>
            <a:off x="548640" y="1417320"/>
            <a:ext cx="4023360" cy="4663440"/>
          </a:xfrm>
          <a:prstGeom prst="roundRect">
            <a:avLst>
              <a:gd name="adj" fmla="val 2727"/>
            </a:avLst>
          </a:prstGeom>
          <a:solidFill>
            <a:schemeClr val="bg2"/>
          </a:solidFill>
          <a:ln/>
        </p:spPr>
      </p:sp>
      <p:sp>
        <p:nvSpPr>
          <p:cNvPr id="5" name="text-3"/>
          <p:cNvSpPr txBox="1"/>
          <p:nvPr/>
        </p:nvSpPr>
        <p:spPr>
          <a:xfrm>
            <a:off x="868680" y="1645920"/>
            <a:ext cx="3200400" cy="274320"/>
          </a:xfrm>
          <a:prstGeom prst="rect">
            <a:avLst/>
          </a:prstGeom>
          <a:noFill/>
          <a:ln/>
        </p:spPr>
        <p:txBody>
          <a:bodyPr wrap="square" lIns="0" tIns="0" rIns="0" bIns="0" rtlCol="0" anchor="t"/>
          <a:lstStyle/>
          <a:p>
            <a:pPr indent="0" marL="0">
              <a:buNone/>
            </a:pPr>
            <a:r>
              <a:rPr lang="en-US" sz="1300" b="1" spc="200" kern="0" dirty="0">
                <a:solidFill>
                  <a:schemeClr val="tx2"/>
                </a:solidFill>
              </a:rPr>
              <a:t>SCHEDULE</a:t>
            </a:r>
            <a:endParaRPr lang="en-US" sz="1300" dirty="0"/>
          </a:p>
        </p:txBody>
      </p:sp>
      <p:sp>
        <p:nvSpPr>
          <p:cNvPr id="6" name="text-4"/>
          <p:cNvSpPr txBox="1"/>
          <p:nvPr/>
        </p:nvSpPr>
        <p:spPr>
          <a:xfrm>
            <a:off x="868680" y="2057400"/>
            <a:ext cx="822960" cy="411480"/>
          </a:xfrm>
          <a:prstGeom prst="rect">
            <a:avLst/>
          </a:prstGeom>
          <a:noFill/>
          <a:ln/>
        </p:spPr>
        <p:txBody>
          <a:bodyPr wrap="square" lIns="0" tIns="0" rIns="0" bIns="0" rtlCol="0" anchor="ctr"/>
          <a:lstStyle/>
          <a:p>
            <a:pPr indent="0" marL="0">
              <a:buNone/>
            </a:pPr>
            <a:r>
              <a:rPr lang="en-US" sz="1700" b="1" dirty="0">
                <a:solidFill>
                  <a:schemeClr val="accent1"/>
                </a:solidFill>
              </a:rPr>
              <a:t>9:00</a:t>
            </a:r>
            <a:endParaRPr lang="en-US" sz="1700" dirty="0"/>
          </a:p>
        </p:txBody>
      </p:sp>
      <p:sp>
        <p:nvSpPr>
          <p:cNvPr id="7" name="text-5"/>
          <p:cNvSpPr txBox="1"/>
          <p:nvPr/>
        </p:nvSpPr>
        <p:spPr>
          <a:xfrm>
            <a:off x="1737360" y="2057400"/>
            <a:ext cx="2651760" cy="411480"/>
          </a:xfrm>
          <a:prstGeom prst="rect">
            <a:avLst/>
          </a:prstGeom>
          <a:noFill/>
          <a:ln/>
        </p:spPr>
        <p:txBody>
          <a:bodyPr wrap="square" lIns="0" tIns="0" rIns="0" bIns="0" rtlCol="0" anchor="ctr"/>
          <a:lstStyle/>
          <a:p>
            <a:pPr indent="0" marL="0">
              <a:buNone/>
            </a:pPr>
            <a:r>
              <a:rPr lang="en-US" sz="1700" dirty="0">
                <a:solidFill>
                  <a:schemeClr val="tx1"/>
                </a:solidFill>
              </a:rPr>
              <a:t>Setup</a:t>
            </a:r>
            <a:endParaRPr lang="en-US" sz="1700" dirty="0"/>
          </a:p>
        </p:txBody>
      </p:sp>
      <p:sp>
        <p:nvSpPr>
          <p:cNvPr id="8" name="text-6"/>
          <p:cNvSpPr txBox="1"/>
          <p:nvPr/>
        </p:nvSpPr>
        <p:spPr>
          <a:xfrm>
            <a:off x="868680" y="2606040"/>
            <a:ext cx="822960" cy="411480"/>
          </a:xfrm>
          <a:prstGeom prst="rect">
            <a:avLst/>
          </a:prstGeom>
          <a:noFill/>
          <a:ln/>
        </p:spPr>
        <p:txBody>
          <a:bodyPr wrap="square" lIns="0" tIns="0" rIns="0" bIns="0" rtlCol="0" anchor="ctr"/>
          <a:lstStyle/>
          <a:p>
            <a:pPr indent="0" marL="0">
              <a:buNone/>
            </a:pPr>
            <a:r>
              <a:rPr lang="en-US" sz="1700" b="1" dirty="0">
                <a:solidFill>
                  <a:schemeClr val="accent1"/>
                </a:solidFill>
              </a:rPr>
              <a:t>9:30</a:t>
            </a:r>
            <a:endParaRPr lang="en-US" sz="1700" dirty="0"/>
          </a:p>
        </p:txBody>
      </p:sp>
      <p:sp>
        <p:nvSpPr>
          <p:cNvPr id="9" name="text-7"/>
          <p:cNvSpPr txBox="1"/>
          <p:nvPr/>
        </p:nvSpPr>
        <p:spPr>
          <a:xfrm>
            <a:off x="1737360" y="2606040"/>
            <a:ext cx="2651760" cy="411480"/>
          </a:xfrm>
          <a:prstGeom prst="rect">
            <a:avLst/>
          </a:prstGeom>
          <a:noFill/>
          <a:ln/>
        </p:spPr>
        <p:txBody>
          <a:bodyPr wrap="square" lIns="0" tIns="0" rIns="0" bIns="0" rtlCol="0" anchor="ctr"/>
          <a:lstStyle/>
          <a:p>
            <a:pPr indent="0" marL="0">
              <a:buNone/>
            </a:pPr>
            <a:r>
              <a:rPr lang="en-US" sz="1700" dirty="0">
                <a:solidFill>
                  <a:schemeClr val="tx1"/>
                </a:solidFill>
              </a:rPr>
              <a:t>1  Foundations</a:t>
            </a:r>
            <a:endParaRPr lang="en-US" sz="1700" dirty="0"/>
          </a:p>
        </p:txBody>
      </p:sp>
      <p:sp>
        <p:nvSpPr>
          <p:cNvPr id="10" name="text-8"/>
          <p:cNvSpPr txBox="1"/>
          <p:nvPr/>
        </p:nvSpPr>
        <p:spPr>
          <a:xfrm>
            <a:off x="868680" y="3154680"/>
            <a:ext cx="822960" cy="411480"/>
          </a:xfrm>
          <a:prstGeom prst="rect">
            <a:avLst/>
          </a:prstGeom>
          <a:noFill/>
          <a:ln/>
        </p:spPr>
        <p:txBody>
          <a:bodyPr wrap="square" lIns="0" tIns="0" rIns="0" bIns="0" rtlCol="0" anchor="ctr"/>
          <a:lstStyle/>
          <a:p>
            <a:pPr indent="0" marL="0">
              <a:buNone/>
            </a:pPr>
            <a:r>
              <a:rPr lang="en-US" sz="1700" b="1" dirty="0">
                <a:solidFill>
                  <a:schemeClr val="accent1"/>
                </a:solidFill>
              </a:rPr>
              <a:t>10:45</a:t>
            </a:r>
            <a:endParaRPr lang="en-US" sz="1700" dirty="0"/>
          </a:p>
        </p:txBody>
      </p:sp>
      <p:sp>
        <p:nvSpPr>
          <p:cNvPr id="11" name="text-9"/>
          <p:cNvSpPr txBox="1"/>
          <p:nvPr/>
        </p:nvSpPr>
        <p:spPr>
          <a:xfrm>
            <a:off x="1737360" y="3154680"/>
            <a:ext cx="2651760" cy="411480"/>
          </a:xfrm>
          <a:prstGeom prst="rect">
            <a:avLst/>
          </a:prstGeom>
          <a:noFill/>
          <a:ln/>
        </p:spPr>
        <p:txBody>
          <a:bodyPr wrap="square" lIns="0" tIns="0" rIns="0" bIns="0" rtlCol="0" anchor="ctr"/>
          <a:lstStyle/>
          <a:p>
            <a:pPr indent="0" marL="0">
              <a:buNone/>
            </a:pPr>
            <a:r>
              <a:rPr lang="en-US" sz="1700" dirty="0">
                <a:solidFill>
                  <a:schemeClr val="tx1"/>
                </a:solidFill>
              </a:rPr>
              <a:t>2  Techniques</a:t>
            </a:r>
            <a:endParaRPr lang="en-US" sz="1700" dirty="0"/>
          </a:p>
        </p:txBody>
      </p:sp>
      <p:sp>
        <p:nvSpPr>
          <p:cNvPr id="12" name="text-10"/>
          <p:cNvSpPr txBox="1"/>
          <p:nvPr/>
        </p:nvSpPr>
        <p:spPr>
          <a:xfrm>
            <a:off x="868680" y="3703320"/>
            <a:ext cx="822960" cy="411480"/>
          </a:xfrm>
          <a:prstGeom prst="rect">
            <a:avLst/>
          </a:prstGeom>
          <a:noFill/>
          <a:ln/>
        </p:spPr>
        <p:txBody>
          <a:bodyPr wrap="square" lIns="0" tIns="0" rIns="0" bIns="0" rtlCol="0" anchor="ctr"/>
          <a:lstStyle/>
          <a:p>
            <a:pPr indent="0" marL="0">
              <a:buNone/>
            </a:pPr>
            <a:r>
              <a:rPr lang="en-US" sz="1700" b="1" dirty="0">
                <a:solidFill>
                  <a:schemeClr val="accent1"/>
                </a:solidFill>
              </a:rPr>
              <a:t>1:00</a:t>
            </a:r>
            <a:endParaRPr lang="en-US" sz="1700" dirty="0"/>
          </a:p>
        </p:txBody>
      </p:sp>
      <p:sp>
        <p:nvSpPr>
          <p:cNvPr id="13" name="text-11"/>
          <p:cNvSpPr txBox="1"/>
          <p:nvPr/>
        </p:nvSpPr>
        <p:spPr>
          <a:xfrm>
            <a:off x="1737360" y="3703320"/>
            <a:ext cx="2651760" cy="411480"/>
          </a:xfrm>
          <a:prstGeom prst="rect">
            <a:avLst/>
          </a:prstGeom>
          <a:noFill/>
          <a:ln/>
        </p:spPr>
        <p:txBody>
          <a:bodyPr wrap="square" lIns="0" tIns="0" rIns="0" bIns="0" rtlCol="0" anchor="ctr"/>
          <a:lstStyle/>
          <a:p>
            <a:pPr indent="0" marL="0">
              <a:buNone/>
            </a:pPr>
            <a:r>
              <a:rPr lang="en-US" sz="1700" dirty="0">
                <a:solidFill>
                  <a:schemeClr val="tx1"/>
                </a:solidFill>
              </a:rPr>
              <a:t>3  Use it responsibly</a:t>
            </a:r>
            <a:endParaRPr lang="en-US" sz="1700" dirty="0"/>
          </a:p>
        </p:txBody>
      </p:sp>
      <p:sp>
        <p:nvSpPr>
          <p:cNvPr id="14" name="text-12"/>
          <p:cNvSpPr txBox="1"/>
          <p:nvPr/>
        </p:nvSpPr>
        <p:spPr>
          <a:xfrm>
            <a:off x="868680" y="4251960"/>
            <a:ext cx="822960" cy="411480"/>
          </a:xfrm>
          <a:prstGeom prst="rect">
            <a:avLst/>
          </a:prstGeom>
          <a:noFill/>
          <a:ln/>
        </p:spPr>
        <p:txBody>
          <a:bodyPr wrap="square" lIns="0" tIns="0" rIns="0" bIns="0" rtlCol="0" anchor="ctr"/>
          <a:lstStyle/>
          <a:p>
            <a:pPr indent="0" marL="0">
              <a:buNone/>
            </a:pPr>
            <a:r>
              <a:rPr lang="en-US" sz="1700" b="1" dirty="0">
                <a:solidFill>
                  <a:schemeClr val="accent1"/>
                </a:solidFill>
              </a:rPr>
              <a:t>2:30</a:t>
            </a:r>
            <a:endParaRPr lang="en-US" sz="1700" dirty="0"/>
          </a:p>
        </p:txBody>
      </p:sp>
      <p:sp>
        <p:nvSpPr>
          <p:cNvPr id="15" name="text-13"/>
          <p:cNvSpPr txBox="1"/>
          <p:nvPr/>
        </p:nvSpPr>
        <p:spPr>
          <a:xfrm>
            <a:off x="1737360" y="4251960"/>
            <a:ext cx="2651760" cy="411480"/>
          </a:xfrm>
          <a:prstGeom prst="rect">
            <a:avLst/>
          </a:prstGeom>
          <a:noFill/>
          <a:ln/>
        </p:spPr>
        <p:txBody>
          <a:bodyPr wrap="square" lIns="0" tIns="0" rIns="0" bIns="0" rtlCol="0" anchor="ctr"/>
          <a:lstStyle/>
          <a:p>
            <a:pPr indent="0" marL="0">
              <a:buNone/>
            </a:pPr>
            <a:r>
              <a:rPr lang="en-US" sz="1700" dirty="0">
                <a:solidFill>
                  <a:schemeClr val="tx1"/>
                </a:solidFill>
              </a:rPr>
              <a:t>4  Capstone</a:t>
            </a:r>
            <a:endParaRPr lang="en-US" sz="1700" dirty="0"/>
          </a:p>
        </p:txBody>
      </p:sp>
      <p:sp>
        <p:nvSpPr>
          <p:cNvPr id="16" name="text-14"/>
          <p:cNvSpPr txBox="1"/>
          <p:nvPr/>
        </p:nvSpPr>
        <p:spPr>
          <a:xfrm>
            <a:off x="868680" y="4800600"/>
            <a:ext cx="822960" cy="411480"/>
          </a:xfrm>
          <a:prstGeom prst="rect">
            <a:avLst/>
          </a:prstGeom>
          <a:noFill/>
          <a:ln/>
        </p:spPr>
        <p:txBody>
          <a:bodyPr wrap="square" lIns="0" tIns="0" rIns="0" bIns="0" rtlCol="0" anchor="ctr"/>
          <a:lstStyle/>
          <a:p>
            <a:pPr indent="0" marL="0">
              <a:buNone/>
            </a:pPr>
            <a:r>
              <a:rPr lang="en-US" sz="1700" b="1" dirty="0">
                <a:solidFill>
                  <a:schemeClr val="accent1"/>
                </a:solidFill>
              </a:rPr>
              <a:t>3:30</a:t>
            </a:r>
            <a:endParaRPr lang="en-US" sz="1700" dirty="0"/>
          </a:p>
        </p:txBody>
      </p:sp>
      <p:sp>
        <p:nvSpPr>
          <p:cNvPr id="17" name="text-15"/>
          <p:cNvSpPr txBox="1"/>
          <p:nvPr/>
        </p:nvSpPr>
        <p:spPr>
          <a:xfrm>
            <a:off x="1737360" y="4800600"/>
            <a:ext cx="2651760" cy="411480"/>
          </a:xfrm>
          <a:prstGeom prst="rect">
            <a:avLst/>
          </a:prstGeom>
          <a:noFill/>
          <a:ln/>
        </p:spPr>
        <p:txBody>
          <a:bodyPr wrap="square" lIns="0" tIns="0" rIns="0" bIns="0" rtlCol="0" anchor="ctr"/>
          <a:lstStyle/>
          <a:p>
            <a:pPr indent="0" marL="0">
              <a:buNone/>
            </a:pPr>
            <a:r>
              <a:rPr lang="en-US" sz="1700" dirty="0">
                <a:solidFill>
                  <a:schemeClr val="tx1"/>
                </a:solidFill>
              </a:rPr>
              <a:t>Review</a:t>
            </a:r>
            <a:endParaRPr lang="en-US" sz="1700" dirty="0"/>
          </a:p>
        </p:txBody>
      </p:sp>
      <p:sp>
        <p:nvSpPr>
          <p:cNvPr id="18" name="text-16"/>
          <p:cNvSpPr txBox="1"/>
          <p:nvPr/>
        </p:nvSpPr>
        <p:spPr>
          <a:xfrm>
            <a:off x="868680" y="5440680"/>
            <a:ext cx="3474720" cy="365760"/>
          </a:xfrm>
          <a:prstGeom prst="rect">
            <a:avLst/>
          </a:prstGeom>
          <a:noFill/>
          <a:ln/>
        </p:spPr>
        <p:txBody>
          <a:bodyPr wrap="square" lIns="0" tIns="0" rIns="0" bIns="0" rtlCol="0" anchor="t"/>
          <a:lstStyle/>
          <a:p>
            <a:pPr indent="0" marL="0">
              <a:buNone/>
            </a:pPr>
            <a:r>
              <a:rPr lang="en-US" sz="1300" dirty="0">
                <a:solidFill>
                  <a:schemeClr val="tx2"/>
                </a:solidFill>
              </a:rPr>
              <a:t>Breaks 10:30 and 2:15 · Lunch 12:00</a:t>
            </a:r>
            <a:endParaRPr lang="en-US" sz="1300" dirty="0"/>
          </a:p>
        </p:txBody>
      </p:sp>
      <p:sp>
        <p:nvSpPr>
          <p:cNvPr id="19" name="text-17"/>
          <p:cNvSpPr txBox="1"/>
          <p:nvPr/>
        </p:nvSpPr>
        <p:spPr>
          <a:xfrm>
            <a:off x="4937760" y="1463040"/>
            <a:ext cx="6675120" cy="411480"/>
          </a:xfrm>
          <a:prstGeom prst="rect">
            <a:avLst/>
          </a:prstGeom>
          <a:noFill/>
          <a:ln/>
        </p:spPr>
        <p:txBody>
          <a:bodyPr wrap="square" lIns="0" tIns="0" rIns="0" bIns="0" rtlCol="0" anchor="t"/>
          <a:lstStyle/>
          <a:p>
            <a:pPr indent="0" marL="0">
              <a:buNone/>
            </a:pPr>
            <a:r>
              <a:rPr lang="en-US" sz="2000" b="1" dirty="0">
                <a:solidFill>
                  <a:schemeClr val="tx1"/>
                </a:solidFill>
              </a:rPr>
              <a:t>By 4:00, you'll be able to</a:t>
            </a:r>
            <a:endParaRPr lang="en-US" sz="2000" dirty="0"/>
          </a:p>
        </p:txBody>
      </p:sp>
      <p:sp>
        <p:nvSpPr>
          <p:cNvPr id="20" name="text-18"/>
          <p:cNvSpPr txBox="1"/>
          <p:nvPr/>
        </p:nvSpPr>
        <p:spPr>
          <a:xfrm>
            <a:off x="4937760" y="2057400"/>
            <a:ext cx="411480" cy="685800"/>
          </a:xfrm>
          <a:prstGeom prst="rect">
            <a:avLst/>
          </a:prstGeom>
          <a:noFill/>
          <a:ln/>
        </p:spPr>
        <p:txBody>
          <a:bodyPr wrap="square" lIns="0" tIns="0" rIns="0" bIns="0" rtlCol="0" anchor="t"/>
          <a:lstStyle/>
          <a:p>
            <a:pPr indent="0" marL="0">
              <a:buNone/>
            </a:pPr>
            <a:r>
              <a:rPr lang="en-US" sz="2400" b="1" dirty="0">
                <a:solidFill>
                  <a:schemeClr val="accent1"/>
                </a:solidFill>
              </a:rPr>
              <a:t>1</a:t>
            </a:r>
            <a:endParaRPr lang="en-US" sz="2400" dirty="0"/>
          </a:p>
        </p:txBody>
      </p:sp>
      <p:sp>
        <p:nvSpPr>
          <p:cNvPr id="21" name="text-19"/>
          <p:cNvSpPr txBox="1"/>
          <p:nvPr/>
        </p:nvSpPr>
        <p:spPr>
          <a:xfrm>
            <a:off x="5440680" y="2093976"/>
            <a:ext cx="6199632" cy="685800"/>
          </a:xfrm>
          <a:prstGeom prst="rect">
            <a:avLst/>
          </a:prstGeom>
          <a:noFill/>
          <a:ln/>
        </p:spPr>
        <p:txBody>
          <a:bodyPr wrap="square" lIns="0" tIns="0" rIns="0" bIns="0" rtlCol="0" anchor="t"/>
          <a:lstStyle/>
          <a:p>
            <a:pPr indent="0" marL="0">
              <a:buNone/>
            </a:pPr>
            <a:r>
              <a:rPr lang="en-US" sz="1700" dirty="0">
                <a:solidFill>
                  <a:schemeClr val="tx1"/>
                </a:solidFill>
              </a:rPr>
              <a:t>Explain how large language models use prompts and context to generate responses.</a:t>
            </a:r>
            <a:endParaRPr lang="en-US" sz="1700" dirty="0"/>
          </a:p>
        </p:txBody>
      </p:sp>
      <p:sp>
        <p:nvSpPr>
          <p:cNvPr id="22" name="text-20"/>
          <p:cNvSpPr txBox="1"/>
          <p:nvPr/>
        </p:nvSpPr>
        <p:spPr>
          <a:xfrm>
            <a:off x="4937760" y="2843784"/>
            <a:ext cx="411480" cy="685800"/>
          </a:xfrm>
          <a:prstGeom prst="rect">
            <a:avLst/>
          </a:prstGeom>
          <a:noFill/>
          <a:ln/>
        </p:spPr>
        <p:txBody>
          <a:bodyPr wrap="square" lIns="0" tIns="0" rIns="0" bIns="0" rtlCol="0" anchor="t"/>
          <a:lstStyle/>
          <a:p>
            <a:pPr indent="0" marL="0">
              <a:buNone/>
            </a:pPr>
            <a:r>
              <a:rPr lang="en-US" sz="2400" b="1" dirty="0">
                <a:solidFill>
                  <a:schemeClr val="accent1"/>
                </a:solidFill>
              </a:rPr>
              <a:t>2</a:t>
            </a:r>
            <a:endParaRPr lang="en-US" sz="2400" dirty="0"/>
          </a:p>
        </p:txBody>
      </p:sp>
      <p:sp>
        <p:nvSpPr>
          <p:cNvPr id="23" name="text-21"/>
          <p:cNvSpPr txBox="1"/>
          <p:nvPr/>
        </p:nvSpPr>
        <p:spPr>
          <a:xfrm>
            <a:off x="5440680" y="2880360"/>
            <a:ext cx="6199632" cy="685800"/>
          </a:xfrm>
          <a:prstGeom prst="rect">
            <a:avLst/>
          </a:prstGeom>
          <a:noFill/>
          <a:ln/>
        </p:spPr>
        <p:txBody>
          <a:bodyPr wrap="square" lIns="0" tIns="0" rIns="0" bIns="0" rtlCol="0" anchor="t"/>
          <a:lstStyle/>
          <a:p>
            <a:pPr indent="0" marL="0">
              <a:buNone/>
            </a:pPr>
            <a:r>
              <a:rPr lang="en-US" sz="1700" dirty="0">
                <a:solidFill>
                  <a:schemeClr val="tx1"/>
                </a:solidFill>
              </a:rPr>
              <a:t>Write clear, structured prompts that produce more useful and relevant outputs.</a:t>
            </a:r>
            <a:endParaRPr lang="en-US" sz="1700" dirty="0"/>
          </a:p>
        </p:txBody>
      </p:sp>
      <p:sp>
        <p:nvSpPr>
          <p:cNvPr id="24" name="text-22"/>
          <p:cNvSpPr txBox="1"/>
          <p:nvPr/>
        </p:nvSpPr>
        <p:spPr>
          <a:xfrm>
            <a:off x="4937760" y="3630168"/>
            <a:ext cx="411480" cy="685800"/>
          </a:xfrm>
          <a:prstGeom prst="rect">
            <a:avLst/>
          </a:prstGeom>
          <a:noFill/>
          <a:ln/>
        </p:spPr>
        <p:txBody>
          <a:bodyPr wrap="square" lIns="0" tIns="0" rIns="0" bIns="0" rtlCol="0" anchor="t"/>
          <a:lstStyle/>
          <a:p>
            <a:pPr indent="0" marL="0">
              <a:buNone/>
            </a:pPr>
            <a:r>
              <a:rPr lang="en-US" sz="2400" b="1" dirty="0">
                <a:solidFill>
                  <a:schemeClr val="accent1"/>
                </a:solidFill>
              </a:rPr>
              <a:t>3</a:t>
            </a:r>
            <a:endParaRPr lang="en-US" sz="2400" dirty="0"/>
          </a:p>
        </p:txBody>
      </p:sp>
      <p:sp>
        <p:nvSpPr>
          <p:cNvPr id="25" name="text-23"/>
          <p:cNvSpPr txBox="1"/>
          <p:nvPr/>
        </p:nvSpPr>
        <p:spPr>
          <a:xfrm>
            <a:off x="5440680" y="3666744"/>
            <a:ext cx="6199632" cy="685800"/>
          </a:xfrm>
          <a:prstGeom prst="rect">
            <a:avLst/>
          </a:prstGeom>
          <a:noFill/>
          <a:ln/>
        </p:spPr>
        <p:txBody>
          <a:bodyPr wrap="square" lIns="0" tIns="0" rIns="0" bIns="0" rtlCol="0" anchor="t"/>
          <a:lstStyle/>
          <a:p>
            <a:pPr indent="0" marL="0">
              <a:buNone/>
            </a:pPr>
            <a:r>
              <a:rPr lang="en-US" sz="1700" dirty="0">
                <a:solidFill>
                  <a:schemeClr val="tx1"/>
                </a:solidFill>
              </a:rPr>
              <a:t>Apply prompting techniques to improve accuracy, consistency, format, and usefulness.</a:t>
            </a:r>
            <a:endParaRPr lang="en-US" sz="1700" dirty="0"/>
          </a:p>
        </p:txBody>
      </p:sp>
      <p:sp>
        <p:nvSpPr>
          <p:cNvPr id="26" name="text-24"/>
          <p:cNvSpPr txBox="1"/>
          <p:nvPr/>
        </p:nvSpPr>
        <p:spPr>
          <a:xfrm>
            <a:off x="4937760" y="4416552"/>
            <a:ext cx="411480" cy="685800"/>
          </a:xfrm>
          <a:prstGeom prst="rect">
            <a:avLst/>
          </a:prstGeom>
          <a:noFill/>
          <a:ln/>
        </p:spPr>
        <p:txBody>
          <a:bodyPr wrap="square" lIns="0" tIns="0" rIns="0" bIns="0" rtlCol="0" anchor="t"/>
          <a:lstStyle/>
          <a:p>
            <a:pPr indent="0" marL="0">
              <a:buNone/>
            </a:pPr>
            <a:r>
              <a:rPr lang="en-US" sz="2400" b="1" dirty="0">
                <a:solidFill>
                  <a:schemeClr val="accent1"/>
                </a:solidFill>
              </a:rPr>
              <a:t>4</a:t>
            </a:r>
            <a:endParaRPr lang="en-US" sz="2400" dirty="0"/>
          </a:p>
        </p:txBody>
      </p:sp>
      <p:sp>
        <p:nvSpPr>
          <p:cNvPr id="27" name="text-25"/>
          <p:cNvSpPr txBox="1"/>
          <p:nvPr/>
        </p:nvSpPr>
        <p:spPr>
          <a:xfrm>
            <a:off x="5440680" y="4453128"/>
            <a:ext cx="6199632" cy="685800"/>
          </a:xfrm>
          <a:prstGeom prst="rect">
            <a:avLst/>
          </a:prstGeom>
          <a:noFill/>
          <a:ln/>
        </p:spPr>
        <p:txBody>
          <a:bodyPr wrap="square" lIns="0" tIns="0" rIns="0" bIns="0" rtlCol="0" anchor="t"/>
          <a:lstStyle/>
          <a:p>
            <a:pPr indent="0" marL="0">
              <a:buNone/>
            </a:pPr>
            <a:r>
              <a:rPr lang="en-US" sz="1700" dirty="0">
                <a:solidFill>
                  <a:schemeClr val="tx1"/>
                </a:solidFill>
              </a:rPr>
              <a:t>Refine prompts through iterative testing and evaluation.</a:t>
            </a:r>
            <a:endParaRPr lang="en-US" sz="1700" dirty="0"/>
          </a:p>
        </p:txBody>
      </p:sp>
      <p:sp>
        <p:nvSpPr>
          <p:cNvPr id="28" name="text-26"/>
          <p:cNvSpPr txBox="1"/>
          <p:nvPr/>
        </p:nvSpPr>
        <p:spPr>
          <a:xfrm>
            <a:off x="4937760" y="5202936"/>
            <a:ext cx="411480" cy="685800"/>
          </a:xfrm>
          <a:prstGeom prst="rect">
            <a:avLst/>
          </a:prstGeom>
          <a:noFill/>
          <a:ln/>
        </p:spPr>
        <p:txBody>
          <a:bodyPr wrap="square" lIns="0" tIns="0" rIns="0" bIns="0" rtlCol="0" anchor="t"/>
          <a:lstStyle/>
          <a:p>
            <a:pPr indent="0" marL="0">
              <a:buNone/>
            </a:pPr>
            <a:r>
              <a:rPr lang="en-US" sz="2400" b="1" dirty="0">
                <a:solidFill>
                  <a:schemeClr val="accent1"/>
                </a:solidFill>
              </a:rPr>
              <a:t>5</a:t>
            </a:r>
            <a:endParaRPr lang="en-US" sz="2400" dirty="0"/>
          </a:p>
        </p:txBody>
      </p:sp>
      <p:sp>
        <p:nvSpPr>
          <p:cNvPr id="29" name="text-27"/>
          <p:cNvSpPr txBox="1"/>
          <p:nvPr/>
        </p:nvSpPr>
        <p:spPr>
          <a:xfrm>
            <a:off x="5440680" y="5239512"/>
            <a:ext cx="6199632" cy="685800"/>
          </a:xfrm>
          <a:prstGeom prst="rect">
            <a:avLst/>
          </a:prstGeom>
          <a:noFill/>
          <a:ln/>
        </p:spPr>
        <p:txBody>
          <a:bodyPr wrap="square" lIns="0" tIns="0" rIns="0" bIns="0" rtlCol="0" anchor="t"/>
          <a:lstStyle/>
          <a:p>
            <a:pPr indent="0" marL="0">
              <a:buNone/>
            </a:pPr>
            <a:r>
              <a:rPr lang="en-US" sz="1700" dirty="0">
                <a:solidFill>
                  <a:schemeClr val="tx1"/>
                </a:solidFill>
              </a:rPr>
              <a:t>Use prompting strategies that improve efficiency while maintaining output quality.</a:t>
            </a:r>
            <a:endParaRPr lang="en-US" sz="17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548640" y="411480"/>
            <a:ext cx="82296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rPr>
              <a:t>SETUP  ·  EVERYONE</a:t>
            </a:r>
            <a:endParaRPr lang="en-US" sz="1400" dirty="0"/>
          </a:p>
        </p:txBody>
      </p:sp>
      <p:sp>
        <p:nvSpPr>
          <p:cNvPr id="3" name="Text 0"/>
          <p:cNvSpPr/>
          <p:nvPr>
            <p:ph idx="102" type="title" hasCustomPrompt="1"/>
          </p:nvPr>
        </p:nvSpPr>
        <p:spPr>
          <a:xfrm>
            <a:off x="548640" y="777240"/>
            <a:ext cx="8778240" cy="822960"/>
          </a:xfrm>
          <a:prstGeom prst="rect">
            <a:avLst/>
          </a:prstGeom>
          <a:noFill/>
          <a:ln/>
        </p:spPr>
        <p:txBody>
          <a:bodyPr wrap="square" lIns="0" tIns="0" rIns="0" bIns="0" rtlCol="0" anchor="ctr"/>
          <a:lstStyle/>
          <a:p>
            <a:pPr algn="l" indent="0" marL="0">
              <a:buNone/>
            </a:pPr>
            <a:r>
              <a:rPr lang="en-US" sz="3800" b="1" dirty="0">
                <a:solidFill>
                  <a:schemeClr val="bg1"/>
                </a:solidFill>
              </a:rPr>
              <a:t>Open Gemini</a:t>
            </a:r>
            <a:endParaRPr lang="en-US" sz="3800" dirty="0"/>
          </a:p>
        </p:txBody>
      </p:sp>
      <p:sp>
        <p:nvSpPr>
          <p:cNvPr id="4" name="badge-28"/>
          <p:cNvSpPr/>
          <p:nvPr/>
        </p:nvSpPr>
        <p:spPr>
          <a:xfrm>
            <a:off x="10042855" y="502920"/>
            <a:ext cx="1600200" cy="457200"/>
          </a:xfrm>
          <a:prstGeom prst="roundRect">
            <a:avLst>
              <a:gd name="adj" fmla="val 50000"/>
            </a:avLst>
          </a:prstGeom>
          <a:solidFill>
            <a:schemeClr val="bg1"/>
          </a:solidFill>
          <a:ln/>
        </p:spPr>
      </p:sp>
      <p:sp>
        <p:nvSpPr>
          <p:cNvPr id="5" name="text-29"/>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10 min</a:t>
            </a:r>
            <a:endParaRPr lang="en-US" sz="1600" dirty="0"/>
          </a:p>
        </p:txBody>
      </p:sp>
      <p:sp>
        <p:nvSpPr>
          <p:cNvPr id="6" name="text-30"/>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accent3"/>
                </a:solidFill>
              </a:rPr>
              <a:t>Prompt Engineering Essentials</a:t>
            </a:r>
            <a:endParaRPr lang="en-US" sz="1000" dirty="0"/>
          </a:p>
        </p:txBody>
      </p:sp>
      <p:sp>
        <p:nvSpPr>
          <p:cNvPr id="7" name="num-31"/>
          <p:cNvSpPr/>
          <p:nvPr/>
        </p:nvSpPr>
        <p:spPr>
          <a:xfrm>
            <a:off x="548640" y="2011680"/>
            <a:ext cx="548640" cy="548640"/>
          </a:xfrm>
          <a:prstGeom prst="ellipse">
            <a:avLst/>
          </a:prstGeom>
          <a:solidFill>
            <a:schemeClr val="bg1"/>
          </a:solidFill>
          <a:ln/>
        </p:spPr>
      </p:sp>
      <p:sp>
        <p:nvSpPr>
          <p:cNvPr id="8" name="text-32"/>
          <p:cNvSpPr txBox="1"/>
          <p:nvPr/>
        </p:nvSpPr>
        <p:spPr>
          <a:xfrm>
            <a:off x="548640" y="20116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9" name="text-33"/>
          <p:cNvSpPr txBox="1"/>
          <p:nvPr/>
        </p:nvSpPr>
        <p:spPr>
          <a:xfrm>
            <a:off x="1371600" y="2011680"/>
            <a:ext cx="5303520" cy="914400"/>
          </a:xfrm>
          <a:prstGeom prst="rect">
            <a:avLst/>
          </a:prstGeom>
          <a:noFill/>
          <a:ln/>
        </p:spPr>
        <p:txBody>
          <a:bodyPr wrap="square" lIns="0" tIns="0" rIns="0" bIns="0" rtlCol="0" anchor="ctr"/>
          <a:lstStyle/>
          <a:p>
            <a:pPr indent="0" marL="0">
              <a:buNone/>
            </a:pPr>
            <a:r>
              <a:rPr lang="en-US" sz="1900" dirty="0">
                <a:solidFill>
                  <a:schemeClr val="bg1"/>
                </a:solidFill>
              </a:rPr>
              <a:t>Go to gemini.google.com and sign in.</a:t>
            </a:r>
            <a:endParaRPr lang="en-US" sz="1900" dirty="0"/>
          </a:p>
        </p:txBody>
      </p:sp>
      <p:sp>
        <p:nvSpPr>
          <p:cNvPr id="10" name="num-34"/>
          <p:cNvSpPr/>
          <p:nvPr/>
        </p:nvSpPr>
        <p:spPr>
          <a:xfrm>
            <a:off x="548640" y="3063240"/>
            <a:ext cx="548640" cy="548640"/>
          </a:xfrm>
          <a:prstGeom prst="ellipse">
            <a:avLst/>
          </a:prstGeom>
          <a:solidFill>
            <a:schemeClr val="bg1"/>
          </a:solidFill>
          <a:ln/>
        </p:spPr>
      </p:sp>
      <p:sp>
        <p:nvSpPr>
          <p:cNvPr id="11" name="text-35"/>
          <p:cNvSpPr txBox="1"/>
          <p:nvPr/>
        </p:nvSpPr>
        <p:spPr>
          <a:xfrm>
            <a:off x="548640" y="306324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2" name="text-36"/>
          <p:cNvSpPr txBox="1"/>
          <p:nvPr/>
        </p:nvSpPr>
        <p:spPr>
          <a:xfrm>
            <a:off x="1371600" y="3063240"/>
            <a:ext cx="5303520" cy="914400"/>
          </a:xfrm>
          <a:prstGeom prst="rect">
            <a:avLst/>
          </a:prstGeom>
          <a:noFill/>
          <a:ln/>
        </p:spPr>
        <p:txBody>
          <a:bodyPr wrap="square" lIns="0" tIns="0" rIns="0" bIns="0" rtlCol="0" anchor="ctr"/>
          <a:lstStyle/>
          <a:p>
            <a:pPr indent="0" marL="0">
              <a:buNone/>
            </a:pPr>
            <a:r>
              <a:rPr lang="en-US" sz="1900" dirty="0">
                <a:solidFill>
                  <a:schemeClr val="bg1"/>
                </a:solidFill>
              </a:rPr>
              <a:t>Click the account picture, top right. Is it a work or school account, or a personal one?</a:t>
            </a:r>
            <a:endParaRPr lang="en-US" sz="1900" dirty="0"/>
          </a:p>
        </p:txBody>
      </p:sp>
      <p:sp>
        <p:nvSpPr>
          <p:cNvPr id="13" name="num-37"/>
          <p:cNvSpPr/>
          <p:nvPr/>
        </p:nvSpPr>
        <p:spPr>
          <a:xfrm>
            <a:off x="548640" y="4114800"/>
            <a:ext cx="548640" cy="548640"/>
          </a:xfrm>
          <a:prstGeom prst="ellipse">
            <a:avLst/>
          </a:prstGeom>
          <a:solidFill>
            <a:schemeClr val="bg1"/>
          </a:solidFill>
          <a:ln/>
        </p:spPr>
      </p:sp>
      <p:sp>
        <p:nvSpPr>
          <p:cNvPr id="14" name="text-38"/>
          <p:cNvSpPr txBox="1"/>
          <p:nvPr/>
        </p:nvSpPr>
        <p:spPr>
          <a:xfrm>
            <a:off x="548640" y="41148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5" name="text-39"/>
          <p:cNvSpPr txBox="1"/>
          <p:nvPr/>
        </p:nvSpPr>
        <p:spPr>
          <a:xfrm>
            <a:off x="1371600" y="4114800"/>
            <a:ext cx="5303520" cy="914400"/>
          </a:xfrm>
          <a:prstGeom prst="rect">
            <a:avLst/>
          </a:prstGeom>
          <a:noFill/>
          <a:ln/>
        </p:spPr>
        <p:txBody>
          <a:bodyPr wrap="square" lIns="0" tIns="0" rIns="0" bIns="0" rtlCol="0" anchor="ctr"/>
          <a:lstStyle/>
          <a:p>
            <a:pPr indent="0" marL="0">
              <a:buNone/>
            </a:pPr>
            <a:r>
              <a:rPr lang="en-US" sz="1900" dirty="0">
                <a:solidFill>
                  <a:schemeClr val="bg1"/>
                </a:solidFill>
              </a:rPr>
              <a:t>Type the prompt on the right and press Enter.</a:t>
            </a:r>
            <a:endParaRPr lang="en-US" sz="1900" dirty="0"/>
          </a:p>
        </p:txBody>
      </p:sp>
      <p:sp>
        <p:nvSpPr>
          <p:cNvPr id="16" name="card-40"/>
          <p:cNvSpPr/>
          <p:nvPr/>
        </p:nvSpPr>
        <p:spPr>
          <a:xfrm>
            <a:off x="6858000" y="2011680"/>
            <a:ext cx="4782312" cy="1737360"/>
          </a:xfrm>
          <a:prstGeom prst="roundRect">
            <a:avLst>
              <a:gd name="adj" fmla="val 6316"/>
            </a:avLst>
          </a:prstGeom>
          <a:solidFill>
            <a:schemeClr val="accent2"/>
          </a:solidFill>
          <a:ln/>
        </p:spPr>
      </p:sp>
      <p:sp>
        <p:nvSpPr>
          <p:cNvPr id="17" name="text-41"/>
          <p:cNvSpPr txBox="1"/>
          <p:nvPr/>
        </p:nvSpPr>
        <p:spPr>
          <a:xfrm>
            <a:off x="7132320" y="2212848"/>
            <a:ext cx="4233672"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PROMPT</a:t>
            </a:r>
            <a:endParaRPr lang="en-US" sz="1200" dirty="0"/>
          </a:p>
        </p:txBody>
      </p:sp>
      <p:sp>
        <p:nvSpPr>
          <p:cNvPr id="18" name="text-42"/>
          <p:cNvSpPr txBox="1"/>
          <p:nvPr/>
        </p:nvSpPr>
        <p:spPr>
          <a:xfrm>
            <a:off x="7132320" y="2542032"/>
            <a:ext cx="4233672" cy="1024128"/>
          </a:xfrm>
          <a:prstGeom prst="rect">
            <a:avLst/>
          </a:prstGeom>
          <a:noFill/>
          <a:ln/>
        </p:spPr>
        <p:txBody>
          <a:bodyPr wrap="square" lIns="0" tIns="0" rIns="0" bIns="0" rtlCol="0" anchor="t"/>
          <a:lstStyle/>
          <a:p>
            <a:pPr indent="0" marL="0">
              <a:spcAft>
                <a:spcPts val="200"/>
              </a:spcAft>
              <a:buNone/>
            </a:pPr>
            <a:r>
              <a:rPr lang="en-US" sz="1800" dirty="0">
                <a:solidFill>
                  <a:schemeClr val="bg1"/>
                </a:solidFill>
                <a:latin typeface="Courier New" pitchFamily="34" charset="0"/>
                <a:ea typeface="Courier New" pitchFamily="34" charset="-122"/>
                <a:cs typeface="Courier New" pitchFamily="34" charset="-120"/>
              </a:rPr>
              <a:t>In two sentences, explain what you can help me with at work.</a:t>
            </a:r>
            <a:endParaRPr lang="en-US" sz="1800" dirty="0"/>
          </a:p>
        </p:txBody>
      </p:sp>
      <p:sp>
        <p:nvSpPr>
          <p:cNvPr id="19" name="text-43"/>
          <p:cNvSpPr txBox="1"/>
          <p:nvPr/>
        </p:nvSpPr>
        <p:spPr>
          <a:xfrm>
            <a:off x="6858000" y="4023360"/>
            <a:ext cx="4754880" cy="1097280"/>
          </a:xfrm>
          <a:prstGeom prst="rect">
            <a:avLst/>
          </a:prstGeom>
          <a:noFill/>
          <a:ln/>
        </p:spPr>
        <p:txBody>
          <a:bodyPr wrap="square" lIns="0" tIns="0" rIns="0" bIns="0" rtlCol="0" anchor="t"/>
          <a:lstStyle/>
          <a:p>
            <a:pPr indent="0" marL="0">
              <a:buNone/>
            </a:pPr>
            <a:r>
              <a:rPr lang="en-US" sz="1800" b="1" dirty="0">
                <a:solidFill>
                  <a:schemeClr val="bg1"/>
                </a:solidFill>
              </a:rPr>
              <a:t>Got a response? You're ready.</a:t>
            </a:r>
            <a:endParaRPr lang="en-US" sz="1800" dirty="0"/>
          </a:p>
          <a:p>
            <a:pPr indent="0" marL="0">
              <a:buNone/>
            </a:pPr>
            <a:r>
              <a:rPr lang="en-US" sz="1800" dirty="0">
                <a:solidFill>
                  <a:schemeClr val="accent3"/>
                </a:solidFill>
              </a:rPr>
              <a:t>Open your workbook: every exercise and source text is there.</a:t>
            </a:r>
            <a:endParaRPr lang="en-US" sz="1800" dirty="0"/>
          </a:p>
        </p:txBody>
      </p:sp>
      <p:sp>
        <p:nvSpPr>
          <p:cNvPr id="20" name="text-44"/>
          <p:cNvSpPr txBox="1"/>
          <p:nvPr/>
        </p:nvSpPr>
        <p:spPr>
          <a:xfrm>
            <a:off x="548640" y="5486400"/>
            <a:ext cx="10180015" cy="640080"/>
          </a:xfrm>
          <a:prstGeom prst="rect">
            <a:avLst/>
          </a:prstGeom>
          <a:noFill/>
          <a:ln/>
        </p:spPr>
        <p:txBody>
          <a:bodyPr wrap="square" lIns="0" tIns="0" rIns="0" bIns="0" rtlCol="0" anchor="t"/>
          <a:lstStyle/>
          <a:p>
            <a:pPr indent="0" marL="0">
              <a:buNone/>
            </a:pPr>
            <a:r>
              <a:rPr lang="en-US" sz="1700" b="1" dirty="0">
                <a:solidFill>
                  <a:schemeClr val="accent1"/>
                </a:solidFill>
              </a:rPr>
              <a:t>One rule for today: </a:t>
            </a:r>
            <a:pPr indent="0" marL="0">
              <a:buNone/>
            </a:pPr>
            <a:r>
              <a:rPr lang="en-US" sz="1700" dirty="0">
                <a:solidFill>
                  <a:schemeClr val="bg1"/>
                </a:solidFill>
              </a:rPr>
              <a:t>use only the fictional material in the workbook. Nothing personal or confidential goes into Gemini.</a:t>
            </a:r>
            <a:endParaRPr lang="en-US" sz="17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CBBB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Gemini writes by predicting the next word</a:t>
            </a:r>
            <a:endParaRPr lang="en-US" sz="3400" dirty="0"/>
          </a:p>
        </p:txBody>
      </p:sp>
      <p:sp>
        <p:nvSpPr>
          <p:cNvPr id="3" name="text-45"/>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tx2"/>
                </a:solidFill>
              </a:rPr>
              <a:t>Prompt Engineering Essentials   ·   Part 1: Foundations</a:t>
            </a:r>
            <a:endParaRPr lang="en-US" sz="1000" dirty="0"/>
          </a:p>
        </p:txBody>
      </p:sp>
      <p:sp>
        <p:nvSpPr>
          <p:cNvPr id="4" name="num-46"/>
          <p:cNvSpPr/>
          <p:nvPr/>
        </p:nvSpPr>
        <p:spPr>
          <a:xfrm>
            <a:off x="548640" y="1600200"/>
            <a:ext cx="566928" cy="566928"/>
          </a:xfrm>
          <a:prstGeom prst="ellipse">
            <a:avLst/>
          </a:prstGeom>
          <a:solidFill>
            <a:schemeClr val="tx1"/>
          </a:solidFill>
          <a:ln/>
        </p:spPr>
      </p:sp>
      <p:sp>
        <p:nvSpPr>
          <p:cNvPr id="5" name="text-47"/>
          <p:cNvSpPr txBox="1"/>
          <p:nvPr/>
        </p:nvSpPr>
        <p:spPr>
          <a:xfrm>
            <a:off x="548640" y="16002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48"/>
          <p:cNvSpPr txBox="1"/>
          <p:nvPr/>
        </p:nvSpPr>
        <p:spPr>
          <a:xfrm>
            <a:off x="1371600" y="1581912"/>
            <a:ext cx="4297680" cy="411480"/>
          </a:xfrm>
          <a:prstGeom prst="rect">
            <a:avLst/>
          </a:prstGeom>
          <a:noFill/>
          <a:ln/>
        </p:spPr>
        <p:txBody>
          <a:bodyPr wrap="square" lIns="0" tIns="0" rIns="0" bIns="0" rtlCol="0" anchor="t"/>
          <a:lstStyle/>
          <a:p>
            <a:pPr indent="0" marL="0">
              <a:buNone/>
            </a:pPr>
            <a:r>
              <a:rPr lang="en-US" sz="2000" b="1" dirty="0">
                <a:solidFill>
                  <a:schemeClr val="tx1"/>
                </a:solidFill>
              </a:rPr>
              <a:t>Trained on huge amounts of text</a:t>
            </a:r>
            <a:endParaRPr lang="en-US" sz="2000" dirty="0"/>
          </a:p>
        </p:txBody>
      </p:sp>
      <p:sp>
        <p:nvSpPr>
          <p:cNvPr id="7" name="text-49"/>
          <p:cNvSpPr txBox="1"/>
          <p:nvPr/>
        </p:nvSpPr>
        <p:spPr>
          <a:xfrm>
            <a:off x="1371600" y="2011680"/>
            <a:ext cx="4297680" cy="731520"/>
          </a:xfrm>
          <a:prstGeom prst="rect">
            <a:avLst/>
          </a:prstGeom>
          <a:noFill/>
          <a:ln/>
        </p:spPr>
        <p:txBody>
          <a:bodyPr wrap="square" lIns="0" tIns="0" rIns="0" bIns="0" rtlCol="0" anchor="t"/>
          <a:lstStyle/>
          <a:p>
            <a:pPr indent="0" marL="0">
              <a:buNone/>
            </a:pPr>
            <a:r>
              <a:rPr lang="en-US" sz="1600" dirty="0">
                <a:solidFill>
                  <a:schemeClr val="tx2"/>
                </a:solidFill>
              </a:rPr>
              <a:t>Books, websites, and articles: billions of pages.</a:t>
            </a:r>
            <a:endParaRPr lang="en-US" sz="1600" dirty="0"/>
          </a:p>
        </p:txBody>
      </p:sp>
      <p:sp>
        <p:nvSpPr>
          <p:cNvPr id="8" name="num-50"/>
          <p:cNvSpPr/>
          <p:nvPr/>
        </p:nvSpPr>
        <p:spPr>
          <a:xfrm>
            <a:off x="548640" y="2971800"/>
            <a:ext cx="566928" cy="566928"/>
          </a:xfrm>
          <a:prstGeom prst="ellipse">
            <a:avLst/>
          </a:prstGeom>
          <a:solidFill>
            <a:schemeClr val="tx1"/>
          </a:solidFill>
          <a:ln/>
        </p:spPr>
      </p:sp>
      <p:sp>
        <p:nvSpPr>
          <p:cNvPr id="9" name="text-51"/>
          <p:cNvSpPr txBox="1"/>
          <p:nvPr/>
        </p:nvSpPr>
        <p:spPr>
          <a:xfrm>
            <a:off x="548640" y="29718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52"/>
          <p:cNvSpPr txBox="1"/>
          <p:nvPr/>
        </p:nvSpPr>
        <p:spPr>
          <a:xfrm>
            <a:off x="1371600" y="2953512"/>
            <a:ext cx="4297680" cy="411480"/>
          </a:xfrm>
          <a:prstGeom prst="rect">
            <a:avLst/>
          </a:prstGeom>
          <a:noFill/>
          <a:ln/>
        </p:spPr>
        <p:txBody>
          <a:bodyPr wrap="square" lIns="0" tIns="0" rIns="0" bIns="0" rtlCol="0" anchor="t"/>
          <a:lstStyle/>
          <a:p>
            <a:pPr indent="0" marL="0">
              <a:buNone/>
            </a:pPr>
            <a:r>
              <a:rPr lang="en-US" sz="2000" b="1" dirty="0">
                <a:solidFill>
                  <a:schemeClr val="tx1"/>
                </a:solidFill>
              </a:rPr>
              <a:t>Learns the patterns of language</a:t>
            </a:r>
            <a:endParaRPr lang="en-US" sz="2000" dirty="0"/>
          </a:p>
        </p:txBody>
      </p:sp>
      <p:sp>
        <p:nvSpPr>
          <p:cNvPr id="11" name="text-53"/>
          <p:cNvSpPr txBox="1"/>
          <p:nvPr/>
        </p:nvSpPr>
        <p:spPr>
          <a:xfrm>
            <a:off x="1371600" y="3383280"/>
            <a:ext cx="4297680" cy="731520"/>
          </a:xfrm>
          <a:prstGeom prst="rect">
            <a:avLst/>
          </a:prstGeom>
          <a:noFill/>
          <a:ln/>
        </p:spPr>
        <p:txBody>
          <a:bodyPr wrap="square" lIns="0" tIns="0" rIns="0" bIns="0" rtlCol="0" anchor="t"/>
          <a:lstStyle/>
          <a:p>
            <a:pPr indent="0" marL="0">
              <a:buNone/>
            </a:pPr>
            <a:r>
              <a:rPr lang="en-US" sz="1600" dirty="0">
                <a:solidFill>
                  <a:schemeClr val="tx2"/>
                </a:solidFill>
              </a:rPr>
              <a:t>Which words tend to follow which, in which contexts.</a:t>
            </a:r>
            <a:endParaRPr lang="en-US" sz="1600" dirty="0"/>
          </a:p>
        </p:txBody>
      </p:sp>
      <p:sp>
        <p:nvSpPr>
          <p:cNvPr id="12" name="num-54"/>
          <p:cNvSpPr/>
          <p:nvPr/>
        </p:nvSpPr>
        <p:spPr>
          <a:xfrm>
            <a:off x="548640" y="4343400"/>
            <a:ext cx="566928" cy="566928"/>
          </a:xfrm>
          <a:prstGeom prst="ellipse">
            <a:avLst/>
          </a:prstGeom>
          <a:solidFill>
            <a:schemeClr val="tx1"/>
          </a:solidFill>
          <a:ln/>
        </p:spPr>
      </p:sp>
      <p:sp>
        <p:nvSpPr>
          <p:cNvPr id="13" name="text-55"/>
          <p:cNvSpPr txBox="1"/>
          <p:nvPr/>
        </p:nvSpPr>
        <p:spPr>
          <a:xfrm>
            <a:off x="548640" y="43434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56"/>
          <p:cNvSpPr txBox="1"/>
          <p:nvPr/>
        </p:nvSpPr>
        <p:spPr>
          <a:xfrm>
            <a:off x="1371600" y="4325112"/>
            <a:ext cx="4297680" cy="411480"/>
          </a:xfrm>
          <a:prstGeom prst="rect">
            <a:avLst/>
          </a:prstGeom>
          <a:noFill/>
          <a:ln/>
        </p:spPr>
        <p:txBody>
          <a:bodyPr wrap="square" lIns="0" tIns="0" rIns="0" bIns="0" rtlCol="0" anchor="t"/>
          <a:lstStyle/>
          <a:p>
            <a:pPr indent="0" marL="0">
              <a:buNone/>
            </a:pPr>
            <a:r>
              <a:rPr lang="en-US" sz="2000" b="1" dirty="0">
                <a:solidFill>
                  <a:schemeClr val="tx1"/>
                </a:solidFill>
              </a:rPr>
              <a:t>Writes one piece at a time</a:t>
            </a:r>
            <a:endParaRPr lang="en-US" sz="2000" dirty="0"/>
          </a:p>
        </p:txBody>
      </p:sp>
      <p:sp>
        <p:nvSpPr>
          <p:cNvPr id="15" name="text-57"/>
          <p:cNvSpPr txBox="1"/>
          <p:nvPr/>
        </p:nvSpPr>
        <p:spPr>
          <a:xfrm>
            <a:off x="1371600" y="4754880"/>
            <a:ext cx="4297680" cy="731520"/>
          </a:xfrm>
          <a:prstGeom prst="rect">
            <a:avLst/>
          </a:prstGeom>
          <a:noFill/>
          <a:ln/>
        </p:spPr>
        <p:txBody>
          <a:bodyPr wrap="square" lIns="0" tIns="0" rIns="0" bIns="0" rtlCol="0" anchor="t"/>
          <a:lstStyle/>
          <a:p>
            <a:pPr indent="0" marL="0">
              <a:buNone/>
            </a:pPr>
            <a:r>
              <a:rPr lang="en-US" sz="1600" dirty="0">
                <a:solidFill>
                  <a:schemeClr val="tx2"/>
                </a:solidFill>
              </a:rPr>
              <a:t>Each word is a prediction, shaped by your prompt and the context you give it.</a:t>
            </a:r>
            <a:endParaRPr lang="en-US" sz="1600" dirty="0"/>
          </a:p>
        </p:txBody>
      </p:sp>
      <p:sp>
        <p:nvSpPr>
          <p:cNvPr id="16" name="card-58"/>
          <p:cNvSpPr/>
          <p:nvPr/>
        </p:nvSpPr>
        <p:spPr>
          <a:xfrm>
            <a:off x="5806440" y="1463040"/>
            <a:ext cx="5833872" cy="4572000"/>
          </a:xfrm>
          <a:prstGeom prst="roundRect">
            <a:avLst>
              <a:gd name="adj" fmla="val 2400"/>
            </a:avLst>
          </a:prstGeom>
          <a:solidFill>
            <a:schemeClr val="bg2"/>
          </a:solidFill>
          <a:ln/>
        </p:spPr>
      </p:sp>
      <p:sp>
        <p:nvSpPr>
          <p:cNvPr id="17" name="text-59"/>
          <p:cNvSpPr txBox="1"/>
          <p:nvPr/>
        </p:nvSpPr>
        <p:spPr>
          <a:xfrm>
            <a:off x="6080760" y="1691640"/>
            <a:ext cx="5303520" cy="457200"/>
          </a:xfrm>
          <a:prstGeom prst="rect">
            <a:avLst/>
          </a:prstGeom>
          <a:noFill/>
          <a:ln/>
        </p:spPr>
        <p:txBody>
          <a:bodyPr wrap="square" lIns="0" tIns="0" rIns="0" bIns="0" rtlCol="0" anchor="t"/>
          <a:lstStyle/>
          <a:p>
            <a:pPr indent="0" marL="0">
              <a:buNone/>
            </a:pPr>
            <a:r>
              <a:rPr lang="en-US" sz="1800" b="1" dirty="0">
                <a:solidFill>
                  <a:schemeClr val="tx1"/>
                </a:solidFill>
              </a:rPr>
              <a:t>“Our quarterly meeting has been moved to ___”</a:t>
            </a:r>
            <a:endParaRPr lang="en-US" sz="1800" dirty="0"/>
          </a:p>
        </p:txBody>
      </p:sp>
      <p:graphicFrame>
        <p:nvGraphicFramePr>
          <p:cNvPr id="18" name="next-word-chart" descr=""/>
          <p:cNvGraphicFramePr/>
          <p:nvPr/>
        </p:nvGraphicFramePr>
        <p:xfrm>
          <a:off x="5989320" y="2194560"/>
          <a:ext cx="5486400" cy="3200400"/>
        </p:xfrm>
        <a:graphic xmlns:a="http://schemas.openxmlformats.org/drawingml/2006/main">
          <a:graphicData uri="http://schemas.openxmlformats.org/drawingml/2006/chart">
            <c:chart xmlns:c="http://schemas.openxmlformats.org/drawingml/2006/chart" r:id="rId1"/>
          </a:graphicData>
        </a:graphic>
      </p:graphicFrame>
      <p:sp>
        <p:nvSpPr>
          <p:cNvPr id="19" name="text-60"/>
          <p:cNvSpPr txBox="1"/>
          <p:nvPr/>
        </p:nvSpPr>
        <p:spPr>
          <a:xfrm>
            <a:off x="6080760" y="5486400"/>
            <a:ext cx="5303520" cy="365760"/>
          </a:xfrm>
          <a:prstGeom prst="rect">
            <a:avLst/>
          </a:prstGeom>
          <a:noFill/>
          <a:ln/>
        </p:spPr>
        <p:txBody>
          <a:bodyPr wrap="square" lIns="0" tIns="0" rIns="0" bIns="0" rtlCol="0" anchor="t"/>
          <a:lstStyle/>
          <a:p>
            <a:pPr indent="0" marL="0">
              <a:buNone/>
            </a:pPr>
            <a:r>
              <a:rPr lang="en-US" sz="1300" dirty="0">
                <a:solidFill>
                  <a:schemeClr val="tx2"/>
                </a:solidFill>
              </a:rPr>
              <a:t>Illustrative numbers. It picks a likely word, not a checked fact.</a:t>
            </a:r>
            <a:endParaRPr lang="en-US" sz="13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Four limits that shape how you prompt</a:t>
            </a:r>
            <a:endParaRPr lang="en-US" sz="3400" dirty="0"/>
          </a:p>
        </p:txBody>
      </p:sp>
      <p:sp>
        <p:nvSpPr>
          <p:cNvPr id="3" name="text-61"/>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tx2"/>
                </a:solidFill>
              </a:rPr>
              <a:t>Prompt Engineering Essentials   ·   Part 1: Foundations</a:t>
            </a:r>
            <a:endParaRPr lang="en-US" sz="1000" dirty="0"/>
          </a:p>
        </p:txBody>
      </p:sp>
      <p:sp>
        <p:nvSpPr>
          <p:cNvPr id="4" name="card-62"/>
          <p:cNvSpPr/>
          <p:nvPr/>
        </p:nvSpPr>
        <p:spPr>
          <a:xfrm>
            <a:off x="548640" y="1417320"/>
            <a:ext cx="5387188" cy="1691640"/>
          </a:xfrm>
          <a:prstGeom prst="roundRect">
            <a:avLst>
              <a:gd name="adj" fmla="val 6486"/>
            </a:avLst>
          </a:prstGeom>
          <a:solidFill>
            <a:schemeClr val="bg2"/>
          </a:solidFill>
          <a:ln/>
        </p:spPr>
      </p:sp>
      <p:sp>
        <p:nvSpPr>
          <p:cNvPr id="5" name="text-63"/>
          <p:cNvSpPr txBox="1"/>
          <p:nvPr/>
        </p:nvSpPr>
        <p:spPr>
          <a:xfrm>
            <a:off x="868680" y="1645920"/>
            <a:ext cx="457200" cy="502920"/>
          </a:xfrm>
          <a:prstGeom prst="rect">
            <a:avLst/>
          </a:prstGeom>
          <a:noFill/>
          <a:ln/>
        </p:spPr>
        <p:txBody>
          <a:bodyPr wrap="square" lIns="0" tIns="0" rIns="0" bIns="0" rtlCol="0" anchor="t"/>
          <a:lstStyle/>
          <a:p>
            <a:pPr indent="0" marL="0">
              <a:buNone/>
            </a:pPr>
            <a:r>
              <a:rPr lang="en-US" sz="3000" b="1" dirty="0">
                <a:solidFill>
                  <a:schemeClr val="accent1"/>
                </a:solidFill>
              </a:rPr>
              <a:t>1</a:t>
            </a:r>
            <a:endParaRPr lang="en-US" sz="3000" dirty="0"/>
          </a:p>
        </p:txBody>
      </p:sp>
      <p:sp>
        <p:nvSpPr>
          <p:cNvPr id="6" name="text-64"/>
          <p:cNvSpPr txBox="1"/>
          <p:nvPr/>
        </p:nvSpPr>
        <p:spPr>
          <a:xfrm>
            <a:off x="1371600" y="1691640"/>
            <a:ext cx="3558388" cy="457200"/>
          </a:xfrm>
          <a:prstGeom prst="rect">
            <a:avLst/>
          </a:prstGeom>
          <a:noFill/>
          <a:ln/>
        </p:spPr>
        <p:txBody>
          <a:bodyPr wrap="square" lIns="0" tIns="0" rIns="0" bIns="0" rtlCol="0" anchor="t"/>
          <a:lstStyle/>
          <a:p>
            <a:pPr indent="0" marL="0">
              <a:buNone/>
            </a:pPr>
            <a:r>
              <a:rPr lang="en-US" sz="2200" b="1" dirty="0">
                <a:solidFill>
                  <a:schemeClr val="tx1"/>
                </a:solidFill>
              </a:rPr>
              <a:t>It can make things up</a:t>
            </a:r>
            <a:endParaRPr lang="en-US" sz="2200" dirty="0"/>
          </a:p>
        </p:txBody>
      </p:sp>
      <p:sp>
        <p:nvSpPr>
          <p:cNvPr id="7" name="dot-65"/>
          <p:cNvSpPr/>
          <p:nvPr/>
        </p:nvSpPr>
        <p:spPr>
          <a:xfrm>
            <a:off x="5067148" y="1645920"/>
            <a:ext cx="566928" cy="566928"/>
          </a:xfrm>
          <a:prstGeom prst="ellipse">
            <a:avLst/>
          </a:prstGeom>
          <a:solidFill>
            <a:schemeClr val="tx1"/>
          </a:solidFill>
          <a:ln/>
        </p:spPr>
      </p:sp>
      <p:pic>
        <p:nvPicPr>
          <p:cNvPr id="8" name="icon-66" descr="preencoded.png">    </p:cNvPr>
          <p:cNvPicPr>
            <a:picLocks noChangeAspect="1"/>
          </p:cNvPicPr>
          <p:nvPr/>
        </p:nvPicPr>
        <p:blipFill>
          <a:blip r:embed="rId1"/>
          <a:stretch>
            <a:fillRect/>
          </a:stretch>
        </p:blipFill>
        <p:spPr>
          <a:xfrm>
            <a:off x="5191872" y="1770644"/>
            <a:ext cx="317480" cy="317480"/>
          </a:xfrm>
          <a:prstGeom prst="rect">
            <a:avLst/>
          </a:prstGeom>
        </p:spPr>
      </p:pic>
      <p:sp>
        <p:nvSpPr>
          <p:cNvPr id="9" name="text-67"/>
          <p:cNvSpPr txBox="1"/>
          <p:nvPr/>
        </p:nvSpPr>
        <p:spPr>
          <a:xfrm>
            <a:off x="1371600" y="2194560"/>
            <a:ext cx="4244188" cy="365760"/>
          </a:xfrm>
          <a:prstGeom prst="rect">
            <a:avLst/>
          </a:prstGeom>
          <a:noFill/>
          <a:ln/>
        </p:spPr>
        <p:txBody>
          <a:bodyPr wrap="square" lIns="0" tIns="0" rIns="0" bIns="0" rtlCol="0" anchor="t"/>
          <a:lstStyle/>
          <a:p>
            <a:pPr indent="0" marL="0">
              <a:buNone/>
            </a:pPr>
            <a:r>
              <a:rPr lang="en-US" sz="1600" dirty="0">
                <a:solidFill>
                  <a:schemeClr val="tx2"/>
                </a:solidFill>
              </a:rPr>
              <a:t>Fluent isn't the same as correct.</a:t>
            </a:r>
            <a:endParaRPr lang="en-US" sz="1600" dirty="0"/>
          </a:p>
        </p:txBody>
      </p:sp>
      <p:sp>
        <p:nvSpPr>
          <p:cNvPr id="10" name="text-68"/>
          <p:cNvSpPr txBox="1"/>
          <p:nvPr/>
        </p:nvSpPr>
        <p:spPr>
          <a:xfrm>
            <a:off x="1371600" y="2578608"/>
            <a:ext cx="4244188" cy="365760"/>
          </a:xfrm>
          <a:prstGeom prst="rect">
            <a:avLst/>
          </a:prstGeom>
          <a:noFill/>
          <a:ln/>
        </p:spPr>
        <p:txBody>
          <a:bodyPr wrap="square" lIns="0" tIns="0" rIns="0" bIns="0" rtlCol="0" anchor="t"/>
          <a:lstStyle/>
          <a:p>
            <a:pPr indent="0" marL="0">
              <a:buNone/>
            </a:pPr>
            <a:r>
              <a:rPr lang="en-US" sz="1600" b="1" dirty="0">
                <a:solidFill>
                  <a:schemeClr val="tx1"/>
                </a:solidFill>
              </a:rPr>
              <a:t>So: check anything that matters.</a:t>
            </a:r>
            <a:endParaRPr lang="en-US" sz="1600" dirty="0"/>
          </a:p>
        </p:txBody>
      </p:sp>
      <p:sp>
        <p:nvSpPr>
          <p:cNvPr id="11" name="card-69"/>
          <p:cNvSpPr/>
          <p:nvPr/>
        </p:nvSpPr>
        <p:spPr>
          <a:xfrm>
            <a:off x="6255868" y="1417320"/>
            <a:ext cx="5387188" cy="1691640"/>
          </a:xfrm>
          <a:prstGeom prst="roundRect">
            <a:avLst>
              <a:gd name="adj" fmla="val 6486"/>
            </a:avLst>
          </a:prstGeom>
          <a:solidFill>
            <a:schemeClr val="bg2"/>
          </a:solidFill>
          <a:ln/>
        </p:spPr>
      </p:sp>
      <p:sp>
        <p:nvSpPr>
          <p:cNvPr id="12" name="text-70"/>
          <p:cNvSpPr txBox="1"/>
          <p:nvPr/>
        </p:nvSpPr>
        <p:spPr>
          <a:xfrm>
            <a:off x="6575908" y="1645920"/>
            <a:ext cx="457200" cy="502920"/>
          </a:xfrm>
          <a:prstGeom prst="rect">
            <a:avLst/>
          </a:prstGeom>
          <a:noFill/>
          <a:ln/>
        </p:spPr>
        <p:txBody>
          <a:bodyPr wrap="square" lIns="0" tIns="0" rIns="0" bIns="0" rtlCol="0" anchor="t"/>
          <a:lstStyle/>
          <a:p>
            <a:pPr indent="0" marL="0">
              <a:buNone/>
            </a:pPr>
            <a:r>
              <a:rPr lang="en-US" sz="3000" b="1" dirty="0">
                <a:solidFill>
                  <a:schemeClr val="accent1"/>
                </a:solidFill>
              </a:rPr>
              <a:t>2</a:t>
            </a:r>
            <a:endParaRPr lang="en-US" sz="3000" dirty="0"/>
          </a:p>
        </p:txBody>
      </p:sp>
      <p:sp>
        <p:nvSpPr>
          <p:cNvPr id="13" name="text-71"/>
          <p:cNvSpPr txBox="1"/>
          <p:nvPr/>
        </p:nvSpPr>
        <p:spPr>
          <a:xfrm>
            <a:off x="7078828" y="1691640"/>
            <a:ext cx="3558388" cy="457200"/>
          </a:xfrm>
          <a:prstGeom prst="rect">
            <a:avLst/>
          </a:prstGeom>
          <a:noFill/>
          <a:ln/>
        </p:spPr>
        <p:txBody>
          <a:bodyPr wrap="square" lIns="0" tIns="0" rIns="0" bIns="0" rtlCol="0" anchor="t"/>
          <a:lstStyle/>
          <a:p>
            <a:pPr indent="0" marL="0">
              <a:buNone/>
            </a:pPr>
            <a:r>
              <a:rPr lang="en-US" sz="2200" b="1" dirty="0">
                <a:solidFill>
                  <a:schemeClr val="tx1"/>
                </a:solidFill>
              </a:rPr>
              <a:t>It's inconsistent</a:t>
            </a:r>
            <a:endParaRPr lang="en-US" sz="2200" dirty="0"/>
          </a:p>
        </p:txBody>
      </p:sp>
      <p:sp>
        <p:nvSpPr>
          <p:cNvPr id="14" name="dot-72"/>
          <p:cNvSpPr/>
          <p:nvPr/>
        </p:nvSpPr>
        <p:spPr>
          <a:xfrm>
            <a:off x="10774375" y="1645920"/>
            <a:ext cx="566928" cy="566928"/>
          </a:xfrm>
          <a:prstGeom prst="ellipse">
            <a:avLst/>
          </a:prstGeom>
          <a:solidFill>
            <a:schemeClr val="tx1"/>
          </a:solidFill>
          <a:ln/>
        </p:spPr>
      </p:sp>
      <p:pic>
        <p:nvPicPr>
          <p:cNvPr id="15" name="icon-73" descr="preencoded.png">    </p:cNvPr>
          <p:cNvPicPr>
            <a:picLocks noChangeAspect="1"/>
          </p:cNvPicPr>
          <p:nvPr/>
        </p:nvPicPr>
        <p:blipFill>
          <a:blip r:embed="rId2"/>
          <a:stretch>
            <a:fillRect/>
          </a:stretch>
        </p:blipFill>
        <p:spPr>
          <a:xfrm>
            <a:off x="10899099" y="1770644"/>
            <a:ext cx="317480" cy="317480"/>
          </a:xfrm>
          <a:prstGeom prst="rect">
            <a:avLst/>
          </a:prstGeom>
        </p:spPr>
      </p:pic>
      <p:sp>
        <p:nvSpPr>
          <p:cNvPr id="16" name="text-74"/>
          <p:cNvSpPr txBox="1"/>
          <p:nvPr/>
        </p:nvSpPr>
        <p:spPr>
          <a:xfrm>
            <a:off x="7078828" y="2194560"/>
            <a:ext cx="4244188" cy="365760"/>
          </a:xfrm>
          <a:prstGeom prst="rect">
            <a:avLst/>
          </a:prstGeom>
          <a:noFill/>
          <a:ln/>
        </p:spPr>
        <p:txBody>
          <a:bodyPr wrap="square" lIns="0" tIns="0" rIns="0" bIns="0" rtlCol="0" anchor="t"/>
          <a:lstStyle/>
          <a:p>
            <a:pPr indent="0" marL="0">
              <a:buNone/>
            </a:pPr>
            <a:r>
              <a:rPr lang="en-US" sz="1600" dirty="0">
                <a:solidFill>
                  <a:schemeClr val="tx2"/>
                </a:solidFill>
              </a:rPr>
              <a:t>Same prompt, different answers.</a:t>
            </a:r>
            <a:endParaRPr lang="en-US" sz="1600" dirty="0"/>
          </a:p>
        </p:txBody>
      </p:sp>
      <p:sp>
        <p:nvSpPr>
          <p:cNvPr id="17" name="text-75"/>
          <p:cNvSpPr txBox="1"/>
          <p:nvPr/>
        </p:nvSpPr>
        <p:spPr>
          <a:xfrm>
            <a:off x="7078828" y="2578608"/>
            <a:ext cx="4244188" cy="365760"/>
          </a:xfrm>
          <a:prstGeom prst="rect">
            <a:avLst/>
          </a:prstGeom>
          <a:noFill/>
          <a:ln/>
        </p:spPr>
        <p:txBody>
          <a:bodyPr wrap="square" lIns="0" tIns="0" rIns="0" bIns="0" rtlCol="0" anchor="t"/>
          <a:lstStyle/>
          <a:p>
            <a:pPr indent="0" marL="0">
              <a:buNone/>
            </a:pPr>
            <a:r>
              <a:rPr lang="en-US" sz="1600" b="1" dirty="0">
                <a:solidFill>
                  <a:schemeClr val="tx1"/>
                </a:solidFill>
              </a:rPr>
              <a:t>So: be specific, and test your prompt.</a:t>
            </a:r>
            <a:endParaRPr lang="en-US" sz="1600" dirty="0"/>
          </a:p>
        </p:txBody>
      </p:sp>
      <p:sp>
        <p:nvSpPr>
          <p:cNvPr id="18" name="card-76"/>
          <p:cNvSpPr/>
          <p:nvPr/>
        </p:nvSpPr>
        <p:spPr>
          <a:xfrm>
            <a:off x="548640" y="3337560"/>
            <a:ext cx="5387188" cy="1691640"/>
          </a:xfrm>
          <a:prstGeom prst="roundRect">
            <a:avLst>
              <a:gd name="adj" fmla="val 6486"/>
            </a:avLst>
          </a:prstGeom>
          <a:solidFill>
            <a:schemeClr val="bg2"/>
          </a:solidFill>
          <a:ln/>
        </p:spPr>
      </p:sp>
      <p:sp>
        <p:nvSpPr>
          <p:cNvPr id="19" name="text-77"/>
          <p:cNvSpPr txBox="1"/>
          <p:nvPr/>
        </p:nvSpPr>
        <p:spPr>
          <a:xfrm>
            <a:off x="868680" y="3566160"/>
            <a:ext cx="457200" cy="502920"/>
          </a:xfrm>
          <a:prstGeom prst="rect">
            <a:avLst/>
          </a:prstGeom>
          <a:noFill/>
          <a:ln/>
        </p:spPr>
        <p:txBody>
          <a:bodyPr wrap="square" lIns="0" tIns="0" rIns="0" bIns="0" rtlCol="0" anchor="t"/>
          <a:lstStyle/>
          <a:p>
            <a:pPr indent="0" marL="0">
              <a:buNone/>
            </a:pPr>
            <a:r>
              <a:rPr lang="en-US" sz="3000" b="1" dirty="0">
                <a:solidFill>
                  <a:schemeClr val="accent1"/>
                </a:solidFill>
              </a:rPr>
              <a:t>3</a:t>
            </a:r>
            <a:endParaRPr lang="en-US" sz="3000" dirty="0"/>
          </a:p>
        </p:txBody>
      </p:sp>
      <p:sp>
        <p:nvSpPr>
          <p:cNvPr id="20" name="text-78"/>
          <p:cNvSpPr txBox="1"/>
          <p:nvPr/>
        </p:nvSpPr>
        <p:spPr>
          <a:xfrm>
            <a:off x="1371600" y="3611880"/>
            <a:ext cx="3558388" cy="457200"/>
          </a:xfrm>
          <a:prstGeom prst="rect">
            <a:avLst/>
          </a:prstGeom>
          <a:noFill/>
          <a:ln/>
        </p:spPr>
        <p:txBody>
          <a:bodyPr wrap="square" lIns="0" tIns="0" rIns="0" bIns="0" rtlCol="0" anchor="t"/>
          <a:lstStyle/>
          <a:p>
            <a:pPr indent="0" marL="0">
              <a:buNone/>
            </a:pPr>
            <a:r>
              <a:rPr lang="en-US" sz="2200" b="1" dirty="0">
                <a:solidFill>
                  <a:schemeClr val="tx1"/>
                </a:solidFill>
              </a:rPr>
              <a:t>It doesn't know your world</a:t>
            </a:r>
            <a:endParaRPr lang="en-US" sz="2200" dirty="0"/>
          </a:p>
        </p:txBody>
      </p:sp>
      <p:sp>
        <p:nvSpPr>
          <p:cNvPr id="21" name="dot-79"/>
          <p:cNvSpPr/>
          <p:nvPr/>
        </p:nvSpPr>
        <p:spPr>
          <a:xfrm>
            <a:off x="5067148" y="3566160"/>
            <a:ext cx="566928" cy="566928"/>
          </a:xfrm>
          <a:prstGeom prst="ellipse">
            <a:avLst/>
          </a:prstGeom>
          <a:solidFill>
            <a:schemeClr val="tx1"/>
          </a:solidFill>
          <a:ln/>
        </p:spPr>
      </p:sp>
      <p:pic>
        <p:nvPicPr>
          <p:cNvPr id="22" name="icon-80" descr="preencoded.png">    </p:cNvPr>
          <p:cNvPicPr>
            <a:picLocks noChangeAspect="1"/>
          </p:cNvPicPr>
          <p:nvPr/>
        </p:nvPicPr>
        <p:blipFill>
          <a:blip r:embed="rId3"/>
          <a:stretch>
            <a:fillRect/>
          </a:stretch>
        </p:blipFill>
        <p:spPr>
          <a:xfrm>
            <a:off x="5191872" y="3690884"/>
            <a:ext cx="317480" cy="317480"/>
          </a:xfrm>
          <a:prstGeom prst="rect">
            <a:avLst/>
          </a:prstGeom>
        </p:spPr>
      </p:pic>
      <p:sp>
        <p:nvSpPr>
          <p:cNvPr id="23" name="text-81"/>
          <p:cNvSpPr txBox="1"/>
          <p:nvPr/>
        </p:nvSpPr>
        <p:spPr>
          <a:xfrm>
            <a:off x="1371600" y="4114800"/>
            <a:ext cx="4244188" cy="365760"/>
          </a:xfrm>
          <a:prstGeom prst="rect">
            <a:avLst/>
          </a:prstGeom>
          <a:noFill/>
          <a:ln/>
        </p:spPr>
        <p:txBody>
          <a:bodyPr wrap="square" lIns="0" tIns="0" rIns="0" bIns="0" rtlCol="0" anchor="t"/>
          <a:lstStyle/>
          <a:p>
            <a:pPr indent="0" marL="0">
              <a:buNone/>
            </a:pPr>
            <a:r>
              <a:rPr lang="en-US" sz="1600" dirty="0">
                <a:solidFill>
                  <a:schemeClr val="tx2"/>
                </a:solidFill>
              </a:rPr>
              <a:t>It can't see your files or your organization.</a:t>
            </a:r>
            <a:endParaRPr lang="en-US" sz="1600" dirty="0"/>
          </a:p>
        </p:txBody>
      </p:sp>
      <p:sp>
        <p:nvSpPr>
          <p:cNvPr id="24" name="text-82"/>
          <p:cNvSpPr txBox="1"/>
          <p:nvPr/>
        </p:nvSpPr>
        <p:spPr>
          <a:xfrm>
            <a:off x="1371600" y="4498848"/>
            <a:ext cx="4244188" cy="365760"/>
          </a:xfrm>
          <a:prstGeom prst="rect">
            <a:avLst/>
          </a:prstGeom>
          <a:noFill/>
          <a:ln/>
        </p:spPr>
        <p:txBody>
          <a:bodyPr wrap="square" lIns="0" tIns="0" rIns="0" bIns="0" rtlCol="0" anchor="t"/>
          <a:lstStyle/>
          <a:p>
            <a:pPr indent="0" marL="0">
              <a:buNone/>
            </a:pPr>
            <a:r>
              <a:rPr lang="en-US" sz="1600" b="1" dirty="0">
                <a:solidFill>
                  <a:schemeClr val="tx1"/>
                </a:solidFill>
              </a:rPr>
              <a:t>So: give it the context it needs.</a:t>
            </a:r>
            <a:endParaRPr lang="en-US" sz="1600" dirty="0"/>
          </a:p>
        </p:txBody>
      </p:sp>
      <p:sp>
        <p:nvSpPr>
          <p:cNvPr id="25" name="card-83"/>
          <p:cNvSpPr/>
          <p:nvPr/>
        </p:nvSpPr>
        <p:spPr>
          <a:xfrm>
            <a:off x="6255868" y="3337560"/>
            <a:ext cx="5387188" cy="1691640"/>
          </a:xfrm>
          <a:prstGeom prst="roundRect">
            <a:avLst>
              <a:gd name="adj" fmla="val 6486"/>
            </a:avLst>
          </a:prstGeom>
          <a:solidFill>
            <a:schemeClr val="bg2"/>
          </a:solidFill>
          <a:ln/>
        </p:spPr>
      </p:sp>
      <p:sp>
        <p:nvSpPr>
          <p:cNvPr id="26" name="text-84"/>
          <p:cNvSpPr txBox="1"/>
          <p:nvPr/>
        </p:nvSpPr>
        <p:spPr>
          <a:xfrm>
            <a:off x="6575908" y="3566160"/>
            <a:ext cx="457200" cy="502920"/>
          </a:xfrm>
          <a:prstGeom prst="rect">
            <a:avLst/>
          </a:prstGeom>
          <a:noFill/>
          <a:ln/>
        </p:spPr>
        <p:txBody>
          <a:bodyPr wrap="square" lIns="0" tIns="0" rIns="0" bIns="0" rtlCol="0" anchor="t"/>
          <a:lstStyle/>
          <a:p>
            <a:pPr indent="0" marL="0">
              <a:buNone/>
            </a:pPr>
            <a:r>
              <a:rPr lang="en-US" sz="3000" b="1" dirty="0">
                <a:solidFill>
                  <a:schemeClr val="accent1"/>
                </a:solidFill>
              </a:rPr>
              <a:t>4</a:t>
            </a:r>
            <a:endParaRPr lang="en-US" sz="3000" dirty="0"/>
          </a:p>
        </p:txBody>
      </p:sp>
      <p:sp>
        <p:nvSpPr>
          <p:cNvPr id="27" name="text-85"/>
          <p:cNvSpPr txBox="1"/>
          <p:nvPr/>
        </p:nvSpPr>
        <p:spPr>
          <a:xfrm>
            <a:off x="7078828" y="3611880"/>
            <a:ext cx="3558388" cy="457200"/>
          </a:xfrm>
          <a:prstGeom prst="rect">
            <a:avLst/>
          </a:prstGeom>
          <a:noFill/>
          <a:ln/>
        </p:spPr>
        <p:txBody>
          <a:bodyPr wrap="square" lIns="0" tIns="0" rIns="0" bIns="0" rtlCol="0" anchor="t"/>
          <a:lstStyle/>
          <a:p>
            <a:pPr indent="0" marL="0">
              <a:buNone/>
            </a:pPr>
            <a:r>
              <a:rPr lang="en-US" sz="2200" b="1" dirty="0">
                <a:solidFill>
                  <a:schemeClr val="tx1"/>
                </a:solidFill>
              </a:rPr>
              <a:t>It isn't a vault</a:t>
            </a:r>
            <a:endParaRPr lang="en-US" sz="2200" dirty="0"/>
          </a:p>
        </p:txBody>
      </p:sp>
      <p:sp>
        <p:nvSpPr>
          <p:cNvPr id="28" name="dot-86"/>
          <p:cNvSpPr/>
          <p:nvPr/>
        </p:nvSpPr>
        <p:spPr>
          <a:xfrm>
            <a:off x="10774375" y="3566160"/>
            <a:ext cx="566928" cy="566928"/>
          </a:xfrm>
          <a:prstGeom prst="ellipse">
            <a:avLst/>
          </a:prstGeom>
          <a:solidFill>
            <a:schemeClr val="tx1"/>
          </a:solidFill>
          <a:ln/>
        </p:spPr>
      </p:sp>
      <p:pic>
        <p:nvPicPr>
          <p:cNvPr id="29" name="icon-87" descr="preencoded.png">    </p:cNvPr>
          <p:cNvPicPr>
            <a:picLocks noChangeAspect="1"/>
          </p:cNvPicPr>
          <p:nvPr/>
        </p:nvPicPr>
        <p:blipFill>
          <a:blip r:embed="rId4"/>
          <a:stretch>
            <a:fillRect/>
          </a:stretch>
        </p:blipFill>
        <p:spPr>
          <a:xfrm>
            <a:off x="10899099" y="3690884"/>
            <a:ext cx="317480" cy="317480"/>
          </a:xfrm>
          <a:prstGeom prst="rect">
            <a:avLst/>
          </a:prstGeom>
        </p:spPr>
      </p:pic>
      <p:sp>
        <p:nvSpPr>
          <p:cNvPr id="30" name="text-88"/>
          <p:cNvSpPr txBox="1"/>
          <p:nvPr/>
        </p:nvSpPr>
        <p:spPr>
          <a:xfrm>
            <a:off x="7078828" y="4114800"/>
            <a:ext cx="4244188" cy="365760"/>
          </a:xfrm>
          <a:prstGeom prst="rect">
            <a:avLst/>
          </a:prstGeom>
          <a:noFill/>
          <a:ln/>
        </p:spPr>
        <p:txBody>
          <a:bodyPr wrap="square" lIns="0" tIns="0" rIns="0" bIns="0" rtlCol="0" anchor="t"/>
          <a:lstStyle/>
          <a:p>
            <a:pPr indent="0" marL="0">
              <a:buNone/>
            </a:pPr>
            <a:r>
              <a:rPr lang="en-US" sz="1600" dirty="0">
                <a:solidFill>
                  <a:schemeClr val="tx2"/>
                </a:solidFill>
              </a:rPr>
              <a:t>On personal accounts, people may review chats.</a:t>
            </a:r>
            <a:endParaRPr lang="en-US" sz="1600" dirty="0"/>
          </a:p>
        </p:txBody>
      </p:sp>
      <p:sp>
        <p:nvSpPr>
          <p:cNvPr id="31" name="text-89"/>
          <p:cNvSpPr txBox="1"/>
          <p:nvPr/>
        </p:nvSpPr>
        <p:spPr>
          <a:xfrm>
            <a:off x="7078828" y="4498848"/>
            <a:ext cx="4244188" cy="365760"/>
          </a:xfrm>
          <a:prstGeom prst="rect">
            <a:avLst/>
          </a:prstGeom>
          <a:noFill/>
          <a:ln/>
        </p:spPr>
        <p:txBody>
          <a:bodyPr wrap="square" lIns="0" tIns="0" rIns="0" bIns="0" rtlCol="0" anchor="t"/>
          <a:lstStyle/>
          <a:p>
            <a:pPr indent="0" marL="0">
              <a:buNone/>
            </a:pPr>
            <a:r>
              <a:rPr lang="en-US" sz="1600" b="1" dirty="0">
                <a:solidFill>
                  <a:schemeClr val="tx1"/>
                </a:solidFill>
              </a:rPr>
              <a:t>So: never paste sensitive information.</a:t>
            </a:r>
            <a:endParaRPr lang="en-US" sz="1600" dirty="0"/>
          </a:p>
        </p:txBody>
      </p:sp>
      <p:sp>
        <p:nvSpPr>
          <p:cNvPr id="32" name="card-90"/>
          <p:cNvSpPr/>
          <p:nvPr/>
        </p:nvSpPr>
        <p:spPr>
          <a:xfrm>
            <a:off x="548640" y="5303520"/>
            <a:ext cx="11094415" cy="777240"/>
          </a:xfrm>
          <a:prstGeom prst="roundRect">
            <a:avLst>
              <a:gd name="adj" fmla="val 14118"/>
            </a:avLst>
          </a:prstGeom>
          <a:solidFill>
            <a:schemeClr val="tx1"/>
          </a:solidFill>
          <a:ln/>
        </p:spPr>
      </p:sp>
      <p:sp>
        <p:nvSpPr>
          <p:cNvPr id="33" name="text-91"/>
          <p:cNvSpPr txBox="1"/>
          <p:nvPr/>
        </p:nvSpPr>
        <p:spPr>
          <a:xfrm>
            <a:off x="868680" y="5303520"/>
            <a:ext cx="10454335" cy="777240"/>
          </a:xfrm>
          <a:prstGeom prst="rect">
            <a:avLst/>
          </a:prstGeom>
          <a:noFill/>
          <a:ln/>
        </p:spPr>
        <p:txBody>
          <a:bodyPr wrap="square" lIns="0" tIns="0" rIns="0" bIns="0" rtlCol="0" anchor="ctr"/>
          <a:lstStyle/>
          <a:p>
            <a:pPr indent="0" marL="0">
              <a:buNone/>
            </a:pPr>
            <a:r>
              <a:rPr lang="en-US" sz="1900" b="1" dirty="0">
                <a:solidFill>
                  <a:schemeClr val="bg1"/>
                </a:solidFill>
              </a:rPr>
              <a:t>Think of Gemini as a brilliant new colleague on day one: brief it well, and check its work.</a:t>
            </a:r>
            <a:endParaRPr lang="en-US" sz="19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548640" y="411480"/>
            <a:ext cx="82296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rPr>
              <a:t>ACTIVITY 1.1  ·  ON YOUR OWN</a:t>
            </a:r>
            <a:endParaRPr lang="en-US" sz="1400" dirty="0"/>
          </a:p>
        </p:txBody>
      </p:sp>
      <p:sp>
        <p:nvSpPr>
          <p:cNvPr id="3" name="Text 0"/>
          <p:cNvSpPr/>
          <p:nvPr>
            <p:ph idx="102" type="title" hasCustomPrompt="1"/>
          </p:nvPr>
        </p:nvSpPr>
        <p:spPr>
          <a:xfrm>
            <a:off x="548640" y="777240"/>
            <a:ext cx="8778240" cy="822960"/>
          </a:xfrm>
          <a:prstGeom prst="rect">
            <a:avLst/>
          </a:prstGeom>
          <a:noFill/>
          <a:ln/>
        </p:spPr>
        <p:txBody>
          <a:bodyPr wrap="square" lIns="0" tIns="0" rIns="0" bIns="0" rtlCol="0" anchor="ctr"/>
          <a:lstStyle/>
          <a:p>
            <a:pPr algn="l" indent="0" marL="0">
              <a:buNone/>
            </a:pPr>
            <a:r>
              <a:rPr lang="en-US" sz="3800" b="1" dirty="0">
                <a:solidFill>
                  <a:schemeClr val="bg1"/>
                </a:solidFill>
              </a:rPr>
              <a:t>Poke Gemini</a:t>
            </a:r>
            <a:endParaRPr lang="en-US" sz="3800" dirty="0"/>
          </a:p>
        </p:txBody>
      </p:sp>
      <p:sp>
        <p:nvSpPr>
          <p:cNvPr id="4" name="badge-92"/>
          <p:cNvSpPr/>
          <p:nvPr/>
        </p:nvSpPr>
        <p:spPr>
          <a:xfrm>
            <a:off x="10042855" y="502920"/>
            <a:ext cx="1600200" cy="457200"/>
          </a:xfrm>
          <a:prstGeom prst="roundRect">
            <a:avLst>
              <a:gd name="adj" fmla="val 50000"/>
            </a:avLst>
          </a:prstGeom>
          <a:solidFill>
            <a:schemeClr val="bg1"/>
          </a:solidFill>
          <a:ln/>
        </p:spPr>
      </p:sp>
      <p:sp>
        <p:nvSpPr>
          <p:cNvPr id="5" name="text-93"/>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10 min</a:t>
            </a:r>
            <a:endParaRPr lang="en-US" sz="1600" dirty="0"/>
          </a:p>
        </p:txBody>
      </p:sp>
      <p:sp>
        <p:nvSpPr>
          <p:cNvPr id="6" name="text-94"/>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accent3"/>
                </a:solidFill>
              </a:rPr>
              <a:t>Prompt Engineering Essentials   ·   Part 1: Foundations</a:t>
            </a:r>
            <a:endParaRPr lang="en-US" sz="1000" dirty="0"/>
          </a:p>
        </p:txBody>
      </p:sp>
      <p:sp>
        <p:nvSpPr>
          <p:cNvPr id="7" name="card-95"/>
          <p:cNvSpPr/>
          <p:nvPr/>
        </p:nvSpPr>
        <p:spPr>
          <a:xfrm>
            <a:off x="548640" y="1874520"/>
            <a:ext cx="3515258" cy="3337560"/>
          </a:xfrm>
          <a:prstGeom prst="roundRect">
            <a:avLst>
              <a:gd name="adj" fmla="val 3288"/>
            </a:avLst>
          </a:prstGeom>
          <a:solidFill>
            <a:schemeClr val="accent2"/>
          </a:solidFill>
          <a:ln/>
        </p:spPr>
      </p:sp>
      <p:sp>
        <p:nvSpPr>
          <p:cNvPr id="8" name="text-96"/>
          <p:cNvSpPr txBox="1"/>
          <p:nvPr/>
        </p:nvSpPr>
        <p:spPr>
          <a:xfrm>
            <a:off x="822960" y="2103120"/>
            <a:ext cx="457200" cy="502920"/>
          </a:xfrm>
          <a:prstGeom prst="rect">
            <a:avLst/>
          </a:prstGeom>
          <a:noFill/>
          <a:ln/>
        </p:spPr>
        <p:txBody>
          <a:bodyPr wrap="square" lIns="0" tIns="0" rIns="0" bIns="0" rtlCol="0" anchor="t"/>
          <a:lstStyle/>
          <a:p>
            <a:pPr indent="0" marL="0">
              <a:buNone/>
            </a:pPr>
            <a:r>
              <a:rPr lang="en-US" sz="3000" b="1" dirty="0">
                <a:solidFill>
                  <a:schemeClr val="accent1"/>
                </a:solidFill>
              </a:rPr>
              <a:t>1</a:t>
            </a:r>
            <a:endParaRPr lang="en-US" sz="3000" dirty="0"/>
          </a:p>
        </p:txBody>
      </p:sp>
      <p:sp>
        <p:nvSpPr>
          <p:cNvPr id="9" name="text-97"/>
          <p:cNvSpPr txBox="1"/>
          <p:nvPr/>
        </p:nvSpPr>
        <p:spPr>
          <a:xfrm>
            <a:off x="1325880" y="2167128"/>
            <a:ext cx="2509418" cy="457200"/>
          </a:xfrm>
          <a:prstGeom prst="rect">
            <a:avLst/>
          </a:prstGeom>
          <a:noFill/>
          <a:ln/>
        </p:spPr>
        <p:txBody>
          <a:bodyPr wrap="square" lIns="0" tIns="0" rIns="0" bIns="0" rtlCol="0" anchor="t"/>
          <a:lstStyle/>
          <a:p>
            <a:pPr indent="0" marL="0">
              <a:buNone/>
            </a:pPr>
            <a:r>
              <a:rPr lang="en-US" sz="2000" b="1" dirty="0">
                <a:solidFill>
                  <a:schemeClr val="bg1"/>
                </a:solidFill>
              </a:rPr>
              <a:t>Same question, twice</a:t>
            </a:r>
            <a:endParaRPr lang="en-US" sz="2000" dirty="0"/>
          </a:p>
        </p:txBody>
      </p:sp>
      <p:sp>
        <p:nvSpPr>
          <p:cNvPr id="10" name="text-98"/>
          <p:cNvSpPr txBox="1"/>
          <p:nvPr/>
        </p:nvSpPr>
        <p:spPr>
          <a:xfrm>
            <a:off x="822960" y="2834640"/>
            <a:ext cx="2966618" cy="1371600"/>
          </a:xfrm>
          <a:prstGeom prst="rect">
            <a:avLst/>
          </a:prstGeom>
          <a:noFill/>
          <a:ln/>
        </p:spPr>
        <p:txBody>
          <a:bodyPr wrap="square" lIns="0" tIns="0" rIns="0" bIns="0"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Give me three tips for running a better meeting.</a:t>
            </a:r>
            <a:endParaRPr lang="en-US" sz="1600" dirty="0"/>
          </a:p>
        </p:txBody>
      </p:sp>
      <p:sp>
        <p:nvSpPr>
          <p:cNvPr id="11" name="text-99"/>
          <p:cNvSpPr txBox="1"/>
          <p:nvPr/>
        </p:nvSpPr>
        <p:spPr>
          <a:xfrm>
            <a:off x="822960" y="4297680"/>
            <a:ext cx="2966618" cy="777240"/>
          </a:xfrm>
          <a:prstGeom prst="rect">
            <a:avLst/>
          </a:prstGeom>
          <a:noFill/>
          <a:ln/>
        </p:spPr>
        <p:txBody>
          <a:bodyPr wrap="square" lIns="0" tIns="0" rIns="0" bIns="0" rtlCol="0" anchor="t"/>
          <a:lstStyle/>
          <a:p>
            <a:pPr indent="0" marL="0">
              <a:buNone/>
            </a:pPr>
            <a:r>
              <a:rPr lang="en-US" sz="1500" dirty="0">
                <a:solidFill>
                  <a:schemeClr val="accent3"/>
                </a:solidFill>
              </a:rPr>
              <a:t>Click New chat and ask again. Same answer?</a:t>
            </a:r>
            <a:endParaRPr lang="en-US" sz="1500" dirty="0"/>
          </a:p>
        </p:txBody>
      </p:sp>
      <p:sp>
        <p:nvSpPr>
          <p:cNvPr id="12" name="card-100"/>
          <p:cNvSpPr/>
          <p:nvPr/>
        </p:nvSpPr>
        <p:spPr>
          <a:xfrm>
            <a:off x="4338218" y="1874520"/>
            <a:ext cx="3515258" cy="3337560"/>
          </a:xfrm>
          <a:prstGeom prst="roundRect">
            <a:avLst>
              <a:gd name="adj" fmla="val 3288"/>
            </a:avLst>
          </a:prstGeom>
          <a:solidFill>
            <a:schemeClr val="accent2"/>
          </a:solidFill>
          <a:ln/>
        </p:spPr>
      </p:sp>
      <p:sp>
        <p:nvSpPr>
          <p:cNvPr id="13" name="text-101"/>
          <p:cNvSpPr txBox="1"/>
          <p:nvPr/>
        </p:nvSpPr>
        <p:spPr>
          <a:xfrm>
            <a:off x="4612538" y="2103120"/>
            <a:ext cx="457200" cy="502920"/>
          </a:xfrm>
          <a:prstGeom prst="rect">
            <a:avLst/>
          </a:prstGeom>
          <a:noFill/>
          <a:ln/>
        </p:spPr>
        <p:txBody>
          <a:bodyPr wrap="square" lIns="0" tIns="0" rIns="0" bIns="0" rtlCol="0" anchor="t"/>
          <a:lstStyle/>
          <a:p>
            <a:pPr indent="0" marL="0">
              <a:buNone/>
            </a:pPr>
            <a:r>
              <a:rPr lang="en-US" sz="3000" b="1" dirty="0">
                <a:solidFill>
                  <a:schemeClr val="accent1"/>
                </a:solidFill>
              </a:rPr>
              <a:t>2</a:t>
            </a:r>
            <a:endParaRPr lang="en-US" sz="3000" dirty="0"/>
          </a:p>
        </p:txBody>
      </p:sp>
      <p:sp>
        <p:nvSpPr>
          <p:cNvPr id="14" name="text-102"/>
          <p:cNvSpPr txBox="1"/>
          <p:nvPr/>
        </p:nvSpPr>
        <p:spPr>
          <a:xfrm>
            <a:off x="5115458" y="2167128"/>
            <a:ext cx="2509418" cy="457200"/>
          </a:xfrm>
          <a:prstGeom prst="rect">
            <a:avLst/>
          </a:prstGeom>
          <a:noFill/>
          <a:ln/>
        </p:spPr>
        <p:txBody>
          <a:bodyPr wrap="square" lIns="0" tIns="0" rIns="0" bIns="0" rtlCol="0" anchor="t"/>
          <a:lstStyle/>
          <a:p>
            <a:pPr indent="0" marL="0">
              <a:buNone/>
            </a:pPr>
            <a:r>
              <a:rPr lang="en-US" sz="2000" b="1" dirty="0">
                <a:solidFill>
                  <a:schemeClr val="bg1"/>
                </a:solidFill>
              </a:rPr>
              <a:t>Change one word</a:t>
            </a:r>
            <a:endParaRPr lang="en-US" sz="2000" dirty="0"/>
          </a:p>
        </p:txBody>
      </p:sp>
      <p:sp>
        <p:nvSpPr>
          <p:cNvPr id="15" name="text-103"/>
          <p:cNvSpPr txBox="1"/>
          <p:nvPr/>
        </p:nvSpPr>
        <p:spPr>
          <a:xfrm>
            <a:off x="4612538" y="2834640"/>
            <a:ext cx="2966618" cy="1371600"/>
          </a:xfrm>
          <a:prstGeom prst="rect">
            <a:avLst/>
          </a:prstGeom>
          <a:noFill/>
          <a:ln/>
        </p:spPr>
        <p:txBody>
          <a:bodyPr wrap="square" lIns="0" tIns="0" rIns="0" bIns="0"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Give me three tips for running a shorter meeting.</a:t>
            </a:r>
            <a:endParaRPr lang="en-US" sz="1600" dirty="0"/>
          </a:p>
        </p:txBody>
      </p:sp>
      <p:sp>
        <p:nvSpPr>
          <p:cNvPr id="16" name="text-104"/>
          <p:cNvSpPr txBox="1"/>
          <p:nvPr/>
        </p:nvSpPr>
        <p:spPr>
          <a:xfrm>
            <a:off x="4612538" y="4297680"/>
            <a:ext cx="2966618" cy="777240"/>
          </a:xfrm>
          <a:prstGeom prst="rect">
            <a:avLst/>
          </a:prstGeom>
          <a:noFill/>
          <a:ln/>
        </p:spPr>
        <p:txBody>
          <a:bodyPr wrap="square" lIns="0" tIns="0" rIns="0" bIns="0" rtlCol="0" anchor="t"/>
          <a:lstStyle/>
          <a:p>
            <a:pPr indent="0" marL="0">
              <a:buNone/>
            </a:pPr>
            <a:r>
              <a:rPr lang="en-US" sz="1500" dirty="0">
                <a:solidFill>
                  <a:schemeClr val="accent3"/>
                </a:solidFill>
              </a:rPr>
              <a:t>What changed?</a:t>
            </a:r>
            <a:endParaRPr lang="en-US" sz="1500" dirty="0"/>
          </a:p>
        </p:txBody>
      </p:sp>
      <p:sp>
        <p:nvSpPr>
          <p:cNvPr id="17" name="card-105"/>
          <p:cNvSpPr/>
          <p:nvPr/>
        </p:nvSpPr>
        <p:spPr>
          <a:xfrm>
            <a:off x="8127797" y="1874520"/>
            <a:ext cx="3515258" cy="3337560"/>
          </a:xfrm>
          <a:prstGeom prst="roundRect">
            <a:avLst>
              <a:gd name="adj" fmla="val 3288"/>
            </a:avLst>
          </a:prstGeom>
          <a:solidFill>
            <a:schemeClr val="accent2"/>
          </a:solidFill>
          <a:ln/>
        </p:spPr>
      </p:sp>
      <p:sp>
        <p:nvSpPr>
          <p:cNvPr id="18" name="text-106"/>
          <p:cNvSpPr txBox="1"/>
          <p:nvPr/>
        </p:nvSpPr>
        <p:spPr>
          <a:xfrm>
            <a:off x="8402117" y="2103120"/>
            <a:ext cx="457200" cy="502920"/>
          </a:xfrm>
          <a:prstGeom prst="rect">
            <a:avLst/>
          </a:prstGeom>
          <a:noFill/>
          <a:ln/>
        </p:spPr>
        <p:txBody>
          <a:bodyPr wrap="square" lIns="0" tIns="0" rIns="0" bIns="0" rtlCol="0" anchor="t"/>
          <a:lstStyle/>
          <a:p>
            <a:pPr indent="0" marL="0">
              <a:buNone/>
            </a:pPr>
            <a:r>
              <a:rPr lang="en-US" sz="3000" b="1" dirty="0">
                <a:solidFill>
                  <a:schemeClr val="accent1"/>
                </a:solidFill>
              </a:rPr>
              <a:t>3</a:t>
            </a:r>
            <a:endParaRPr lang="en-US" sz="3000" dirty="0"/>
          </a:p>
        </p:txBody>
      </p:sp>
      <p:sp>
        <p:nvSpPr>
          <p:cNvPr id="19" name="text-107"/>
          <p:cNvSpPr txBox="1"/>
          <p:nvPr/>
        </p:nvSpPr>
        <p:spPr>
          <a:xfrm>
            <a:off x="8905037" y="2167128"/>
            <a:ext cx="2509418" cy="457200"/>
          </a:xfrm>
          <a:prstGeom prst="rect">
            <a:avLst/>
          </a:prstGeom>
          <a:noFill/>
          <a:ln/>
        </p:spPr>
        <p:txBody>
          <a:bodyPr wrap="square" lIns="0" tIns="0" rIns="0" bIns="0" rtlCol="0" anchor="t"/>
          <a:lstStyle/>
          <a:p>
            <a:pPr indent="0" marL="0">
              <a:buNone/>
            </a:pPr>
            <a:r>
              <a:rPr lang="en-US" sz="2000" b="1" dirty="0">
                <a:solidFill>
                  <a:schemeClr val="bg1"/>
                </a:solidFill>
              </a:rPr>
              <a:t>Ask what it can't know</a:t>
            </a:r>
            <a:endParaRPr lang="en-US" sz="2000" dirty="0"/>
          </a:p>
        </p:txBody>
      </p:sp>
      <p:sp>
        <p:nvSpPr>
          <p:cNvPr id="20" name="text-108"/>
          <p:cNvSpPr txBox="1"/>
          <p:nvPr/>
        </p:nvSpPr>
        <p:spPr>
          <a:xfrm>
            <a:off x="8402117" y="2834640"/>
            <a:ext cx="2966618" cy="1371600"/>
          </a:xfrm>
          <a:prstGeom prst="rect">
            <a:avLst/>
          </a:prstGeom>
          <a:noFill/>
          <a:ln/>
        </p:spPr>
        <p:txBody>
          <a:bodyPr wrap="square" lIns="0" tIns="0" rIns="0" bIns="0"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What is the parking policy at Prairie Point Logistics' Omaha office?</a:t>
            </a:r>
            <a:endParaRPr lang="en-US" sz="1600" dirty="0"/>
          </a:p>
        </p:txBody>
      </p:sp>
      <p:sp>
        <p:nvSpPr>
          <p:cNvPr id="21" name="text-109"/>
          <p:cNvSpPr txBox="1"/>
          <p:nvPr/>
        </p:nvSpPr>
        <p:spPr>
          <a:xfrm>
            <a:off x="8402117" y="4297680"/>
            <a:ext cx="2966618" cy="777240"/>
          </a:xfrm>
          <a:prstGeom prst="rect">
            <a:avLst/>
          </a:prstGeom>
          <a:noFill/>
          <a:ln/>
        </p:spPr>
        <p:txBody>
          <a:bodyPr wrap="square" lIns="0" tIns="0" rIns="0" bIns="0" rtlCol="0" anchor="t"/>
          <a:lstStyle/>
          <a:p>
            <a:pPr indent="0" marL="0">
              <a:buNone/>
            </a:pPr>
            <a:r>
              <a:rPr lang="en-US" sz="1500" dirty="0">
                <a:solidFill>
                  <a:schemeClr val="accent3"/>
                </a:solidFill>
              </a:rPr>
              <a:t>It's a fictional company. Does Gemini admit it?</a:t>
            </a:r>
            <a:endParaRPr lang="en-US" sz="1500" dirty="0"/>
          </a:p>
        </p:txBody>
      </p:sp>
      <p:sp>
        <p:nvSpPr>
          <p:cNvPr id="22" name="text-110"/>
          <p:cNvSpPr txBox="1"/>
          <p:nvPr/>
        </p:nvSpPr>
        <p:spPr>
          <a:xfrm>
            <a:off x="548640" y="5532120"/>
            <a:ext cx="10180015" cy="411480"/>
          </a:xfrm>
          <a:prstGeom prst="rect">
            <a:avLst/>
          </a:prstGeom>
          <a:noFill/>
          <a:ln/>
        </p:spPr>
        <p:txBody>
          <a:bodyPr wrap="square" lIns="0" tIns="0" rIns="0" bIns="0" rtlCol="0" anchor="t"/>
          <a:lstStyle/>
          <a:p>
            <a:pPr indent="0" marL="0">
              <a:buNone/>
            </a:pPr>
            <a:r>
              <a:rPr lang="en-US" sz="1700" b="1" dirty="0">
                <a:solidFill>
                  <a:schemeClr val="accent1"/>
                </a:solidFill>
              </a:rPr>
              <a:t>Done when: </a:t>
            </a:r>
            <a:pPr indent="0" marL="0">
              <a:buNone/>
            </a:pPr>
            <a:r>
              <a:rPr lang="en-US" sz="1700" dirty="0">
                <a:solidFill>
                  <a:schemeClr val="bg1"/>
                </a:solidFill>
              </a:rPr>
              <a:t>you can name one example of inconsistency and one of invention (or a sensible refusal).</a:t>
            </a:r>
            <a:endParaRPr lang="en-US" sz="17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CBBB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CRAFT: five elements of an effective prompt</a:t>
            </a:r>
            <a:endParaRPr lang="en-US" sz="3400" dirty="0"/>
          </a:p>
        </p:txBody>
      </p:sp>
      <p:sp>
        <p:nvSpPr>
          <p:cNvPr id="3" name="text-111"/>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tx2"/>
                </a:solidFill>
              </a:rPr>
              <a:t>Prompt Engineering Essentials   ·   Part 1: Foundations</a:t>
            </a:r>
            <a:endParaRPr lang="en-US" sz="1000" dirty="0"/>
          </a:p>
        </p:txBody>
      </p:sp>
      <p:sp>
        <p:nvSpPr>
          <p:cNvPr id="4" name="card-112"/>
          <p:cNvSpPr/>
          <p:nvPr/>
        </p:nvSpPr>
        <p:spPr>
          <a:xfrm>
            <a:off x="548640" y="1554480"/>
            <a:ext cx="2014057" cy="1828800"/>
          </a:xfrm>
          <a:prstGeom prst="roundRect">
            <a:avLst>
              <a:gd name="adj" fmla="val 6000"/>
            </a:avLst>
          </a:prstGeom>
          <a:solidFill>
            <a:schemeClr val="tx1"/>
          </a:solidFill>
          <a:ln/>
        </p:spPr>
      </p:sp>
      <p:sp>
        <p:nvSpPr>
          <p:cNvPr id="5" name="text-113"/>
          <p:cNvSpPr txBox="1"/>
          <p:nvPr/>
        </p:nvSpPr>
        <p:spPr>
          <a:xfrm>
            <a:off x="548640" y="1554480"/>
            <a:ext cx="2014057" cy="1828800"/>
          </a:xfrm>
          <a:prstGeom prst="rect">
            <a:avLst/>
          </a:prstGeom>
          <a:noFill/>
          <a:ln/>
        </p:spPr>
        <p:txBody>
          <a:bodyPr wrap="square" lIns="0" tIns="0" rIns="0" bIns="0" rtlCol="0" anchor="ctr"/>
          <a:lstStyle/>
          <a:p>
            <a:pPr algn="ctr" indent="0" marL="0">
              <a:buNone/>
            </a:pPr>
            <a:r>
              <a:rPr lang="en-US" sz="8800" b="1" dirty="0">
                <a:solidFill>
                  <a:schemeClr val="bg1"/>
                </a:solidFill>
              </a:rPr>
              <a:t>C</a:t>
            </a:r>
            <a:endParaRPr lang="en-US" sz="8800" dirty="0"/>
          </a:p>
        </p:txBody>
      </p:sp>
      <p:sp>
        <p:nvSpPr>
          <p:cNvPr id="6" name="text-114"/>
          <p:cNvSpPr txBox="1"/>
          <p:nvPr/>
        </p:nvSpPr>
        <p:spPr>
          <a:xfrm>
            <a:off x="548640" y="3611880"/>
            <a:ext cx="2014057" cy="457200"/>
          </a:xfrm>
          <a:prstGeom prst="rect">
            <a:avLst/>
          </a:prstGeom>
          <a:noFill/>
          <a:ln/>
        </p:spPr>
        <p:txBody>
          <a:bodyPr wrap="square" lIns="0" tIns="0" rIns="0" bIns="0" rtlCol="0" anchor="t"/>
          <a:lstStyle/>
          <a:p>
            <a:pPr indent="0" marL="0">
              <a:buNone/>
            </a:pPr>
            <a:r>
              <a:rPr lang="en-US" sz="2200" b="1" dirty="0">
                <a:solidFill>
                  <a:schemeClr val="tx1"/>
                </a:solidFill>
              </a:rPr>
              <a:t>Context</a:t>
            </a:r>
            <a:endParaRPr lang="en-US" sz="2200" dirty="0"/>
          </a:p>
        </p:txBody>
      </p:sp>
      <p:sp>
        <p:nvSpPr>
          <p:cNvPr id="7" name="text-115"/>
          <p:cNvSpPr txBox="1"/>
          <p:nvPr/>
        </p:nvSpPr>
        <p:spPr>
          <a:xfrm>
            <a:off x="548640" y="4114800"/>
            <a:ext cx="1922617" cy="914400"/>
          </a:xfrm>
          <a:prstGeom prst="rect">
            <a:avLst/>
          </a:prstGeom>
          <a:noFill/>
          <a:ln/>
        </p:spPr>
        <p:txBody>
          <a:bodyPr wrap="square" lIns="0" tIns="0" rIns="0" bIns="0" rtlCol="0" anchor="t"/>
          <a:lstStyle/>
          <a:p>
            <a:pPr indent="0" marL="0">
              <a:buNone/>
            </a:pPr>
            <a:r>
              <a:rPr lang="en-US" sz="1600" dirty="0">
                <a:solidFill>
                  <a:schemeClr val="tx2"/>
                </a:solidFill>
              </a:rPr>
              <a:t>What's the situation, and why does it matter?</a:t>
            </a:r>
            <a:endParaRPr lang="en-US" sz="1600" dirty="0"/>
          </a:p>
        </p:txBody>
      </p:sp>
      <p:sp>
        <p:nvSpPr>
          <p:cNvPr id="8" name="card-116"/>
          <p:cNvSpPr/>
          <p:nvPr/>
        </p:nvSpPr>
        <p:spPr>
          <a:xfrm>
            <a:off x="2818729" y="1554480"/>
            <a:ext cx="2014057" cy="1828800"/>
          </a:xfrm>
          <a:prstGeom prst="roundRect">
            <a:avLst>
              <a:gd name="adj" fmla="val 6000"/>
            </a:avLst>
          </a:prstGeom>
          <a:solidFill>
            <a:schemeClr val="tx1"/>
          </a:solidFill>
          <a:ln/>
        </p:spPr>
      </p:sp>
      <p:sp>
        <p:nvSpPr>
          <p:cNvPr id="9" name="text-117"/>
          <p:cNvSpPr txBox="1"/>
          <p:nvPr/>
        </p:nvSpPr>
        <p:spPr>
          <a:xfrm>
            <a:off x="2818729" y="1554480"/>
            <a:ext cx="2014057" cy="1828800"/>
          </a:xfrm>
          <a:prstGeom prst="rect">
            <a:avLst/>
          </a:prstGeom>
          <a:noFill/>
          <a:ln/>
        </p:spPr>
        <p:txBody>
          <a:bodyPr wrap="square" lIns="0" tIns="0" rIns="0" bIns="0" rtlCol="0" anchor="ctr"/>
          <a:lstStyle/>
          <a:p>
            <a:pPr algn="ctr" indent="0" marL="0">
              <a:buNone/>
            </a:pPr>
            <a:r>
              <a:rPr lang="en-US" sz="8800" b="1" dirty="0">
                <a:solidFill>
                  <a:schemeClr val="bg1"/>
                </a:solidFill>
              </a:rPr>
              <a:t>R</a:t>
            </a:r>
            <a:endParaRPr lang="en-US" sz="8800" dirty="0"/>
          </a:p>
        </p:txBody>
      </p:sp>
      <p:sp>
        <p:nvSpPr>
          <p:cNvPr id="10" name="text-118"/>
          <p:cNvSpPr txBox="1"/>
          <p:nvPr/>
        </p:nvSpPr>
        <p:spPr>
          <a:xfrm>
            <a:off x="2818729" y="3611880"/>
            <a:ext cx="2014057" cy="457200"/>
          </a:xfrm>
          <a:prstGeom prst="rect">
            <a:avLst/>
          </a:prstGeom>
          <a:noFill/>
          <a:ln/>
        </p:spPr>
        <p:txBody>
          <a:bodyPr wrap="square" lIns="0" tIns="0" rIns="0" bIns="0" rtlCol="0" anchor="t"/>
          <a:lstStyle/>
          <a:p>
            <a:pPr indent="0" marL="0">
              <a:buNone/>
            </a:pPr>
            <a:r>
              <a:rPr lang="en-US" sz="2200" b="1" dirty="0">
                <a:solidFill>
                  <a:schemeClr val="tx1"/>
                </a:solidFill>
              </a:rPr>
              <a:t>Role</a:t>
            </a:r>
            <a:endParaRPr lang="en-US" sz="2200" dirty="0"/>
          </a:p>
        </p:txBody>
      </p:sp>
      <p:sp>
        <p:nvSpPr>
          <p:cNvPr id="11" name="text-119"/>
          <p:cNvSpPr txBox="1"/>
          <p:nvPr/>
        </p:nvSpPr>
        <p:spPr>
          <a:xfrm>
            <a:off x="2818729" y="4114800"/>
            <a:ext cx="1922617" cy="914400"/>
          </a:xfrm>
          <a:prstGeom prst="rect">
            <a:avLst/>
          </a:prstGeom>
          <a:noFill/>
          <a:ln/>
        </p:spPr>
        <p:txBody>
          <a:bodyPr wrap="square" lIns="0" tIns="0" rIns="0" bIns="0" rtlCol="0" anchor="t"/>
          <a:lstStyle/>
          <a:p>
            <a:pPr indent="0" marL="0">
              <a:buNone/>
            </a:pPr>
            <a:r>
              <a:rPr lang="en-US" sz="1600" dirty="0">
                <a:solidFill>
                  <a:schemeClr val="tx2"/>
                </a:solidFill>
              </a:rPr>
              <a:t>Whose perspective or expertise?</a:t>
            </a:r>
            <a:endParaRPr lang="en-US" sz="1600" dirty="0"/>
          </a:p>
        </p:txBody>
      </p:sp>
      <p:sp>
        <p:nvSpPr>
          <p:cNvPr id="12" name="card-120"/>
          <p:cNvSpPr/>
          <p:nvPr/>
        </p:nvSpPr>
        <p:spPr>
          <a:xfrm>
            <a:off x="5088819" y="1554480"/>
            <a:ext cx="2014057" cy="1828800"/>
          </a:xfrm>
          <a:prstGeom prst="roundRect">
            <a:avLst>
              <a:gd name="adj" fmla="val 6000"/>
            </a:avLst>
          </a:prstGeom>
          <a:solidFill>
            <a:schemeClr val="tx1"/>
          </a:solidFill>
          <a:ln/>
        </p:spPr>
      </p:sp>
      <p:sp>
        <p:nvSpPr>
          <p:cNvPr id="13" name="text-121"/>
          <p:cNvSpPr txBox="1"/>
          <p:nvPr/>
        </p:nvSpPr>
        <p:spPr>
          <a:xfrm>
            <a:off x="5088819" y="1554480"/>
            <a:ext cx="2014057" cy="1828800"/>
          </a:xfrm>
          <a:prstGeom prst="rect">
            <a:avLst/>
          </a:prstGeom>
          <a:noFill/>
          <a:ln/>
        </p:spPr>
        <p:txBody>
          <a:bodyPr wrap="square" lIns="0" tIns="0" rIns="0" bIns="0" rtlCol="0" anchor="ctr"/>
          <a:lstStyle/>
          <a:p>
            <a:pPr algn="ctr" indent="0" marL="0">
              <a:buNone/>
            </a:pPr>
            <a:r>
              <a:rPr lang="en-US" sz="8800" b="1" dirty="0">
                <a:solidFill>
                  <a:schemeClr val="bg1"/>
                </a:solidFill>
              </a:rPr>
              <a:t>A</a:t>
            </a:r>
            <a:endParaRPr lang="en-US" sz="8800" dirty="0"/>
          </a:p>
        </p:txBody>
      </p:sp>
      <p:sp>
        <p:nvSpPr>
          <p:cNvPr id="14" name="text-122"/>
          <p:cNvSpPr txBox="1"/>
          <p:nvPr/>
        </p:nvSpPr>
        <p:spPr>
          <a:xfrm>
            <a:off x="5088819" y="3611880"/>
            <a:ext cx="2014057" cy="457200"/>
          </a:xfrm>
          <a:prstGeom prst="rect">
            <a:avLst/>
          </a:prstGeom>
          <a:noFill/>
          <a:ln/>
        </p:spPr>
        <p:txBody>
          <a:bodyPr wrap="square" lIns="0" tIns="0" rIns="0" bIns="0" rtlCol="0" anchor="t"/>
          <a:lstStyle/>
          <a:p>
            <a:pPr indent="0" marL="0">
              <a:buNone/>
            </a:pPr>
            <a:r>
              <a:rPr lang="en-US" sz="2200" b="1" dirty="0">
                <a:solidFill>
                  <a:schemeClr val="tx1"/>
                </a:solidFill>
              </a:rPr>
              <a:t>Ask</a:t>
            </a:r>
            <a:endParaRPr lang="en-US" sz="2200" dirty="0"/>
          </a:p>
        </p:txBody>
      </p:sp>
      <p:sp>
        <p:nvSpPr>
          <p:cNvPr id="15" name="text-123"/>
          <p:cNvSpPr txBox="1"/>
          <p:nvPr/>
        </p:nvSpPr>
        <p:spPr>
          <a:xfrm>
            <a:off x="5088819" y="4114800"/>
            <a:ext cx="1922617" cy="914400"/>
          </a:xfrm>
          <a:prstGeom prst="rect">
            <a:avLst/>
          </a:prstGeom>
          <a:noFill/>
          <a:ln/>
        </p:spPr>
        <p:txBody>
          <a:bodyPr wrap="square" lIns="0" tIns="0" rIns="0" bIns="0" rtlCol="0" anchor="t"/>
          <a:lstStyle/>
          <a:p>
            <a:pPr indent="0" marL="0">
              <a:buNone/>
            </a:pPr>
            <a:r>
              <a:rPr lang="en-US" sz="1600" dirty="0">
                <a:solidFill>
                  <a:schemeClr val="tx2"/>
                </a:solidFill>
              </a:rPr>
              <a:t>What exactly should it do?</a:t>
            </a:r>
            <a:endParaRPr lang="en-US" sz="1600" dirty="0"/>
          </a:p>
        </p:txBody>
      </p:sp>
      <p:sp>
        <p:nvSpPr>
          <p:cNvPr id="16" name="card-124"/>
          <p:cNvSpPr/>
          <p:nvPr/>
        </p:nvSpPr>
        <p:spPr>
          <a:xfrm>
            <a:off x="7358908" y="1554480"/>
            <a:ext cx="2014057" cy="1828800"/>
          </a:xfrm>
          <a:prstGeom prst="roundRect">
            <a:avLst>
              <a:gd name="adj" fmla="val 6000"/>
            </a:avLst>
          </a:prstGeom>
          <a:solidFill>
            <a:schemeClr val="tx1"/>
          </a:solidFill>
          <a:ln/>
        </p:spPr>
      </p:sp>
      <p:sp>
        <p:nvSpPr>
          <p:cNvPr id="17" name="text-125"/>
          <p:cNvSpPr txBox="1"/>
          <p:nvPr/>
        </p:nvSpPr>
        <p:spPr>
          <a:xfrm>
            <a:off x="7358908" y="1554480"/>
            <a:ext cx="2014057" cy="1828800"/>
          </a:xfrm>
          <a:prstGeom prst="rect">
            <a:avLst/>
          </a:prstGeom>
          <a:noFill/>
          <a:ln/>
        </p:spPr>
        <p:txBody>
          <a:bodyPr wrap="square" lIns="0" tIns="0" rIns="0" bIns="0" rtlCol="0" anchor="ctr"/>
          <a:lstStyle/>
          <a:p>
            <a:pPr algn="ctr" indent="0" marL="0">
              <a:buNone/>
            </a:pPr>
            <a:r>
              <a:rPr lang="en-US" sz="8800" b="1" dirty="0">
                <a:solidFill>
                  <a:schemeClr val="bg1"/>
                </a:solidFill>
              </a:rPr>
              <a:t>F</a:t>
            </a:r>
            <a:endParaRPr lang="en-US" sz="8800" dirty="0"/>
          </a:p>
        </p:txBody>
      </p:sp>
      <p:sp>
        <p:nvSpPr>
          <p:cNvPr id="18" name="text-126"/>
          <p:cNvSpPr txBox="1"/>
          <p:nvPr/>
        </p:nvSpPr>
        <p:spPr>
          <a:xfrm>
            <a:off x="7358908" y="3611880"/>
            <a:ext cx="2014057" cy="457200"/>
          </a:xfrm>
          <a:prstGeom prst="rect">
            <a:avLst/>
          </a:prstGeom>
          <a:noFill/>
          <a:ln/>
        </p:spPr>
        <p:txBody>
          <a:bodyPr wrap="square" lIns="0" tIns="0" rIns="0" bIns="0" rtlCol="0" anchor="t"/>
          <a:lstStyle/>
          <a:p>
            <a:pPr indent="0" marL="0">
              <a:buNone/>
            </a:pPr>
            <a:r>
              <a:rPr lang="en-US" sz="2200" b="1" dirty="0">
                <a:solidFill>
                  <a:schemeClr val="tx1"/>
                </a:solidFill>
              </a:rPr>
              <a:t>Format</a:t>
            </a:r>
            <a:endParaRPr lang="en-US" sz="2200" dirty="0"/>
          </a:p>
        </p:txBody>
      </p:sp>
      <p:sp>
        <p:nvSpPr>
          <p:cNvPr id="19" name="text-127"/>
          <p:cNvSpPr txBox="1"/>
          <p:nvPr/>
        </p:nvSpPr>
        <p:spPr>
          <a:xfrm>
            <a:off x="7358908" y="4114800"/>
            <a:ext cx="1922617" cy="914400"/>
          </a:xfrm>
          <a:prstGeom prst="rect">
            <a:avLst/>
          </a:prstGeom>
          <a:noFill/>
          <a:ln/>
        </p:spPr>
        <p:txBody>
          <a:bodyPr wrap="square" lIns="0" tIns="0" rIns="0" bIns="0" rtlCol="0" anchor="t"/>
          <a:lstStyle/>
          <a:p>
            <a:pPr indent="0" marL="0">
              <a:buNone/>
            </a:pPr>
            <a:r>
              <a:rPr lang="en-US" sz="1600" dirty="0">
                <a:solidFill>
                  <a:schemeClr val="tx2"/>
                </a:solidFill>
              </a:rPr>
              <a:t>What shape, length, and structure?</a:t>
            </a:r>
            <a:endParaRPr lang="en-US" sz="1600" dirty="0"/>
          </a:p>
        </p:txBody>
      </p:sp>
      <p:sp>
        <p:nvSpPr>
          <p:cNvPr id="20" name="card-128"/>
          <p:cNvSpPr/>
          <p:nvPr/>
        </p:nvSpPr>
        <p:spPr>
          <a:xfrm>
            <a:off x="9628998" y="1554480"/>
            <a:ext cx="2014057" cy="1828800"/>
          </a:xfrm>
          <a:prstGeom prst="roundRect">
            <a:avLst>
              <a:gd name="adj" fmla="val 6000"/>
            </a:avLst>
          </a:prstGeom>
          <a:solidFill>
            <a:schemeClr val="tx1"/>
          </a:solidFill>
          <a:ln/>
        </p:spPr>
      </p:sp>
      <p:sp>
        <p:nvSpPr>
          <p:cNvPr id="21" name="text-129"/>
          <p:cNvSpPr txBox="1"/>
          <p:nvPr/>
        </p:nvSpPr>
        <p:spPr>
          <a:xfrm>
            <a:off x="9628998" y="1554480"/>
            <a:ext cx="2014057" cy="1828800"/>
          </a:xfrm>
          <a:prstGeom prst="rect">
            <a:avLst/>
          </a:prstGeom>
          <a:noFill/>
          <a:ln/>
        </p:spPr>
        <p:txBody>
          <a:bodyPr wrap="square" lIns="0" tIns="0" rIns="0" bIns="0" rtlCol="0" anchor="ctr"/>
          <a:lstStyle/>
          <a:p>
            <a:pPr algn="ctr" indent="0" marL="0">
              <a:buNone/>
            </a:pPr>
            <a:r>
              <a:rPr lang="en-US" sz="8800" b="1" dirty="0">
                <a:solidFill>
                  <a:schemeClr val="bg1"/>
                </a:solidFill>
              </a:rPr>
              <a:t>T</a:t>
            </a:r>
            <a:endParaRPr lang="en-US" sz="8800" dirty="0"/>
          </a:p>
        </p:txBody>
      </p:sp>
      <p:sp>
        <p:nvSpPr>
          <p:cNvPr id="22" name="text-130"/>
          <p:cNvSpPr txBox="1"/>
          <p:nvPr/>
        </p:nvSpPr>
        <p:spPr>
          <a:xfrm>
            <a:off x="9628998" y="3611880"/>
            <a:ext cx="2014057" cy="457200"/>
          </a:xfrm>
          <a:prstGeom prst="rect">
            <a:avLst/>
          </a:prstGeom>
          <a:noFill/>
          <a:ln/>
        </p:spPr>
        <p:txBody>
          <a:bodyPr wrap="square" lIns="0" tIns="0" rIns="0" bIns="0" rtlCol="0" anchor="t"/>
          <a:lstStyle/>
          <a:p>
            <a:pPr indent="0" marL="0">
              <a:buNone/>
            </a:pPr>
            <a:r>
              <a:rPr lang="en-US" sz="2200" b="1" dirty="0">
                <a:solidFill>
                  <a:schemeClr val="tx1"/>
                </a:solidFill>
              </a:rPr>
              <a:t>Tone &amp; audience</a:t>
            </a:r>
            <a:endParaRPr lang="en-US" sz="2200" dirty="0"/>
          </a:p>
        </p:txBody>
      </p:sp>
      <p:sp>
        <p:nvSpPr>
          <p:cNvPr id="23" name="text-131"/>
          <p:cNvSpPr txBox="1"/>
          <p:nvPr/>
        </p:nvSpPr>
        <p:spPr>
          <a:xfrm>
            <a:off x="9628998" y="4114800"/>
            <a:ext cx="1922617" cy="914400"/>
          </a:xfrm>
          <a:prstGeom prst="rect">
            <a:avLst/>
          </a:prstGeom>
          <a:noFill/>
          <a:ln/>
        </p:spPr>
        <p:txBody>
          <a:bodyPr wrap="square" lIns="0" tIns="0" rIns="0" bIns="0" rtlCol="0" anchor="t"/>
          <a:lstStyle/>
          <a:p>
            <a:pPr indent="0" marL="0">
              <a:buNone/>
            </a:pPr>
            <a:r>
              <a:rPr lang="en-US" sz="1600" dirty="0">
                <a:solidFill>
                  <a:schemeClr val="tx2"/>
                </a:solidFill>
              </a:rPr>
              <a:t>Who reads it, and how should it sound?</a:t>
            </a:r>
            <a:endParaRPr lang="en-US" sz="1600" dirty="0"/>
          </a:p>
        </p:txBody>
      </p:sp>
      <p:sp>
        <p:nvSpPr>
          <p:cNvPr id="24" name="card-132"/>
          <p:cNvSpPr/>
          <p:nvPr/>
        </p:nvSpPr>
        <p:spPr>
          <a:xfrm>
            <a:off x="548640" y="5257800"/>
            <a:ext cx="11094415" cy="777240"/>
          </a:xfrm>
          <a:prstGeom prst="roundRect">
            <a:avLst>
              <a:gd name="adj" fmla="val 14118"/>
            </a:avLst>
          </a:prstGeom>
          <a:solidFill>
            <a:schemeClr val="bg2"/>
          </a:solidFill>
          <a:ln/>
        </p:spPr>
      </p:sp>
      <p:sp>
        <p:nvSpPr>
          <p:cNvPr id="25" name="text-133"/>
          <p:cNvSpPr txBox="1"/>
          <p:nvPr/>
        </p:nvSpPr>
        <p:spPr>
          <a:xfrm>
            <a:off x="868680" y="5257800"/>
            <a:ext cx="10454335" cy="777240"/>
          </a:xfrm>
          <a:prstGeom prst="rect">
            <a:avLst/>
          </a:prstGeom>
          <a:noFill/>
          <a:ln/>
        </p:spPr>
        <p:txBody>
          <a:bodyPr wrap="square" lIns="0" tIns="0" rIns="0" bIns="0" rtlCol="0" anchor="ctr"/>
          <a:lstStyle/>
          <a:p>
            <a:pPr indent="0" marL="0">
              <a:buNone/>
            </a:pPr>
            <a:r>
              <a:rPr lang="en-US" sz="1800" b="1" dirty="0">
                <a:solidFill>
                  <a:schemeClr val="tx1"/>
                </a:solidFill>
              </a:rPr>
              <a:t>Google's own Gemini guide uses the same ideas: </a:t>
            </a:r>
            <a:pPr indent="0" marL="0">
              <a:buNone/>
            </a:pPr>
            <a:r>
              <a:rPr lang="en-US" sz="1800" dirty="0">
                <a:solidFill>
                  <a:schemeClr val="tx1"/>
                </a:solidFill>
              </a:rPr>
              <a:t>persona, task, context, and format. CRAFT adds tone &amp; audience.</a:t>
            </a:r>
            <a:endParaRPr lang="en-US" sz="18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Same request, better prompt</a:t>
            </a:r>
            <a:endParaRPr lang="en-US" sz="3400" dirty="0"/>
          </a:p>
        </p:txBody>
      </p:sp>
      <p:sp>
        <p:nvSpPr>
          <p:cNvPr id="3" name="text-134"/>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tx2"/>
                </a:solidFill>
              </a:rPr>
              <a:t>Prompt Engineering Essentials   ·   Part 1: Foundations</a:t>
            </a:r>
            <a:endParaRPr lang="en-US" sz="1000" dirty="0"/>
          </a:p>
        </p:txBody>
      </p:sp>
      <p:sp>
        <p:nvSpPr>
          <p:cNvPr id="4" name="text-135"/>
          <p:cNvSpPr txBox="1"/>
          <p:nvPr/>
        </p:nvSpPr>
        <p:spPr>
          <a:xfrm>
            <a:off x="548640" y="1463040"/>
            <a:ext cx="3657600" cy="274320"/>
          </a:xfrm>
          <a:prstGeom prst="rect">
            <a:avLst/>
          </a:prstGeom>
          <a:noFill/>
          <a:ln/>
        </p:spPr>
        <p:txBody>
          <a:bodyPr wrap="square" lIns="0" tIns="0" rIns="0" bIns="0" rtlCol="0" anchor="t"/>
          <a:lstStyle/>
          <a:p>
            <a:pPr indent="0" marL="0">
              <a:buNone/>
            </a:pPr>
            <a:r>
              <a:rPr lang="en-US" sz="1300" b="1" spc="200" kern="0" dirty="0">
                <a:solidFill>
                  <a:schemeClr val="tx2"/>
                </a:solidFill>
              </a:rPr>
              <a:t>BEFORE</a:t>
            </a:r>
            <a:endParaRPr lang="en-US" sz="1300" dirty="0"/>
          </a:p>
        </p:txBody>
      </p:sp>
      <p:sp>
        <p:nvSpPr>
          <p:cNvPr id="5" name="card-136"/>
          <p:cNvSpPr/>
          <p:nvPr/>
        </p:nvSpPr>
        <p:spPr>
          <a:xfrm>
            <a:off x="548640" y="1828800"/>
            <a:ext cx="4206240" cy="1325880"/>
          </a:xfrm>
          <a:prstGeom prst="roundRect">
            <a:avLst>
              <a:gd name="adj" fmla="val 8276"/>
            </a:avLst>
          </a:prstGeom>
          <a:solidFill>
            <a:schemeClr val="tx1"/>
          </a:solidFill>
          <a:ln/>
        </p:spPr>
      </p:sp>
      <p:sp>
        <p:nvSpPr>
          <p:cNvPr id="6" name="text-137"/>
          <p:cNvSpPr txBox="1"/>
          <p:nvPr/>
        </p:nvSpPr>
        <p:spPr>
          <a:xfrm>
            <a:off x="822960" y="2029968"/>
            <a:ext cx="365760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PROMPT</a:t>
            </a:r>
            <a:endParaRPr lang="en-US" sz="1200" dirty="0"/>
          </a:p>
        </p:txBody>
      </p:sp>
      <p:sp>
        <p:nvSpPr>
          <p:cNvPr id="7" name="text-138"/>
          <p:cNvSpPr txBox="1"/>
          <p:nvPr/>
        </p:nvSpPr>
        <p:spPr>
          <a:xfrm>
            <a:off x="822960" y="2359152"/>
            <a:ext cx="3657600" cy="612648"/>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Write an email about the meeting.</a:t>
            </a:r>
            <a:endParaRPr lang="en-US" sz="1700" dirty="0"/>
          </a:p>
        </p:txBody>
      </p:sp>
      <p:sp>
        <p:nvSpPr>
          <p:cNvPr id="8" name="text-139"/>
          <p:cNvSpPr txBox="1"/>
          <p:nvPr/>
        </p:nvSpPr>
        <p:spPr>
          <a:xfrm>
            <a:off x="548640" y="3337560"/>
            <a:ext cx="4206240" cy="640080"/>
          </a:xfrm>
          <a:prstGeom prst="rect">
            <a:avLst/>
          </a:prstGeom>
          <a:noFill/>
          <a:ln/>
        </p:spPr>
        <p:txBody>
          <a:bodyPr wrap="square" lIns="0" tIns="0" rIns="0" bIns="0" rtlCol="0" anchor="t"/>
          <a:lstStyle/>
          <a:p>
            <a:pPr indent="0" marL="0">
              <a:buNone/>
            </a:pPr>
            <a:r>
              <a:rPr lang="en-US" sz="1600" dirty="0">
                <a:solidFill>
                  <a:schemeClr val="tx2"/>
                </a:solidFill>
              </a:rPr>
              <a:t>Result: a generic email full of placeholders.</a:t>
            </a:r>
            <a:endParaRPr lang="en-US" sz="1600" dirty="0"/>
          </a:p>
        </p:txBody>
      </p:sp>
      <p:sp>
        <p:nvSpPr>
          <p:cNvPr id="9" name="text-140"/>
          <p:cNvSpPr txBox="1"/>
          <p:nvPr/>
        </p:nvSpPr>
        <p:spPr>
          <a:xfrm>
            <a:off x="5120640" y="1463040"/>
            <a:ext cx="3657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AFTER</a:t>
            </a:r>
            <a:endParaRPr lang="en-US" sz="1300" dirty="0"/>
          </a:p>
        </p:txBody>
      </p:sp>
      <p:sp>
        <p:nvSpPr>
          <p:cNvPr id="10" name="card-141"/>
          <p:cNvSpPr/>
          <p:nvPr/>
        </p:nvSpPr>
        <p:spPr>
          <a:xfrm>
            <a:off x="5120640" y="1828800"/>
            <a:ext cx="6519672" cy="3611880"/>
          </a:xfrm>
          <a:prstGeom prst="roundRect">
            <a:avLst>
              <a:gd name="adj" fmla="val 3038"/>
            </a:avLst>
          </a:prstGeom>
          <a:solidFill>
            <a:schemeClr val="tx1"/>
          </a:solidFill>
          <a:ln/>
        </p:spPr>
      </p:sp>
      <p:sp>
        <p:nvSpPr>
          <p:cNvPr id="11" name="text-142"/>
          <p:cNvSpPr txBox="1"/>
          <p:nvPr/>
        </p:nvSpPr>
        <p:spPr>
          <a:xfrm>
            <a:off x="5394960" y="2057400"/>
            <a:ext cx="5989320" cy="3200400"/>
          </a:xfrm>
          <a:prstGeom prst="rect">
            <a:avLst/>
          </a:prstGeom>
          <a:noFill/>
          <a:ln/>
        </p:spPr>
        <p:txBody>
          <a:bodyPr wrap="square" lIns="0" tIns="0" rIns="0" bIns="0" rtlCol="0" anchor="t"/>
          <a:lstStyle/>
          <a:p>
            <a:pPr indent="0" marL="0">
              <a:spcAft>
                <a:spcPts val="800"/>
              </a:spcAft>
              <a:buNone/>
            </a:pPr>
            <a:r>
              <a:rPr lang="en-US" sz="1500" b="1" dirty="0">
                <a:solidFill>
                  <a:srgbClr val="F2777C"/>
                </a:solidFill>
                <a:latin typeface="Calibri" pitchFamily="34" charset="0"/>
                <a:ea typeface="Calibri" pitchFamily="34" charset="-122"/>
                <a:cs typeface="Calibri" pitchFamily="34" charset="-120"/>
              </a:rPr>
              <a:t>R  </a:t>
            </a:r>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Act as an experienced internal communications manager.</a:t>
            </a:r>
            <a:endParaRPr lang="en-US" sz="1500" dirty="0"/>
          </a:p>
          <a:p>
            <a:pPr indent="0" marL="0">
              <a:spcAft>
                <a:spcPts val="800"/>
              </a:spcAft>
              <a:buNone/>
            </a:pPr>
            <a:r>
              <a:rPr lang="en-US" sz="1500" b="1" dirty="0">
                <a:solidFill>
                  <a:srgbClr val="F2777C"/>
                </a:solidFill>
                <a:latin typeface="Calibri" pitchFamily="34" charset="0"/>
                <a:ea typeface="Calibri" pitchFamily="34" charset="-122"/>
                <a:cs typeface="Calibri" pitchFamily="34" charset="-120"/>
              </a:rPr>
              <a:t>C  </a:t>
            </a:r>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Our team of 12 is moving from weekly to biweekly status meetings on March 3.</a:t>
            </a:r>
            <a:endParaRPr lang="en-US" sz="1500" dirty="0"/>
          </a:p>
          <a:p>
            <a:pPr indent="0" marL="0">
              <a:spcAft>
                <a:spcPts val="800"/>
              </a:spcAft>
              <a:buNone/>
            </a:pPr>
            <a:r>
              <a:rPr lang="en-US" sz="1500" b="1" dirty="0">
                <a:solidFill>
                  <a:srgbClr val="F2777C"/>
                </a:solidFill>
                <a:latin typeface="Calibri" pitchFamily="34" charset="0"/>
                <a:ea typeface="Calibri" pitchFamily="34" charset="-122"/>
                <a:cs typeface="Calibri" pitchFamily="34" charset="-120"/>
              </a:rPr>
              <a:t>A  </a:t>
            </a:r>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Draft an email announcing the change.</a:t>
            </a:r>
            <a:endParaRPr lang="en-US" sz="1500" dirty="0"/>
          </a:p>
          <a:p>
            <a:pPr indent="0" marL="0">
              <a:spcAft>
                <a:spcPts val="800"/>
              </a:spcAft>
              <a:buNone/>
            </a:pPr>
            <a:r>
              <a:rPr lang="en-US" sz="1500" b="1" dirty="0">
                <a:solidFill>
                  <a:srgbClr val="F2777C"/>
                </a:solidFill>
                <a:latin typeface="Calibri" pitchFamily="34" charset="0"/>
                <a:ea typeface="Calibri" pitchFamily="34" charset="-122"/>
                <a:cs typeface="Calibri" pitchFamily="34" charset="-120"/>
              </a:rPr>
              <a:t>F  </a:t>
            </a:r>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Keep it under 150 words, with a subject line and one clear next step.</a:t>
            </a:r>
            <a:endParaRPr lang="en-US" sz="1500" dirty="0"/>
          </a:p>
          <a:p>
            <a:pPr indent="0" marL="0">
              <a:spcAft>
                <a:spcPts val="800"/>
              </a:spcAft>
              <a:buNone/>
            </a:pPr>
            <a:r>
              <a:rPr lang="en-US" sz="1500" b="1" dirty="0">
                <a:solidFill>
                  <a:srgbClr val="F2777C"/>
                </a:solidFill>
                <a:latin typeface="Calibri" pitchFamily="34" charset="0"/>
                <a:ea typeface="Calibri" pitchFamily="34" charset="-122"/>
                <a:cs typeface="Calibri" pitchFamily="34" charset="-120"/>
              </a:rPr>
              <a:t>T  </a:t>
            </a:r>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Readers are busy staff who may worry this means less support. Be warm and direct, with no jargon.</a:t>
            </a:r>
            <a:endParaRPr lang="en-US" sz="1500" dirty="0"/>
          </a:p>
        </p:txBody>
      </p:sp>
      <p:sp>
        <p:nvSpPr>
          <p:cNvPr id="12" name="text-143"/>
          <p:cNvSpPr txBox="1"/>
          <p:nvPr/>
        </p:nvSpPr>
        <p:spPr>
          <a:xfrm>
            <a:off x="5120640" y="5577840"/>
            <a:ext cx="6492240" cy="457200"/>
          </a:xfrm>
          <a:prstGeom prst="rect">
            <a:avLst/>
          </a:prstGeom>
          <a:noFill/>
          <a:ln/>
        </p:spPr>
        <p:txBody>
          <a:bodyPr wrap="square" lIns="0" tIns="0" rIns="0" bIns="0" rtlCol="0" anchor="t"/>
          <a:lstStyle/>
          <a:p>
            <a:pPr indent="0" marL="0">
              <a:buNone/>
            </a:pPr>
            <a:r>
              <a:rPr lang="en-US" sz="1600" b="1" dirty="0">
                <a:solidFill>
                  <a:schemeClr val="tx1"/>
                </a:solidFill>
              </a:rPr>
              <a:t>Result: a ready-to-send email, in the right tone, on the first try.</a:t>
            </a:r>
            <a:endParaRPr lang="en-US" sz="16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548640" y="411480"/>
            <a:ext cx="82296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rPr>
              <a:t>ACTIVITY 1.2  ·  GROUPS OF 3</a:t>
            </a:r>
            <a:endParaRPr lang="en-US" sz="1400" dirty="0"/>
          </a:p>
        </p:txBody>
      </p:sp>
      <p:sp>
        <p:nvSpPr>
          <p:cNvPr id="3" name="Text 0"/>
          <p:cNvSpPr/>
          <p:nvPr>
            <p:ph idx="102" type="title" hasCustomPrompt="1"/>
          </p:nvPr>
        </p:nvSpPr>
        <p:spPr>
          <a:xfrm>
            <a:off x="548640" y="777240"/>
            <a:ext cx="8778240" cy="822960"/>
          </a:xfrm>
          <a:prstGeom prst="rect">
            <a:avLst/>
          </a:prstGeom>
          <a:noFill/>
          <a:ln/>
        </p:spPr>
        <p:txBody>
          <a:bodyPr wrap="square" lIns="0" tIns="0" rIns="0" bIns="0" rtlCol="0" anchor="ctr"/>
          <a:lstStyle/>
          <a:p>
            <a:pPr algn="l" indent="0" marL="0">
              <a:buNone/>
            </a:pPr>
            <a:r>
              <a:rPr lang="en-US" sz="3800" b="1" dirty="0">
                <a:solidFill>
                  <a:schemeClr val="bg1"/>
                </a:solidFill>
              </a:rPr>
              <a:t>Prompt makeover</a:t>
            </a:r>
            <a:endParaRPr lang="en-US" sz="3800" dirty="0"/>
          </a:p>
        </p:txBody>
      </p:sp>
      <p:sp>
        <p:nvSpPr>
          <p:cNvPr id="4" name="badge-144"/>
          <p:cNvSpPr/>
          <p:nvPr/>
        </p:nvSpPr>
        <p:spPr>
          <a:xfrm>
            <a:off x="10042855" y="502920"/>
            <a:ext cx="1600200" cy="457200"/>
          </a:xfrm>
          <a:prstGeom prst="roundRect">
            <a:avLst>
              <a:gd name="adj" fmla="val 50000"/>
            </a:avLst>
          </a:prstGeom>
          <a:solidFill>
            <a:schemeClr val="bg1"/>
          </a:solidFill>
          <a:ln/>
        </p:spPr>
      </p:sp>
      <p:sp>
        <p:nvSpPr>
          <p:cNvPr id="5" name="text-145"/>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13 min</a:t>
            </a:r>
            <a:endParaRPr lang="en-US" sz="1600" dirty="0"/>
          </a:p>
        </p:txBody>
      </p:sp>
      <p:sp>
        <p:nvSpPr>
          <p:cNvPr id="6" name="text-146"/>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accent3"/>
                </a:solidFill>
              </a:rPr>
              <a:t>Prompt Engineering Essentials   ·   Part 1: Foundations</a:t>
            </a:r>
            <a:endParaRPr lang="en-US" sz="1000" dirty="0"/>
          </a:p>
        </p:txBody>
      </p:sp>
      <p:sp>
        <p:nvSpPr>
          <p:cNvPr id="7" name="text-147"/>
          <p:cNvSpPr txBox="1"/>
          <p:nvPr/>
        </p:nvSpPr>
        <p:spPr>
          <a:xfrm>
            <a:off x="548640" y="1828800"/>
            <a:ext cx="4572000" cy="365760"/>
          </a:xfrm>
          <a:prstGeom prst="rect">
            <a:avLst/>
          </a:prstGeom>
          <a:noFill/>
          <a:ln/>
        </p:spPr>
        <p:txBody>
          <a:bodyPr wrap="square" lIns="0" tIns="0" rIns="0" bIns="0" rtlCol="0" anchor="t"/>
          <a:lstStyle/>
          <a:p>
            <a:pPr indent="0" marL="0">
              <a:buNone/>
            </a:pPr>
            <a:r>
              <a:rPr lang="en-US" sz="1700" dirty="0">
                <a:solidFill>
                  <a:schemeClr val="accent3"/>
                </a:solidFill>
              </a:rPr>
              <a:t>Your group gets one weak prompt:</a:t>
            </a:r>
            <a:endParaRPr lang="en-US" sz="1700" dirty="0"/>
          </a:p>
        </p:txBody>
      </p:sp>
      <p:sp>
        <p:nvSpPr>
          <p:cNvPr id="8" name="card-148"/>
          <p:cNvSpPr/>
          <p:nvPr/>
        </p:nvSpPr>
        <p:spPr>
          <a:xfrm>
            <a:off x="548640" y="2286000"/>
            <a:ext cx="4572000" cy="841248"/>
          </a:xfrm>
          <a:prstGeom prst="roundRect">
            <a:avLst>
              <a:gd name="adj" fmla="val 13043"/>
            </a:avLst>
          </a:prstGeom>
          <a:solidFill>
            <a:schemeClr val="accent2"/>
          </a:solidFill>
          <a:ln/>
        </p:spPr>
      </p:sp>
      <p:sp>
        <p:nvSpPr>
          <p:cNvPr id="9" name="text-149"/>
          <p:cNvSpPr txBox="1"/>
          <p:nvPr/>
        </p:nvSpPr>
        <p:spPr>
          <a:xfrm>
            <a:off x="822960" y="2286000"/>
            <a:ext cx="457200" cy="841248"/>
          </a:xfrm>
          <a:prstGeom prst="rect">
            <a:avLst/>
          </a:prstGeom>
          <a:noFill/>
          <a:ln/>
        </p:spPr>
        <p:txBody>
          <a:bodyPr wrap="square" lIns="0" tIns="0" rIns="0" bIns="0" rtlCol="0" anchor="ctr"/>
          <a:lstStyle/>
          <a:p>
            <a:pPr indent="0" marL="0">
              <a:buNone/>
            </a:pPr>
            <a:r>
              <a:rPr lang="en-US" sz="2600" b="1" dirty="0">
                <a:solidFill>
                  <a:schemeClr val="accent1"/>
                </a:solidFill>
              </a:rPr>
              <a:t>A</a:t>
            </a:r>
            <a:endParaRPr lang="en-US" sz="2600" dirty="0"/>
          </a:p>
        </p:txBody>
      </p:sp>
      <p:sp>
        <p:nvSpPr>
          <p:cNvPr id="10" name="text-150"/>
          <p:cNvSpPr txBox="1"/>
          <p:nvPr/>
        </p:nvSpPr>
        <p:spPr>
          <a:xfrm>
            <a:off x="1417320" y="2286000"/>
            <a:ext cx="3566160" cy="841248"/>
          </a:xfrm>
          <a:prstGeom prst="rect">
            <a:avLst/>
          </a:prstGeom>
          <a:noFill/>
          <a:ln/>
        </p:spPr>
        <p:txBody>
          <a:bodyPr wrap="square" lIns="0" tIns="0" rIns="0" bIns="0" rtlCol="0" anchor="ctr"/>
          <a:lstStyle/>
          <a:p>
            <a:pPr indent="0" marL="0">
              <a:buNone/>
            </a:pPr>
            <a:r>
              <a:rPr lang="en-US" sz="1700" dirty="0">
                <a:solidFill>
                  <a:schemeClr val="bg1"/>
                </a:solidFill>
                <a:latin typeface="Courier New" pitchFamily="34" charset="0"/>
                <a:ea typeface="Courier New" pitchFamily="34" charset="-122"/>
                <a:cs typeface="Courier New" pitchFamily="34" charset="-120"/>
              </a:rPr>
              <a:t>Summarize this article.</a:t>
            </a:r>
            <a:endParaRPr lang="en-US" sz="1700" dirty="0"/>
          </a:p>
        </p:txBody>
      </p:sp>
      <p:sp>
        <p:nvSpPr>
          <p:cNvPr id="11" name="card-151"/>
          <p:cNvSpPr/>
          <p:nvPr/>
        </p:nvSpPr>
        <p:spPr>
          <a:xfrm>
            <a:off x="548640" y="3310128"/>
            <a:ext cx="4572000" cy="841248"/>
          </a:xfrm>
          <a:prstGeom prst="roundRect">
            <a:avLst>
              <a:gd name="adj" fmla="val 13043"/>
            </a:avLst>
          </a:prstGeom>
          <a:solidFill>
            <a:schemeClr val="accent2"/>
          </a:solidFill>
          <a:ln/>
        </p:spPr>
      </p:sp>
      <p:sp>
        <p:nvSpPr>
          <p:cNvPr id="12" name="text-152"/>
          <p:cNvSpPr txBox="1"/>
          <p:nvPr/>
        </p:nvSpPr>
        <p:spPr>
          <a:xfrm>
            <a:off x="822960" y="3310128"/>
            <a:ext cx="457200" cy="841248"/>
          </a:xfrm>
          <a:prstGeom prst="rect">
            <a:avLst/>
          </a:prstGeom>
          <a:noFill/>
          <a:ln/>
        </p:spPr>
        <p:txBody>
          <a:bodyPr wrap="square" lIns="0" tIns="0" rIns="0" bIns="0" rtlCol="0" anchor="ctr"/>
          <a:lstStyle/>
          <a:p>
            <a:pPr indent="0" marL="0">
              <a:buNone/>
            </a:pPr>
            <a:r>
              <a:rPr lang="en-US" sz="2600" b="1" dirty="0">
                <a:solidFill>
                  <a:schemeClr val="accent1"/>
                </a:solidFill>
              </a:rPr>
              <a:t>B</a:t>
            </a:r>
            <a:endParaRPr lang="en-US" sz="2600" dirty="0"/>
          </a:p>
        </p:txBody>
      </p:sp>
      <p:sp>
        <p:nvSpPr>
          <p:cNvPr id="13" name="text-153"/>
          <p:cNvSpPr txBox="1"/>
          <p:nvPr/>
        </p:nvSpPr>
        <p:spPr>
          <a:xfrm>
            <a:off x="1417320" y="3310128"/>
            <a:ext cx="3566160" cy="841248"/>
          </a:xfrm>
          <a:prstGeom prst="rect">
            <a:avLst/>
          </a:prstGeom>
          <a:noFill/>
          <a:ln/>
        </p:spPr>
        <p:txBody>
          <a:bodyPr wrap="square" lIns="0" tIns="0" rIns="0" bIns="0" rtlCol="0" anchor="ctr"/>
          <a:lstStyle/>
          <a:p>
            <a:pPr indent="0" marL="0">
              <a:buNone/>
            </a:pPr>
            <a:r>
              <a:rPr lang="en-US" sz="1700" dirty="0">
                <a:solidFill>
                  <a:schemeClr val="bg1"/>
                </a:solidFill>
                <a:latin typeface="Courier New" pitchFamily="34" charset="0"/>
                <a:ea typeface="Courier New" pitchFamily="34" charset="-122"/>
                <a:cs typeface="Courier New" pitchFamily="34" charset="-120"/>
              </a:rPr>
              <a:t>Give me ideas for our event.</a:t>
            </a:r>
            <a:endParaRPr lang="en-US" sz="1700" dirty="0"/>
          </a:p>
        </p:txBody>
      </p:sp>
      <p:sp>
        <p:nvSpPr>
          <p:cNvPr id="14" name="card-154"/>
          <p:cNvSpPr/>
          <p:nvPr/>
        </p:nvSpPr>
        <p:spPr>
          <a:xfrm>
            <a:off x="548640" y="4334256"/>
            <a:ext cx="4572000" cy="841248"/>
          </a:xfrm>
          <a:prstGeom prst="roundRect">
            <a:avLst>
              <a:gd name="adj" fmla="val 13043"/>
            </a:avLst>
          </a:prstGeom>
          <a:solidFill>
            <a:schemeClr val="accent2"/>
          </a:solidFill>
          <a:ln/>
        </p:spPr>
      </p:sp>
      <p:sp>
        <p:nvSpPr>
          <p:cNvPr id="15" name="text-155"/>
          <p:cNvSpPr txBox="1"/>
          <p:nvPr/>
        </p:nvSpPr>
        <p:spPr>
          <a:xfrm>
            <a:off x="822960" y="4334256"/>
            <a:ext cx="457200" cy="841248"/>
          </a:xfrm>
          <a:prstGeom prst="rect">
            <a:avLst/>
          </a:prstGeom>
          <a:noFill/>
          <a:ln/>
        </p:spPr>
        <p:txBody>
          <a:bodyPr wrap="square" lIns="0" tIns="0" rIns="0" bIns="0" rtlCol="0" anchor="ctr"/>
          <a:lstStyle/>
          <a:p>
            <a:pPr indent="0" marL="0">
              <a:buNone/>
            </a:pPr>
            <a:r>
              <a:rPr lang="en-US" sz="2600" b="1" dirty="0">
                <a:solidFill>
                  <a:schemeClr val="accent1"/>
                </a:solidFill>
              </a:rPr>
              <a:t>C</a:t>
            </a:r>
            <a:endParaRPr lang="en-US" sz="2600" dirty="0"/>
          </a:p>
        </p:txBody>
      </p:sp>
      <p:sp>
        <p:nvSpPr>
          <p:cNvPr id="16" name="text-156"/>
          <p:cNvSpPr txBox="1"/>
          <p:nvPr/>
        </p:nvSpPr>
        <p:spPr>
          <a:xfrm>
            <a:off x="1417320" y="4334256"/>
            <a:ext cx="3566160" cy="841248"/>
          </a:xfrm>
          <a:prstGeom prst="rect">
            <a:avLst/>
          </a:prstGeom>
          <a:noFill/>
          <a:ln/>
        </p:spPr>
        <p:txBody>
          <a:bodyPr wrap="square" lIns="0" tIns="0" rIns="0" bIns="0" rtlCol="0" anchor="ctr"/>
          <a:lstStyle/>
          <a:p>
            <a:pPr indent="0" marL="0">
              <a:buNone/>
            </a:pPr>
            <a:r>
              <a:rPr lang="en-US" sz="1700" dirty="0">
                <a:solidFill>
                  <a:schemeClr val="bg1"/>
                </a:solidFill>
                <a:latin typeface="Courier New" pitchFamily="34" charset="0"/>
                <a:ea typeface="Courier New" pitchFamily="34" charset="-122"/>
                <a:cs typeface="Courier New" pitchFamily="34" charset="-120"/>
              </a:rPr>
              <a:t>Write a job description.</a:t>
            </a:r>
            <a:endParaRPr lang="en-US" sz="1700" dirty="0"/>
          </a:p>
        </p:txBody>
      </p:sp>
      <p:sp>
        <p:nvSpPr>
          <p:cNvPr id="17" name="num-157"/>
          <p:cNvSpPr/>
          <p:nvPr/>
        </p:nvSpPr>
        <p:spPr>
          <a:xfrm>
            <a:off x="5715000" y="1828800"/>
            <a:ext cx="548640" cy="548640"/>
          </a:xfrm>
          <a:prstGeom prst="ellipse">
            <a:avLst/>
          </a:prstGeom>
          <a:solidFill>
            <a:schemeClr val="bg1"/>
          </a:solidFill>
          <a:ln/>
        </p:spPr>
      </p:sp>
      <p:sp>
        <p:nvSpPr>
          <p:cNvPr id="18" name="text-158"/>
          <p:cNvSpPr txBox="1"/>
          <p:nvPr/>
        </p:nvSpPr>
        <p:spPr>
          <a:xfrm>
            <a:off x="5715000" y="18288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19" name="text-159"/>
          <p:cNvSpPr txBox="1"/>
          <p:nvPr/>
        </p:nvSpPr>
        <p:spPr>
          <a:xfrm>
            <a:off x="6492240" y="1810512"/>
            <a:ext cx="5120640" cy="365760"/>
          </a:xfrm>
          <a:prstGeom prst="rect">
            <a:avLst/>
          </a:prstGeom>
          <a:noFill/>
          <a:ln/>
        </p:spPr>
        <p:txBody>
          <a:bodyPr wrap="square" lIns="0" tIns="0" rIns="0" bIns="0" rtlCol="0" anchor="t"/>
          <a:lstStyle/>
          <a:p>
            <a:pPr indent="0" marL="0">
              <a:buNone/>
            </a:pPr>
            <a:r>
              <a:rPr lang="en-US" sz="1900" b="1" dirty="0">
                <a:solidFill>
                  <a:schemeClr val="bg1"/>
                </a:solidFill>
              </a:rPr>
              <a:t>Diagnose  </a:t>
            </a:r>
            <a:pPr indent="0" marL="0">
              <a:buNone/>
            </a:pPr>
            <a:r>
              <a:rPr lang="en-US" sz="1900" dirty="0">
                <a:solidFill>
                  <a:schemeClr val="accent3"/>
                </a:solidFill>
              </a:rPr>
              <a:t>3 min</a:t>
            </a:r>
            <a:endParaRPr lang="en-US" sz="1900" dirty="0"/>
          </a:p>
        </p:txBody>
      </p:sp>
      <p:sp>
        <p:nvSpPr>
          <p:cNvPr id="20" name="text-160"/>
          <p:cNvSpPr txBox="1"/>
          <p:nvPr/>
        </p:nvSpPr>
        <p:spPr>
          <a:xfrm>
            <a:off x="6492240" y="2176272"/>
            <a:ext cx="5120640" cy="411480"/>
          </a:xfrm>
          <a:prstGeom prst="rect">
            <a:avLst/>
          </a:prstGeom>
          <a:noFill/>
          <a:ln/>
        </p:spPr>
        <p:txBody>
          <a:bodyPr wrap="square" lIns="0" tIns="0" rIns="0" bIns="0" rtlCol="0" anchor="t"/>
          <a:lstStyle/>
          <a:p>
            <a:pPr indent="0" marL="0">
              <a:buNone/>
            </a:pPr>
            <a:r>
              <a:rPr lang="en-US" sz="1600" dirty="0">
                <a:solidFill>
                  <a:schemeClr val="accent3"/>
                </a:solidFill>
              </a:rPr>
              <a:t>Which CRAFT elements are missing?</a:t>
            </a:r>
            <a:endParaRPr lang="en-US" sz="1600" dirty="0"/>
          </a:p>
        </p:txBody>
      </p:sp>
      <p:sp>
        <p:nvSpPr>
          <p:cNvPr id="21" name="num-161"/>
          <p:cNvSpPr/>
          <p:nvPr/>
        </p:nvSpPr>
        <p:spPr>
          <a:xfrm>
            <a:off x="5715000" y="2743200"/>
            <a:ext cx="548640" cy="548640"/>
          </a:xfrm>
          <a:prstGeom prst="ellipse">
            <a:avLst/>
          </a:prstGeom>
          <a:solidFill>
            <a:schemeClr val="bg1"/>
          </a:solidFill>
          <a:ln/>
        </p:spPr>
      </p:sp>
      <p:sp>
        <p:nvSpPr>
          <p:cNvPr id="22" name="text-162"/>
          <p:cNvSpPr txBox="1"/>
          <p:nvPr/>
        </p:nvSpPr>
        <p:spPr>
          <a:xfrm>
            <a:off x="5715000" y="27432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23" name="text-163"/>
          <p:cNvSpPr txBox="1"/>
          <p:nvPr/>
        </p:nvSpPr>
        <p:spPr>
          <a:xfrm>
            <a:off x="6492240" y="2724912"/>
            <a:ext cx="5120640" cy="365760"/>
          </a:xfrm>
          <a:prstGeom prst="rect">
            <a:avLst/>
          </a:prstGeom>
          <a:noFill/>
          <a:ln/>
        </p:spPr>
        <p:txBody>
          <a:bodyPr wrap="square" lIns="0" tIns="0" rIns="0" bIns="0" rtlCol="0" anchor="t"/>
          <a:lstStyle/>
          <a:p>
            <a:pPr indent="0" marL="0">
              <a:buNone/>
            </a:pPr>
            <a:r>
              <a:rPr lang="en-US" sz="1900" b="1" dirty="0">
                <a:solidFill>
                  <a:schemeClr val="bg1"/>
                </a:solidFill>
              </a:rPr>
              <a:t>Rewrite  </a:t>
            </a:r>
            <a:pPr indent="0" marL="0">
              <a:buNone/>
            </a:pPr>
            <a:r>
              <a:rPr lang="en-US" sz="1900" dirty="0">
                <a:solidFill>
                  <a:schemeClr val="accent3"/>
                </a:solidFill>
              </a:rPr>
              <a:t>4 min</a:t>
            </a:r>
            <a:endParaRPr lang="en-US" sz="1900" dirty="0"/>
          </a:p>
        </p:txBody>
      </p:sp>
      <p:sp>
        <p:nvSpPr>
          <p:cNvPr id="24" name="text-164"/>
          <p:cNvSpPr txBox="1"/>
          <p:nvPr/>
        </p:nvSpPr>
        <p:spPr>
          <a:xfrm>
            <a:off x="6492240" y="3090672"/>
            <a:ext cx="5120640" cy="411480"/>
          </a:xfrm>
          <a:prstGeom prst="rect">
            <a:avLst/>
          </a:prstGeom>
          <a:noFill/>
          <a:ln/>
        </p:spPr>
        <p:txBody>
          <a:bodyPr wrap="square" lIns="0" tIns="0" rIns="0" bIns="0" rtlCol="0" anchor="t"/>
          <a:lstStyle/>
          <a:p>
            <a:pPr indent="0" marL="0">
              <a:buNone/>
            </a:pPr>
            <a:r>
              <a:rPr lang="en-US" sz="1600" dirty="0">
                <a:solidFill>
                  <a:schemeClr val="accent3"/>
                </a:solidFill>
              </a:rPr>
              <a:t>Add all five. Invent fictional details.</a:t>
            </a:r>
            <a:endParaRPr lang="en-US" sz="1600" dirty="0"/>
          </a:p>
        </p:txBody>
      </p:sp>
      <p:sp>
        <p:nvSpPr>
          <p:cNvPr id="25" name="num-165"/>
          <p:cNvSpPr/>
          <p:nvPr/>
        </p:nvSpPr>
        <p:spPr>
          <a:xfrm>
            <a:off x="5715000" y="3657600"/>
            <a:ext cx="548640" cy="548640"/>
          </a:xfrm>
          <a:prstGeom prst="ellipse">
            <a:avLst/>
          </a:prstGeom>
          <a:solidFill>
            <a:schemeClr val="bg1"/>
          </a:solidFill>
          <a:ln/>
        </p:spPr>
      </p:sp>
      <p:sp>
        <p:nvSpPr>
          <p:cNvPr id="26" name="text-166"/>
          <p:cNvSpPr txBox="1"/>
          <p:nvPr/>
        </p:nvSpPr>
        <p:spPr>
          <a:xfrm>
            <a:off x="5715000" y="36576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27" name="text-167"/>
          <p:cNvSpPr txBox="1"/>
          <p:nvPr/>
        </p:nvSpPr>
        <p:spPr>
          <a:xfrm>
            <a:off x="6492240" y="3639312"/>
            <a:ext cx="5120640" cy="365760"/>
          </a:xfrm>
          <a:prstGeom prst="rect">
            <a:avLst/>
          </a:prstGeom>
          <a:noFill/>
          <a:ln/>
        </p:spPr>
        <p:txBody>
          <a:bodyPr wrap="square" lIns="0" tIns="0" rIns="0" bIns="0" rtlCol="0" anchor="t"/>
          <a:lstStyle/>
          <a:p>
            <a:pPr indent="0" marL="0">
              <a:buNone/>
            </a:pPr>
            <a:r>
              <a:rPr lang="en-US" sz="1900" b="1" dirty="0">
                <a:solidFill>
                  <a:schemeClr val="bg1"/>
                </a:solidFill>
              </a:rPr>
              <a:t>Test  </a:t>
            </a:r>
            <a:pPr indent="0" marL="0">
              <a:buNone/>
            </a:pPr>
            <a:r>
              <a:rPr lang="en-US" sz="1900" dirty="0">
                <a:solidFill>
                  <a:schemeClr val="accent3"/>
                </a:solidFill>
              </a:rPr>
              <a:t>3 min</a:t>
            </a:r>
            <a:endParaRPr lang="en-US" sz="1900" dirty="0"/>
          </a:p>
        </p:txBody>
      </p:sp>
      <p:sp>
        <p:nvSpPr>
          <p:cNvPr id="28" name="text-168"/>
          <p:cNvSpPr txBox="1"/>
          <p:nvPr/>
        </p:nvSpPr>
        <p:spPr>
          <a:xfrm>
            <a:off x="6492240" y="4005072"/>
            <a:ext cx="5120640" cy="411480"/>
          </a:xfrm>
          <a:prstGeom prst="rect">
            <a:avLst/>
          </a:prstGeom>
          <a:noFill/>
          <a:ln/>
        </p:spPr>
        <p:txBody>
          <a:bodyPr wrap="square" lIns="0" tIns="0" rIns="0" bIns="0" rtlCol="0" anchor="t"/>
          <a:lstStyle/>
          <a:p>
            <a:pPr indent="0" marL="0">
              <a:buNone/>
            </a:pPr>
            <a:r>
              <a:rPr lang="en-US" sz="1600" dirty="0">
                <a:solidFill>
                  <a:schemeClr val="accent3"/>
                </a:solidFill>
              </a:rPr>
              <a:t>Run both versions in separate Gemini chats.</a:t>
            </a:r>
            <a:endParaRPr lang="en-US" sz="1600" dirty="0"/>
          </a:p>
        </p:txBody>
      </p:sp>
      <p:sp>
        <p:nvSpPr>
          <p:cNvPr id="29" name="num-169"/>
          <p:cNvSpPr/>
          <p:nvPr/>
        </p:nvSpPr>
        <p:spPr>
          <a:xfrm>
            <a:off x="5715000" y="4572000"/>
            <a:ext cx="548640" cy="548640"/>
          </a:xfrm>
          <a:prstGeom prst="ellipse">
            <a:avLst/>
          </a:prstGeom>
          <a:solidFill>
            <a:schemeClr val="bg1"/>
          </a:solidFill>
          <a:ln/>
        </p:spPr>
      </p:sp>
      <p:sp>
        <p:nvSpPr>
          <p:cNvPr id="30" name="text-170"/>
          <p:cNvSpPr txBox="1"/>
          <p:nvPr/>
        </p:nvSpPr>
        <p:spPr>
          <a:xfrm>
            <a:off x="5715000" y="45720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31" name="text-171"/>
          <p:cNvSpPr txBox="1"/>
          <p:nvPr/>
        </p:nvSpPr>
        <p:spPr>
          <a:xfrm>
            <a:off x="6492240" y="4553712"/>
            <a:ext cx="5120640" cy="365760"/>
          </a:xfrm>
          <a:prstGeom prst="rect">
            <a:avLst/>
          </a:prstGeom>
          <a:noFill/>
          <a:ln/>
        </p:spPr>
        <p:txBody>
          <a:bodyPr wrap="square" lIns="0" tIns="0" rIns="0" bIns="0" rtlCol="0" anchor="t"/>
          <a:lstStyle/>
          <a:p>
            <a:pPr indent="0" marL="0">
              <a:buNone/>
            </a:pPr>
            <a:r>
              <a:rPr lang="en-US" sz="1900" b="1" dirty="0">
                <a:solidFill>
                  <a:schemeClr val="bg1"/>
                </a:solidFill>
              </a:rPr>
              <a:t>Share  </a:t>
            </a:r>
            <a:pPr indent="0" marL="0">
              <a:buNone/>
            </a:pPr>
            <a:r>
              <a:rPr lang="en-US" sz="1900" dirty="0">
                <a:solidFill>
                  <a:schemeClr val="accent3"/>
                </a:solidFill>
              </a:rPr>
              <a:t>3 min</a:t>
            </a:r>
            <a:endParaRPr lang="en-US" sz="1900" dirty="0"/>
          </a:p>
        </p:txBody>
      </p:sp>
      <p:sp>
        <p:nvSpPr>
          <p:cNvPr id="32" name="text-172"/>
          <p:cNvSpPr txBox="1"/>
          <p:nvPr/>
        </p:nvSpPr>
        <p:spPr>
          <a:xfrm>
            <a:off x="6492240" y="4919472"/>
            <a:ext cx="5120640" cy="411480"/>
          </a:xfrm>
          <a:prstGeom prst="rect">
            <a:avLst/>
          </a:prstGeom>
          <a:noFill/>
          <a:ln/>
        </p:spPr>
        <p:txBody>
          <a:bodyPr wrap="square" lIns="0" tIns="0" rIns="0" bIns="0" rtlCol="0" anchor="t"/>
          <a:lstStyle/>
          <a:p>
            <a:pPr indent="0" marL="0">
              <a:buNone/>
            </a:pPr>
            <a:r>
              <a:rPr lang="en-US" sz="1600" dirty="0">
                <a:solidFill>
                  <a:schemeClr val="accent3"/>
                </a:solidFill>
              </a:rPr>
              <a:t>Which element made the biggest difference?</a:t>
            </a:r>
            <a:endParaRPr lang="en-US" sz="1600" dirty="0"/>
          </a:p>
        </p:txBody>
      </p:sp>
      <p:sp>
        <p:nvSpPr>
          <p:cNvPr id="33" name="text-173"/>
          <p:cNvSpPr txBox="1"/>
          <p:nvPr/>
        </p:nvSpPr>
        <p:spPr>
          <a:xfrm>
            <a:off x="548640" y="5715000"/>
            <a:ext cx="10180015" cy="411480"/>
          </a:xfrm>
          <a:prstGeom prst="rect">
            <a:avLst/>
          </a:prstGeom>
          <a:noFill/>
          <a:ln/>
        </p:spPr>
        <p:txBody>
          <a:bodyPr wrap="square" lIns="0" tIns="0" rIns="0" bIns="0" rtlCol="0" anchor="t"/>
          <a:lstStyle/>
          <a:p>
            <a:pPr indent="0" marL="0">
              <a:buNone/>
            </a:pPr>
            <a:r>
              <a:rPr lang="en-US" sz="1700" b="1" dirty="0">
                <a:solidFill>
                  <a:schemeClr val="accent1"/>
                </a:solidFill>
              </a:rPr>
              <a:t>Done when: </a:t>
            </a:r>
            <a:pPr indent="0" marL="0">
              <a:buNone/>
            </a:pPr>
            <a:r>
              <a:rPr lang="en-US" sz="1700" dirty="0">
                <a:solidFill>
                  <a:schemeClr val="bg1"/>
                </a:solidFill>
              </a:rPr>
              <a:t>your rewrite has all five elements, and you can point to one thing that got better.</a:t>
            </a:r>
            <a:endParaRPr lang="en-US" sz="17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CBBB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Show and ground: four techniques</a:t>
            </a:r>
            <a:endParaRPr lang="en-US" sz="3400" dirty="0"/>
          </a:p>
        </p:txBody>
      </p:sp>
      <p:sp>
        <p:nvSpPr>
          <p:cNvPr id="3" name="text-174"/>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tx2"/>
                </a:solidFill>
              </a:rPr>
              <a:t>Prompt Engineering Essentials   ·   Part 2: Techniques</a:t>
            </a:r>
            <a:endParaRPr lang="en-US" sz="1000" dirty="0"/>
          </a:p>
        </p:txBody>
      </p:sp>
      <p:sp>
        <p:nvSpPr>
          <p:cNvPr id="4" name="card-175"/>
          <p:cNvSpPr/>
          <p:nvPr/>
        </p:nvSpPr>
        <p:spPr>
          <a:xfrm>
            <a:off x="548640" y="1463040"/>
            <a:ext cx="2567864" cy="4572000"/>
          </a:xfrm>
          <a:prstGeom prst="roundRect">
            <a:avLst>
              <a:gd name="adj" fmla="val 4273"/>
            </a:avLst>
          </a:prstGeom>
          <a:solidFill>
            <a:schemeClr val="bg2"/>
          </a:solidFill>
          <a:ln/>
        </p:spPr>
      </p:sp>
      <p:sp>
        <p:nvSpPr>
          <p:cNvPr id="5" name="dot-176"/>
          <p:cNvSpPr/>
          <p:nvPr/>
        </p:nvSpPr>
        <p:spPr>
          <a:xfrm>
            <a:off x="822960" y="1737360"/>
            <a:ext cx="685800" cy="685800"/>
          </a:xfrm>
          <a:prstGeom prst="ellipse">
            <a:avLst/>
          </a:prstGeom>
          <a:solidFill>
            <a:schemeClr val="tx1"/>
          </a:solidFill>
          <a:ln/>
        </p:spPr>
      </p:sp>
      <p:pic>
        <p:nvPicPr>
          <p:cNvPr id="6" name="icon-177" descr="preencoded.png">    </p:cNvPr>
          <p:cNvPicPr>
            <a:picLocks noChangeAspect="1"/>
          </p:cNvPicPr>
          <p:nvPr/>
        </p:nvPicPr>
        <p:blipFill>
          <a:blip r:embed="rId1"/>
          <a:stretch>
            <a:fillRect/>
          </a:stretch>
        </p:blipFill>
        <p:spPr>
          <a:xfrm>
            <a:off x="973836" y="1888236"/>
            <a:ext cx="384048" cy="384048"/>
          </a:xfrm>
          <a:prstGeom prst="rect">
            <a:avLst/>
          </a:prstGeom>
        </p:spPr>
      </p:pic>
      <p:sp>
        <p:nvSpPr>
          <p:cNvPr id="7" name="text-178"/>
          <p:cNvSpPr txBox="1"/>
          <p:nvPr/>
        </p:nvSpPr>
        <p:spPr>
          <a:xfrm>
            <a:off x="822960" y="2606040"/>
            <a:ext cx="2110664" cy="457200"/>
          </a:xfrm>
          <a:prstGeom prst="rect">
            <a:avLst/>
          </a:prstGeom>
          <a:noFill/>
          <a:ln/>
        </p:spPr>
        <p:txBody>
          <a:bodyPr wrap="square" lIns="0" tIns="0" rIns="0" bIns="0" rtlCol="0" anchor="t"/>
          <a:lstStyle/>
          <a:p>
            <a:pPr indent="0" marL="0">
              <a:buNone/>
            </a:pPr>
            <a:r>
              <a:rPr lang="en-US" sz="2100" b="1" dirty="0">
                <a:solidFill>
                  <a:schemeClr val="tx1"/>
                </a:solidFill>
              </a:rPr>
              <a:t>Give an example</a:t>
            </a:r>
            <a:endParaRPr lang="en-US" sz="2100" dirty="0"/>
          </a:p>
        </p:txBody>
      </p:sp>
      <p:sp>
        <p:nvSpPr>
          <p:cNvPr id="8" name="text-179"/>
          <p:cNvSpPr txBox="1"/>
          <p:nvPr/>
        </p:nvSpPr>
        <p:spPr>
          <a:xfrm>
            <a:off x="822960" y="3154680"/>
            <a:ext cx="2110664" cy="1188720"/>
          </a:xfrm>
          <a:prstGeom prst="rect">
            <a:avLst/>
          </a:prstGeom>
          <a:noFill/>
          <a:ln/>
        </p:spPr>
        <p:txBody>
          <a:bodyPr wrap="square" lIns="0" tIns="0" rIns="0" bIns="0" rtlCol="0" anchor="t"/>
          <a:lstStyle/>
          <a:p>
            <a:pPr indent="0" marL="0">
              <a:buNone/>
            </a:pPr>
            <a:r>
              <a:rPr lang="en-US" sz="1600" dirty="0">
                <a:solidFill>
                  <a:schemeClr val="tx2"/>
                </a:solidFill>
              </a:rPr>
              <a:t>Show one to three samples of what you want.</a:t>
            </a:r>
            <a:endParaRPr lang="en-US" sz="1600" dirty="0"/>
          </a:p>
        </p:txBody>
      </p:sp>
      <p:sp>
        <p:nvSpPr>
          <p:cNvPr id="9" name="card-180"/>
          <p:cNvSpPr/>
          <p:nvPr/>
        </p:nvSpPr>
        <p:spPr>
          <a:xfrm>
            <a:off x="777240" y="4526280"/>
            <a:ext cx="2110664" cy="1234440"/>
          </a:xfrm>
          <a:prstGeom prst="roundRect">
            <a:avLst>
              <a:gd name="adj" fmla="val 5926"/>
            </a:avLst>
          </a:prstGeom>
          <a:solidFill>
            <a:schemeClr val="tx1"/>
          </a:solidFill>
          <a:ln/>
        </p:spPr>
      </p:sp>
      <p:sp>
        <p:nvSpPr>
          <p:cNvPr id="10" name="text-181"/>
          <p:cNvSpPr txBox="1"/>
          <p:nvPr/>
        </p:nvSpPr>
        <p:spPr>
          <a:xfrm>
            <a:off x="960120" y="4663440"/>
            <a:ext cx="1744904" cy="100584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Example: …</a:t>
            </a:r>
            <a:endParaRPr lang="en-US" sz="1400" dirty="0"/>
          </a:p>
        </p:txBody>
      </p:sp>
      <p:sp>
        <p:nvSpPr>
          <p:cNvPr id="11" name="card-182"/>
          <p:cNvSpPr/>
          <p:nvPr/>
        </p:nvSpPr>
        <p:spPr>
          <a:xfrm>
            <a:off x="3390824" y="1463040"/>
            <a:ext cx="2567864" cy="4572000"/>
          </a:xfrm>
          <a:prstGeom prst="roundRect">
            <a:avLst>
              <a:gd name="adj" fmla="val 4273"/>
            </a:avLst>
          </a:prstGeom>
          <a:solidFill>
            <a:schemeClr val="bg2"/>
          </a:solidFill>
          <a:ln/>
        </p:spPr>
      </p:sp>
      <p:sp>
        <p:nvSpPr>
          <p:cNvPr id="12" name="dot-183"/>
          <p:cNvSpPr/>
          <p:nvPr/>
        </p:nvSpPr>
        <p:spPr>
          <a:xfrm>
            <a:off x="3665144" y="1737360"/>
            <a:ext cx="685800" cy="685800"/>
          </a:xfrm>
          <a:prstGeom prst="ellipse">
            <a:avLst/>
          </a:prstGeom>
          <a:solidFill>
            <a:schemeClr val="tx1"/>
          </a:solidFill>
          <a:ln/>
        </p:spPr>
      </p:sp>
      <p:pic>
        <p:nvPicPr>
          <p:cNvPr id="13" name="icon-184" descr="preencoded.png">    </p:cNvPr>
          <p:cNvPicPr>
            <a:picLocks noChangeAspect="1"/>
          </p:cNvPicPr>
          <p:nvPr/>
        </p:nvPicPr>
        <p:blipFill>
          <a:blip r:embed="rId2"/>
          <a:stretch>
            <a:fillRect/>
          </a:stretch>
        </p:blipFill>
        <p:spPr>
          <a:xfrm>
            <a:off x="3816020" y="1888236"/>
            <a:ext cx="384048" cy="384048"/>
          </a:xfrm>
          <a:prstGeom prst="rect">
            <a:avLst/>
          </a:prstGeom>
        </p:spPr>
      </p:pic>
      <p:sp>
        <p:nvSpPr>
          <p:cNvPr id="14" name="text-185"/>
          <p:cNvSpPr txBox="1"/>
          <p:nvPr/>
        </p:nvSpPr>
        <p:spPr>
          <a:xfrm>
            <a:off x="3665144" y="2606040"/>
            <a:ext cx="2110664" cy="457200"/>
          </a:xfrm>
          <a:prstGeom prst="rect">
            <a:avLst/>
          </a:prstGeom>
          <a:noFill/>
          <a:ln/>
        </p:spPr>
        <p:txBody>
          <a:bodyPr wrap="square" lIns="0" tIns="0" rIns="0" bIns="0" rtlCol="0" anchor="t"/>
          <a:lstStyle/>
          <a:p>
            <a:pPr indent="0" marL="0">
              <a:buNone/>
            </a:pPr>
            <a:r>
              <a:rPr lang="en-US" sz="2100" b="1" dirty="0">
                <a:solidFill>
                  <a:schemeClr val="tx1"/>
                </a:solidFill>
              </a:rPr>
              <a:t>Fence the source</a:t>
            </a:r>
            <a:endParaRPr lang="en-US" sz="2100" dirty="0"/>
          </a:p>
        </p:txBody>
      </p:sp>
      <p:sp>
        <p:nvSpPr>
          <p:cNvPr id="15" name="text-186"/>
          <p:cNvSpPr txBox="1"/>
          <p:nvPr/>
        </p:nvSpPr>
        <p:spPr>
          <a:xfrm>
            <a:off x="3665144" y="3154680"/>
            <a:ext cx="2110664" cy="1188720"/>
          </a:xfrm>
          <a:prstGeom prst="rect">
            <a:avLst/>
          </a:prstGeom>
          <a:noFill/>
          <a:ln/>
        </p:spPr>
        <p:txBody>
          <a:bodyPr wrap="square" lIns="0" tIns="0" rIns="0" bIns="0" rtlCol="0" anchor="t"/>
          <a:lstStyle/>
          <a:p>
            <a:pPr indent="0" marL="0">
              <a:buNone/>
            </a:pPr>
            <a:r>
              <a:rPr lang="en-US" sz="1600" dirty="0">
                <a:solidFill>
                  <a:schemeClr val="tx2"/>
                </a:solidFill>
              </a:rPr>
              <a:t>Put pasted material between clear markers.</a:t>
            </a:r>
            <a:endParaRPr lang="en-US" sz="1600" dirty="0"/>
          </a:p>
        </p:txBody>
      </p:sp>
      <p:sp>
        <p:nvSpPr>
          <p:cNvPr id="16" name="card-187"/>
          <p:cNvSpPr/>
          <p:nvPr/>
        </p:nvSpPr>
        <p:spPr>
          <a:xfrm>
            <a:off x="3619424" y="4526280"/>
            <a:ext cx="2110664" cy="1234440"/>
          </a:xfrm>
          <a:prstGeom prst="roundRect">
            <a:avLst>
              <a:gd name="adj" fmla="val 5926"/>
            </a:avLst>
          </a:prstGeom>
          <a:solidFill>
            <a:schemeClr val="tx1"/>
          </a:solidFill>
          <a:ln/>
        </p:spPr>
      </p:sp>
      <p:sp>
        <p:nvSpPr>
          <p:cNvPr id="17" name="text-188"/>
          <p:cNvSpPr txBox="1"/>
          <p:nvPr/>
        </p:nvSpPr>
        <p:spPr>
          <a:xfrm>
            <a:off x="3802304" y="4663440"/>
            <a:ext cx="1744904" cy="100584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8" name="card-189"/>
          <p:cNvSpPr/>
          <p:nvPr/>
        </p:nvSpPr>
        <p:spPr>
          <a:xfrm>
            <a:off x="6233008" y="1463040"/>
            <a:ext cx="2567864" cy="4572000"/>
          </a:xfrm>
          <a:prstGeom prst="roundRect">
            <a:avLst>
              <a:gd name="adj" fmla="val 4273"/>
            </a:avLst>
          </a:prstGeom>
          <a:solidFill>
            <a:schemeClr val="bg2"/>
          </a:solidFill>
          <a:ln/>
        </p:spPr>
      </p:sp>
      <p:sp>
        <p:nvSpPr>
          <p:cNvPr id="19" name="dot-190"/>
          <p:cNvSpPr/>
          <p:nvPr/>
        </p:nvSpPr>
        <p:spPr>
          <a:xfrm>
            <a:off x="6507328" y="1737360"/>
            <a:ext cx="685800" cy="685800"/>
          </a:xfrm>
          <a:prstGeom prst="ellipse">
            <a:avLst/>
          </a:prstGeom>
          <a:solidFill>
            <a:schemeClr val="accent1"/>
          </a:solidFill>
          <a:ln/>
        </p:spPr>
      </p:sp>
      <p:pic>
        <p:nvPicPr>
          <p:cNvPr id="20" name="icon-191" descr="preencoded.png">    </p:cNvPr>
          <p:cNvPicPr>
            <a:picLocks noChangeAspect="1"/>
          </p:cNvPicPr>
          <p:nvPr/>
        </p:nvPicPr>
        <p:blipFill>
          <a:blip r:embed="rId3"/>
          <a:stretch>
            <a:fillRect/>
          </a:stretch>
        </p:blipFill>
        <p:spPr>
          <a:xfrm>
            <a:off x="6658204" y="1888236"/>
            <a:ext cx="384048" cy="384048"/>
          </a:xfrm>
          <a:prstGeom prst="rect">
            <a:avLst/>
          </a:prstGeom>
        </p:spPr>
      </p:pic>
      <p:sp>
        <p:nvSpPr>
          <p:cNvPr id="21" name="text-192"/>
          <p:cNvSpPr txBox="1"/>
          <p:nvPr/>
        </p:nvSpPr>
        <p:spPr>
          <a:xfrm>
            <a:off x="6507328" y="2606040"/>
            <a:ext cx="2110664" cy="457200"/>
          </a:xfrm>
          <a:prstGeom prst="rect">
            <a:avLst/>
          </a:prstGeom>
          <a:noFill/>
          <a:ln/>
        </p:spPr>
        <p:txBody>
          <a:bodyPr wrap="square" lIns="0" tIns="0" rIns="0" bIns="0" rtlCol="0" anchor="t"/>
          <a:lstStyle/>
          <a:p>
            <a:pPr indent="0" marL="0">
              <a:buNone/>
            </a:pPr>
            <a:r>
              <a:rPr lang="en-US" sz="2100" b="1" dirty="0">
                <a:solidFill>
                  <a:schemeClr val="tx1"/>
                </a:solidFill>
              </a:rPr>
              <a:t>Ground it</a:t>
            </a:r>
            <a:endParaRPr lang="en-US" sz="2100" dirty="0"/>
          </a:p>
        </p:txBody>
      </p:sp>
      <p:sp>
        <p:nvSpPr>
          <p:cNvPr id="22" name="text-193"/>
          <p:cNvSpPr txBox="1"/>
          <p:nvPr/>
        </p:nvSpPr>
        <p:spPr>
          <a:xfrm>
            <a:off x="6507328" y="3154680"/>
            <a:ext cx="2110664" cy="1188720"/>
          </a:xfrm>
          <a:prstGeom prst="rect">
            <a:avLst/>
          </a:prstGeom>
          <a:noFill/>
          <a:ln/>
        </p:spPr>
        <p:txBody>
          <a:bodyPr wrap="square" lIns="0" tIns="0" rIns="0" bIns="0" rtlCol="0" anchor="t"/>
          <a:lstStyle/>
          <a:p>
            <a:pPr indent="0" marL="0">
              <a:buNone/>
            </a:pPr>
            <a:r>
              <a:rPr lang="en-US" sz="1600" dirty="0">
                <a:solidFill>
                  <a:schemeClr val="tx2"/>
                </a:solidFill>
              </a:rPr>
              <a:t>Say: use only my material, and what to do if something's missing.</a:t>
            </a:r>
            <a:endParaRPr lang="en-US" sz="1600" dirty="0"/>
          </a:p>
        </p:txBody>
      </p:sp>
      <p:sp>
        <p:nvSpPr>
          <p:cNvPr id="23" name="card-194"/>
          <p:cNvSpPr/>
          <p:nvPr/>
        </p:nvSpPr>
        <p:spPr>
          <a:xfrm>
            <a:off x="6461608" y="4526280"/>
            <a:ext cx="2110664" cy="1234440"/>
          </a:xfrm>
          <a:prstGeom prst="roundRect">
            <a:avLst>
              <a:gd name="adj" fmla="val 5926"/>
            </a:avLst>
          </a:prstGeom>
          <a:solidFill>
            <a:schemeClr val="tx1"/>
          </a:solidFill>
          <a:ln/>
        </p:spPr>
      </p:sp>
      <p:sp>
        <p:nvSpPr>
          <p:cNvPr id="24" name="text-195"/>
          <p:cNvSpPr txBox="1"/>
          <p:nvPr/>
        </p:nvSpPr>
        <p:spPr>
          <a:xfrm>
            <a:off x="6644488" y="4663440"/>
            <a:ext cx="1744904" cy="100584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If it's not there,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write "Not stated."</a:t>
            </a:r>
            <a:endParaRPr lang="en-US" sz="1400" dirty="0"/>
          </a:p>
        </p:txBody>
      </p:sp>
      <p:sp>
        <p:nvSpPr>
          <p:cNvPr id="25" name="card-196"/>
          <p:cNvSpPr/>
          <p:nvPr/>
        </p:nvSpPr>
        <p:spPr>
          <a:xfrm>
            <a:off x="9075191" y="1463040"/>
            <a:ext cx="2567864" cy="4572000"/>
          </a:xfrm>
          <a:prstGeom prst="roundRect">
            <a:avLst>
              <a:gd name="adj" fmla="val 4273"/>
            </a:avLst>
          </a:prstGeom>
          <a:solidFill>
            <a:schemeClr val="bg2"/>
          </a:solidFill>
          <a:ln/>
        </p:spPr>
      </p:sp>
      <p:sp>
        <p:nvSpPr>
          <p:cNvPr id="26" name="dot-197"/>
          <p:cNvSpPr/>
          <p:nvPr/>
        </p:nvSpPr>
        <p:spPr>
          <a:xfrm>
            <a:off x="9349511" y="1737360"/>
            <a:ext cx="685800" cy="685800"/>
          </a:xfrm>
          <a:prstGeom prst="ellipse">
            <a:avLst/>
          </a:prstGeom>
          <a:solidFill>
            <a:schemeClr val="tx1"/>
          </a:solidFill>
          <a:ln/>
        </p:spPr>
      </p:sp>
      <p:pic>
        <p:nvPicPr>
          <p:cNvPr id="27" name="icon-198" descr="preencoded.png">    </p:cNvPr>
          <p:cNvPicPr>
            <a:picLocks noChangeAspect="1"/>
          </p:cNvPicPr>
          <p:nvPr/>
        </p:nvPicPr>
        <p:blipFill>
          <a:blip r:embed="rId4"/>
          <a:stretch>
            <a:fillRect/>
          </a:stretch>
        </p:blipFill>
        <p:spPr>
          <a:xfrm>
            <a:off x="9500387" y="1888236"/>
            <a:ext cx="384048" cy="384048"/>
          </a:xfrm>
          <a:prstGeom prst="rect">
            <a:avLst/>
          </a:prstGeom>
        </p:spPr>
      </p:pic>
      <p:sp>
        <p:nvSpPr>
          <p:cNvPr id="28" name="text-199"/>
          <p:cNvSpPr txBox="1"/>
          <p:nvPr/>
        </p:nvSpPr>
        <p:spPr>
          <a:xfrm>
            <a:off x="9349511" y="2606040"/>
            <a:ext cx="2110664" cy="457200"/>
          </a:xfrm>
          <a:prstGeom prst="rect">
            <a:avLst/>
          </a:prstGeom>
          <a:noFill/>
          <a:ln/>
        </p:spPr>
        <p:txBody>
          <a:bodyPr wrap="square" lIns="0" tIns="0" rIns="0" bIns="0" rtlCol="0" anchor="t"/>
          <a:lstStyle/>
          <a:p>
            <a:pPr indent="0" marL="0">
              <a:buNone/>
            </a:pPr>
            <a:r>
              <a:rPr lang="en-US" sz="2100" b="1" dirty="0">
                <a:solidFill>
                  <a:schemeClr val="tx1"/>
                </a:solidFill>
              </a:rPr>
              <a:t>Set the structure</a:t>
            </a:r>
            <a:endParaRPr lang="en-US" sz="2100" dirty="0"/>
          </a:p>
        </p:txBody>
      </p:sp>
      <p:sp>
        <p:nvSpPr>
          <p:cNvPr id="29" name="text-200"/>
          <p:cNvSpPr txBox="1"/>
          <p:nvPr/>
        </p:nvSpPr>
        <p:spPr>
          <a:xfrm>
            <a:off x="9349511" y="3154680"/>
            <a:ext cx="2110664" cy="1188720"/>
          </a:xfrm>
          <a:prstGeom prst="rect">
            <a:avLst/>
          </a:prstGeom>
          <a:noFill/>
          <a:ln/>
        </p:spPr>
        <p:txBody>
          <a:bodyPr wrap="square" lIns="0" tIns="0" rIns="0" bIns="0" rtlCol="0" anchor="t"/>
          <a:lstStyle/>
          <a:p>
            <a:pPr indent="0" marL="0">
              <a:buNone/>
            </a:pPr>
            <a:r>
              <a:rPr lang="en-US" sz="1600" dirty="0">
                <a:solidFill>
                  <a:schemeClr val="tx2"/>
                </a:solidFill>
              </a:rPr>
              <a:t>Columns, headings, bullet count, length.</a:t>
            </a:r>
            <a:endParaRPr lang="en-US" sz="1600" dirty="0"/>
          </a:p>
        </p:txBody>
      </p:sp>
      <p:sp>
        <p:nvSpPr>
          <p:cNvPr id="30" name="card-201"/>
          <p:cNvSpPr/>
          <p:nvPr/>
        </p:nvSpPr>
        <p:spPr>
          <a:xfrm>
            <a:off x="9303791" y="4526280"/>
            <a:ext cx="2110664" cy="1234440"/>
          </a:xfrm>
          <a:prstGeom prst="roundRect">
            <a:avLst>
              <a:gd name="adj" fmla="val 5926"/>
            </a:avLst>
          </a:prstGeom>
          <a:solidFill>
            <a:schemeClr val="tx1"/>
          </a:solidFill>
          <a:ln/>
        </p:spPr>
      </p:sp>
      <p:sp>
        <p:nvSpPr>
          <p:cNvPr id="31" name="text-202"/>
          <p:cNvSpPr txBox="1"/>
          <p:nvPr/>
        </p:nvSpPr>
        <p:spPr>
          <a:xfrm>
            <a:off x="9486671" y="4663440"/>
            <a:ext cx="1744904" cy="100584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Table: Action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Owner | Due</a:t>
            </a:r>
            <a:endParaRPr lang="en-US" sz="14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Demo: from rough notes to an action table</a:t>
            </a:r>
            <a:endParaRPr lang="en-US" sz="3400" dirty="0"/>
          </a:p>
        </p:txBody>
      </p:sp>
      <p:sp>
        <p:nvSpPr>
          <p:cNvPr id="3" name="text-203"/>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tx2"/>
                </a:solidFill>
              </a:rPr>
              <a:t>Prompt Engineering Essentials   ·   Part 2: Techniques</a:t>
            </a:r>
            <a:endParaRPr lang="en-US" sz="1000" dirty="0"/>
          </a:p>
        </p:txBody>
      </p:sp>
      <p:sp>
        <p:nvSpPr>
          <p:cNvPr id="4" name="card-204"/>
          <p:cNvSpPr/>
          <p:nvPr/>
        </p:nvSpPr>
        <p:spPr>
          <a:xfrm>
            <a:off x="548640" y="1417320"/>
            <a:ext cx="5760720" cy="4663440"/>
          </a:xfrm>
          <a:prstGeom prst="roundRect">
            <a:avLst>
              <a:gd name="adj" fmla="val 2353"/>
            </a:avLst>
          </a:prstGeom>
          <a:solidFill>
            <a:schemeClr val="tx1"/>
          </a:solidFill>
          <a:ln/>
        </p:spPr>
      </p:sp>
      <p:sp>
        <p:nvSpPr>
          <p:cNvPr id="5" name="text-205"/>
          <p:cNvSpPr txBox="1"/>
          <p:nvPr/>
        </p:nvSpPr>
        <p:spPr>
          <a:xfrm>
            <a:off x="822960" y="1618488"/>
            <a:ext cx="521208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PROMPT (TYPED LIVE)</a:t>
            </a:r>
            <a:endParaRPr lang="en-US" sz="1200" dirty="0"/>
          </a:p>
        </p:txBody>
      </p:sp>
      <p:sp>
        <p:nvSpPr>
          <p:cNvPr id="6" name="text-206"/>
          <p:cNvSpPr txBox="1"/>
          <p:nvPr/>
        </p:nvSpPr>
        <p:spPr>
          <a:xfrm>
            <a:off x="822960" y="1947672"/>
            <a:ext cx="5212080" cy="3950208"/>
          </a:xfrm>
          <a:prstGeom prst="rect">
            <a:avLst/>
          </a:prstGeom>
          <a:noFill/>
          <a:ln/>
        </p:spPr>
        <p:txBody>
          <a:bodyPr wrap="square" lIns="0" tIns="0" rIns="0" bIns="0" rtlCol="0" anchor="t"/>
          <a:lstStyle/>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Turn these meeting notes into an action list.</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Use only the notes between the &lt;notes&gt; tags.</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If an owner or due date isn't stated, write</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"Not stated". Do not guess.</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Return a table: Action | Owner | Due date.</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Example row:</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Send revised budget | Maria | Friday</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 </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&lt;notes&gt;</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Ops sync 3/4. Dev said the vendor contract</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renewal needs legal review before the 15th.</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Priya will draft the onboarding checklist for</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new drivers. Need someone to book the training</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room for April. Sam to circulate the safety</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survey results by next Tues.</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&lt;/notes&gt;</a:t>
            </a:r>
            <a:endParaRPr lang="en-US" sz="1350" dirty="0"/>
          </a:p>
        </p:txBody>
      </p:sp>
      <p:graphicFrame>
        <p:nvGraphicFramePr>
          <p:cNvPr id="12" name="demo-output-table"/>
          <p:cNvGraphicFramePr>
            <a:graphicFrameLocks noGrp="1"/>
          </p:cNvGraphicFramePr>
          <p:nvPr>
            <p:extLst>
              <p:ext uri="{D42A27DB-BD31-4B8C-83A1-F6EECF244321}">
                <p14:modId xmlns:p14="http://schemas.microsoft.com/office/powerpoint/2010/main" val="1579011935"/>
              </p:ext>
            </p:extLst>
          </p:nvPr>
        </p:nvGraphicFramePr>
        <p:xfrm>
          <a:off x="6583680" y="1463040"/>
          <a:ext cx="5056632" cy="914400"/>
        </p:xfrm>
        <a:graphic>
          <a:graphicData uri="http://schemas.openxmlformats.org/drawingml/2006/table">
            <a:tbl>
              <a:tblPr/>
              <a:tblGrid>
                <a:gridCol w="2514600"/>
                <a:gridCol w="1271016"/>
                <a:gridCol w="1271016"/>
              </a:tblGrid>
              <a:tr h="56692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Action</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Owner</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Due date</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solidFill>
                      <a:schemeClr val="tx1"/>
                    </a:solidFill>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 legal review of the vendor contract</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Not stated</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Before the 15th</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Draft onboarding checklist for new drivers</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Priya</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Not stated</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Book the training room for April</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Not stated</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Not stated</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Circulate safety survey results</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Sam</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Next Tuesday</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r>
            </a:tbl>
          </a:graphicData>
        </a:graphic>
      </p:graphicFrame>
      <p:sp>
        <p:nvSpPr>
          <p:cNvPr id="8" name="text-207"/>
          <p:cNvSpPr txBox="1"/>
          <p:nvPr/>
        </p:nvSpPr>
        <p:spPr>
          <a:xfrm>
            <a:off x="6583680" y="4754880"/>
            <a:ext cx="5056632" cy="822960"/>
          </a:xfrm>
          <a:prstGeom prst="rect">
            <a:avLst/>
          </a:prstGeom>
          <a:noFill/>
          <a:ln/>
        </p:spPr>
        <p:txBody>
          <a:bodyPr wrap="square" lIns="0" tIns="0" rIns="0" bIns="0" rtlCol="0" anchor="t"/>
          <a:lstStyle/>
          <a:p>
            <a:pPr indent="0" marL="0">
              <a:buNone/>
            </a:pPr>
            <a:r>
              <a:rPr lang="en-US" sz="1500" dirty="0">
                <a:solidFill>
                  <a:schemeClr val="tx2"/>
                </a:solidFill>
              </a:rPr>
              <a:t>“Not stated” marks every place Gemini would otherwise have guessed, like making Dev the owner.</a:t>
            </a:r>
            <a:endParaRPr lang="en-US" sz="15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548640" y="411480"/>
            <a:ext cx="82296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rPr>
              <a:t>ACTIVITY 2.1  ·  PAIRS</a:t>
            </a:r>
            <a:endParaRPr lang="en-US" sz="1400" dirty="0"/>
          </a:p>
        </p:txBody>
      </p:sp>
      <p:sp>
        <p:nvSpPr>
          <p:cNvPr id="3" name="Text 0"/>
          <p:cNvSpPr/>
          <p:nvPr>
            <p:ph idx="102" type="title" hasCustomPrompt="1"/>
          </p:nvPr>
        </p:nvSpPr>
        <p:spPr>
          <a:xfrm>
            <a:off x="548640" y="777240"/>
            <a:ext cx="8778240" cy="822960"/>
          </a:xfrm>
          <a:prstGeom prst="rect">
            <a:avLst/>
          </a:prstGeom>
          <a:noFill/>
          <a:ln/>
        </p:spPr>
        <p:txBody>
          <a:bodyPr wrap="square" lIns="0" tIns="0" rIns="0" bIns="0" rtlCol="0" anchor="ctr"/>
          <a:lstStyle/>
          <a:p>
            <a:pPr algn="l" indent="0" marL="0">
              <a:buNone/>
            </a:pPr>
            <a:r>
              <a:rPr lang="en-US" sz="3800" b="1" dirty="0">
                <a:solidFill>
                  <a:schemeClr val="bg1"/>
                </a:solidFill>
              </a:rPr>
              <a:t>Grounded summary</a:t>
            </a:r>
            <a:endParaRPr lang="en-US" sz="3800" dirty="0"/>
          </a:p>
        </p:txBody>
      </p:sp>
      <p:sp>
        <p:nvSpPr>
          <p:cNvPr id="4" name="badge-208"/>
          <p:cNvSpPr/>
          <p:nvPr/>
        </p:nvSpPr>
        <p:spPr>
          <a:xfrm>
            <a:off x="10042855" y="502920"/>
            <a:ext cx="1600200" cy="457200"/>
          </a:xfrm>
          <a:prstGeom prst="roundRect">
            <a:avLst>
              <a:gd name="adj" fmla="val 50000"/>
            </a:avLst>
          </a:prstGeom>
          <a:solidFill>
            <a:schemeClr val="bg1"/>
          </a:solidFill>
          <a:ln/>
        </p:spPr>
      </p:sp>
      <p:sp>
        <p:nvSpPr>
          <p:cNvPr id="5" name="text-209"/>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17 min</a:t>
            </a:r>
            <a:endParaRPr lang="en-US" sz="1600" dirty="0"/>
          </a:p>
        </p:txBody>
      </p:sp>
      <p:sp>
        <p:nvSpPr>
          <p:cNvPr id="6" name="text-210"/>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accent3"/>
                </a:solidFill>
              </a:rPr>
              <a:t>Prompt Engineering Essentials   ·   Part 2: Techniques</a:t>
            </a:r>
            <a:endParaRPr lang="en-US" sz="1000" dirty="0"/>
          </a:p>
        </p:txBody>
      </p:sp>
      <p:sp>
        <p:nvSpPr>
          <p:cNvPr id="7" name="text-211"/>
          <p:cNvSpPr txBox="1"/>
          <p:nvPr/>
        </p:nvSpPr>
        <p:spPr>
          <a:xfrm>
            <a:off x="548640" y="1783080"/>
            <a:ext cx="9265615" cy="457200"/>
          </a:xfrm>
          <a:prstGeom prst="rect">
            <a:avLst/>
          </a:prstGeom>
          <a:noFill/>
          <a:ln/>
        </p:spPr>
        <p:txBody>
          <a:bodyPr wrap="square" lIns="0" tIns="0" rIns="0" bIns="0" rtlCol="0" anchor="t"/>
          <a:lstStyle/>
          <a:p>
            <a:pPr indent="0" marL="0">
              <a:buNone/>
            </a:pPr>
            <a:r>
              <a:rPr lang="en-US" sz="1900" dirty="0">
                <a:solidFill>
                  <a:schemeClr val="bg1"/>
                </a:solidFill>
              </a:rPr>
              <a:t>Summarize the Prairie Point travel memo (in your workbook) for new employees.</a:t>
            </a:r>
            <a:endParaRPr lang="en-US" sz="1900" dirty="0"/>
          </a:p>
        </p:txBody>
      </p:sp>
      <p:sp>
        <p:nvSpPr>
          <p:cNvPr id="8" name="num-212"/>
          <p:cNvSpPr/>
          <p:nvPr/>
        </p:nvSpPr>
        <p:spPr>
          <a:xfrm>
            <a:off x="548640" y="2468880"/>
            <a:ext cx="457200" cy="457200"/>
          </a:xfrm>
          <a:prstGeom prst="ellipse">
            <a:avLst/>
          </a:prstGeom>
          <a:solidFill>
            <a:schemeClr val="bg1"/>
          </a:solidFill>
          <a:ln/>
        </p:spPr>
      </p:sp>
      <p:sp>
        <p:nvSpPr>
          <p:cNvPr id="9" name="text-213"/>
          <p:cNvSpPr txBox="1"/>
          <p:nvPr/>
        </p:nvSpPr>
        <p:spPr>
          <a:xfrm>
            <a:off x="548640" y="24688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10" name="text-214"/>
          <p:cNvSpPr txBox="1"/>
          <p:nvPr/>
        </p:nvSpPr>
        <p:spPr>
          <a:xfrm>
            <a:off x="1188720" y="2432304"/>
            <a:ext cx="4632808" cy="685800"/>
          </a:xfrm>
          <a:prstGeom prst="rect">
            <a:avLst/>
          </a:prstGeom>
          <a:noFill/>
          <a:ln/>
        </p:spPr>
        <p:txBody>
          <a:bodyPr wrap="square" lIns="0" tIns="0" rIns="0" bIns="0" rtlCol="0" anchor="t"/>
          <a:lstStyle/>
          <a:p>
            <a:pPr indent="0" marL="0">
              <a:buNone/>
            </a:pPr>
            <a:r>
              <a:rPr lang="en-US" sz="1600" dirty="0">
                <a:solidFill>
                  <a:schemeClr val="bg1"/>
                </a:solidFill>
              </a:rPr>
              <a:t>Paste the memo inside ### markers</a:t>
            </a:r>
            <a:endParaRPr lang="en-US" sz="1600" dirty="0"/>
          </a:p>
        </p:txBody>
      </p:sp>
      <p:sp>
        <p:nvSpPr>
          <p:cNvPr id="11" name="num-215"/>
          <p:cNvSpPr/>
          <p:nvPr/>
        </p:nvSpPr>
        <p:spPr>
          <a:xfrm>
            <a:off x="548640" y="3218688"/>
            <a:ext cx="457200" cy="457200"/>
          </a:xfrm>
          <a:prstGeom prst="ellipse">
            <a:avLst/>
          </a:prstGeom>
          <a:solidFill>
            <a:schemeClr val="bg1"/>
          </a:solidFill>
          <a:ln/>
        </p:spPr>
      </p:sp>
      <p:sp>
        <p:nvSpPr>
          <p:cNvPr id="12" name="text-216"/>
          <p:cNvSpPr txBox="1"/>
          <p:nvPr/>
        </p:nvSpPr>
        <p:spPr>
          <a:xfrm>
            <a:off x="548640" y="32186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3" name="text-217"/>
          <p:cNvSpPr txBox="1"/>
          <p:nvPr/>
        </p:nvSpPr>
        <p:spPr>
          <a:xfrm>
            <a:off x="1188720" y="3182112"/>
            <a:ext cx="4632808" cy="685800"/>
          </a:xfrm>
          <a:prstGeom prst="rect">
            <a:avLst/>
          </a:prstGeom>
          <a:noFill/>
          <a:ln/>
        </p:spPr>
        <p:txBody>
          <a:bodyPr wrap="square" lIns="0" tIns="0" rIns="0" bIns="0" rtlCol="0" anchor="t"/>
          <a:lstStyle/>
          <a:p>
            <a:pPr indent="0" marL="0">
              <a:buNone/>
            </a:pPr>
            <a:r>
              <a:rPr lang="en-US" sz="1600" dirty="0">
                <a:solidFill>
                  <a:schemeClr val="bg1"/>
                </a:solidFill>
              </a:rPr>
              <a:t>Say who the summary is for, and why</a:t>
            </a:r>
            <a:endParaRPr lang="en-US" sz="1600" dirty="0"/>
          </a:p>
        </p:txBody>
      </p:sp>
      <p:sp>
        <p:nvSpPr>
          <p:cNvPr id="14" name="num-218"/>
          <p:cNvSpPr/>
          <p:nvPr/>
        </p:nvSpPr>
        <p:spPr>
          <a:xfrm>
            <a:off x="548640" y="3968496"/>
            <a:ext cx="457200" cy="457200"/>
          </a:xfrm>
          <a:prstGeom prst="ellipse">
            <a:avLst/>
          </a:prstGeom>
          <a:solidFill>
            <a:schemeClr val="bg1"/>
          </a:solidFill>
          <a:ln/>
        </p:spPr>
      </p:sp>
      <p:sp>
        <p:nvSpPr>
          <p:cNvPr id="15" name="text-219"/>
          <p:cNvSpPr txBox="1"/>
          <p:nvPr/>
        </p:nvSpPr>
        <p:spPr>
          <a:xfrm>
            <a:off x="548640" y="3968496"/>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220"/>
          <p:cNvSpPr txBox="1"/>
          <p:nvPr/>
        </p:nvSpPr>
        <p:spPr>
          <a:xfrm>
            <a:off x="1188720" y="3931920"/>
            <a:ext cx="4632808" cy="685800"/>
          </a:xfrm>
          <a:prstGeom prst="rect">
            <a:avLst/>
          </a:prstGeom>
          <a:noFill/>
          <a:ln/>
        </p:spPr>
        <p:txBody>
          <a:bodyPr wrap="square" lIns="0" tIns="0" rIns="0" bIns="0" rtlCol="0" anchor="t"/>
          <a:lstStyle/>
          <a:p>
            <a:pPr indent="0" marL="0">
              <a:buNone/>
            </a:pPr>
            <a:r>
              <a:rPr lang="en-US" sz="1600" dirty="0">
                <a:solidFill>
                  <a:schemeClr val="bg1"/>
                </a:solidFill>
              </a:rPr>
              <a:t>Add: “Use only the memo. If it's not there, write Not stated.”</a:t>
            </a:r>
            <a:endParaRPr lang="en-US" sz="1600" dirty="0"/>
          </a:p>
        </p:txBody>
      </p:sp>
      <p:sp>
        <p:nvSpPr>
          <p:cNvPr id="17" name="num-221"/>
          <p:cNvSpPr/>
          <p:nvPr/>
        </p:nvSpPr>
        <p:spPr>
          <a:xfrm>
            <a:off x="548640" y="4718304"/>
            <a:ext cx="457200" cy="457200"/>
          </a:xfrm>
          <a:prstGeom prst="ellipse">
            <a:avLst/>
          </a:prstGeom>
          <a:solidFill>
            <a:schemeClr val="bg1"/>
          </a:solidFill>
          <a:ln/>
        </p:spPr>
      </p:sp>
      <p:sp>
        <p:nvSpPr>
          <p:cNvPr id="18" name="text-222"/>
          <p:cNvSpPr txBox="1"/>
          <p:nvPr/>
        </p:nvSpPr>
        <p:spPr>
          <a:xfrm>
            <a:off x="548640" y="471830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9" name="text-223"/>
          <p:cNvSpPr txBox="1"/>
          <p:nvPr/>
        </p:nvSpPr>
        <p:spPr>
          <a:xfrm>
            <a:off x="1188720" y="4681728"/>
            <a:ext cx="4632808" cy="685800"/>
          </a:xfrm>
          <a:prstGeom prst="rect">
            <a:avLst/>
          </a:prstGeom>
          <a:noFill/>
          <a:ln/>
        </p:spPr>
        <p:txBody>
          <a:bodyPr wrap="square" lIns="0" tIns="0" rIns="0" bIns="0" rtlCol="0" anchor="t"/>
          <a:lstStyle/>
          <a:p>
            <a:pPr indent="0" marL="0">
              <a:buNone/>
            </a:pPr>
            <a:r>
              <a:rPr lang="en-US" sz="1600" dirty="0">
                <a:solidFill>
                  <a:schemeClr val="bg1"/>
                </a:solidFill>
              </a:rPr>
              <a:t>Format: max 5 bullets, then a line starting “What you need to do:”</a:t>
            </a:r>
            <a:endParaRPr lang="en-US" sz="1600" dirty="0"/>
          </a:p>
        </p:txBody>
      </p:sp>
      <p:sp>
        <p:nvSpPr>
          <p:cNvPr id="20" name="num-224"/>
          <p:cNvSpPr/>
          <p:nvPr/>
        </p:nvSpPr>
        <p:spPr>
          <a:xfrm>
            <a:off x="6278728" y="2468880"/>
            <a:ext cx="457200" cy="457200"/>
          </a:xfrm>
          <a:prstGeom prst="ellipse">
            <a:avLst/>
          </a:prstGeom>
          <a:solidFill>
            <a:schemeClr val="bg1"/>
          </a:solidFill>
          <a:ln/>
        </p:spPr>
      </p:sp>
      <p:sp>
        <p:nvSpPr>
          <p:cNvPr id="21" name="text-225"/>
          <p:cNvSpPr txBox="1"/>
          <p:nvPr/>
        </p:nvSpPr>
        <p:spPr>
          <a:xfrm>
            <a:off x="6278728" y="24688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2" name="text-226"/>
          <p:cNvSpPr txBox="1"/>
          <p:nvPr/>
        </p:nvSpPr>
        <p:spPr>
          <a:xfrm>
            <a:off x="6918808" y="2432304"/>
            <a:ext cx="4632808" cy="685800"/>
          </a:xfrm>
          <a:prstGeom prst="rect">
            <a:avLst/>
          </a:prstGeom>
          <a:noFill/>
          <a:ln/>
        </p:spPr>
        <p:txBody>
          <a:bodyPr wrap="square" lIns="0" tIns="0" rIns="0" bIns="0" rtlCol="0" anchor="t"/>
          <a:lstStyle/>
          <a:p>
            <a:pPr indent="0" marL="0">
              <a:buNone/>
            </a:pPr>
            <a:r>
              <a:rPr lang="en-US" sz="1600" dirty="0">
                <a:solidFill>
                  <a:schemeClr val="bg1"/>
                </a:solidFill>
              </a:rPr>
              <a:t>Give one example bullet to set the style</a:t>
            </a:r>
            <a:endParaRPr lang="en-US" sz="1600" dirty="0"/>
          </a:p>
        </p:txBody>
      </p:sp>
      <p:sp>
        <p:nvSpPr>
          <p:cNvPr id="23" name="num-227"/>
          <p:cNvSpPr/>
          <p:nvPr/>
        </p:nvSpPr>
        <p:spPr>
          <a:xfrm>
            <a:off x="6278728" y="3218688"/>
            <a:ext cx="457200" cy="457200"/>
          </a:xfrm>
          <a:prstGeom prst="ellipse">
            <a:avLst/>
          </a:prstGeom>
          <a:solidFill>
            <a:schemeClr val="bg1"/>
          </a:solidFill>
          <a:ln/>
        </p:spPr>
      </p:sp>
      <p:sp>
        <p:nvSpPr>
          <p:cNvPr id="24" name="text-228"/>
          <p:cNvSpPr txBox="1"/>
          <p:nvPr/>
        </p:nvSpPr>
        <p:spPr>
          <a:xfrm>
            <a:off x="6278728" y="32186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25" name="text-229"/>
          <p:cNvSpPr txBox="1"/>
          <p:nvPr/>
        </p:nvSpPr>
        <p:spPr>
          <a:xfrm>
            <a:off x="6918808" y="3182112"/>
            <a:ext cx="4632808" cy="685800"/>
          </a:xfrm>
          <a:prstGeom prst="rect">
            <a:avLst/>
          </a:prstGeom>
          <a:noFill/>
          <a:ln/>
        </p:spPr>
        <p:txBody>
          <a:bodyPr wrap="square" lIns="0" tIns="0" rIns="0" bIns="0" rtlCol="0" anchor="t"/>
          <a:lstStyle/>
          <a:p>
            <a:pPr indent="0" marL="0">
              <a:buNone/>
            </a:pPr>
            <a:r>
              <a:rPr lang="en-US" sz="1600" dirty="0">
                <a:solidFill>
                  <a:schemeClr val="bg1"/>
                </a:solidFill>
              </a:rPr>
              <a:t>Run it, and check every bullet against the memo</a:t>
            </a:r>
            <a:endParaRPr lang="en-US" sz="1600" dirty="0"/>
          </a:p>
        </p:txBody>
      </p:sp>
      <p:sp>
        <p:nvSpPr>
          <p:cNvPr id="26" name="num-230"/>
          <p:cNvSpPr/>
          <p:nvPr/>
        </p:nvSpPr>
        <p:spPr>
          <a:xfrm>
            <a:off x="6278728" y="3968496"/>
            <a:ext cx="457200" cy="457200"/>
          </a:xfrm>
          <a:prstGeom prst="ellipse">
            <a:avLst/>
          </a:prstGeom>
          <a:solidFill>
            <a:schemeClr val="accent1"/>
          </a:solidFill>
          <a:ln/>
        </p:spPr>
      </p:sp>
      <p:sp>
        <p:nvSpPr>
          <p:cNvPr id="27" name="text-231"/>
          <p:cNvSpPr txBox="1"/>
          <p:nvPr/>
        </p:nvSpPr>
        <p:spPr>
          <a:xfrm>
            <a:off x="6278728" y="396849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8" name="text-232"/>
          <p:cNvSpPr txBox="1"/>
          <p:nvPr/>
        </p:nvSpPr>
        <p:spPr>
          <a:xfrm>
            <a:off x="6918808" y="3931920"/>
            <a:ext cx="4632808" cy="685800"/>
          </a:xfrm>
          <a:prstGeom prst="rect">
            <a:avLst/>
          </a:prstGeom>
          <a:noFill/>
          <a:ln/>
        </p:spPr>
        <p:txBody>
          <a:bodyPr wrap="square" lIns="0" tIns="0" rIns="0" bIns="0" rtlCol="0" anchor="t"/>
          <a:lstStyle/>
          <a:p>
            <a:pPr indent="0" marL="0">
              <a:buNone/>
            </a:pPr>
            <a:r>
              <a:rPr lang="en-US" sz="1600" dirty="0">
                <a:solidFill>
                  <a:schemeClr val="bg1"/>
                </a:solidFill>
              </a:rPr>
              <a:t>Test it: “Can I expense a rideshare to the airport?”</a:t>
            </a:r>
            <a:endParaRPr lang="en-US" sz="1600" dirty="0"/>
          </a:p>
        </p:txBody>
      </p:sp>
      <p:sp>
        <p:nvSpPr>
          <p:cNvPr id="29" name="text-233"/>
          <p:cNvSpPr txBox="1"/>
          <p:nvPr/>
        </p:nvSpPr>
        <p:spPr>
          <a:xfrm>
            <a:off x="6278728" y="4800600"/>
            <a:ext cx="5364328" cy="365760"/>
          </a:xfrm>
          <a:prstGeom prst="rect">
            <a:avLst/>
          </a:prstGeom>
          <a:noFill/>
          <a:ln/>
        </p:spPr>
        <p:txBody>
          <a:bodyPr wrap="square" lIns="0" tIns="0" rIns="0" bIns="0" rtlCol="0" anchor="t"/>
          <a:lstStyle/>
          <a:p>
            <a:pPr indent="0" marL="0">
              <a:buNone/>
            </a:pPr>
            <a:r>
              <a:rPr lang="en-US" sz="1600" i="1" dirty="0">
                <a:solidFill>
                  <a:schemeClr val="accent3"/>
                </a:solidFill>
              </a:rPr>
              <a:t>Swap typist and director halfway.</a:t>
            </a:r>
            <a:endParaRPr lang="en-US" sz="1600" dirty="0"/>
          </a:p>
        </p:txBody>
      </p:sp>
      <p:sp>
        <p:nvSpPr>
          <p:cNvPr id="30" name="text-234"/>
          <p:cNvSpPr txBox="1"/>
          <p:nvPr/>
        </p:nvSpPr>
        <p:spPr>
          <a:xfrm>
            <a:off x="548640" y="5715000"/>
            <a:ext cx="10180015" cy="411480"/>
          </a:xfrm>
          <a:prstGeom prst="rect">
            <a:avLst/>
          </a:prstGeom>
          <a:noFill/>
          <a:ln/>
        </p:spPr>
        <p:txBody>
          <a:bodyPr wrap="square" lIns="0" tIns="0" rIns="0" bIns="0" rtlCol="0" anchor="t"/>
          <a:lstStyle/>
          <a:p>
            <a:pPr indent="0" marL="0">
              <a:buNone/>
            </a:pPr>
            <a:r>
              <a:rPr lang="en-US" sz="1700" b="1" dirty="0">
                <a:solidFill>
                  <a:schemeClr val="accent1"/>
                </a:solidFill>
              </a:rPr>
              <a:t>Done when: </a:t>
            </a:r>
            <a:pPr indent="0" marL="0">
              <a:buNone/>
            </a:pPr>
            <a:r>
              <a:rPr lang="en-US" sz="1700" dirty="0">
                <a:solidFill>
                  <a:schemeClr val="bg1"/>
                </a:solidFill>
              </a:rPr>
              <a:t>every bullet traces back to the memo, and Gemini doesn't invent a rideshare rule.</a:t>
            </a:r>
            <a:endParaRPr lang="en-US" sz="17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CBBB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Refine it: five follow-up moves</a:t>
            </a:r>
            <a:endParaRPr lang="en-US" sz="3400" dirty="0"/>
          </a:p>
        </p:txBody>
      </p:sp>
      <p:sp>
        <p:nvSpPr>
          <p:cNvPr id="3" name="text-235"/>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tx2"/>
                </a:solidFill>
              </a:rPr>
              <a:t>Prompt Engineering Essentials   ·   Part 2: Techniques</a:t>
            </a:r>
            <a:endParaRPr lang="en-US" sz="1000" dirty="0"/>
          </a:p>
        </p:txBody>
      </p:sp>
      <p:sp>
        <p:nvSpPr>
          <p:cNvPr id="4" name="text-236"/>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2000" dirty="0">
                <a:solidFill>
                  <a:schemeClr val="tx2"/>
                </a:solidFill>
              </a:rPr>
              <a:t>Treat Gemini's first answer as a first draft. Then:</a:t>
            </a:r>
            <a:endParaRPr lang="en-US" sz="2000" dirty="0"/>
          </a:p>
        </p:txBody>
      </p:sp>
      <p:sp>
        <p:nvSpPr>
          <p:cNvPr id="5" name="num-237"/>
          <p:cNvSpPr/>
          <p:nvPr/>
        </p:nvSpPr>
        <p:spPr>
          <a:xfrm>
            <a:off x="548640" y="2066544"/>
            <a:ext cx="530352" cy="530352"/>
          </a:xfrm>
          <a:prstGeom prst="ellipse">
            <a:avLst/>
          </a:prstGeom>
          <a:solidFill>
            <a:schemeClr val="tx1"/>
          </a:solidFill>
          <a:ln/>
        </p:spPr>
      </p:sp>
      <p:sp>
        <p:nvSpPr>
          <p:cNvPr id="6" name="text-238"/>
          <p:cNvSpPr txBox="1"/>
          <p:nvPr/>
        </p:nvSpPr>
        <p:spPr>
          <a:xfrm>
            <a:off x="548640" y="2066544"/>
            <a:ext cx="530352" cy="530352"/>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239"/>
          <p:cNvSpPr txBox="1"/>
          <p:nvPr/>
        </p:nvSpPr>
        <p:spPr>
          <a:xfrm>
            <a:off x="1325880" y="1965960"/>
            <a:ext cx="2834640" cy="731520"/>
          </a:xfrm>
          <a:prstGeom prst="rect">
            <a:avLst/>
          </a:prstGeom>
          <a:noFill/>
          <a:ln/>
        </p:spPr>
        <p:txBody>
          <a:bodyPr wrap="square" lIns="0" tIns="0" rIns="0" bIns="0" rtlCol="0" anchor="ctr"/>
          <a:lstStyle/>
          <a:p>
            <a:pPr indent="0" marL="0">
              <a:buNone/>
            </a:pPr>
            <a:r>
              <a:rPr lang="en-US" sz="2000" b="1" dirty="0">
                <a:solidFill>
                  <a:schemeClr val="tx1"/>
                </a:solidFill>
              </a:rPr>
              <a:t>Interview me</a:t>
            </a:r>
            <a:endParaRPr lang="en-US" sz="2000" dirty="0"/>
          </a:p>
        </p:txBody>
      </p:sp>
      <p:sp>
        <p:nvSpPr>
          <p:cNvPr id="8" name="card-240"/>
          <p:cNvSpPr/>
          <p:nvPr/>
        </p:nvSpPr>
        <p:spPr>
          <a:xfrm>
            <a:off x="4206240" y="1965960"/>
            <a:ext cx="7436815" cy="731520"/>
          </a:xfrm>
          <a:prstGeom prst="roundRect">
            <a:avLst>
              <a:gd name="adj" fmla="val 15000"/>
            </a:avLst>
          </a:prstGeom>
          <a:solidFill>
            <a:schemeClr val="bg2"/>
          </a:solidFill>
          <a:ln/>
        </p:spPr>
      </p:sp>
      <p:sp>
        <p:nvSpPr>
          <p:cNvPr id="9" name="text-241"/>
          <p:cNvSpPr txBox="1"/>
          <p:nvPr/>
        </p:nvSpPr>
        <p:spPr>
          <a:xfrm>
            <a:off x="4480560" y="1965960"/>
            <a:ext cx="6888175" cy="73152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Before you start, ask me up to 5 questions you need answered.</a:t>
            </a:r>
            <a:endParaRPr lang="en-US" sz="1500" dirty="0"/>
          </a:p>
        </p:txBody>
      </p:sp>
      <p:sp>
        <p:nvSpPr>
          <p:cNvPr id="10" name="num-242"/>
          <p:cNvSpPr/>
          <p:nvPr/>
        </p:nvSpPr>
        <p:spPr>
          <a:xfrm>
            <a:off x="548640" y="2907792"/>
            <a:ext cx="530352" cy="530352"/>
          </a:xfrm>
          <a:prstGeom prst="ellipse">
            <a:avLst/>
          </a:prstGeom>
          <a:solidFill>
            <a:schemeClr val="tx1"/>
          </a:solidFill>
          <a:ln/>
        </p:spPr>
      </p:sp>
      <p:sp>
        <p:nvSpPr>
          <p:cNvPr id="11" name="text-243"/>
          <p:cNvSpPr txBox="1"/>
          <p:nvPr/>
        </p:nvSpPr>
        <p:spPr>
          <a:xfrm>
            <a:off x="548640" y="2907792"/>
            <a:ext cx="530352" cy="530352"/>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244"/>
          <p:cNvSpPr txBox="1"/>
          <p:nvPr/>
        </p:nvSpPr>
        <p:spPr>
          <a:xfrm>
            <a:off x="1325880" y="2807208"/>
            <a:ext cx="2834640" cy="731520"/>
          </a:xfrm>
          <a:prstGeom prst="rect">
            <a:avLst/>
          </a:prstGeom>
          <a:noFill/>
          <a:ln/>
        </p:spPr>
        <p:txBody>
          <a:bodyPr wrap="square" lIns="0" tIns="0" rIns="0" bIns="0" rtlCol="0" anchor="ctr"/>
          <a:lstStyle/>
          <a:p>
            <a:pPr indent="0" marL="0">
              <a:buNone/>
            </a:pPr>
            <a:r>
              <a:rPr lang="en-US" sz="2000" b="1" dirty="0">
                <a:solidFill>
                  <a:schemeClr val="tx1"/>
                </a:solidFill>
              </a:rPr>
              <a:t>Adjust</a:t>
            </a:r>
            <a:endParaRPr lang="en-US" sz="2000" dirty="0"/>
          </a:p>
        </p:txBody>
      </p:sp>
      <p:sp>
        <p:nvSpPr>
          <p:cNvPr id="13" name="card-245"/>
          <p:cNvSpPr/>
          <p:nvPr/>
        </p:nvSpPr>
        <p:spPr>
          <a:xfrm>
            <a:off x="4206240" y="2807208"/>
            <a:ext cx="7436815" cy="731520"/>
          </a:xfrm>
          <a:prstGeom prst="roundRect">
            <a:avLst>
              <a:gd name="adj" fmla="val 15000"/>
            </a:avLst>
          </a:prstGeom>
          <a:solidFill>
            <a:schemeClr val="bg2"/>
          </a:solidFill>
          <a:ln/>
        </p:spPr>
      </p:sp>
      <p:sp>
        <p:nvSpPr>
          <p:cNvPr id="14" name="text-246"/>
          <p:cNvSpPr txBox="1"/>
          <p:nvPr/>
        </p:nvSpPr>
        <p:spPr>
          <a:xfrm>
            <a:off x="4480560" y="2807208"/>
            <a:ext cx="6888175" cy="73152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Make it half as long and more conversational.</a:t>
            </a:r>
            <a:endParaRPr lang="en-US" sz="1500" dirty="0"/>
          </a:p>
        </p:txBody>
      </p:sp>
      <p:sp>
        <p:nvSpPr>
          <p:cNvPr id="15" name="num-247"/>
          <p:cNvSpPr/>
          <p:nvPr/>
        </p:nvSpPr>
        <p:spPr>
          <a:xfrm>
            <a:off x="548640" y="3749040"/>
            <a:ext cx="530352" cy="530352"/>
          </a:xfrm>
          <a:prstGeom prst="ellipse">
            <a:avLst/>
          </a:prstGeom>
          <a:solidFill>
            <a:schemeClr val="tx1"/>
          </a:solidFill>
          <a:ln/>
        </p:spPr>
      </p:sp>
      <p:sp>
        <p:nvSpPr>
          <p:cNvPr id="16" name="text-248"/>
          <p:cNvSpPr txBox="1"/>
          <p:nvPr/>
        </p:nvSpPr>
        <p:spPr>
          <a:xfrm>
            <a:off x="548640" y="3749040"/>
            <a:ext cx="530352" cy="530352"/>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249"/>
          <p:cNvSpPr txBox="1"/>
          <p:nvPr/>
        </p:nvSpPr>
        <p:spPr>
          <a:xfrm>
            <a:off x="1325880" y="3648456"/>
            <a:ext cx="2834640" cy="731520"/>
          </a:xfrm>
          <a:prstGeom prst="rect">
            <a:avLst/>
          </a:prstGeom>
          <a:noFill/>
          <a:ln/>
        </p:spPr>
        <p:txBody>
          <a:bodyPr wrap="square" lIns="0" tIns="0" rIns="0" bIns="0" rtlCol="0" anchor="ctr"/>
          <a:lstStyle/>
          <a:p>
            <a:pPr indent="0" marL="0">
              <a:buNone/>
            </a:pPr>
            <a:r>
              <a:rPr lang="en-US" sz="2000" b="1" dirty="0">
                <a:solidFill>
                  <a:schemeClr val="tx1"/>
                </a:solidFill>
              </a:rPr>
              <a:t>Critique, then revise</a:t>
            </a:r>
            <a:endParaRPr lang="en-US" sz="2000" dirty="0"/>
          </a:p>
        </p:txBody>
      </p:sp>
      <p:sp>
        <p:nvSpPr>
          <p:cNvPr id="18" name="card-250"/>
          <p:cNvSpPr/>
          <p:nvPr/>
        </p:nvSpPr>
        <p:spPr>
          <a:xfrm>
            <a:off x="4206240" y="3648456"/>
            <a:ext cx="7436815" cy="731520"/>
          </a:xfrm>
          <a:prstGeom prst="roundRect">
            <a:avLst>
              <a:gd name="adj" fmla="val 15000"/>
            </a:avLst>
          </a:prstGeom>
          <a:solidFill>
            <a:schemeClr val="bg2"/>
          </a:solidFill>
          <a:ln/>
        </p:spPr>
      </p:sp>
      <p:sp>
        <p:nvSpPr>
          <p:cNvPr id="19" name="text-251"/>
          <p:cNvSpPr txBox="1"/>
          <p:nvPr/>
        </p:nvSpPr>
        <p:spPr>
          <a:xfrm>
            <a:off x="4480560" y="3648456"/>
            <a:ext cx="6888175" cy="73152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Check your draft against these criteria: … List the weaknesses, then rewrite it.</a:t>
            </a:r>
            <a:endParaRPr lang="en-US" sz="1500" dirty="0"/>
          </a:p>
        </p:txBody>
      </p:sp>
      <p:sp>
        <p:nvSpPr>
          <p:cNvPr id="20" name="num-252"/>
          <p:cNvSpPr/>
          <p:nvPr/>
        </p:nvSpPr>
        <p:spPr>
          <a:xfrm>
            <a:off x="548640" y="4590288"/>
            <a:ext cx="530352" cy="530352"/>
          </a:xfrm>
          <a:prstGeom prst="ellipse">
            <a:avLst/>
          </a:prstGeom>
          <a:solidFill>
            <a:schemeClr val="tx1"/>
          </a:solidFill>
          <a:ln/>
        </p:spPr>
      </p:sp>
      <p:sp>
        <p:nvSpPr>
          <p:cNvPr id="21" name="text-253"/>
          <p:cNvSpPr txBox="1"/>
          <p:nvPr/>
        </p:nvSpPr>
        <p:spPr>
          <a:xfrm>
            <a:off x="548640" y="4590288"/>
            <a:ext cx="530352" cy="530352"/>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text-254"/>
          <p:cNvSpPr txBox="1"/>
          <p:nvPr/>
        </p:nvSpPr>
        <p:spPr>
          <a:xfrm>
            <a:off x="1325880" y="4489704"/>
            <a:ext cx="2834640" cy="731520"/>
          </a:xfrm>
          <a:prstGeom prst="rect">
            <a:avLst/>
          </a:prstGeom>
          <a:noFill/>
          <a:ln/>
        </p:spPr>
        <p:txBody>
          <a:bodyPr wrap="square" lIns="0" tIns="0" rIns="0" bIns="0" rtlCol="0" anchor="ctr"/>
          <a:lstStyle/>
          <a:p>
            <a:pPr indent="0" marL="0">
              <a:buNone/>
            </a:pPr>
            <a:r>
              <a:rPr lang="en-US" sz="2000" b="1" dirty="0">
                <a:solidFill>
                  <a:schemeClr val="tx1"/>
                </a:solidFill>
              </a:rPr>
              <a:t>Break it into steps</a:t>
            </a:r>
            <a:endParaRPr lang="en-US" sz="2000" dirty="0"/>
          </a:p>
        </p:txBody>
      </p:sp>
      <p:sp>
        <p:nvSpPr>
          <p:cNvPr id="23" name="card-255"/>
          <p:cNvSpPr/>
          <p:nvPr/>
        </p:nvSpPr>
        <p:spPr>
          <a:xfrm>
            <a:off x="4206240" y="4489704"/>
            <a:ext cx="7436815" cy="731520"/>
          </a:xfrm>
          <a:prstGeom prst="roundRect">
            <a:avLst>
              <a:gd name="adj" fmla="val 15000"/>
            </a:avLst>
          </a:prstGeom>
          <a:solidFill>
            <a:schemeClr val="bg2"/>
          </a:solidFill>
          <a:ln/>
        </p:spPr>
      </p:sp>
      <p:sp>
        <p:nvSpPr>
          <p:cNvPr id="24" name="text-256"/>
          <p:cNvSpPr txBox="1"/>
          <p:nvPr/>
        </p:nvSpPr>
        <p:spPr>
          <a:xfrm>
            <a:off x="4480560" y="4489704"/>
            <a:ext cx="6888175" cy="73152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First give me an outline. Wait for my OK before drafting.</a:t>
            </a:r>
            <a:endParaRPr lang="en-US" sz="1500" dirty="0"/>
          </a:p>
        </p:txBody>
      </p:sp>
      <p:sp>
        <p:nvSpPr>
          <p:cNvPr id="25" name="num-257"/>
          <p:cNvSpPr/>
          <p:nvPr/>
        </p:nvSpPr>
        <p:spPr>
          <a:xfrm>
            <a:off x="548640" y="5431536"/>
            <a:ext cx="530352" cy="530352"/>
          </a:xfrm>
          <a:prstGeom prst="ellipse">
            <a:avLst/>
          </a:prstGeom>
          <a:solidFill>
            <a:schemeClr val="tx1"/>
          </a:solidFill>
          <a:ln/>
        </p:spPr>
      </p:sp>
      <p:sp>
        <p:nvSpPr>
          <p:cNvPr id="26" name="text-258"/>
          <p:cNvSpPr txBox="1"/>
          <p:nvPr/>
        </p:nvSpPr>
        <p:spPr>
          <a:xfrm>
            <a:off x="548640" y="5431536"/>
            <a:ext cx="530352" cy="530352"/>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7" name="text-259"/>
          <p:cNvSpPr txBox="1"/>
          <p:nvPr/>
        </p:nvSpPr>
        <p:spPr>
          <a:xfrm>
            <a:off x="1325880" y="5330952"/>
            <a:ext cx="2834640" cy="731520"/>
          </a:xfrm>
          <a:prstGeom prst="rect">
            <a:avLst/>
          </a:prstGeom>
          <a:noFill/>
          <a:ln/>
        </p:spPr>
        <p:txBody>
          <a:bodyPr wrap="square" lIns="0" tIns="0" rIns="0" bIns="0" rtlCol="0" anchor="ctr"/>
          <a:lstStyle/>
          <a:p>
            <a:pPr indent="0" marL="0">
              <a:buNone/>
            </a:pPr>
            <a:r>
              <a:rPr lang="en-US" sz="2000" b="1" dirty="0">
                <a:solidFill>
                  <a:schemeClr val="tx1"/>
                </a:solidFill>
              </a:rPr>
              <a:t>Ask for options</a:t>
            </a:r>
            <a:endParaRPr lang="en-US" sz="2000" dirty="0"/>
          </a:p>
        </p:txBody>
      </p:sp>
      <p:sp>
        <p:nvSpPr>
          <p:cNvPr id="28" name="card-260"/>
          <p:cNvSpPr/>
          <p:nvPr/>
        </p:nvSpPr>
        <p:spPr>
          <a:xfrm>
            <a:off x="4206240" y="5330952"/>
            <a:ext cx="7436815" cy="731520"/>
          </a:xfrm>
          <a:prstGeom prst="roundRect">
            <a:avLst>
              <a:gd name="adj" fmla="val 15000"/>
            </a:avLst>
          </a:prstGeom>
          <a:solidFill>
            <a:schemeClr val="bg2"/>
          </a:solidFill>
          <a:ln/>
        </p:spPr>
      </p:sp>
      <p:sp>
        <p:nvSpPr>
          <p:cNvPr id="29" name="text-261"/>
          <p:cNvSpPr txBox="1"/>
          <p:nvPr/>
        </p:nvSpPr>
        <p:spPr>
          <a:xfrm>
            <a:off x="4480560" y="5330952"/>
            <a:ext cx="6888175" cy="73152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Give me three versions: direct, warm, and persuasive.</a:t>
            </a:r>
            <a:endParaRPr lang="en-US" sz="15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body" hasCustomPrompt="1"/>
          </p:nvPr>
        </p:nvSpPr>
        <p:spPr>
          <a:xfrm>
            <a:off x="548640" y="411480"/>
            <a:ext cx="82296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rPr>
              <a:t>ACTIVITY 2.2  ·  PAIRS OR SOLO</a:t>
            </a:r>
            <a:endParaRPr lang="en-US" sz="1400" dirty="0"/>
          </a:p>
        </p:txBody>
      </p:sp>
      <p:sp>
        <p:nvSpPr>
          <p:cNvPr id="3" name="Text 0"/>
          <p:cNvSpPr/>
          <p:nvPr>
            <p:ph idx="102" type="title" hasCustomPrompt="1"/>
          </p:nvPr>
        </p:nvSpPr>
        <p:spPr>
          <a:xfrm>
            <a:off x="548640" y="777240"/>
            <a:ext cx="8778240" cy="822960"/>
          </a:xfrm>
          <a:prstGeom prst="rect">
            <a:avLst/>
          </a:prstGeom>
          <a:noFill/>
          <a:ln/>
        </p:spPr>
        <p:txBody>
          <a:bodyPr wrap="square" lIns="0" tIns="0" rIns="0" bIns="0" rtlCol="0" anchor="ctr"/>
          <a:lstStyle/>
          <a:p>
            <a:pPr algn="l" indent="0" marL="0">
              <a:buNone/>
            </a:pPr>
            <a:r>
              <a:rPr lang="en-US" sz="3800" b="1" dirty="0">
                <a:solidFill>
                  <a:schemeClr val="bg1"/>
                </a:solidFill>
              </a:rPr>
              <a:t>Four turns to great</a:t>
            </a:r>
            <a:endParaRPr lang="en-US" sz="3800" dirty="0"/>
          </a:p>
        </p:txBody>
      </p:sp>
      <p:sp>
        <p:nvSpPr>
          <p:cNvPr id="4" name="badge-262"/>
          <p:cNvSpPr/>
          <p:nvPr/>
        </p:nvSpPr>
        <p:spPr>
          <a:xfrm>
            <a:off x="10042855" y="502920"/>
            <a:ext cx="1600200" cy="457200"/>
          </a:xfrm>
          <a:prstGeom prst="roundRect">
            <a:avLst>
              <a:gd name="adj" fmla="val 50000"/>
            </a:avLst>
          </a:prstGeom>
          <a:solidFill>
            <a:schemeClr val="bg1"/>
          </a:solidFill>
          <a:ln/>
        </p:spPr>
      </p:sp>
      <p:sp>
        <p:nvSpPr>
          <p:cNvPr id="5" name="text-263"/>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22 min</a:t>
            </a:r>
            <a:endParaRPr lang="en-US" sz="1600" dirty="0"/>
          </a:p>
        </p:txBody>
      </p:sp>
      <p:sp>
        <p:nvSpPr>
          <p:cNvPr id="6" name="text-264"/>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accent3"/>
                </a:solidFill>
              </a:rPr>
              <a:t>Prompt Engineering Essentials   ·   Part 2: Techniques</a:t>
            </a:r>
            <a:endParaRPr lang="en-US" sz="1000" dirty="0"/>
          </a:p>
        </p:txBody>
      </p:sp>
      <p:sp>
        <p:nvSpPr>
          <p:cNvPr id="7" name="text-265"/>
          <p:cNvSpPr txBox="1"/>
          <p:nvPr/>
        </p:nvSpPr>
        <p:spPr>
          <a:xfrm>
            <a:off x="548640" y="1783080"/>
            <a:ext cx="5486400" cy="365760"/>
          </a:xfrm>
          <a:prstGeom prst="rect">
            <a:avLst/>
          </a:prstGeom>
          <a:noFill/>
          <a:ln/>
        </p:spPr>
        <p:txBody>
          <a:bodyPr wrap="square" lIns="0" tIns="0" rIns="0" bIns="0" rtlCol="0" anchor="t"/>
          <a:lstStyle/>
          <a:p>
            <a:pPr indent="0" marL="0">
              <a:buNone/>
            </a:pPr>
            <a:r>
              <a:rPr lang="en-US" sz="1700" dirty="0">
                <a:solidFill>
                  <a:schemeClr val="accent3"/>
                </a:solidFill>
              </a:rPr>
              <a:t>Choose one scenario:</a:t>
            </a:r>
            <a:endParaRPr lang="en-US" sz="1700" dirty="0"/>
          </a:p>
        </p:txBody>
      </p:sp>
      <p:sp>
        <p:nvSpPr>
          <p:cNvPr id="8" name="card-266"/>
          <p:cNvSpPr/>
          <p:nvPr/>
        </p:nvSpPr>
        <p:spPr>
          <a:xfrm>
            <a:off x="548640" y="2240280"/>
            <a:ext cx="6035040" cy="978408"/>
          </a:xfrm>
          <a:prstGeom prst="roundRect">
            <a:avLst>
              <a:gd name="adj" fmla="val 11215"/>
            </a:avLst>
          </a:prstGeom>
          <a:solidFill>
            <a:schemeClr val="accent2"/>
          </a:solidFill>
          <a:ln/>
        </p:spPr>
      </p:sp>
      <p:sp>
        <p:nvSpPr>
          <p:cNvPr id="9" name="text-267"/>
          <p:cNvSpPr txBox="1"/>
          <p:nvPr/>
        </p:nvSpPr>
        <p:spPr>
          <a:xfrm>
            <a:off x="822960" y="2240280"/>
            <a:ext cx="457200" cy="978408"/>
          </a:xfrm>
          <a:prstGeom prst="rect">
            <a:avLst/>
          </a:prstGeom>
          <a:noFill/>
          <a:ln/>
        </p:spPr>
        <p:txBody>
          <a:bodyPr wrap="square" lIns="0" tIns="0" rIns="0" bIns="0" rtlCol="0" anchor="ctr"/>
          <a:lstStyle/>
          <a:p>
            <a:pPr indent="0" marL="0">
              <a:buNone/>
            </a:pPr>
            <a:r>
              <a:rPr lang="en-US" sz="2600" b="1" dirty="0">
                <a:solidFill>
                  <a:schemeClr val="accent1"/>
                </a:solidFill>
              </a:rPr>
              <a:t>A</a:t>
            </a:r>
            <a:endParaRPr lang="en-US" sz="2600" dirty="0"/>
          </a:p>
        </p:txBody>
      </p:sp>
      <p:sp>
        <p:nvSpPr>
          <p:cNvPr id="10" name="text-268"/>
          <p:cNvSpPr txBox="1"/>
          <p:nvPr/>
        </p:nvSpPr>
        <p:spPr>
          <a:xfrm>
            <a:off x="1371600" y="2240280"/>
            <a:ext cx="5029200" cy="978408"/>
          </a:xfrm>
          <a:prstGeom prst="rect">
            <a:avLst/>
          </a:prstGeom>
          <a:noFill/>
          <a:ln/>
        </p:spPr>
        <p:txBody>
          <a:bodyPr wrap="square" lIns="0" tIns="0" rIns="0" bIns="0" rtlCol="0" anchor="ctr"/>
          <a:lstStyle/>
          <a:p>
            <a:pPr indent="0" marL="0">
              <a:buNone/>
            </a:pPr>
            <a:r>
              <a:rPr lang="en-US" sz="1500" dirty="0">
                <a:solidFill>
                  <a:schemeClr val="bg1"/>
                </a:solidFill>
              </a:rPr>
              <a:t>Announce a new office recycling program to staff who were frustrated by the last workplace change.</a:t>
            </a:r>
            <a:endParaRPr lang="en-US" sz="1500" dirty="0"/>
          </a:p>
        </p:txBody>
      </p:sp>
      <p:sp>
        <p:nvSpPr>
          <p:cNvPr id="11" name="card-269"/>
          <p:cNvSpPr/>
          <p:nvPr/>
        </p:nvSpPr>
        <p:spPr>
          <a:xfrm>
            <a:off x="548640" y="3355848"/>
            <a:ext cx="6035040" cy="978408"/>
          </a:xfrm>
          <a:prstGeom prst="roundRect">
            <a:avLst>
              <a:gd name="adj" fmla="val 11215"/>
            </a:avLst>
          </a:prstGeom>
          <a:solidFill>
            <a:schemeClr val="accent2"/>
          </a:solidFill>
          <a:ln/>
        </p:spPr>
      </p:sp>
      <p:sp>
        <p:nvSpPr>
          <p:cNvPr id="12" name="text-270"/>
          <p:cNvSpPr txBox="1"/>
          <p:nvPr/>
        </p:nvSpPr>
        <p:spPr>
          <a:xfrm>
            <a:off x="822960" y="3355848"/>
            <a:ext cx="457200" cy="978408"/>
          </a:xfrm>
          <a:prstGeom prst="rect">
            <a:avLst/>
          </a:prstGeom>
          <a:noFill/>
          <a:ln/>
        </p:spPr>
        <p:txBody>
          <a:bodyPr wrap="square" lIns="0" tIns="0" rIns="0" bIns="0" rtlCol="0" anchor="ctr"/>
          <a:lstStyle/>
          <a:p>
            <a:pPr indent="0" marL="0">
              <a:buNone/>
            </a:pPr>
            <a:r>
              <a:rPr lang="en-US" sz="2600" b="1" dirty="0">
                <a:solidFill>
                  <a:schemeClr val="accent1"/>
                </a:solidFill>
              </a:rPr>
              <a:t>B</a:t>
            </a:r>
            <a:endParaRPr lang="en-US" sz="2600" dirty="0"/>
          </a:p>
        </p:txBody>
      </p:sp>
      <p:sp>
        <p:nvSpPr>
          <p:cNvPr id="13" name="text-271"/>
          <p:cNvSpPr txBox="1"/>
          <p:nvPr/>
        </p:nvSpPr>
        <p:spPr>
          <a:xfrm>
            <a:off x="1371600" y="3355848"/>
            <a:ext cx="5029200" cy="978408"/>
          </a:xfrm>
          <a:prstGeom prst="rect">
            <a:avLst/>
          </a:prstGeom>
          <a:noFill/>
          <a:ln/>
        </p:spPr>
        <p:txBody>
          <a:bodyPr wrap="square" lIns="0" tIns="0" rIns="0" bIns="0" rtlCol="0" anchor="ctr"/>
          <a:lstStyle/>
          <a:p>
            <a:pPr indent="0" marL="0">
              <a:buNone/>
            </a:pPr>
            <a:r>
              <a:rPr lang="en-US" sz="1500" dirty="0">
                <a:solidFill>
                  <a:schemeClr val="bg1"/>
                </a:solidFill>
              </a:rPr>
              <a:t>Reply to a customer whose delivery was two days late and who wants a full refund. Policy: refund shipping, plus 10% off the next order.</a:t>
            </a:r>
            <a:endParaRPr lang="en-US" sz="1500" dirty="0"/>
          </a:p>
        </p:txBody>
      </p:sp>
      <p:sp>
        <p:nvSpPr>
          <p:cNvPr id="14" name="card-272"/>
          <p:cNvSpPr/>
          <p:nvPr/>
        </p:nvSpPr>
        <p:spPr>
          <a:xfrm>
            <a:off x="548640" y="4471416"/>
            <a:ext cx="6035040" cy="978408"/>
          </a:xfrm>
          <a:prstGeom prst="roundRect">
            <a:avLst>
              <a:gd name="adj" fmla="val 11215"/>
            </a:avLst>
          </a:prstGeom>
          <a:solidFill>
            <a:schemeClr val="accent2"/>
          </a:solidFill>
          <a:ln/>
        </p:spPr>
      </p:sp>
      <p:sp>
        <p:nvSpPr>
          <p:cNvPr id="15" name="text-273"/>
          <p:cNvSpPr txBox="1"/>
          <p:nvPr/>
        </p:nvSpPr>
        <p:spPr>
          <a:xfrm>
            <a:off x="822960" y="4471416"/>
            <a:ext cx="457200" cy="978408"/>
          </a:xfrm>
          <a:prstGeom prst="rect">
            <a:avLst/>
          </a:prstGeom>
          <a:noFill/>
          <a:ln/>
        </p:spPr>
        <p:txBody>
          <a:bodyPr wrap="square" lIns="0" tIns="0" rIns="0" bIns="0" rtlCol="0" anchor="ctr"/>
          <a:lstStyle/>
          <a:p>
            <a:pPr indent="0" marL="0">
              <a:buNone/>
            </a:pPr>
            <a:r>
              <a:rPr lang="en-US" sz="2600" b="1" dirty="0">
                <a:solidFill>
                  <a:schemeClr val="accent1"/>
                </a:solidFill>
              </a:rPr>
              <a:t>C</a:t>
            </a:r>
            <a:endParaRPr lang="en-US" sz="2600" dirty="0"/>
          </a:p>
        </p:txBody>
      </p:sp>
      <p:sp>
        <p:nvSpPr>
          <p:cNvPr id="16" name="text-274"/>
          <p:cNvSpPr txBox="1"/>
          <p:nvPr/>
        </p:nvSpPr>
        <p:spPr>
          <a:xfrm>
            <a:off x="1371600" y="4471416"/>
            <a:ext cx="5029200" cy="978408"/>
          </a:xfrm>
          <a:prstGeom prst="rect">
            <a:avLst/>
          </a:prstGeom>
          <a:noFill/>
          <a:ln/>
        </p:spPr>
        <p:txBody>
          <a:bodyPr wrap="square" lIns="0" tIns="0" rIns="0" bIns="0" rtlCol="0" anchor="ctr"/>
          <a:lstStyle/>
          <a:p>
            <a:pPr indent="0" marL="0">
              <a:buNone/>
            </a:pPr>
            <a:r>
              <a:rPr lang="en-US" sz="1500" dirty="0">
                <a:solidFill>
                  <a:schemeClr val="bg1"/>
                </a:solidFill>
              </a:rPr>
              <a:t>Write a short LinkedIn post celebrating your team for finishing a big project.</a:t>
            </a:r>
            <a:endParaRPr lang="en-US" sz="1500" dirty="0"/>
          </a:p>
        </p:txBody>
      </p:sp>
      <p:sp>
        <p:nvSpPr>
          <p:cNvPr id="17" name="text-275"/>
          <p:cNvSpPr txBox="1"/>
          <p:nvPr/>
        </p:nvSpPr>
        <p:spPr>
          <a:xfrm>
            <a:off x="7086600" y="1783080"/>
            <a:ext cx="4572000" cy="411480"/>
          </a:xfrm>
          <a:prstGeom prst="rect">
            <a:avLst/>
          </a:prstGeom>
          <a:noFill/>
          <a:ln/>
        </p:spPr>
        <p:txBody>
          <a:bodyPr wrap="square" lIns="0" tIns="0" rIns="0" bIns="0" rtlCol="0" anchor="t"/>
          <a:lstStyle/>
          <a:p>
            <a:pPr indent="0" marL="0">
              <a:buNone/>
            </a:pPr>
            <a:r>
              <a:rPr lang="en-US" sz="2100" b="1" dirty="0">
                <a:solidFill>
                  <a:schemeClr val="bg1"/>
                </a:solidFill>
              </a:rPr>
              <a:t>Rules</a:t>
            </a:r>
            <a:endParaRPr lang="en-US" sz="2100" dirty="0"/>
          </a:p>
        </p:txBody>
      </p:sp>
      <p:pic>
        <p:nvPicPr>
          <p:cNvPr id="18" name="icon-276" descr="preencoded.png">    </p:cNvPr>
          <p:cNvPicPr>
            <a:picLocks noChangeAspect="1"/>
          </p:cNvPicPr>
          <p:nvPr/>
        </p:nvPicPr>
        <p:blipFill>
          <a:blip r:embed="rId1"/>
          <a:stretch>
            <a:fillRect/>
          </a:stretch>
        </p:blipFill>
        <p:spPr>
          <a:xfrm>
            <a:off x="7086600" y="2377440"/>
            <a:ext cx="365760" cy="365760"/>
          </a:xfrm>
          <a:prstGeom prst="rect">
            <a:avLst/>
          </a:prstGeom>
        </p:spPr>
      </p:pic>
      <p:sp>
        <p:nvSpPr>
          <p:cNvPr id="19" name="text-277"/>
          <p:cNvSpPr txBox="1"/>
          <p:nvPr/>
        </p:nvSpPr>
        <p:spPr>
          <a:xfrm>
            <a:off x="7635240" y="2331720"/>
            <a:ext cx="4023360" cy="457200"/>
          </a:xfrm>
          <a:prstGeom prst="rect">
            <a:avLst/>
          </a:prstGeom>
          <a:noFill/>
          <a:ln/>
        </p:spPr>
        <p:txBody>
          <a:bodyPr wrap="square" lIns="0" tIns="0" rIns="0" bIns="0" rtlCol="0" anchor="ctr"/>
          <a:lstStyle/>
          <a:p>
            <a:pPr indent="0" marL="0">
              <a:buNone/>
            </a:pPr>
            <a:r>
              <a:rPr lang="en-US" sz="1800" dirty="0">
                <a:solidFill>
                  <a:schemeClr val="bg1"/>
                </a:solidFill>
              </a:rPr>
              <a:t>Four turns or fewer</a:t>
            </a:r>
            <a:endParaRPr lang="en-US" sz="1800" dirty="0"/>
          </a:p>
        </p:txBody>
      </p:sp>
      <p:pic>
        <p:nvPicPr>
          <p:cNvPr id="20" name="icon-278" descr="preencoded.png">    </p:cNvPr>
          <p:cNvPicPr>
            <a:picLocks noChangeAspect="1"/>
          </p:cNvPicPr>
          <p:nvPr/>
        </p:nvPicPr>
        <p:blipFill>
          <a:blip r:embed="rId2"/>
          <a:stretch>
            <a:fillRect/>
          </a:stretch>
        </p:blipFill>
        <p:spPr>
          <a:xfrm>
            <a:off x="7086600" y="3035808"/>
            <a:ext cx="365760" cy="365760"/>
          </a:xfrm>
          <a:prstGeom prst="rect">
            <a:avLst/>
          </a:prstGeom>
        </p:spPr>
      </p:pic>
      <p:sp>
        <p:nvSpPr>
          <p:cNvPr id="21" name="text-279"/>
          <p:cNvSpPr txBox="1"/>
          <p:nvPr/>
        </p:nvSpPr>
        <p:spPr>
          <a:xfrm>
            <a:off x="7635240" y="2990088"/>
            <a:ext cx="4023360" cy="457200"/>
          </a:xfrm>
          <a:prstGeom prst="rect">
            <a:avLst/>
          </a:prstGeom>
          <a:noFill/>
          <a:ln/>
        </p:spPr>
        <p:txBody>
          <a:bodyPr wrap="square" lIns="0" tIns="0" rIns="0" bIns="0" rtlCol="0" anchor="ctr"/>
          <a:lstStyle/>
          <a:p>
            <a:pPr indent="0" marL="0">
              <a:buNone/>
            </a:pPr>
            <a:r>
              <a:rPr lang="en-US" sz="1800" dirty="0">
                <a:solidFill>
                  <a:schemeClr val="bg1"/>
                </a:solidFill>
              </a:rPr>
              <a:t>Use at least two follow-up moves</a:t>
            </a:r>
            <a:endParaRPr lang="en-US" sz="1800" dirty="0"/>
          </a:p>
        </p:txBody>
      </p:sp>
      <p:pic>
        <p:nvPicPr>
          <p:cNvPr id="22" name="icon-280" descr="preencoded.png">    </p:cNvPr>
          <p:cNvPicPr>
            <a:picLocks noChangeAspect="1"/>
          </p:cNvPicPr>
          <p:nvPr/>
        </p:nvPicPr>
        <p:blipFill>
          <a:blip r:embed="rId3"/>
          <a:stretch>
            <a:fillRect/>
          </a:stretch>
        </p:blipFill>
        <p:spPr>
          <a:xfrm>
            <a:off x="7086600" y="3694176"/>
            <a:ext cx="365760" cy="365760"/>
          </a:xfrm>
          <a:prstGeom prst="rect">
            <a:avLst/>
          </a:prstGeom>
        </p:spPr>
      </p:pic>
      <p:sp>
        <p:nvSpPr>
          <p:cNvPr id="23" name="text-281"/>
          <p:cNvSpPr txBox="1"/>
          <p:nvPr/>
        </p:nvSpPr>
        <p:spPr>
          <a:xfrm>
            <a:off x="7635240" y="3648456"/>
            <a:ext cx="4023360" cy="457200"/>
          </a:xfrm>
          <a:prstGeom prst="rect">
            <a:avLst/>
          </a:prstGeom>
          <a:noFill/>
          <a:ln/>
        </p:spPr>
        <p:txBody>
          <a:bodyPr wrap="square" lIns="0" tIns="0" rIns="0" bIns="0" rtlCol="0" anchor="ctr"/>
          <a:lstStyle/>
          <a:p>
            <a:pPr indent="0" marL="0">
              <a:buNone/>
            </a:pPr>
            <a:r>
              <a:rPr lang="en-US" sz="1800" dirty="0">
                <a:solidFill>
                  <a:schemeClr val="bg1"/>
                </a:solidFill>
              </a:rPr>
              <a:t>Log each prompt in your workbook</a:t>
            </a:r>
            <a:endParaRPr lang="en-US" sz="1800" dirty="0"/>
          </a:p>
        </p:txBody>
      </p:sp>
      <p:sp>
        <p:nvSpPr>
          <p:cNvPr id="24" name="text-282"/>
          <p:cNvSpPr txBox="1"/>
          <p:nvPr/>
        </p:nvSpPr>
        <p:spPr>
          <a:xfrm>
            <a:off x="548640" y="5623560"/>
            <a:ext cx="10180015" cy="411480"/>
          </a:xfrm>
          <a:prstGeom prst="rect">
            <a:avLst/>
          </a:prstGeom>
          <a:noFill/>
          <a:ln/>
        </p:spPr>
        <p:txBody>
          <a:bodyPr wrap="square" lIns="0" tIns="0" rIns="0" bIns="0" rtlCol="0" anchor="t"/>
          <a:lstStyle/>
          <a:p>
            <a:pPr indent="0" marL="0">
              <a:buNone/>
            </a:pPr>
            <a:r>
              <a:rPr lang="en-US" sz="1700" b="1" dirty="0">
                <a:solidFill>
                  <a:schemeClr val="accent1"/>
                </a:solidFill>
              </a:rPr>
              <a:t>Done when: </a:t>
            </a:r>
            <a:pPr indent="0" marL="0">
              <a:buNone/>
            </a:pPr>
            <a:r>
              <a:rPr lang="en-US" sz="1700" dirty="0">
                <a:solidFill>
                  <a:schemeClr val="bg1"/>
                </a:solidFill>
              </a:rPr>
              <a:t>you have a version you'd actually send, and a log of the moves you used.</a:t>
            </a:r>
            <a:endParaRPr lang="en-US" sz="1700" dirty="0"/>
          </a:p>
        </p:txBody>
      </p:sp>
      <p:sp>
        <p:nvSpPr>
          <p:cNvPr id="25" name="text-283"/>
          <p:cNvSpPr txBox="1"/>
          <p:nvPr/>
        </p:nvSpPr>
        <p:spPr>
          <a:xfrm>
            <a:off x="548640" y="5989320"/>
            <a:ext cx="10180015" cy="365760"/>
          </a:xfrm>
          <a:prstGeom prst="rect">
            <a:avLst/>
          </a:prstGeom>
          <a:noFill/>
          <a:ln/>
        </p:spPr>
        <p:txBody>
          <a:bodyPr wrap="square" lIns="0" tIns="0" rIns="0" bIns="0" rtlCol="0" anchor="t"/>
          <a:lstStyle/>
          <a:p>
            <a:pPr indent="0" marL="0">
              <a:buNone/>
            </a:pPr>
            <a:r>
              <a:rPr lang="en-US" sz="1400" dirty="0">
                <a:solidFill>
                  <a:schemeClr val="accent3"/>
                </a:solidFill>
              </a:rPr>
              <a:t>Finished early? Ask Gemini to turn the whole conversation into one prompt that gets the final result in one go.</a:t>
            </a:r>
            <a:endParaRPr lang="en-US" sz="14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CBBB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Before you paste: check the data and the account</a:t>
            </a:r>
            <a:endParaRPr lang="en-US" sz="3400" dirty="0"/>
          </a:p>
        </p:txBody>
      </p:sp>
      <p:sp>
        <p:nvSpPr>
          <p:cNvPr id="3" name="text-284"/>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tx2"/>
                </a:solidFill>
              </a:rPr>
              <a:t>Prompt Engineering Essentials   ·   Part 3: Use it responsibly</a:t>
            </a:r>
            <a:endParaRPr lang="en-US" sz="1000" dirty="0"/>
          </a:p>
        </p:txBody>
      </p:sp>
      <p:sp>
        <p:nvSpPr>
          <p:cNvPr id="4" name="text-285"/>
          <p:cNvSpPr txBox="1"/>
          <p:nvPr/>
        </p:nvSpPr>
        <p:spPr>
          <a:xfrm>
            <a:off x="548640" y="1463040"/>
            <a:ext cx="5669280" cy="548640"/>
          </a:xfrm>
          <a:prstGeom prst="rect">
            <a:avLst/>
          </a:prstGeom>
          <a:noFill/>
          <a:ln/>
        </p:spPr>
        <p:txBody>
          <a:bodyPr wrap="square" lIns="0" tIns="0" rIns="0" bIns="0" rtlCol="0" anchor="b"/>
          <a:lstStyle/>
          <a:p>
            <a:pPr indent="0" marL="0">
              <a:buNone/>
            </a:pPr>
            <a:r>
              <a:rPr lang="en-US" sz="1300" b="1" spc="200" kern="0" dirty="0">
                <a:solidFill>
                  <a:schemeClr val="tx2"/>
                </a:solidFill>
              </a:rPr>
              <a:t>WHAT YOU WANT TO PASTE</a:t>
            </a:r>
            <a:endParaRPr lang="en-US" sz="1300" dirty="0"/>
          </a:p>
        </p:txBody>
      </p:sp>
      <p:sp>
        <p:nvSpPr>
          <p:cNvPr id="5" name="text-286"/>
          <p:cNvSpPr txBox="1"/>
          <p:nvPr/>
        </p:nvSpPr>
        <p:spPr>
          <a:xfrm>
            <a:off x="6400800" y="1371600"/>
            <a:ext cx="2514600" cy="685800"/>
          </a:xfrm>
          <a:prstGeom prst="rect">
            <a:avLst/>
          </a:prstGeom>
          <a:noFill/>
          <a:ln/>
        </p:spPr>
        <p:txBody>
          <a:bodyPr wrap="square" lIns="0" tIns="0" rIns="0" bIns="0" rtlCol="0" anchor="b"/>
          <a:lstStyle/>
          <a:p>
            <a:pPr algn="ctr" indent="0" marL="0">
              <a:buNone/>
            </a:pPr>
            <a:r>
              <a:rPr lang="en-US" sz="1600" b="1" dirty="0">
                <a:solidFill>
                  <a:schemeClr val="tx1"/>
                </a:solidFill>
              </a:rPr>
              <a:t>Work or school account</a:t>
            </a:r>
            <a:endParaRPr lang="en-US" sz="1600" dirty="0"/>
          </a:p>
          <a:p>
            <a:pPr algn="ctr" indent="0" marL="0">
              <a:buNone/>
            </a:pPr>
            <a:r>
              <a:rPr lang="en-US" sz="1300" dirty="0">
                <a:solidFill>
                  <a:schemeClr val="tx2"/>
                </a:solidFill>
              </a:rPr>
              <a:t>with your organization's Gemini license</a:t>
            </a:r>
            <a:endParaRPr lang="en-US" sz="1600" dirty="0"/>
          </a:p>
        </p:txBody>
      </p:sp>
      <p:sp>
        <p:nvSpPr>
          <p:cNvPr id="6" name="text-287"/>
          <p:cNvSpPr txBox="1"/>
          <p:nvPr/>
        </p:nvSpPr>
        <p:spPr>
          <a:xfrm>
            <a:off x="9098280" y="1371600"/>
            <a:ext cx="2542032" cy="685800"/>
          </a:xfrm>
          <a:prstGeom prst="rect">
            <a:avLst/>
          </a:prstGeom>
          <a:noFill/>
          <a:ln/>
        </p:spPr>
        <p:txBody>
          <a:bodyPr wrap="square" lIns="0" tIns="0" rIns="0" bIns="0" rtlCol="0" anchor="b"/>
          <a:lstStyle/>
          <a:p>
            <a:pPr algn="ctr" indent="0" marL="0">
              <a:buNone/>
            </a:pPr>
            <a:r>
              <a:rPr lang="en-US" sz="1600" b="1" dirty="0">
                <a:solidFill>
                  <a:schemeClr val="tx1"/>
                </a:solidFill>
              </a:rPr>
              <a:t>Personal Google account</a:t>
            </a:r>
            <a:endParaRPr lang="en-US" sz="1600" dirty="0"/>
          </a:p>
          <a:p>
            <a:pPr algn="ctr" indent="0" marL="0">
              <a:buNone/>
            </a:pPr>
            <a:r>
              <a:rPr lang="en-US" sz="1300" dirty="0">
                <a:solidFill>
                  <a:schemeClr val="tx2"/>
                </a:solidFill>
              </a:rPr>
              <a:t>free consumer version</a:t>
            </a:r>
            <a:endParaRPr lang="en-US" sz="1600" dirty="0"/>
          </a:p>
        </p:txBody>
      </p:sp>
      <p:sp>
        <p:nvSpPr>
          <p:cNvPr id="7" name="card-288"/>
          <p:cNvSpPr/>
          <p:nvPr/>
        </p:nvSpPr>
        <p:spPr>
          <a:xfrm>
            <a:off x="548640" y="2240280"/>
            <a:ext cx="11094415" cy="896112"/>
          </a:xfrm>
          <a:prstGeom prst="roundRect">
            <a:avLst>
              <a:gd name="adj" fmla="val 12245"/>
            </a:avLst>
          </a:prstGeom>
          <a:solidFill>
            <a:schemeClr val="bg2"/>
          </a:solidFill>
          <a:ln/>
        </p:spPr>
      </p:sp>
      <p:sp>
        <p:nvSpPr>
          <p:cNvPr id="8" name="light-289"/>
          <p:cNvSpPr/>
          <p:nvPr/>
        </p:nvSpPr>
        <p:spPr>
          <a:xfrm>
            <a:off x="822960" y="2514600"/>
            <a:ext cx="347472" cy="347472"/>
          </a:xfrm>
          <a:prstGeom prst="ellipse">
            <a:avLst/>
          </a:prstGeom>
          <a:solidFill>
            <a:srgbClr val="2E8540"/>
          </a:solidFill>
          <a:ln/>
        </p:spPr>
      </p:sp>
      <p:sp>
        <p:nvSpPr>
          <p:cNvPr id="9" name="text-290"/>
          <p:cNvSpPr txBox="1"/>
          <p:nvPr/>
        </p:nvSpPr>
        <p:spPr>
          <a:xfrm>
            <a:off x="1371600" y="2350008"/>
            <a:ext cx="4754880" cy="365760"/>
          </a:xfrm>
          <a:prstGeom prst="rect">
            <a:avLst/>
          </a:prstGeom>
          <a:noFill/>
          <a:ln/>
        </p:spPr>
        <p:txBody>
          <a:bodyPr wrap="square" lIns="0" tIns="0" rIns="0" bIns="0" rtlCol="0" anchor="t"/>
          <a:lstStyle/>
          <a:p>
            <a:pPr indent="0" marL="0">
              <a:buNone/>
            </a:pPr>
            <a:r>
              <a:rPr lang="en-US" sz="1800" b="1" dirty="0">
                <a:solidFill>
                  <a:schemeClr val="tx1"/>
                </a:solidFill>
              </a:rPr>
              <a:t>Public or fictional</a:t>
            </a:r>
            <a:endParaRPr lang="en-US" sz="1800" dirty="0"/>
          </a:p>
        </p:txBody>
      </p:sp>
      <p:sp>
        <p:nvSpPr>
          <p:cNvPr id="10" name="text-291"/>
          <p:cNvSpPr txBox="1"/>
          <p:nvPr/>
        </p:nvSpPr>
        <p:spPr>
          <a:xfrm>
            <a:off x="1371600" y="2715768"/>
            <a:ext cx="4754880" cy="365760"/>
          </a:xfrm>
          <a:prstGeom prst="rect">
            <a:avLst/>
          </a:prstGeom>
          <a:noFill/>
          <a:ln/>
        </p:spPr>
        <p:txBody>
          <a:bodyPr wrap="square" lIns="0" tIns="0" rIns="0" bIns="0" rtlCol="0" anchor="t"/>
          <a:lstStyle/>
          <a:p>
            <a:pPr indent="0" marL="0">
              <a:buNone/>
            </a:pPr>
            <a:r>
              <a:rPr lang="en-US" sz="1400" dirty="0">
                <a:solidFill>
                  <a:schemeClr val="tx2"/>
                </a:solidFill>
              </a:rPr>
              <a:t>Published information, general questions, test examples</a:t>
            </a:r>
            <a:endParaRPr lang="en-US" sz="1400" dirty="0"/>
          </a:p>
        </p:txBody>
      </p:sp>
      <p:sp>
        <p:nvSpPr>
          <p:cNvPr id="11" name="dot-292"/>
          <p:cNvSpPr/>
          <p:nvPr/>
        </p:nvSpPr>
        <p:spPr>
          <a:xfrm>
            <a:off x="7383780" y="2414016"/>
            <a:ext cx="548640" cy="548640"/>
          </a:xfrm>
          <a:prstGeom prst="ellipse">
            <a:avLst/>
          </a:prstGeom>
          <a:solidFill>
            <a:schemeClr val="tx1"/>
          </a:solidFill>
          <a:ln/>
        </p:spPr>
      </p:sp>
      <p:pic>
        <p:nvPicPr>
          <p:cNvPr id="12" name="icon-293" descr="preencoded.png">    </p:cNvPr>
          <p:cNvPicPr>
            <a:picLocks noChangeAspect="1"/>
          </p:cNvPicPr>
          <p:nvPr/>
        </p:nvPicPr>
        <p:blipFill>
          <a:blip r:embed="rId1"/>
          <a:stretch>
            <a:fillRect/>
          </a:stretch>
        </p:blipFill>
        <p:spPr>
          <a:xfrm>
            <a:off x="7504481" y="2534717"/>
            <a:ext cx="307238" cy="307238"/>
          </a:xfrm>
          <a:prstGeom prst="rect">
            <a:avLst/>
          </a:prstGeom>
        </p:spPr>
      </p:pic>
      <p:sp>
        <p:nvSpPr>
          <p:cNvPr id="13" name="dot-294"/>
          <p:cNvSpPr/>
          <p:nvPr/>
        </p:nvSpPr>
        <p:spPr>
          <a:xfrm>
            <a:off x="10094976" y="2414016"/>
            <a:ext cx="548640" cy="548640"/>
          </a:xfrm>
          <a:prstGeom prst="ellipse">
            <a:avLst/>
          </a:prstGeom>
          <a:solidFill>
            <a:schemeClr val="tx1"/>
          </a:solidFill>
          <a:ln/>
        </p:spPr>
      </p:sp>
      <p:pic>
        <p:nvPicPr>
          <p:cNvPr id="14" name="icon-295" descr="preencoded.png">    </p:cNvPr>
          <p:cNvPicPr>
            <a:picLocks noChangeAspect="1"/>
          </p:cNvPicPr>
          <p:nvPr/>
        </p:nvPicPr>
        <p:blipFill>
          <a:blip r:embed="rId2"/>
          <a:stretch>
            <a:fillRect/>
          </a:stretch>
        </p:blipFill>
        <p:spPr>
          <a:xfrm>
            <a:off x="10215677" y="2534717"/>
            <a:ext cx="307238" cy="307238"/>
          </a:xfrm>
          <a:prstGeom prst="rect">
            <a:avLst/>
          </a:prstGeom>
        </p:spPr>
      </p:pic>
      <p:sp>
        <p:nvSpPr>
          <p:cNvPr id="15" name="card-296"/>
          <p:cNvSpPr/>
          <p:nvPr/>
        </p:nvSpPr>
        <p:spPr>
          <a:xfrm>
            <a:off x="548640" y="3264408"/>
            <a:ext cx="11094415" cy="896112"/>
          </a:xfrm>
          <a:prstGeom prst="roundRect">
            <a:avLst>
              <a:gd name="adj" fmla="val 12245"/>
            </a:avLst>
          </a:prstGeom>
          <a:solidFill>
            <a:schemeClr val="bg2"/>
          </a:solidFill>
          <a:ln/>
        </p:spPr>
      </p:sp>
      <p:sp>
        <p:nvSpPr>
          <p:cNvPr id="16" name="light-297"/>
          <p:cNvSpPr/>
          <p:nvPr/>
        </p:nvSpPr>
        <p:spPr>
          <a:xfrm>
            <a:off x="822960" y="3538728"/>
            <a:ext cx="347472" cy="347472"/>
          </a:xfrm>
          <a:prstGeom prst="ellipse">
            <a:avLst/>
          </a:prstGeom>
          <a:solidFill>
            <a:srgbClr val="E8A317"/>
          </a:solidFill>
          <a:ln/>
        </p:spPr>
      </p:sp>
      <p:sp>
        <p:nvSpPr>
          <p:cNvPr id="17" name="text-298"/>
          <p:cNvSpPr txBox="1"/>
          <p:nvPr/>
        </p:nvSpPr>
        <p:spPr>
          <a:xfrm>
            <a:off x="1371600" y="3374136"/>
            <a:ext cx="4754880" cy="365760"/>
          </a:xfrm>
          <a:prstGeom prst="rect">
            <a:avLst/>
          </a:prstGeom>
          <a:noFill/>
          <a:ln/>
        </p:spPr>
        <p:txBody>
          <a:bodyPr wrap="square" lIns="0" tIns="0" rIns="0" bIns="0" rtlCol="0" anchor="t"/>
          <a:lstStyle/>
          <a:p>
            <a:pPr indent="0" marL="0">
              <a:buNone/>
            </a:pPr>
            <a:r>
              <a:rPr lang="en-US" sz="1800" b="1" dirty="0">
                <a:solidFill>
                  <a:schemeClr val="tx1"/>
                </a:solidFill>
              </a:rPr>
              <a:t>Internal, not sensitive</a:t>
            </a:r>
            <a:endParaRPr lang="en-US" sz="1800" dirty="0"/>
          </a:p>
        </p:txBody>
      </p:sp>
      <p:sp>
        <p:nvSpPr>
          <p:cNvPr id="18" name="text-299"/>
          <p:cNvSpPr txBox="1"/>
          <p:nvPr/>
        </p:nvSpPr>
        <p:spPr>
          <a:xfrm>
            <a:off x="1371600" y="3739896"/>
            <a:ext cx="4754880" cy="365760"/>
          </a:xfrm>
          <a:prstGeom prst="rect">
            <a:avLst/>
          </a:prstGeom>
          <a:noFill/>
          <a:ln/>
        </p:spPr>
        <p:txBody>
          <a:bodyPr wrap="square" lIns="0" tIns="0" rIns="0" bIns="0" rtlCol="0" anchor="t"/>
          <a:lstStyle/>
          <a:p>
            <a:pPr indent="0" marL="0">
              <a:buNone/>
            </a:pPr>
            <a:r>
              <a:rPr lang="en-US" sz="1400" dirty="0">
                <a:solidFill>
                  <a:schemeClr val="tx2"/>
                </a:solidFill>
              </a:rPr>
              <a:t>Draft agendas, generic processes</a:t>
            </a:r>
            <a:endParaRPr lang="en-US" sz="1400" dirty="0"/>
          </a:p>
        </p:txBody>
      </p:sp>
      <p:sp>
        <p:nvSpPr>
          <p:cNvPr id="19" name="dot-300"/>
          <p:cNvSpPr/>
          <p:nvPr/>
        </p:nvSpPr>
        <p:spPr>
          <a:xfrm>
            <a:off x="7383780" y="3438144"/>
            <a:ext cx="548640" cy="548640"/>
          </a:xfrm>
          <a:prstGeom prst="ellipse">
            <a:avLst/>
          </a:prstGeom>
          <a:solidFill>
            <a:schemeClr val="tx1"/>
          </a:solidFill>
          <a:ln/>
        </p:spPr>
      </p:sp>
      <p:pic>
        <p:nvPicPr>
          <p:cNvPr id="20" name="icon-301" descr="preencoded.png">    </p:cNvPr>
          <p:cNvPicPr>
            <a:picLocks noChangeAspect="1"/>
          </p:cNvPicPr>
          <p:nvPr/>
        </p:nvPicPr>
        <p:blipFill>
          <a:blip r:embed="rId3"/>
          <a:stretch>
            <a:fillRect/>
          </a:stretch>
        </p:blipFill>
        <p:spPr>
          <a:xfrm>
            <a:off x="7504481" y="3558845"/>
            <a:ext cx="307238" cy="307238"/>
          </a:xfrm>
          <a:prstGeom prst="rect">
            <a:avLst/>
          </a:prstGeom>
        </p:spPr>
      </p:pic>
      <p:sp>
        <p:nvSpPr>
          <p:cNvPr id="21" name="dot-302"/>
          <p:cNvSpPr/>
          <p:nvPr/>
        </p:nvSpPr>
        <p:spPr>
          <a:xfrm>
            <a:off x="10094976" y="3438144"/>
            <a:ext cx="548640" cy="548640"/>
          </a:xfrm>
          <a:prstGeom prst="ellipse">
            <a:avLst/>
          </a:prstGeom>
          <a:solidFill>
            <a:schemeClr val="accent1"/>
          </a:solidFill>
          <a:ln/>
        </p:spPr>
      </p:sp>
      <p:pic>
        <p:nvPicPr>
          <p:cNvPr id="22" name="icon-303" descr="preencoded.png">    </p:cNvPr>
          <p:cNvPicPr>
            <a:picLocks noChangeAspect="1"/>
          </p:cNvPicPr>
          <p:nvPr/>
        </p:nvPicPr>
        <p:blipFill>
          <a:blip r:embed="rId4"/>
          <a:stretch>
            <a:fillRect/>
          </a:stretch>
        </p:blipFill>
        <p:spPr>
          <a:xfrm>
            <a:off x="10215677" y="3558845"/>
            <a:ext cx="307238" cy="307238"/>
          </a:xfrm>
          <a:prstGeom prst="rect">
            <a:avLst/>
          </a:prstGeom>
        </p:spPr>
      </p:pic>
      <p:sp>
        <p:nvSpPr>
          <p:cNvPr id="23" name="card-304"/>
          <p:cNvSpPr/>
          <p:nvPr/>
        </p:nvSpPr>
        <p:spPr>
          <a:xfrm>
            <a:off x="548640" y="4288536"/>
            <a:ext cx="11094415" cy="896112"/>
          </a:xfrm>
          <a:prstGeom prst="roundRect">
            <a:avLst>
              <a:gd name="adj" fmla="val 12245"/>
            </a:avLst>
          </a:prstGeom>
          <a:solidFill>
            <a:schemeClr val="tx1"/>
          </a:solidFill>
          <a:ln/>
        </p:spPr>
      </p:sp>
      <p:sp>
        <p:nvSpPr>
          <p:cNvPr id="24" name="light-305"/>
          <p:cNvSpPr/>
          <p:nvPr/>
        </p:nvSpPr>
        <p:spPr>
          <a:xfrm>
            <a:off x="822960" y="4562856"/>
            <a:ext cx="347472" cy="347472"/>
          </a:xfrm>
          <a:prstGeom prst="ellipse">
            <a:avLst/>
          </a:prstGeom>
          <a:solidFill>
            <a:srgbClr val="D71920"/>
          </a:solidFill>
          <a:ln/>
        </p:spPr>
      </p:sp>
      <p:sp>
        <p:nvSpPr>
          <p:cNvPr id="25" name="text-306"/>
          <p:cNvSpPr txBox="1"/>
          <p:nvPr/>
        </p:nvSpPr>
        <p:spPr>
          <a:xfrm>
            <a:off x="1371600" y="4398264"/>
            <a:ext cx="4754880" cy="365760"/>
          </a:xfrm>
          <a:prstGeom prst="rect">
            <a:avLst/>
          </a:prstGeom>
          <a:noFill/>
          <a:ln/>
        </p:spPr>
        <p:txBody>
          <a:bodyPr wrap="square" lIns="0" tIns="0" rIns="0" bIns="0" rtlCol="0" anchor="t"/>
          <a:lstStyle/>
          <a:p>
            <a:pPr indent="0" marL="0">
              <a:buNone/>
            </a:pPr>
            <a:r>
              <a:rPr lang="en-US" sz="1800" b="1" dirty="0">
                <a:solidFill>
                  <a:schemeClr val="bg1"/>
                </a:solidFill>
              </a:rPr>
              <a:t>Personal, confidential, or regulated</a:t>
            </a:r>
            <a:endParaRPr lang="en-US" sz="1800" dirty="0"/>
          </a:p>
        </p:txBody>
      </p:sp>
      <p:sp>
        <p:nvSpPr>
          <p:cNvPr id="26" name="text-307"/>
          <p:cNvSpPr txBox="1"/>
          <p:nvPr/>
        </p:nvSpPr>
        <p:spPr>
          <a:xfrm>
            <a:off x="1371600" y="4764024"/>
            <a:ext cx="4754880" cy="365760"/>
          </a:xfrm>
          <a:prstGeom prst="rect">
            <a:avLst/>
          </a:prstGeom>
          <a:noFill/>
          <a:ln/>
        </p:spPr>
        <p:txBody>
          <a:bodyPr wrap="square" lIns="0" tIns="0" rIns="0" bIns="0" rtlCol="0" anchor="t"/>
          <a:lstStyle/>
          <a:p>
            <a:pPr indent="0" marL="0">
              <a:buNone/>
            </a:pPr>
            <a:r>
              <a:rPr lang="en-US" sz="1400" dirty="0">
                <a:solidFill>
                  <a:schemeClr val="accent3"/>
                </a:solidFill>
              </a:rPr>
              <a:t>Health or performance details, customer records</a:t>
            </a:r>
            <a:endParaRPr lang="en-US" sz="1400" dirty="0"/>
          </a:p>
        </p:txBody>
      </p:sp>
      <p:sp>
        <p:nvSpPr>
          <p:cNvPr id="27" name="dot-308"/>
          <p:cNvSpPr/>
          <p:nvPr/>
        </p:nvSpPr>
        <p:spPr>
          <a:xfrm>
            <a:off x="7383780" y="4462272"/>
            <a:ext cx="548640" cy="548640"/>
          </a:xfrm>
          <a:prstGeom prst="ellipse">
            <a:avLst/>
          </a:prstGeom>
          <a:solidFill>
            <a:schemeClr val="accent1"/>
          </a:solidFill>
          <a:ln/>
        </p:spPr>
      </p:sp>
      <p:pic>
        <p:nvPicPr>
          <p:cNvPr id="28" name="icon-309" descr="preencoded.png">    </p:cNvPr>
          <p:cNvPicPr>
            <a:picLocks noChangeAspect="1"/>
          </p:cNvPicPr>
          <p:nvPr/>
        </p:nvPicPr>
        <p:blipFill>
          <a:blip r:embed="rId5"/>
          <a:stretch>
            <a:fillRect/>
          </a:stretch>
        </p:blipFill>
        <p:spPr>
          <a:xfrm>
            <a:off x="7504481" y="4582973"/>
            <a:ext cx="307238" cy="307238"/>
          </a:xfrm>
          <a:prstGeom prst="rect">
            <a:avLst/>
          </a:prstGeom>
        </p:spPr>
      </p:pic>
      <p:sp>
        <p:nvSpPr>
          <p:cNvPr id="29" name="dot-310"/>
          <p:cNvSpPr/>
          <p:nvPr/>
        </p:nvSpPr>
        <p:spPr>
          <a:xfrm>
            <a:off x="10094976" y="4462272"/>
            <a:ext cx="548640" cy="548640"/>
          </a:xfrm>
          <a:prstGeom prst="ellipse">
            <a:avLst/>
          </a:prstGeom>
          <a:solidFill>
            <a:schemeClr val="accent1"/>
          </a:solidFill>
          <a:ln/>
        </p:spPr>
      </p:sp>
      <p:pic>
        <p:nvPicPr>
          <p:cNvPr id="30" name="icon-311" descr="preencoded.png">    </p:cNvPr>
          <p:cNvPicPr>
            <a:picLocks noChangeAspect="1"/>
          </p:cNvPicPr>
          <p:nvPr/>
        </p:nvPicPr>
        <p:blipFill>
          <a:blip r:embed="rId6"/>
          <a:stretch>
            <a:fillRect/>
          </a:stretch>
        </p:blipFill>
        <p:spPr>
          <a:xfrm>
            <a:off x="10215677" y="4582973"/>
            <a:ext cx="307238" cy="307238"/>
          </a:xfrm>
          <a:prstGeom prst="rect">
            <a:avLst/>
          </a:prstGeom>
        </p:spPr>
      </p:pic>
      <p:sp>
        <p:nvSpPr>
          <p:cNvPr id="31" name="text-312"/>
          <p:cNvSpPr txBox="1"/>
          <p:nvPr/>
        </p:nvSpPr>
        <p:spPr>
          <a:xfrm>
            <a:off x="548640" y="5440680"/>
            <a:ext cx="9997135" cy="685800"/>
          </a:xfrm>
          <a:prstGeom prst="rect">
            <a:avLst/>
          </a:prstGeom>
          <a:noFill/>
          <a:ln/>
        </p:spPr>
        <p:txBody>
          <a:bodyPr wrap="square" lIns="0" tIns="0" rIns="0" bIns="0" rtlCol="0" anchor="t"/>
          <a:lstStyle/>
          <a:p>
            <a:pPr indent="0" marL="0">
              <a:buNone/>
            </a:pPr>
            <a:r>
              <a:rPr lang="en-US" sz="1400" dirty="0">
                <a:solidFill>
                  <a:schemeClr val="tx2"/>
                </a:solidFill>
              </a:rPr>
              <a:t>Licensed work or school accounts: chats aren't used to train Google's models or reviewed by people. Personal accounts: chats may be read by human reviewers and kept for up to 3 years.</a:t>
            </a:r>
            <a:endParaRPr lang="en-US" sz="14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After you get output: verify</a:t>
            </a:r>
            <a:endParaRPr lang="en-US" sz="3400" dirty="0"/>
          </a:p>
        </p:txBody>
      </p:sp>
      <p:sp>
        <p:nvSpPr>
          <p:cNvPr id="3" name="text-313"/>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tx2"/>
                </a:solidFill>
              </a:rPr>
              <a:t>Prompt Engineering Essentials   ·   Part 3: Use it responsibly</a:t>
            </a:r>
            <a:endParaRPr lang="en-US" sz="1000" dirty="0"/>
          </a:p>
        </p:txBody>
      </p:sp>
      <p:sp>
        <p:nvSpPr>
          <p:cNvPr id="4" name="dot-314"/>
          <p:cNvSpPr/>
          <p:nvPr/>
        </p:nvSpPr>
        <p:spPr>
          <a:xfrm>
            <a:off x="548640" y="1554480"/>
            <a:ext cx="566928" cy="566928"/>
          </a:xfrm>
          <a:prstGeom prst="ellipse">
            <a:avLst/>
          </a:prstGeom>
          <a:solidFill>
            <a:schemeClr val="tx1"/>
          </a:solidFill>
          <a:ln/>
        </p:spPr>
      </p:sp>
      <p:pic>
        <p:nvPicPr>
          <p:cNvPr id="5" name="icon-315" descr="preencoded.png">    </p:cNvPr>
          <p:cNvPicPr>
            <a:picLocks noChangeAspect="1"/>
          </p:cNvPicPr>
          <p:nvPr/>
        </p:nvPicPr>
        <p:blipFill>
          <a:blip r:embed="rId1"/>
          <a:stretch>
            <a:fillRect/>
          </a:stretch>
        </p:blipFill>
        <p:spPr>
          <a:xfrm>
            <a:off x="673364" y="1679204"/>
            <a:ext cx="317480" cy="317480"/>
          </a:xfrm>
          <a:prstGeom prst="rect">
            <a:avLst/>
          </a:prstGeom>
        </p:spPr>
      </p:pic>
      <p:sp>
        <p:nvSpPr>
          <p:cNvPr id="6" name="text-316"/>
          <p:cNvSpPr txBox="1"/>
          <p:nvPr/>
        </p:nvSpPr>
        <p:spPr>
          <a:xfrm>
            <a:off x="1371600" y="1481328"/>
            <a:ext cx="5486400" cy="384048"/>
          </a:xfrm>
          <a:prstGeom prst="rect">
            <a:avLst/>
          </a:prstGeom>
          <a:noFill/>
          <a:ln/>
        </p:spPr>
        <p:txBody>
          <a:bodyPr wrap="square" lIns="0" tIns="0" rIns="0" bIns="0" rtlCol="0" anchor="t"/>
          <a:lstStyle/>
          <a:p>
            <a:pPr indent="0" marL="0">
              <a:buNone/>
            </a:pPr>
            <a:r>
              <a:rPr lang="en-US" sz="2000" b="1" dirty="0">
                <a:solidFill>
                  <a:schemeClr val="tx1"/>
                </a:solidFill>
              </a:rPr>
              <a:t>Accurate?</a:t>
            </a:r>
            <a:endParaRPr lang="en-US" sz="2000" dirty="0"/>
          </a:p>
        </p:txBody>
      </p:sp>
      <p:sp>
        <p:nvSpPr>
          <p:cNvPr id="7" name="text-317"/>
          <p:cNvSpPr txBox="1"/>
          <p:nvPr/>
        </p:nvSpPr>
        <p:spPr>
          <a:xfrm>
            <a:off x="1371600" y="1865376"/>
            <a:ext cx="5486400" cy="365760"/>
          </a:xfrm>
          <a:prstGeom prst="rect">
            <a:avLst/>
          </a:prstGeom>
          <a:noFill/>
          <a:ln/>
        </p:spPr>
        <p:txBody>
          <a:bodyPr wrap="square" lIns="0" tIns="0" rIns="0" bIns="0" rtlCol="0" anchor="t"/>
          <a:lstStyle/>
          <a:p>
            <a:pPr indent="0" marL="0">
              <a:buNone/>
            </a:pPr>
            <a:r>
              <a:rPr lang="en-US" sz="1600" dirty="0">
                <a:solidFill>
                  <a:schemeClr val="tx2"/>
                </a:solidFill>
              </a:rPr>
              <a:t>Facts, numbers, and dates match your source</a:t>
            </a:r>
            <a:endParaRPr lang="en-US" sz="1600" dirty="0"/>
          </a:p>
        </p:txBody>
      </p:sp>
      <p:sp>
        <p:nvSpPr>
          <p:cNvPr id="8" name="dot-318"/>
          <p:cNvSpPr/>
          <p:nvPr/>
        </p:nvSpPr>
        <p:spPr>
          <a:xfrm>
            <a:off x="548640" y="2468880"/>
            <a:ext cx="566928" cy="566928"/>
          </a:xfrm>
          <a:prstGeom prst="ellipse">
            <a:avLst/>
          </a:prstGeom>
          <a:solidFill>
            <a:schemeClr val="tx1"/>
          </a:solidFill>
          <a:ln/>
        </p:spPr>
      </p:sp>
      <p:pic>
        <p:nvPicPr>
          <p:cNvPr id="9" name="icon-319" descr="preencoded.png">    </p:cNvPr>
          <p:cNvPicPr>
            <a:picLocks noChangeAspect="1"/>
          </p:cNvPicPr>
          <p:nvPr/>
        </p:nvPicPr>
        <p:blipFill>
          <a:blip r:embed="rId2"/>
          <a:stretch>
            <a:fillRect/>
          </a:stretch>
        </p:blipFill>
        <p:spPr>
          <a:xfrm>
            <a:off x="673364" y="2593604"/>
            <a:ext cx="317480" cy="317480"/>
          </a:xfrm>
          <a:prstGeom prst="rect">
            <a:avLst/>
          </a:prstGeom>
        </p:spPr>
      </p:pic>
      <p:sp>
        <p:nvSpPr>
          <p:cNvPr id="10" name="text-320"/>
          <p:cNvSpPr txBox="1"/>
          <p:nvPr/>
        </p:nvSpPr>
        <p:spPr>
          <a:xfrm>
            <a:off x="1371600" y="2395728"/>
            <a:ext cx="5486400" cy="384048"/>
          </a:xfrm>
          <a:prstGeom prst="rect">
            <a:avLst/>
          </a:prstGeom>
          <a:noFill/>
          <a:ln/>
        </p:spPr>
        <p:txBody>
          <a:bodyPr wrap="square" lIns="0" tIns="0" rIns="0" bIns="0" rtlCol="0" anchor="t"/>
          <a:lstStyle/>
          <a:p>
            <a:pPr indent="0" marL="0">
              <a:buNone/>
            </a:pPr>
            <a:r>
              <a:rPr lang="en-US" sz="2000" b="1" dirty="0">
                <a:solidFill>
                  <a:schemeClr val="tx1"/>
                </a:solidFill>
              </a:rPr>
              <a:t>Complete?</a:t>
            </a:r>
            <a:endParaRPr lang="en-US" sz="2000" dirty="0"/>
          </a:p>
        </p:txBody>
      </p:sp>
      <p:sp>
        <p:nvSpPr>
          <p:cNvPr id="11" name="text-321"/>
          <p:cNvSpPr txBox="1"/>
          <p:nvPr/>
        </p:nvSpPr>
        <p:spPr>
          <a:xfrm>
            <a:off x="1371600" y="2779776"/>
            <a:ext cx="5486400" cy="365760"/>
          </a:xfrm>
          <a:prstGeom prst="rect">
            <a:avLst/>
          </a:prstGeom>
          <a:noFill/>
          <a:ln/>
        </p:spPr>
        <p:txBody>
          <a:bodyPr wrap="square" lIns="0" tIns="0" rIns="0" bIns="0" rtlCol="0" anchor="t"/>
          <a:lstStyle/>
          <a:p>
            <a:pPr indent="0" marL="0">
              <a:buNone/>
            </a:pPr>
            <a:r>
              <a:rPr lang="en-US" sz="1600" dirty="0">
                <a:solidFill>
                  <a:schemeClr val="tx2"/>
                </a:solidFill>
              </a:rPr>
              <a:t>Nothing important is missing</a:t>
            </a:r>
            <a:endParaRPr lang="en-US" sz="1600" dirty="0"/>
          </a:p>
        </p:txBody>
      </p:sp>
      <p:sp>
        <p:nvSpPr>
          <p:cNvPr id="12" name="dot-322"/>
          <p:cNvSpPr/>
          <p:nvPr/>
        </p:nvSpPr>
        <p:spPr>
          <a:xfrm>
            <a:off x="548640" y="3383280"/>
            <a:ext cx="566928" cy="566928"/>
          </a:xfrm>
          <a:prstGeom prst="ellipse">
            <a:avLst/>
          </a:prstGeom>
          <a:solidFill>
            <a:schemeClr val="accent1"/>
          </a:solidFill>
          <a:ln/>
        </p:spPr>
      </p:sp>
      <p:pic>
        <p:nvPicPr>
          <p:cNvPr id="13" name="icon-323" descr="preencoded.png">    </p:cNvPr>
          <p:cNvPicPr>
            <a:picLocks noChangeAspect="1"/>
          </p:cNvPicPr>
          <p:nvPr/>
        </p:nvPicPr>
        <p:blipFill>
          <a:blip r:embed="rId3"/>
          <a:stretch>
            <a:fillRect/>
          </a:stretch>
        </p:blipFill>
        <p:spPr>
          <a:xfrm>
            <a:off x="673364" y="3508004"/>
            <a:ext cx="317480" cy="317480"/>
          </a:xfrm>
          <a:prstGeom prst="rect">
            <a:avLst/>
          </a:prstGeom>
        </p:spPr>
      </p:pic>
      <p:sp>
        <p:nvSpPr>
          <p:cNvPr id="14" name="text-324"/>
          <p:cNvSpPr txBox="1"/>
          <p:nvPr/>
        </p:nvSpPr>
        <p:spPr>
          <a:xfrm>
            <a:off x="1371600" y="3310128"/>
            <a:ext cx="5486400" cy="384048"/>
          </a:xfrm>
          <a:prstGeom prst="rect">
            <a:avLst/>
          </a:prstGeom>
          <a:noFill/>
          <a:ln/>
        </p:spPr>
        <p:txBody>
          <a:bodyPr wrap="square" lIns="0" tIns="0" rIns="0" bIns="0" rtlCol="0" anchor="t"/>
          <a:lstStyle/>
          <a:p>
            <a:pPr indent="0" marL="0">
              <a:buNone/>
            </a:pPr>
            <a:r>
              <a:rPr lang="en-US" sz="2000" b="1" dirty="0">
                <a:solidFill>
                  <a:schemeClr val="tx1"/>
                </a:solidFill>
              </a:rPr>
              <a:t>Invented?</a:t>
            </a:r>
            <a:endParaRPr lang="en-US" sz="2000" dirty="0"/>
          </a:p>
        </p:txBody>
      </p:sp>
      <p:sp>
        <p:nvSpPr>
          <p:cNvPr id="15" name="text-325"/>
          <p:cNvSpPr txBox="1"/>
          <p:nvPr/>
        </p:nvSpPr>
        <p:spPr>
          <a:xfrm>
            <a:off x="1371600" y="3694176"/>
            <a:ext cx="5486400" cy="365760"/>
          </a:xfrm>
          <a:prstGeom prst="rect">
            <a:avLst/>
          </a:prstGeom>
          <a:noFill/>
          <a:ln/>
        </p:spPr>
        <p:txBody>
          <a:bodyPr wrap="square" lIns="0" tIns="0" rIns="0" bIns="0" rtlCol="0" anchor="t"/>
          <a:lstStyle/>
          <a:p>
            <a:pPr indent="0" marL="0">
              <a:buNone/>
            </a:pPr>
            <a:r>
              <a:rPr lang="en-US" sz="1600" dirty="0">
                <a:solidFill>
                  <a:schemeClr val="tx2"/>
                </a:solidFill>
              </a:rPr>
              <a:t>No names, policies, or quotes you didn't provide</a:t>
            </a:r>
            <a:endParaRPr lang="en-US" sz="1600" dirty="0"/>
          </a:p>
        </p:txBody>
      </p:sp>
      <p:sp>
        <p:nvSpPr>
          <p:cNvPr id="16" name="dot-326"/>
          <p:cNvSpPr/>
          <p:nvPr/>
        </p:nvSpPr>
        <p:spPr>
          <a:xfrm>
            <a:off x="548640" y="4297680"/>
            <a:ext cx="566928" cy="566928"/>
          </a:xfrm>
          <a:prstGeom prst="ellipse">
            <a:avLst/>
          </a:prstGeom>
          <a:solidFill>
            <a:schemeClr val="tx1"/>
          </a:solidFill>
          <a:ln/>
        </p:spPr>
      </p:sp>
      <p:pic>
        <p:nvPicPr>
          <p:cNvPr id="17" name="icon-327" descr="preencoded.png">    </p:cNvPr>
          <p:cNvPicPr>
            <a:picLocks noChangeAspect="1"/>
          </p:cNvPicPr>
          <p:nvPr/>
        </p:nvPicPr>
        <p:blipFill>
          <a:blip r:embed="rId4"/>
          <a:stretch>
            <a:fillRect/>
          </a:stretch>
        </p:blipFill>
        <p:spPr>
          <a:xfrm>
            <a:off x="673364" y="4422404"/>
            <a:ext cx="317480" cy="317480"/>
          </a:xfrm>
          <a:prstGeom prst="rect">
            <a:avLst/>
          </a:prstGeom>
        </p:spPr>
      </p:pic>
      <p:sp>
        <p:nvSpPr>
          <p:cNvPr id="18" name="text-328"/>
          <p:cNvSpPr txBox="1"/>
          <p:nvPr/>
        </p:nvSpPr>
        <p:spPr>
          <a:xfrm>
            <a:off x="1371600" y="4224528"/>
            <a:ext cx="5486400" cy="384048"/>
          </a:xfrm>
          <a:prstGeom prst="rect">
            <a:avLst/>
          </a:prstGeom>
          <a:noFill/>
          <a:ln/>
        </p:spPr>
        <p:txBody>
          <a:bodyPr wrap="square" lIns="0" tIns="0" rIns="0" bIns="0" rtlCol="0" anchor="t"/>
          <a:lstStyle/>
          <a:p>
            <a:pPr indent="0" marL="0">
              <a:buNone/>
            </a:pPr>
            <a:r>
              <a:rPr lang="en-US" sz="2000" b="1" dirty="0">
                <a:solidFill>
                  <a:schemeClr val="tx1"/>
                </a:solidFill>
              </a:rPr>
              <a:t>Fair and appropriate?</a:t>
            </a:r>
            <a:endParaRPr lang="en-US" sz="2000" dirty="0"/>
          </a:p>
        </p:txBody>
      </p:sp>
      <p:sp>
        <p:nvSpPr>
          <p:cNvPr id="19" name="text-329"/>
          <p:cNvSpPr txBox="1"/>
          <p:nvPr/>
        </p:nvSpPr>
        <p:spPr>
          <a:xfrm>
            <a:off x="1371600" y="4608576"/>
            <a:ext cx="5486400" cy="365760"/>
          </a:xfrm>
          <a:prstGeom prst="rect">
            <a:avLst/>
          </a:prstGeom>
          <a:noFill/>
          <a:ln/>
        </p:spPr>
        <p:txBody>
          <a:bodyPr wrap="square" lIns="0" tIns="0" rIns="0" bIns="0" rtlCol="0" anchor="t"/>
          <a:lstStyle/>
          <a:p>
            <a:pPr indent="0" marL="0">
              <a:buNone/>
            </a:pPr>
            <a:r>
              <a:rPr lang="en-US" sz="1600" dirty="0">
                <a:solidFill>
                  <a:schemeClr val="tx2"/>
                </a:solidFill>
              </a:rPr>
              <a:t>Tone and bias. Would you sign it?</a:t>
            </a:r>
            <a:endParaRPr lang="en-US" sz="1600" dirty="0"/>
          </a:p>
        </p:txBody>
      </p:sp>
      <p:sp>
        <p:nvSpPr>
          <p:cNvPr id="20" name="dot-330"/>
          <p:cNvSpPr/>
          <p:nvPr/>
        </p:nvSpPr>
        <p:spPr>
          <a:xfrm>
            <a:off x="548640" y="5212080"/>
            <a:ext cx="566928" cy="566928"/>
          </a:xfrm>
          <a:prstGeom prst="ellipse">
            <a:avLst/>
          </a:prstGeom>
          <a:solidFill>
            <a:schemeClr val="tx1"/>
          </a:solidFill>
          <a:ln/>
        </p:spPr>
      </p:sp>
      <p:pic>
        <p:nvPicPr>
          <p:cNvPr id="21" name="icon-331" descr="preencoded.png">    </p:cNvPr>
          <p:cNvPicPr>
            <a:picLocks noChangeAspect="1"/>
          </p:cNvPicPr>
          <p:nvPr/>
        </p:nvPicPr>
        <p:blipFill>
          <a:blip r:embed="rId5"/>
          <a:stretch>
            <a:fillRect/>
          </a:stretch>
        </p:blipFill>
        <p:spPr>
          <a:xfrm>
            <a:off x="673364" y="5336804"/>
            <a:ext cx="317480" cy="317480"/>
          </a:xfrm>
          <a:prstGeom prst="rect">
            <a:avLst/>
          </a:prstGeom>
        </p:spPr>
      </p:pic>
      <p:sp>
        <p:nvSpPr>
          <p:cNvPr id="22" name="text-332"/>
          <p:cNvSpPr txBox="1"/>
          <p:nvPr/>
        </p:nvSpPr>
        <p:spPr>
          <a:xfrm>
            <a:off x="1371600" y="5138928"/>
            <a:ext cx="5486400" cy="384048"/>
          </a:xfrm>
          <a:prstGeom prst="rect">
            <a:avLst/>
          </a:prstGeom>
          <a:noFill/>
          <a:ln/>
        </p:spPr>
        <p:txBody>
          <a:bodyPr wrap="square" lIns="0" tIns="0" rIns="0" bIns="0" rtlCol="0" anchor="t"/>
          <a:lstStyle/>
          <a:p>
            <a:pPr indent="0" marL="0">
              <a:buNone/>
            </a:pPr>
            <a:r>
              <a:rPr lang="en-US" sz="2000" b="1" dirty="0">
                <a:solidFill>
                  <a:schemeClr val="tx1"/>
                </a:solidFill>
              </a:rPr>
              <a:t>Fit for purpose?</a:t>
            </a:r>
            <a:endParaRPr lang="en-US" sz="2000" dirty="0"/>
          </a:p>
        </p:txBody>
      </p:sp>
      <p:sp>
        <p:nvSpPr>
          <p:cNvPr id="23" name="text-333"/>
          <p:cNvSpPr txBox="1"/>
          <p:nvPr/>
        </p:nvSpPr>
        <p:spPr>
          <a:xfrm>
            <a:off x="1371600" y="5522976"/>
            <a:ext cx="5486400" cy="365760"/>
          </a:xfrm>
          <a:prstGeom prst="rect">
            <a:avLst/>
          </a:prstGeom>
          <a:noFill/>
          <a:ln/>
        </p:spPr>
        <p:txBody>
          <a:bodyPr wrap="square" lIns="0" tIns="0" rIns="0" bIns="0" rtlCol="0" anchor="t"/>
          <a:lstStyle/>
          <a:p>
            <a:pPr indent="0" marL="0">
              <a:buNone/>
            </a:pPr>
            <a:r>
              <a:rPr lang="en-US" sz="1600" dirty="0">
                <a:solidFill>
                  <a:schemeClr val="tx2"/>
                </a:solidFill>
              </a:rPr>
              <a:t>Right for this audience and this job</a:t>
            </a:r>
            <a:endParaRPr lang="en-US" sz="1600" dirty="0"/>
          </a:p>
        </p:txBody>
      </p:sp>
      <p:sp>
        <p:nvSpPr>
          <p:cNvPr id="24" name="card-334"/>
          <p:cNvSpPr/>
          <p:nvPr/>
        </p:nvSpPr>
        <p:spPr>
          <a:xfrm>
            <a:off x="7315200" y="1463040"/>
            <a:ext cx="4325112" cy="4572000"/>
          </a:xfrm>
          <a:prstGeom prst="roundRect">
            <a:avLst>
              <a:gd name="adj" fmla="val 2537"/>
            </a:avLst>
          </a:prstGeom>
          <a:solidFill>
            <a:schemeClr val="tx1"/>
          </a:solidFill>
          <a:ln/>
        </p:spPr>
      </p:sp>
      <p:sp>
        <p:nvSpPr>
          <p:cNvPr id="25" name="text-335"/>
          <p:cNvSpPr txBox="1"/>
          <p:nvPr/>
        </p:nvSpPr>
        <p:spPr>
          <a:xfrm>
            <a:off x="7680960" y="1828800"/>
            <a:ext cx="3657600" cy="1463040"/>
          </a:xfrm>
          <a:prstGeom prst="rect">
            <a:avLst/>
          </a:prstGeom>
          <a:noFill/>
          <a:ln/>
        </p:spPr>
        <p:txBody>
          <a:bodyPr wrap="square" lIns="0" tIns="0" rIns="0" bIns="0" rtlCol="0" anchor="t"/>
          <a:lstStyle/>
          <a:p>
            <a:pPr indent="0" marL="0">
              <a:buNone/>
            </a:pPr>
            <a:r>
              <a:rPr lang="en-US" sz="3000" b="1" dirty="0">
                <a:solidFill>
                  <a:schemeClr val="bg1"/>
                </a:solidFill>
              </a:rPr>
              <a:t>You're the editor, not the audience.</a:t>
            </a:r>
            <a:endParaRPr lang="en-US" sz="3000" dirty="0"/>
          </a:p>
        </p:txBody>
      </p:sp>
      <p:sp>
        <p:nvSpPr>
          <p:cNvPr id="26" name="text-336"/>
          <p:cNvSpPr txBox="1"/>
          <p:nvPr/>
        </p:nvSpPr>
        <p:spPr>
          <a:xfrm>
            <a:off x="7680960" y="3566160"/>
            <a:ext cx="3657600" cy="2011680"/>
          </a:xfrm>
          <a:prstGeom prst="rect">
            <a:avLst/>
          </a:prstGeom>
          <a:noFill/>
          <a:ln/>
        </p:spPr>
        <p:txBody>
          <a:bodyPr wrap="square" lIns="0" tIns="0" rIns="0" bIns="0" rtlCol="0" anchor="t"/>
          <a:lstStyle/>
          <a:p>
            <a:pPr indent="0" marL="0">
              <a:buNone/>
            </a:pPr>
            <a:r>
              <a:rPr lang="en-US" sz="1800" b="1" dirty="0">
                <a:solidFill>
                  <a:schemeClr val="bg1"/>
                </a:solidFill>
              </a:rPr>
              <a:t>In Gemini: </a:t>
            </a:r>
            <a:pPr indent="0" marL="0">
              <a:buNone/>
            </a:pPr>
            <a:r>
              <a:rPr lang="en-US" sz="1800" dirty="0">
                <a:solidFill>
                  <a:schemeClr val="accent3"/>
                </a:solidFill>
              </a:rPr>
              <a:t>when an answer has a Sources button, open the links and check they really say what Gemini claims.</a:t>
            </a:r>
            <a:endParaRPr lang="en-US" sz="18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The case: Prairie Point's hybrid work pilot</a:t>
            </a:r>
            <a:endParaRPr lang="en-US" sz="3400" dirty="0"/>
          </a:p>
        </p:txBody>
      </p:sp>
      <p:sp>
        <p:nvSpPr>
          <p:cNvPr id="3" name="text-337"/>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tx2"/>
                </a:solidFill>
              </a:rPr>
              <a:t>Prompt Engineering Essentials   ·   Part 3: Use it responsibly</a:t>
            </a:r>
            <a:endParaRPr lang="en-US" sz="1000" dirty="0"/>
          </a:p>
        </p:txBody>
      </p:sp>
      <p:sp>
        <p:nvSpPr>
          <p:cNvPr id="4" name="text-338"/>
          <p:cNvSpPr txBox="1"/>
          <p:nvPr/>
        </p:nvSpPr>
        <p:spPr>
          <a:xfrm>
            <a:off x="548640" y="1417320"/>
            <a:ext cx="4572000" cy="274320"/>
          </a:xfrm>
          <a:prstGeom prst="rect">
            <a:avLst/>
          </a:prstGeom>
          <a:noFill/>
          <a:ln/>
        </p:spPr>
        <p:txBody>
          <a:bodyPr wrap="square" lIns="0" tIns="0" rIns="0" bIns="0" rtlCol="0" anchor="t"/>
          <a:lstStyle/>
          <a:p>
            <a:pPr indent="0" marL="0">
              <a:buNone/>
            </a:pPr>
            <a:r>
              <a:rPr lang="en-US" sz="1300" b="1" spc="200" kern="0" dirty="0">
                <a:solidFill>
                  <a:schemeClr val="tx2"/>
                </a:solidFill>
              </a:rPr>
              <a:t>YOU HAVE</a:t>
            </a:r>
            <a:endParaRPr lang="en-US" sz="1300" dirty="0"/>
          </a:p>
        </p:txBody>
      </p:sp>
      <p:sp>
        <p:nvSpPr>
          <p:cNvPr id="5" name="text-339"/>
          <p:cNvSpPr txBox="1"/>
          <p:nvPr/>
        </p:nvSpPr>
        <p:spPr>
          <a:xfrm>
            <a:off x="6537960" y="1417320"/>
            <a:ext cx="45720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YOU PRODUCE</a:t>
            </a:r>
            <a:endParaRPr lang="en-US" sz="1300" dirty="0"/>
          </a:p>
        </p:txBody>
      </p:sp>
      <p:sp>
        <p:nvSpPr>
          <p:cNvPr id="6" name="card-340"/>
          <p:cNvSpPr/>
          <p:nvPr/>
        </p:nvSpPr>
        <p:spPr>
          <a:xfrm>
            <a:off x="548640" y="1783080"/>
            <a:ext cx="5257800" cy="1234440"/>
          </a:xfrm>
          <a:prstGeom prst="roundRect">
            <a:avLst>
              <a:gd name="adj" fmla="val 8889"/>
            </a:avLst>
          </a:prstGeom>
          <a:solidFill>
            <a:schemeClr val="bg2"/>
          </a:solidFill>
          <a:ln/>
        </p:spPr>
      </p:sp>
      <p:pic>
        <p:nvPicPr>
          <p:cNvPr id="7" name="icon-341" descr="preencoded.png">    </p:cNvPr>
          <p:cNvPicPr>
            <a:picLocks noChangeAspect="1"/>
          </p:cNvPicPr>
          <p:nvPr/>
        </p:nvPicPr>
        <p:blipFill>
          <a:blip r:embed="rId1"/>
          <a:stretch>
            <a:fillRect/>
          </a:stretch>
        </p:blipFill>
        <p:spPr>
          <a:xfrm>
            <a:off x="822960" y="2167128"/>
            <a:ext cx="457200" cy="457200"/>
          </a:xfrm>
          <a:prstGeom prst="rect">
            <a:avLst/>
          </a:prstGeom>
        </p:spPr>
      </p:pic>
      <p:sp>
        <p:nvSpPr>
          <p:cNvPr id="8" name="text-342"/>
          <p:cNvSpPr txBox="1"/>
          <p:nvPr/>
        </p:nvSpPr>
        <p:spPr>
          <a:xfrm>
            <a:off x="1508760" y="1947672"/>
            <a:ext cx="4114800" cy="411480"/>
          </a:xfrm>
          <a:prstGeom prst="rect">
            <a:avLst/>
          </a:prstGeom>
          <a:noFill/>
          <a:ln/>
        </p:spPr>
        <p:txBody>
          <a:bodyPr wrap="square" lIns="0" tIns="0" rIns="0" bIns="0" rtlCol="0" anchor="t"/>
          <a:lstStyle/>
          <a:p>
            <a:pPr indent="0" marL="0">
              <a:buNone/>
            </a:pPr>
            <a:r>
              <a:rPr lang="en-US" sz="1900" b="1" dirty="0">
                <a:solidFill>
                  <a:schemeClr val="tx1"/>
                </a:solidFill>
              </a:rPr>
              <a:t>Draft pilot policy</a:t>
            </a:r>
            <a:endParaRPr lang="en-US" sz="1900" dirty="0"/>
          </a:p>
        </p:txBody>
      </p:sp>
      <p:sp>
        <p:nvSpPr>
          <p:cNvPr id="9" name="text-343"/>
          <p:cNvSpPr txBox="1"/>
          <p:nvPr/>
        </p:nvSpPr>
        <p:spPr>
          <a:xfrm>
            <a:off x="1508760" y="2359152"/>
            <a:ext cx="4114800" cy="594360"/>
          </a:xfrm>
          <a:prstGeom prst="rect">
            <a:avLst/>
          </a:prstGeom>
          <a:noFill/>
          <a:ln/>
        </p:spPr>
        <p:txBody>
          <a:bodyPr wrap="square" lIns="0" tIns="0" rIns="0" bIns="0" rtlCol="0" anchor="t"/>
          <a:lstStyle/>
          <a:p>
            <a:pPr indent="0" marL="0">
              <a:buNone/>
            </a:pPr>
            <a:r>
              <a:rPr lang="en-US" sz="1500" dirty="0">
                <a:solidFill>
                  <a:schemeClr val="tx2"/>
                </a:solidFill>
              </a:rPr>
              <a:t>Who's eligible, core days, approval, equipment, 90 days</a:t>
            </a:r>
            <a:endParaRPr lang="en-US" sz="1500" dirty="0"/>
          </a:p>
        </p:txBody>
      </p:sp>
      <p:sp>
        <p:nvSpPr>
          <p:cNvPr id="10" name="card-344"/>
          <p:cNvSpPr/>
          <p:nvPr/>
        </p:nvSpPr>
        <p:spPr>
          <a:xfrm>
            <a:off x="6537960" y="1783080"/>
            <a:ext cx="5102352" cy="1234440"/>
          </a:xfrm>
          <a:prstGeom prst="roundRect">
            <a:avLst>
              <a:gd name="adj" fmla="val 8889"/>
            </a:avLst>
          </a:prstGeom>
          <a:solidFill>
            <a:schemeClr val="tx1"/>
          </a:solidFill>
          <a:ln/>
        </p:spPr>
      </p:sp>
      <p:sp>
        <p:nvSpPr>
          <p:cNvPr id="11" name="text-345"/>
          <p:cNvSpPr txBox="1"/>
          <p:nvPr/>
        </p:nvSpPr>
        <p:spPr>
          <a:xfrm>
            <a:off x="6812280" y="1783080"/>
            <a:ext cx="411480" cy="1234440"/>
          </a:xfrm>
          <a:prstGeom prst="rect">
            <a:avLst/>
          </a:prstGeom>
          <a:noFill/>
          <a:ln/>
        </p:spPr>
        <p:txBody>
          <a:bodyPr wrap="square" lIns="0" tIns="0" rIns="0" bIns="0" rtlCol="0" anchor="ctr"/>
          <a:lstStyle/>
          <a:p>
            <a:pPr indent="0" marL="0">
              <a:buNone/>
            </a:pPr>
            <a:r>
              <a:rPr lang="en-US" sz="3000" b="1" dirty="0">
                <a:solidFill>
                  <a:schemeClr val="accent1"/>
                </a:solidFill>
              </a:rPr>
              <a:t>1</a:t>
            </a:r>
            <a:endParaRPr lang="en-US" sz="3000" dirty="0"/>
          </a:p>
        </p:txBody>
      </p:sp>
      <p:sp>
        <p:nvSpPr>
          <p:cNvPr id="12" name="text-346"/>
          <p:cNvSpPr txBox="1"/>
          <p:nvPr/>
        </p:nvSpPr>
        <p:spPr>
          <a:xfrm>
            <a:off x="7360920" y="1947672"/>
            <a:ext cx="4114800" cy="411480"/>
          </a:xfrm>
          <a:prstGeom prst="rect">
            <a:avLst/>
          </a:prstGeom>
          <a:noFill/>
          <a:ln/>
        </p:spPr>
        <p:txBody>
          <a:bodyPr wrap="square" lIns="0" tIns="0" rIns="0" bIns="0" rtlCol="0" anchor="t"/>
          <a:lstStyle/>
          <a:p>
            <a:pPr indent="0" marL="0">
              <a:buNone/>
            </a:pPr>
            <a:r>
              <a:rPr lang="en-US" sz="1900" b="1" dirty="0">
                <a:solidFill>
                  <a:schemeClr val="bg1"/>
                </a:solidFill>
              </a:rPr>
              <a:t>Staff FAQ</a:t>
            </a:r>
            <a:endParaRPr lang="en-US" sz="1900" dirty="0"/>
          </a:p>
        </p:txBody>
      </p:sp>
      <p:sp>
        <p:nvSpPr>
          <p:cNvPr id="13" name="text-347"/>
          <p:cNvSpPr txBox="1"/>
          <p:nvPr/>
        </p:nvSpPr>
        <p:spPr>
          <a:xfrm>
            <a:off x="7360920" y="2359152"/>
            <a:ext cx="4114800" cy="594360"/>
          </a:xfrm>
          <a:prstGeom prst="rect">
            <a:avLst/>
          </a:prstGeom>
          <a:noFill/>
          <a:ln/>
        </p:spPr>
        <p:txBody>
          <a:bodyPr wrap="square" lIns="0" tIns="0" rIns="0" bIns="0" rtlCol="0" anchor="t"/>
          <a:lstStyle/>
          <a:p>
            <a:pPr indent="0" marL="0">
              <a:buNone/>
            </a:pPr>
            <a:r>
              <a:rPr lang="en-US" sz="1500" dirty="0">
                <a:solidFill>
                  <a:schemeClr val="accent3"/>
                </a:solidFill>
              </a:rPr>
              <a:t>All six questions, using only the policy. Unknowns marked “To confirm with HR”.</a:t>
            </a:r>
            <a:endParaRPr lang="en-US" sz="1500" dirty="0"/>
          </a:p>
        </p:txBody>
      </p:sp>
      <p:sp>
        <p:nvSpPr>
          <p:cNvPr id="14" name="card-348"/>
          <p:cNvSpPr/>
          <p:nvPr/>
        </p:nvSpPr>
        <p:spPr>
          <a:xfrm>
            <a:off x="548640" y="3200400"/>
            <a:ext cx="5257800" cy="1234440"/>
          </a:xfrm>
          <a:prstGeom prst="roundRect">
            <a:avLst>
              <a:gd name="adj" fmla="val 8889"/>
            </a:avLst>
          </a:prstGeom>
          <a:solidFill>
            <a:schemeClr val="bg2"/>
          </a:solidFill>
          <a:ln/>
        </p:spPr>
      </p:sp>
      <p:pic>
        <p:nvPicPr>
          <p:cNvPr id="15" name="icon-349" descr="preencoded.png">    </p:cNvPr>
          <p:cNvPicPr>
            <a:picLocks noChangeAspect="1"/>
          </p:cNvPicPr>
          <p:nvPr/>
        </p:nvPicPr>
        <p:blipFill>
          <a:blip r:embed="rId2"/>
          <a:stretch>
            <a:fillRect/>
          </a:stretch>
        </p:blipFill>
        <p:spPr>
          <a:xfrm>
            <a:off x="822960" y="3584448"/>
            <a:ext cx="457200" cy="457200"/>
          </a:xfrm>
          <a:prstGeom prst="rect">
            <a:avLst/>
          </a:prstGeom>
        </p:spPr>
      </p:pic>
      <p:sp>
        <p:nvSpPr>
          <p:cNvPr id="16" name="text-350"/>
          <p:cNvSpPr txBox="1"/>
          <p:nvPr/>
        </p:nvSpPr>
        <p:spPr>
          <a:xfrm>
            <a:off x="1508760" y="3364992"/>
            <a:ext cx="4114800" cy="411480"/>
          </a:xfrm>
          <a:prstGeom prst="rect">
            <a:avLst/>
          </a:prstGeom>
          <a:noFill/>
          <a:ln/>
        </p:spPr>
        <p:txBody>
          <a:bodyPr wrap="square" lIns="0" tIns="0" rIns="0" bIns="0" rtlCol="0" anchor="t"/>
          <a:lstStyle/>
          <a:p>
            <a:pPr indent="0" marL="0">
              <a:buNone/>
            </a:pPr>
            <a:r>
              <a:rPr lang="en-US" sz="1900" b="1" dirty="0">
                <a:solidFill>
                  <a:schemeClr val="tx1"/>
                </a:solidFill>
              </a:rPr>
              <a:t>Email from a manager</a:t>
            </a:r>
            <a:endParaRPr lang="en-US" sz="1900" dirty="0"/>
          </a:p>
        </p:txBody>
      </p:sp>
      <p:sp>
        <p:nvSpPr>
          <p:cNvPr id="17" name="text-351"/>
          <p:cNvSpPr txBox="1"/>
          <p:nvPr/>
        </p:nvSpPr>
        <p:spPr>
          <a:xfrm>
            <a:off x="1508760" y="3776472"/>
            <a:ext cx="4114800" cy="594360"/>
          </a:xfrm>
          <a:prstGeom prst="rect">
            <a:avLst/>
          </a:prstGeom>
          <a:noFill/>
          <a:ln/>
        </p:spPr>
        <p:txBody>
          <a:bodyPr wrap="square" lIns="0" tIns="0" rIns="0" bIns="0" rtlCol="0" anchor="t"/>
          <a:lstStyle/>
          <a:p>
            <a:pPr indent="0" marL="0">
              <a:buNone/>
            </a:pPr>
            <a:r>
              <a:rPr lang="en-US" sz="1500" dirty="0">
                <a:solidFill>
                  <a:schemeClr val="tx2"/>
                </a:solidFill>
              </a:rPr>
              <a:t>Two real concerns, plus details that shouldn't go into Gemini</a:t>
            </a:r>
            <a:endParaRPr lang="en-US" sz="1500" dirty="0"/>
          </a:p>
        </p:txBody>
      </p:sp>
      <p:sp>
        <p:nvSpPr>
          <p:cNvPr id="18" name="card-352"/>
          <p:cNvSpPr/>
          <p:nvPr/>
        </p:nvSpPr>
        <p:spPr>
          <a:xfrm>
            <a:off x="6537960" y="3200400"/>
            <a:ext cx="5102352" cy="1234440"/>
          </a:xfrm>
          <a:prstGeom prst="roundRect">
            <a:avLst>
              <a:gd name="adj" fmla="val 8889"/>
            </a:avLst>
          </a:prstGeom>
          <a:solidFill>
            <a:schemeClr val="tx1"/>
          </a:solidFill>
          <a:ln/>
        </p:spPr>
      </p:sp>
      <p:sp>
        <p:nvSpPr>
          <p:cNvPr id="19" name="text-353"/>
          <p:cNvSpPr txBox="1"/>
          <p:nvPr/>
        </p:nvSpPr>
        <p:spPr>
          <a:xfrm>
            <a:off x="6812280" y="3200400"/>
            <a:ext cx="411480" cy="1234440"/>
          </a:xfrm>
          <a:prstGeom prst="rect">
            <a:avLst/>
          </a:prstGeom>
          <a:noFill/>
          <a:ln/>
        </p:spPr>
        <p:txBody>
          <a:bodyPr wrap="square" lIns="0" tIns="0" rIns="0" bIns="0" rtlCol="0" anchor="ctr"/>
          <a:lstStyle/>
          <a:p>
            <a:pPr indent="0" marL="0">
              <a:buNone/>
            </a:pPr>
            <a:r>
              <a:rPr lang="en-US" sz="3000" b="1" dirty="0">
                <a:solidFill>
                  <a:schemeClr val="accent1"/>
                </a:solidFill>
              </a:rPr>
              <a:t>2</a:t>
            </a:r>
            <a:endParaRPr lang="en-US" sz="3000" dirty="0"/>
          </a:p>
        </p:txBody>
      </p:sp>
      <p:sp>
        <p:nvSpPr>
          <p:cNvPr id="20" name="text-354"/>
          <p:cNvSpPr txBox="1"/>
          <p:nvPr/>
        </p:nvSpPr>
        <p:spPr>
          <a:xfrm>
            <a:off x="7360920" y="3364992"/>
            <a:ext cx="4114800" cy="411480"/>
          </a:xfrm>
          <a:prstGeom prst="rect">
            <a:avLst/>
          </a:prstGeom>
          <a:noFill/>
          <a:ln/>
        </p:spPr>
        <p:txBody>
          <a:bodyPr wrap="square" lIns="0" tIns="0" rIns="0" bIns="0" rtlCol="0" anchor="t"/>
          <a:lstStyle/>
          <a:p>
            <a:pPr indent="0" marL="0">
              <a:buNone/>
            </a:pPr>
            <a:r>
              <a:rPr lang="en-US" sz="1900" b="1" dirty="0">
                <a:solidFill>
                  <a:schemeClr val="bg1"/>
                </a:solidFill>
              </a:rPr>
              <a:t>Manager talking points</a:t>
            </a:r>
            <a:endParaRPr lang="en-US" sz="1900" dirty="0"/>
          </a:p>
        </p:txBody>
      </p:sp>
      <p:sp>
        <p:nvSpPr>
          <p:cNvPr id="21" name="text-355"/>
          <p:cNvSpPr txBox="1"/>
          <p:nvPr/>
        </p:nvSpPr>
        <p:spPr>
          <a:xfrm>
            <a:off x="7360920" y="3776472"/>
            <a:ext cx="4114800" cy="594360"/>
          </a:xfrm>
          <a:prstGeom prst="rect">
            <a:avLst/>
          </a:prstGeom>
          <a:noFill/>
          <a:ln/>
        </p:spPr>
        <p:txBody>
          <a:bodyPr wrap="square" lIns="0" tIns="0" rIns="0" bIns="0" rtlCol="0" anchor="t"/>
          <a:lstStyle/>
          <a:p>
            <a:pPr indent="0" marL="0">
              <a:buNone/>
            </a:pPr>
            <a:r>
              <a:rPr lang="en-US" sz="1500" dirty="0">
                <a:solidFill>
                  <a:schemeClr val="accent3"/>
                </a:solidFill>
              </a:rPr>
              <a:t>Eight bullets at most. No names.</a:t>
            </a:r>
            <a:endParaRPr lang="en-US" sz="1500" dirty="0"/>
          </a:p>
        </p:txBody>
      </p:sp>
      <p:sp>
        <p:nvSpPr>
          <p:cNvPr id="22" name="card-356"/>
          <p:cNvSpPr/>
          <p:nvPr/>
        </p:nvSpPr>
        <p:spPr>
          <a:xfrm>
            <a:off x="548640" y="4617720"/>
            <a:ext cx="5257800" cy="1234440"/>
          </a:xfrm>
          <a:prstGeom prst="roundRect">
            <a:avLst>
              <a:gd name="adj" fmla="val 8889"/>
            </a:avLst>
          </a:prstGeom>
          <a:solidFill>
            <a:schemeClr val="bg2"/>
          </a:solidFill>
          <a:ln/>
        </p:spPr>
      </p:sp>
      <p:pic>
        <p:nvPicPr>
          <p:cNvPr id="23" name="icon-357" descr="preencoded.png">    </p:cNvPr>
          <p:cNvPicPr>
            <a:picLocks noChangeAspect="1"/>
          </p:cNvPicPr>
          <p:nvPr/>
        </p:nvPicPr>
        <p:blipFill>
          <a:blip r:embed="rId3"/>
          <a:stretch>
            <a:fillRect/>
          </a:stretch>
        </p:blipFill>
        <p:spPr>
          <a:xfrm>
            <a:off x="822960" y="5001768"/>
            <a:ext cx="457200" cy="457200"/>
          </a:xfrm>
          <a:prstGeom prst="rect">
            <a:avLst/>
          </a:prstGeom>
        </p:spPr>
      </p:pic>
      <p:sp>
        <p:nvSpPr>
          <p:cNvPr id="24" name="text-358"/>
          <p:cNvSpPr txBox="1"/>
          <p:nvPr/>
        </p:nvSpPr>
        <p:spPr>
          <a:xfrm>
            <a:off x="1508760" y="4782312"/>
            <a:ext cx="4114800" cy="411480"/>
          </a:xfrm>
          <a:prstGeom prst="rect">
            <a:avLst/>
          </a:prstGeom>
          <a:noFill/>
          <a:ln/>
        </p:spPr>
        <p:txBody>
          <a:bodyPr wrap="square" lIns="0" tIns="0" rIns="0" bIns="0" rtlCol="0" anchor="t"/>
          <a:lstStyle/>
          <a:p>
            <a:pPr indent="0" marL="0">
              <a:buNone/>
            </a:pPr>
            <a:r>
              <a:rPr lang="en-US" sz="1900" b="1" dirty="0">
                <a:solidFill>
                  <a:schemeClr val="tx1"/>
                </a:solidFill>
              </a:rPr>
              <a:t>Six town-hall questions</a:t>
            </a:r>
            <a:endParaRPr lang="en-US" sz="1900" dirty="0"/>
          </a:p>
        </p:txBody>
      </p:sp>
      <p:sp>
        <p:nvSpPr>
          <p:cNvPr id="25" name="text-359"/>
          <p:cNvSpPr txBox="1"/>
          <p:nvPr/>
        </p:nvSpPr>
        <p:spPr>
          <a:xfrm>
            <a:off x="1508760" y="5193792"/>
            <a:ext cx="4114800" cy="594360"/>
          </a:xfrm>
          <a:prstGeom prst="rect">
            <a:avLst/>
          </a:prstGeom>
          <a:noFill/>
          <a:ln/>
        </p:spPr>
        <p:txBody>
          <a:bodyPr wrap="square" lIns="0" tIns="0" rIns="0" bIns="0" rtlCol="0" anchor="t"/>
          <a:lstStyle/>
          <a:p>
            <a:pPr indent="0" marL="0">
              <a:buNone/>
            </a:pPr>
            <a:r>
              <a:rPr lang="en-US" sz="1500" dirty="0">
                <a:solidFill>
                  <a:schemeClr val="tx2"/>
                </a:solidFill>
              </a:rPr>
              <a:t>Three of them the policy doesn't answer</a:t>
            </a:r>
            <a:endParaRPr lang="en-US" sz="1500" dirty="0"/>
          </a:p>
        </p:txBody>
      </p:sp>
      <p:sp>
        <p:nvSpPr>
          <p:cNvPr id="26" name="card-360"/>
          <p:cNvSpPr/>
          <p:nvPr/>
        </p:nvSpPr>
        <p:spPr>
          <a:xfrm>
            <a:off x="6537960" y="4617720"/>
            <a:ext cx="5102352" cy="1234440"/>
          </a:xfrm>
          <a:prstGeom prst="roundRect">
            <a:avLst>
              <a:gd name="adj" fmla="val 8889"/>
            </a:avLst>
          </a:prstGeom>
          <a:solidFill>
            <a:schemeClr val="tx1"/>
          </a:solidFill>
          <a:ln/>
        </p:spPr>
      </p:sp>
      <p:sp>
        <p:nvSpPr>
          <p:cNvPr id="27" name="text-361"/>
          <p:cNvSpPr txBox="1"/>
          <p:nvPr/>
        </p:nvSpPr>
        <p:spPr>
          <a:xfrm>
            <a:off x="6812280" y="4617720"/>
            <a:ext cx="411480" cy="1234440"/>
          </a:xfrm>
          <a:prstGeom prst="rect">
            <a:avLst/>
          </a:prstGeom>
          <a:noFill/>
          <a:ln/>
        </p:spPr>
        <p:txBody>
          <a:bodyPr wrap="square" lIns="0" tIns="0" rIns="0" bIns="0" rtlCol="0" anchor="ctr"/>
          <a:lstStyle/>
          <a:p>
            <a:pPr indent="0" marL="0">
              <a:buNone/>
            </a:pPr>
            <a:r>
              <a:rPr lang="en-US" sz="3000" b="1" dirty="0">
                <a:solidFill>
                  <a:schemeClr val="accent1"/>
                </a:solidFill>
              </a:rPr>
              <a:t>3</a:t>
            </a:r>
            <a:endParaRPr lang="en-US" sz="3000" dirty="0"/>
          </a:p>
        </p:txBody>
      </p:sp>
      <p:sp>
        <p:nvSpPr>
          <p:cNvPr id="28" name="text-362"/>
          <p:cNvSpPr txBox="1"/>
          <p:nvPr/>
        </p:nvSpPr>
        <p:spPr>
          <a:xfrm>
            <a:off x="7360920" y="4782312"/>
            <a:ext cx="4114800" cy="411480"/>
          </a:xfrm>
          <a:prstGeom prst="rect">
            <a:avLst/>
          </a:prstGeom>
          <a:noFill/>
          <a:ln/>
        </p:spPr>
        <p:txBody>
          <a:bodyPr wrap="square" lIns="0" tIns="0" rIns="0" bIns="0" rtlCol="0" anchor="t"/>
          <a:lstStyle/>
          <a:p>
            <a:pPr indent="0" marL="0">
              <a:buNone/>
            </a:pPr>
            <a:r>
              <a:rPr lang="en-US" sz="1900" b="1" dirty="0">
                <a:solidFill>
                  <a:schemeClr val="bg1"/>
                </a:solidFill>
              </a:rPr>
              <a:t>Verification note</a:t>
            </a:r>
            <a:endParaRPr lang="en-US" sz="1900" dirty="0"/>
          </a:p>
        </p:txBody>
      </p:sp>
      <p:sp>
        <p:nvSpPr>
          <p:cNvPr id="29" name="text-363"/>
          <p:cNvSpPr txBox="1"/>
          <p:nvPr/>
        </p:nvSpPr>
        <p:spPr>
          <a:xfrm>
            <a:off x="7360920" y="5193792"/>
            <a:ext cx="4114800" cy="594360"/>
          </a:xfrm>
          <a:prstGeom prst="rect">
            <a:avLst/>
          </a:prstGeom>
          <a:noFill/>
          <a:ln/>
        </p:spPr>
        <p:txBody>
          <a:bodyPr wrap="square" lIns="0" tIns="0" rIns="0" bIns="0" rtlCol="0" anchor="t"/>
          <a:lstStyle/>
          <a:p>
            <a:pPr indent="0" marL="0">
              <a:buNone/>
            </a:pPr>
            <a:r>
              <a:rPr lang="en-US" sz="1500" dirty="0">
                <a:solidFill>
                  <a:schemeClr val="accent3"/>
                </a:solidFill>
              </a:rPr>
              <a:t>What Gemini got wrong, and what you chose not to paste</a:t>
            </a:r>
            <a:endParaRPr lang="en-US" sz="1500" dirty="0"/>
          </a:p>
        </p:txBody>
      </p:sp>
      <p:pic>
        <p:nvPicPr>
          <p:cNvPr id="30" name="icon-364" descr="preencoded.png">    </p:cNvPr>
          <p:cNvPicPr>
            <a:picLocks noChangeAspect="1"/>
          </p:cNvPicPr>
          <p:nvPr/>
        </p:nvPicPr>
        <p:blipFill>
          <a:blip r:embed="rId4"/>
          <a:stretch>
            <a:fillRect/>
          </a:stretch>
        </p:blipFill>
        <p:spPr>
          <a:xfrm>
            <a:off x="5943600" y="3520440"/>
            <a:ext cx="457200" cy="457200"/>
          </a:xfrm>
          <a:prstGeom prst="rect">
            <a:avLst/>
          </a:prstGeom>
        </p:spPr>
      </p:pic>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body" hasCustomPrompt="1"/>
          </p:nvPr>
        </p:nvSpPr>
        <p:spPr>
          <a:xfrm>
            <a:off x="548640" y="411480"/>
            <a:ext cx="82296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rPr>
              <a:t>ACTIVITY 3.1  ·  GROUPS OF 3–4</a:t>
            </a:r>
            <a:endParaRPr lang="en-US" sz="1400" dirty="0"/>
          </a:p>
        </p:txBody>
      </p:sp>
      <p:sp>
        <p:nvSpPr>
          <p:cNvPr id="3" name="Text 0"/>
          <p:cNvSpPr/>
          <p:nvPr>
            <p:ph idx="102" type="title" hasCustomPrompt="1"/>
          </p:nvPr>
        </p:nvSpPr>
        <p:spPr>
          <a:xfrm>
            <a:off x="548640" y="777240"/>
            <a:ext cx="8778240" cy="822960"/>
          </a:xfrm>
          <a:prstGeom prst="rect">
            <a:avLst/>
          </a:prstGeom>
          <a:noFill/>
          <a:ln/>
        </p:spPr>
        <p:txBody>
          <a:bodyPr wrap="square" lIns="0" tIns="0" rIns="0" bIns="0" rtlCol="0" anchor="ctr"/>
          <a:lstStyle/>
          <a:p>
            <a:pPr algn="l" indent="0" marL="0">
              <a:buNone/>
            </a:pPr>
            <a:r>
              <a:rPr lang="en-US" sz="3800" b="1" dirty="0">
                <a:solidFill>
                  <a:schemeClr val="bg1"/>
                </a:solidFill>
              </a:rPr>
              <a:t>Hybrid pilot case</a:t>
            </a:r>
            <a:endParaRPr lang="en-US" sz="3800" dirty="0"/>
          </a:p>
        </p:txBody>
      </p:sp>
      <p:sp>
        <p:nvSpPr>
          <p:cNvPr id="4" name="badge-365"/>
          <p:cNvSpPr/>
          <p:nvPr/>
        </p:nvSpPr>
        <p:spPr>
          <a:xfrm>
            <a:off x="10042855" y="502920"/>
            <a:ext cx="1600200" cy="457200"/>
          </a:xfrm>
          <a:prstGeom prst="roundRect">
            <a:avLst>
              <a:gd name="adj" fmla="val 50000"/>
            </a:avLst>
          </a:prstGeom>
          <a:solidFill>
            <a:schemeClr val="bg1"/>
          </a:solidFill>
          <a:ln/>
        </p:spPr>
      </p:sp>
      <p:sp>
        <p:nvSpPr>
          <p:cNvPr id="5" name="text-366"/>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35 min</a:t>
            </a:r>
            <a:endParaRPr lang="en-US" sz="1600" dirty="0"/>
          </a:p>
        </p:txBody>
      </p:sp>
      <p:sp>
        <p:nvSpPr>
          <p:cNvPr id="6" name="text-367"/>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accent3"/>
                </a:solidFill>
              </a:rPr>
              <a:t>Prompt Engineering Essentials   ·   Part 3: Use it responsibly</a:t>
            </a:r>
            <a:endParaRPr lang="en-US" sz="1000" dirty="0"/>
          </a:p>
        </p:txBody>
      </p:sp>
      <p:sp>
        <p:nvSpPr>
          <p:cNvPr id="7" name="text-368"/>
          <p:cNvSpPr txBox="1"/>
          <p:nvPr/>
        </p:nvSpPr>
        <p:spPr>
          <a:xfrm>
            <a:off x="548640" y="1783080"/>
            <a:ext cx="4572000" cy="411480"/>
          </a:xfrm>
          <a:prstGeom prst="rect">
            <a:avLst/>
          </a:prstGeom>
          <a:noFill/>
          <a:ln/>
        </p:spPr>
        <p:txBody>
          <a:bodyPr wrap="square" lIns="0" tIns="0" rIns="0" bIns="0" rtlCol="0" anchor="t"/>
          <a:lstStyle/>
          <a:p>
            <a:pPr indent="0" marL="0">
              <a:buNone/>
            </a:pPr>
            <a:r>
              <a:rPr lang="en-US" sz="2100" b="1" dirty="0">
                <a:solidFill>
                  <a:schemeClr val="bg1"/>
                </a:solidFill>
              </a:rPr>
              <a:t>Roles</a:t>
            </a:r>
            <a:endParaRPr lang="en-US" sz="2100" dirty="0"/>
          </a:p>
        </p:txBody>
      </p:sp>
      <p:sp>
        <p:nvSpPr>
          <p:cNvPr id="8" name="dot-369"/>
          <p:cNvSpPr/>
          <p:nvPr/>
        </p:nvSpPr>
        <p:spPr>
          <a:xfrm>
            <a:off x="548640" y="2331720"/>
            <a:ext cx="594360" cy="594360"/>
          </a:xfrm>
          <a:prstGeom prst="ellipse">
            <a:avLst/>
          </a:prstGeom>
          <a:solidFill>
            <a:schemeClr val="bg1"/>
          </a:solidFill>
          <a:ln/>
        </p:spPr>
      </p:sp>
      <p:pic>
        <p:nvPicPr>
          <p:cNvPr id="9" name="icon-370" descr="preencoded.png">    </p:cNvPr>
          <p:cNvPicPr>
            <a:picLocks noChangeAspect="1"/>
          </p:cNvPicPr>
          <p:nvPr/>
        </p:nvPicPr>
        <p:blipFill>
          <a:blip r:embed="rId1"/>
          <a:stretch>
            <a:fillRect/>
          </a:stretch>
        </p:blipFill>
        <p:spPr>
          <a:xfrm>
            <a:off x="679399" y="2462479"/>
            <a:ext cx="332842" cy="332842"/>
          </a:xfrm>
          <a:prstGeom prst="rect">
            <a:avLst/>
          </a:prstGeom>
        </p:spPr>
      </p:pic>
      <p:sp>
        <p:nvSpPr>
          <p:cNvPr id="10" name="text-371"/>
          <p:cNvSpPr txBox="1"/>
          <p:nvPr/>
        </p:nvSpPr>
        <p:spPr>
          <a:xfrm>
            <a:off x="1371600" y="2331720"/>
            <a:ext cx="4480560" cy="914400"/>
          </a:xfrm>
          <a:prstGeom prst="rect">
            <a:avLst/>
          </a:prstGeom>
          <a:noFill/>
          <a:ln/>
        </p:spPr>
        <p:txBody>
          <a:bodyPr wrap="square" lIns="0" tIns="0" rIns="0" bIns="0" rtlCol="0" anchor="t"/>
          <a:lstStyle/>
          <a:p>
            <a:pPr indent="0" marL="0">
              <a:buNone/>
            </a:pPr>
            <a:r>
              <a:rPr lang="en-US" sz="1700" b="1" dirty="0">
                <a:solidFill>
                  <a:schemeClr val="bg1"/>
                </a:solidFill>
              </a:rPr>
              <a:t>Navigator  </a:t>
            </a:r>
            <a:pPr indent="0" marL="0">
              <a:buNone/>
            </a:pPr>
            <a:r>
              <a:rPr lang="en-US" sz="1700" dirty="0">
                <a:solidFill>
                  <a:schemeClr val="accent3"/>
                </a:solidFill>
              </a:rPr>
              <a:t>writes the prompts</a:t>
            </a:r>
            <a:endParaRPr lang="en-US" sz="1700" dirty="0"/>
          </a:p>
        </p:txBody>
      </p:sp>
      <p:sp>
        <p:nvSpPr>
          <p:cNvPr id="11" name="dot-372"/>
          <p:cNvSpPr/>
          <p:nvPr/>
        </p:nvSpPr>
        <p:spPr>
          <a:xfrm>
            <a:off x="548640" y="3355848"/>
            <a:ext cx="594360" cy="594360"/>
          </a:xfrm>
          <a:prstGeom prst="ellipse">
            <a:avLst/>
          </a:prstGeom>
          <a:solidFill>
            <a:schemeClr val="bg1"/>
          </a:solidFill>
          <a:ln/>
        </p:spPr>
      </p:sp>
      <p:pic>
        <p:nvPicPr>
          <p:cNvPr id="12" name="icon-373" descr="preencoded.png">    </p:cNvPr>
          <p:cNvPicPr>
            <a:picLocks noChangeAspect="1"/>
          </p:cNvPicPr>
          <p:nvPr/>
        </p:nvPicPr>
        <p:blipFill>
          <a:blip r:embed="rId2"/>
          <a:stretch>
            <a:fillRect/>
          </a:stretch>
        </p:blipFill>
        <p:spPr>
          <a:xfrm>
            <a:off x="679399" y="3486607"/>
            <a:ext cx="332842" cy="332842"/>
          </a:xfrm>
          <a:prstGeom prst="rect">
            <a:avLst/>
          </a:prstGeom>
        </p:spPr>
      </p:pic>
      <p:sp>
        <p:nvSpPr>
          <p:cNvPr id="13" name="text-374"/>
          <p:cNvSpPr txBox="1"/>
          <p:nvPr/>
        </p:nvSpPr>
        <p:spPr>
          <a:xfrm>
            <a:off x="1371600" y="3355848"/>
            <a:ext cx="4480560" cy="914400"/>
          </a:xfrm>
          <a:prstGeom prst="rect">
            <a:avLst/>
          </a:prstGeom>
          <a:noFill/>
          <a:ln/>
        </p:spPr>
        <p:txBody>
          <a:bodyPr wrap="square" lIns="0" tIns="0" rIns="0" bIns="0" rtlCol="0" anchor="t"/>
          <a:lstStyle/>
          <a:p>
            <a:pPr indent="0" marL="0">
              <a:buNone/>
            </a:pPr>
            <a:r>
              <a:rPr lang="en-US" sz="1700" b="1" dirty="0">
                <a:solidFill>
                  <a:schemeClr val="bg1"/>
                </a:solidFill>
              </a:rPr>
              <a:t>Driver  </a:t>
            </a:r>
            <a:pPr indent="0" marL="0">
              <a:buNone/>
            </a:pPr>
            <a:r>
              <a:rPr lang="en-US" sz="1700" dirty="0">
                <a:solidFill>
                  <a:schemeClr val="accent3"/>
                </a:solidFill>
              </a:rPr>
              <a:t>types them into Gemini</a:t>
            </a:r>
            <a:endParaRPr lang="en-US" sz="1700" dirty="0"/>
          </a:p>
        </p:txBody>
      </p:sp>
      <p:sp>
        <p:nvSpPr>
          <p:cNvPr id="14" name="dot-375"/>
          <p:cNvSpPr/>
          <p:nvPr/>
        </p:nvSpPr>
        <p:spPr>
          <a:xfrm>
            <a:off x="548640" y="4379976"/>
            <a:ext cx="594360" cy="594360"/>
          </a:xfrm>
          <a:prstGeom prst="ellipse">
            <a:avLst/>
          </a:prstGeom>
          <a:solidFill>
            <a:schemeClr val="accent1"/>
          </a:solidFill>
          <a:ln/>
        </p:spPr>
      </p:sp>
      <p:pic>
        <p:nvPicPr>
          <p:cNvPr id="15" name="icon-376" descr="preencoded.png">    </p:cNvPr>
          <p:cNvPicPr>
            <a:picLocks noChangeAspect="1"/>
          </p:cNvPicPr>
          <p:nvPr/>
        </p:nvPicPr>
        <p:blipFill>
          <a:blip r:embed="rId3"/>
          <a:stretch>
            <a:fillRect/>
          </a:stretch>
        </p:blipFill>
        <p:spPr>
          <a:xfrm>
            <a:off x="679399" y="4510735"/>
            <a:ext cx="332842" cy="332842"/>
          </a:xfrm>
          <a:prstGeom prst="rect">
            <a:avLst/>
          </a:prstGeom>
        </p:spPr>
      </p:pic>
      <p:sp>
        <p:nvSpPr>
          <p:cNvPr id="16" name="text-377"/>
          <p:cNvSpPr txBox="1"/>
          <p:nvPr/>
        </p:nvSpPr>
        <p:spPr>
          <a:xfrm>
            <a:off x="1371600" y="4379976"/>
            <a:ext cx="4480560" cy="914400"/>
          </a:xfrm>
          <a:prstGeom prst="rect">
            <a:avLst/>
          </a:prstGeom>
          <a:noFill/>
          <a:ln/>
        </p:spPr>
        <p:txBody>
          <a:bodyPr wrap="square" lIns="0" tIns="0" rIns="0" bIns="0" rtlCol="0" anchor="t"/>
          <a:lstStyle/>
          <a:p>
            <a:pPr indent="0" marL="0">
              <a:buNone/>
            </a:pPr>
            <a:r>
              <a:rPr lang="en-US" sz="1700" b="1" dirty="0">
                <a:solidFill>
                  <a:schemeClr val="bg1"/>
                </a:solidFill>
              </a:rPr>
              <a:t>Checker  </a:t>
            </a:r>
            <a:pPr indent="0" marL="0">
              <a:buNone/>
            </a:pPr>
            <a:r>
              <a:rPr lang="en-US" sz="1700" dirty="0">
                <a:solidFill>
                  <a:schemeClr val="accent3"/>
                </a:solidFill>
              </a:rPr>
              <a:t>compares every answer with the source, and watches for personal information</a:t>
            </a:r>
            <a:endParaRPr lang="en-US" sz="1700" dirty="0"/>
          </a:p>
        </p:txBody>
      </p:sp>
      <p:sp>
        <p:nvSpPr>
          <p:cNvPr id="17" name="text-378"/>
          <p:cNvSpPr txBox="1"/>
          <p:nvPr/>
        </p:nvSpPr>
        <p:spPr>
          <a:xfrm>
            <a:off x="6263640" y="1783080"/>
            <a:ext cx="4572000" cy="411480"/>
          </a:xfrm>
          <a:prstGeom prst="rect">
            <a:avLst/>
          </a:prstGeom>
          <a:noFill/>
          <a:ln/>
        </p:spPr>
        <p:txBody>
          <a:bodyPr wrap="square" lIns="0" tIns="0" rIns="0" bIns="0" rtlCol="0" anchor="t"/>
          <a:lstStyle/>
          <a:p>
            <a:pPr indent="0" marL="0">
              <a:buNone/>
            </a:pPr>
            <a:r>
              <a:rPr lang="en-US" sz="2100" b="1" dirty="0">
                <a:solidFill>
                  <a:schemeClr val="bg1"/>
                </a:solidFill>
              </a:rPr>
              <a:t>Done when</a:t>
            </a:r>
            <a:endParaRPr lang="en-US" sz="2100" dirty="0"/>
          </a:p>
        </p:txBody>
      </p:sp>
      <p:pic>
        <p:nvPicPr>
          <p:cNvPr id="18" name="icon-379" descr="preencoded.png">    </p:cNvPr>
          <p:cNvPicPr>
            <a:picLocks noChangeAspect="1"/>
          </p:cNvPicPr>
          <p:nvPr/>
        </p:nvPicPr>
        <p:blipFill>
          <a:blip r:embed="rId4"/>
          <a:stretch>
            <a:fillRect/>
          </a:stretch>
        </p:blipFill>
        <p:spPr>
          <a:xfrm>
            <a:off x="6263640" y="2359152"/>
            <a:ext cx="384048" cy="384048"/>
          </a:xfrm>
          <a:prstGeom prst="rect">
            <a:avLst/>
          </a:prstGeom>
        </p:spPr>
      </p:pic>
      <p:sp>
        <p:nvSpPr>
          <p:cNvPr id="19" name="text-380"/>
          <p:cNvSpPr txBox="1"/>
          <p:nvPr/>
        </p:nvSpPr>
        <p:spPr>
          <a:xfrm>
            <a:off x="6812280" y="2331720"/>
            <a:ext cx="4828032" cy="731520"/>
          </a:xfrm>
          <a:prstGeom prst="rect">
            <a:avLst/>
          </a:prstGeom>
          <a:noFill/>
          <a:ln/>
        </p:spPr>
        <p:txBody>
          <a:bodyPr wrap="square" lIns="0" tIns="0" rIns="0" bIns="0" rtlCol="0" anchor="t"/>
          <a:lstStyle/>
          <a:p>
            <a:pPr indent="0" marL="0">
              <a:buNone/>
            </a:pPr>
            <a:r>
              <a:rPr lang="en-US" sz="1700" dirty="0">
                <a:solidFill>
                  <a:schemeClr val="bg1"/>
                </a:solidFill>
              </a:rPr>
              <a:t>Every FAQ answer traced to the policy, or flagged “To confirm with HR”</a:t>
            </a:r>
            <a:endParaRPr lang="en-US" sz="1700" dirty="0"/>
          </a:p>
        </p:txBody>
      </p:sp>
      <p:pic>
        <p:nvPicPr>
          <p:cNvPr id="20" name="icon-381" descr="preencoded.png">    </p:cNvPr>
          <p:cNvPicPr>
            <a:picLocks noChangeAspect="1"/>
          </p:cNvPicPr>
          <p:nvPr/>
        </p:nvPicPr>
        <p:blipFill>
          <a:blip r:embed="rId5"/>
          <a:stretch>
            <a:fillRect/>
          </a:stretch>
        </p:blipFill>
        <p:spPr>
          <a:xfrm>
            <a:off x="6263640" y="3136392"/>
            <a:ext cx="384048" cy="384048"/>
          </a:xfrm>
          <a:prstGeom prst="rect">
            <a:avLst/>
          </a:prstGeom>
        </p:spPr>
      </p:pic>
      <p:sp>
        <p:nvSpPr>
          <p:cNvPr id="21" name="text-382"/>
          <p:cNvSpPr txBox="1"/>
          <p:nvPr/>
        </p:nvSpPr>
        <p:spPr>
          <a:xfrm>
            <a:off x="6812280" y="3108960"/>
            <a:ext cx="4828032" cy="731520"/>
          </a:xfrm>
          <a:prstGeom prst="rect">
            <a:avLst/>
          </a:prstGeom>
          <a:noFill/>
          <a:ln/>
        </p:spPr>
        <p:txBody>
          <a:bodyPr wrap="square" lIns="0" tIns="0" rIns="0" bIns="0" rtlCol="0" anchor="t"/>
          <a:lstStyle/>
          <a:p>
            <a:pPr indent="0" marL="0">
              <a:buNone/>
            </a:pPr>
            <a:r>
              <a:rPr lang="en-US" sz="1700" dirty="0">
                <a:solidFill>
                  <a:schemeClr val="bg1"/>
                </a:solidFill>
              </a:rPr>
              <a:t>No personal information went into Gemini</a:t>
            </a:r>
            <a:endParaRPr lang="en-US" sz="1700" dirty="0"/>
          </a:p>
        </p:txBody>
      </p:sp>
      <p:pic>
        <p:nvPicPr>
          <p:cNvPr id="22" name="icon-383" descr="preencoded.png">    </p:cNvPr>
          <p:cNvPicPr>
            <a:picLocks noChangeAspect="1"/>
          </p:cNvPicPr>
          <p:nvPr/>
        </p:nvPicPr>
        <p:blipFill>
          <a:blip r:embed="rId6"/>
          <a:stretch>
            <a:fillRect/>
          </a:stretch>
        </p:blipFill>
        <p:spPr>
          <a:xfrm>
            <a:off x="6263640" y="3913632"/>
            <a:ext cx="384048" cy="384048"/>
          </a:xfrm>
          <a:prstGeom prst="rect">
            <a:avLst/>
          </a:prstGeom>
        </p:spPr>
      </p:pic>
      <p:sp>
        <p:nvSpPr>
          <p:cNvPr id="23" name="text-384"/>
          <p:cNvSpPr txBox="1"/>
          <p:nvPr/>
        </p:nvSpPr>
        <p:spPr>
          <a:xfrm>
            <a:off x="6812280" y="3886200"/>
            <a:ext cx="4828032" cy="731520"/>
          </a:xfrm>
          <a:prstGeom prst="rect">
            <a:avLst/>
          </a:prstGeom>
          <a:noFill/>
          <a:ln/>
        </p:spPr>
        <p:txBody>
          <a:bodyPr wrap="square" lIns="0" tIns="0" rIns="0" bIns="0" rtlCol="0" anchor="t"/>
          <a:lstStyle/>
          <a:p>
            <a:pPr indent="0" marL="0">
              <a:buNone/>
            </a:pPr>
            <a:r>
              <a:rPr lang="en-US" sz="1700" dirty="0">
                <a:solidFill>
                  <a:schemeClr val="bg1"/>
                </a:solidFill>
              </a:rPr>
              <a:t>Prompts use CRAFT and at least two techniques</a:t>
            </a:r>
            <a:endParaRPr lang="en-US" sz="1700" dirty="0"/>
          </a:p>
        </p:txBody>
      </p:sp>
      <p:pic>
        <p:nvPicPr>
          <p:cNvPr id="24" name="icon-385" descr="preencoded.png">    </p:cNvPr>
          <p:cNvPicPr>
            <a:picLocks noChangeAspect="1"/>
          </p:cNvPicPr>
          <p:nvPr/>
        </p:nvPicPr>
        <p:blipFill>
          <a:blip r:embed="rId7"/>
          <a:stretch>
            <a:fillRect/>
          </a:stretch>
        </p:blipFill>
        <p:spPr>
          <a:xfrm>
            <a:off x="6263640" y="4690872"/>
            <a:ext cx="384048" cy="384048"/>
          </a:xfrm>
          <a:prstGeom prst="rect">
            <a:avLst/>
          </a:prstGeom>
        </p:spPr>
      </p:pic>
      <p:sp>
        <p:nvSpPr>
          <p:cNvPr id="25" name="text-386"/>
          <p:cNvSpPr txBox="1"/>
          <p:nvPr/>
        </p:nvSpPr>
        <p:spPr>
          <a:xfrm>
            <a:off x="6812280" y="4663440"/>
            <a:ext cx="4828032" cy="731520"/>
          </a:xfrm>
          <a:prstGeom prst="rect">
            <a:avLst/>
          </a:prstGeom>
          <a:noFill/>
          <a:ln/>
        </p:spPr>
        <p:txBody>
          <a:bodyPr wrap="square" lIns="0" tIns="0" rIns="0" bIns="0" rtlCol="0" anchor="t"/>
          <a:lstStyle/>
          <a:p>
            <a:pPr indent="0" marL="0">
              <a:buNone/>
            </a:pPr>
            <a:r>
              <a:rPr lang="en-US" sz="1700" dirty="0">
                <a:solidFill>
                  <a:schemeClr val="bg1"/>
                </a:solidFill>
              </a:rPr>
              <a:t>Verification note complete</a:t>
            </a:r>
            <a:endParaRPr lang="en-US" sz="1700" dirty="0"/>
          </a:p>
        </p:txBody>
      </p:sp>
      <p:sp>
        <p:nvSpPr>
          <p:cNvPr id="26" name="text-387"/>
          <p:cNvSpPr txBox="1"/>
          <p:nvPr/>
        </p:nvSpPr>
        <p:spPr>
          <a:xfrm>
            <a:off x="548640" y="5715000"/>
            <a:ext cx="10180015" cy="411480"/>
          </a:xfrm>
          <a:prstGeom prst="rect">
            <a:avLst/>
          </a:prstGeom>
          <a:noFill/>
          <a:ln/>
        </p:spPr>
        <p:txBody>
          <a:bodyPr wrap="square" lIns="0" tIns="0" rIns="0" bIns="0" rtlCol="0" anchor="t"/>
          <a:lstStyle/>
          <a:p>
            <a:pPr indent="0" marL="0">
              <a:buNone/>
            </a:pPr>
            <a:r>
              <a:rPr lang="en-US" sz="1700" b="1" dirty="0">
                <a:solidFill>
                  <a:schemeClr val="accent1"/>
                </a:solidFill>
              </a:rPr>
              <a:t>Checkpoint at 1:32: </a:t>
            </a:r>
            <a:pPr indent="0" marL="0">
              <a:buNone/>
            </a:pPr>
            <a:r>
              <a:rPr lang="en-US" sz="1700" dirty="0">
                <a:solidFill>
                  <a:schemeClr val="bg1"/>
                </a:solidFill>
              </a:rPr>
              <a:t>one sentence from each group on where you are.</a:t>
            </a:r>
            <a:endParaRPr lang="en-US" sz="17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CBBB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What strong solutions had in common</a:t>
            </a:r>
            <a:endParaRPr lang="en-US" sz="3400" dirty="0"/>
          </a:p>
        </p:txBody>
      </p:sp>
      <p:sp>
        <p:nvSpPr>
          <p:cNvPr id="3" name="text-388"/>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tx2"/>
                </a:solidFill>
              </a:rPr>
              <a:t>Prompt Engineering Essentials   ·   Part 3: Use it responsibly</a:t>
            </a:r>
            <a:endParaRPr lang="en-US" sz="1000" dirty="0"/>
          </a:p>
        </p:txBody>
      </p:sp>
      <p:sp>
        <p:nvSpPr>
          <p:cNvPr id="4" name="dot-389"/>
          <p:cNvSpPr/>
          <p:nvPr/>
        </p:nvSpPr>
        <p:spPr>
          <a:xfrm>
            <a:off x="548640" y="1508760"/>
            <a:ext cx="548640" cy="548640"/>
          </a:xfrm>
          <a:prstGeom prst="ellipse">
            <a:avLst/>
          </a:prstGeom>
          <a:solidFill>
            <a:schemeClr val="tx1"/>
          </a:solidFill>
          <a:ln/>
        </p:spPr>
      </p:sp>
      <p:pic>
        <p:nvPicPr>
          <p:cNvPr id="5" name="icon-390" descr="preencoded.png">    </p:cNvPr>
          <p:cNvPicPr>
            <a:picLocks noChangeAspect="1"/>
          </p:cNvPicPr>
          <p:nvPr/>
        </p:nvPicPr>
        <p:blipFill>
          <a:blip r:embed="rId1"/>
          <a:stretch>
            <a:fillRect/>
          </a:stretch>
        </p:blipFill>
        <p:spPr>
          <a:xfrm>
            <a:off x="669341" y="1629461"/>
            <a:ext cx="307238" cy="307238"/>
          </a:xfrm>
          <a:prstGeom prst="rect">
            <a:avLst/>
          </a:prstGeom>
        </p:spPr>
      </p:pic>
      <p:sp>
        <p:nvSpPr>
          <p:cNvPr id="6" name="text-391"/>
          <p:cNvSpPr txBox="1"/>
          <p:nvPr/>
        </p:nvSpPr>
        <p:spPr>
          <a:xfrm>
            <a:off x="1325880" y="1508760"/>
            <a:ext cx="5760720" cy="548640"/>
          </a:xfrm>
          <a:prstGeom prst="rect">
            <a:avLst/>
          </a:prstGeom>
          <a:noFill/>
          <a:ln/>
        </p:spPr>
        <p:txBody>
          <a:bodyPr wrap="square" lIns="0" tIns="0" rIns="0" bIns="0" rtlCol="0" anchor="ctr"/>
          <a:lstStyle/>
          <a:p>
            <a:pPr indent="0" marL="0">
              <a:buNone/>
            </a:pPr>
            <a:r>
              <a:rPr lang="en-US" sz="2000" dirty="0">
                <a:solidFill>
                  <a:schemeClr val="tx1"/>
                </a:solidFill>
              </a:rPr>
              <a:t>Fenced the policy and said “use only”</a:t>
            </a:r>
            <a:endParaRPr lang="en-US" sz="2000" dirty="0"/>
          </a:p>
        </p:txBody>
      </p:sp>
      <p:sp>
        <p:nvSpPr>
          <p:cNvPr id="7" name="dot-392"/>
          <p:cNvSpPr/>
          <p:nvPr/>
        </p:nvSpPr>
        <p:spPr>
          <a:xfrm>
            <a:off x="548640" y="2377440"/>
            <a:ext cx="548640" cy="548640"/>
          </a:xfrm>
          <a:prstGeom prst="ellipse">
            <a:avLst/>
          </a:prstGeom>
          <a:solidFill>
            <a:schemeClr val="tx1"/>
          </a:solidFill>
          <a:ln/>
        </p:spPr>
      </p:sp>
      <p:pic>
        <p:nvPicPr>
          <p:cNvPr id="8" name="icon-393" descr="preencoded.png">    </p:cNvPr>
          <p:cNvPicPr>
            <a:picLocks noChangeAspect="1"/>
          </p:cNvPicPr>
          <p:nvPr/>
        </p:nvPicPr>
        <p:blipFill>
          <a:blip r:embed="rId2"/>
          <a:stretch>
            <a:fillRect/>
          </a:stretch>
        </p:blipFill>
        <p:spPr>
          <a:xfrm>
            <a:off x="669341" y="2498141"/>
            <a:ext cx="307238" cy="307238"/>
          </a:xfrm>
          <a:prstGeom prst="rect">
            <a:avLst/>
          </a:prstGeom>
        </p:spPr>
      </p:pic>
      <p:sp>
        <p:nvSpPr>
          <p:cNvPr id="9" name="text-394"/>
          <p:cNvSpPr txBox="1"/>
          <p:nvPr/>
        </p:nvSpPr>
        <p:spPr>
          <a:xfrm>
            <a:off x="1325880" y="2377440"/>
            <a:ext cx="5760720" cy="548640"/>
          </a:xfrm>
          <a:prstGeom prst="rect">
            <a:avLst/>
          </a:prstGeom>
          <a:noFill/>
          <a:ln/>
        </p:spPr>
        <p:txBody>
          <a:bodyPr wrap="square" lIns="0" tIns="0" rIns="0" bIns="0" rtlCol="0" anchor="ctr"/>
          <a:lstStyle/>
          <a:p>
            <a:pPr indent="0" marL="0">
              <a:buNone/>
            </a:pPr>
            <a:r>
              <a:rPr lang="en-US" sz="2000" dirty="0">
                <a:solidFill>
                  <a:schemeClr val="tx1"/>
                </a:solidFill>
              </a:rPr>
              <a:t>Flagged unknowns instead of guessing</a:t>
            </a:r>
            <a:endParaRPr lang="en-US" sz="2000" dirty="0"/>
          </a:p>
        </p:txBody>
      </p:sp>
      <p:sp>
        <p:nvSpPr>
          <p:cNvPr id="10" name="dot-395"/>
          <p:cNvSpPr/>
          <p:nvPr/>
        </p:nvSpPr>
        <p:spPr>
          <a:xfrm>
            <a:off x="548640" y="3246120"/>
            <a:ext cx="548640" cy="548640"/>
          </a:xfrm>
          <a:prstGeom prst="ellipse">
            <a:avLst/>
          </a:prstGeom>
          <a:solidFill>
            <a:schemeClr val="tx1"/>
          </a:solidFill>
          <a:ln/>
        </p:spPr>
      </p:sp>
      <p:pic>
        <p:nvPicPr>
          <p:cNvPr id="11" name="icon-396" descr="preencoded.png">    </p:cNvPr>
          <p:cNvPicPr>
            <a:picLocks noChangeAspect="1"/>
          </p:cNvPicPr>
          <p:nvPr/>
        </p:nvPicPr>
        <p:blipFill>
          <a:blip r:embed="rId3"/>
          <a:stretch>
            <a:fillRect/>
          </a:stretch>
        </p:blipFill>
        <p:spPr>
          <a:xfrm>
            <a:off x="669341" y="3366821"/>
            <a:ext cx="307238" cy="307238"/>
          </a:xfrm>
          <a:prstGeom prst="rect">
            <a:avLst/>
          </a:prstGeom>
        </p:spPr>
      </p:pic>
      <p:sp>
        <p:nvSpPr>
          <p:cNvPr id="12" name="text-397"/>
          <p:cNvSpPr txBox="1"/>
          <p:nvPr/>
        </p:nvSpPr>
        <p:spPr>
          <a:xfrm>
            <a:off x="1325880" y="3246120"/>
            <a:ext cx="5760720" cy="548640"/>
          </a:xfrm>
          <a:prstGeom prst="rect">
            <a:avLst/>
          </a:prstGeom>
          <a:noFill/>
          <a:ln/>
        </p:spPr>
        <p:txBody>
          <a:bodyPr wrap="square" lIns="0" tIns="0" rIns="0" bIns="0" rtlCol="0" anchor="ctr"/>
          <a:lstStyle/>
          <a:p>
            <a:pPr indent="0" marL="0">
              <a:buNone/>
            </a:pPr>
            <a:r>
              <a:rPr lang="en-US" sz="2000" dirty="0">
                <a:solidFill>
                  <a:schemeClr val="tx1"/>
                </a:solidFill>
              </a:rPr>
              <a:t>Gave a format and an example answer</a:t>
            </a:r>
            <a:endParaRPr lang="en-US" sz="2000" dirty="0"/>
          </a:p>
        </p:txBody>
      </p:sp>
      <p:sp>
        <p:nvSpPr>
          <p:cNvPr id="13" name="dot-398"/>
          <p:cNvSpPr/>
          <p:nvPr/>
        </p:nvSpPr>
        <p:spPr>
          <a:xfrm>
            <a:off x="548640" y="4114800"/>
            <a:ext cx="548640" cy="548640"/>
          </a:xfrm>
          <a:prstGeom prst="ellipse">
            <a:avLst/>
          </a:prstGeom>
          <a:solidFill>
            <a:schemeClr val="tx1"/>
          </a:solidFill>
          <a:ln/>
        </p:spPr>
      </p:sp>
      <p:pic>
        <p:nvPicPr>
          <p:cNvPr id="14" name="icon-399" descr="preencoded.png">    </p:cNvPr>
          <p:cNvPicPr>
            <a:picLocks noChangeAspect="1"/>
          </p:cNvPicPr>
          <p:nvPr/>
        </p:nvPicPr>
        <p:blipFill>
          <a:blip r:embed="rId4"/>
          <a:stretch>
            <a:fillRect/>
          </a:stretch>
        </p:blipFill>
        <p:spPr>
          <a:xfrm>
            <a:off x="669341" y="4235501"/>
            <a:ext cx="307238" cy="307238"/>
          </a:xfrm>
          <a:prstGeom prst="rect">
            <a:avLst/>
          </a:prstGeom>
        </p:spPr>
      </p:pic>
      <p:sp>
        <p:nvSpPr>
          <p:cNvPr id="15" name="text-400"/>
          <p:cNvSpPr txBox="1"/>
          <p:nvPr/>
        </p:nvSpPr>
        <p:spPr>
          <a:xfrm>
            <a:off x="1325880" y="4114800"/>
            <a:ext cx="5760720" cy="548640"/>
          </a:xfrm>
          <a:prstGeom prst="rect">
            <a:avLst/>
          </a:prstGeom>
          <a:noFill/>
          <a:ln/>
        </p:spPr>
        <p:txBody>
          <a:bodyPr wrap="square" lIns="0" tIns="0" rIns="0" bIns="0" rtlCol="0" anchor="ctr"/>
          <a:lstStyle/>
          <a:p>
            <a:pPr indent="0" marL="0">
              <a:buNone/>
            </a:pPr>
            <a:r>
              <a:rPr lang="en-US" sz="2000" dirty="0">
                <a:solidFill>
                  <a:schemeClr val="tx1"/>
                </a:solidFill>
              </a:rPr>
              <a:t>Iterated: two or three turns, not one</a:t>
            </a:r>
            <a:endParaRPr lang="en-US" sz="2000" dirty="0"/>
          </a:p>
        </p:txBody>
      </p:sp>
      <p:sp>
        <p:nvSpPr>
          <p:cNvPr id="16" name="dot-401"/>
          <p:cNvSpPr/>
          <p:nvPr/>
        </p:nvSpPr>
        <p:spPr>
          <a:xfrm>
            <a:off x="548640" y="4983480"/>
            <a:ext cx="548640" cy="548640"/>
          </a:xfrm>
          <a:prstGeom prst="ellipse">
            <a:avLst/>
          </a:prstGeom>
          <a:solidFill>
            <a:schemeClr val="tx1"/>
          </a:solidFill>
          <a:ln/>
        </p:spPr>
      </p:sp>
      <p:pic>
        <p:nvPicPr>
          <p:cNvPr id="17" name="icon-402" descr="preencoded.png">    </p:cNvPr>
          <p:cNvPicPr>
            <a:picLocks noChangeAspect="1"/>
          </p:cNvPicPr>
          <p:nvPr/>
        </p:nvPicPr>
        <p:blipFill>
          <a:blip r:embed="rId5"/>
          <a:stretch>
            <a:fillRect/>
          </a:stretch>
        </p:blipFill>
        <p:spPr>
          <a:xfrm>
            <a:off x="669341" y="5104181"/>
            <a:ext cx="307238" cy="307238"/>
          </a:xfrm>
          <a:prstGeom prst="rect">
            <a:avLst/>
          </a:prstGeom>
        </p:spPr>
      </p:pic>
      <p:sp>
        <p:nvSpPr>
          <p:cNvPr id="18" name="text-403"/>
          <p:cNvSpPr txBox="1"/>
          <p:nvPr/>
        </p:nvSpPr>
        <p:spPr>
          <a:xfrm>
            <a:off x="1325880" y="4983480"/>
            <a:ext cx="5760720" cy="548640"/>
          </a:xfrm>
          <a:prstGeom prst="rect">
            <a:avLst/>
          </a:prstGeom>
          <a:noFill/>
          <a:ln/>
        </p:spPr>
        <p:txBody>
          <a:bodyPr wrap="square" lIns="0" tIns="0" rIns="0" bIns="0" rtlCol="0" anchor="ctr"/>
          <a:lstStyle/>
          <a:p>
            <a:pPr indent="0" marL="0">
              <a:buNone/>
            </a:pPr>
            <a:r>
              <a:rPr lang="en-US" sz="2000" dirty="0">
                <a:solidFill>
                  <a:schemeClr val="tx1"/>
                </a:solidFill>
              </a:rPr>
              <a:t>The checker caught at least one invented answer</a:t>
            </a:r>
            <a:endParaRPr lang="en-US" sz="2000" dirty="0"/>
          </a:p>
        </p:txBody>
      </p:sp>
      <p:sp>
        <p:nvSpPr>
          <p:cNvPr id="19" name="card-404"/>
          <p:cNvSpPr/>
          <p:nvPr/>
        </p:nvSpPr>
        <p:spPr>
          <a:xfrm>
            <a:off x="7406640" y="1463040"/>
            <a:ext cx="4233672" cy="4572000"/>
          </a:xfrm>
          <a:prstGeom prst="roundRect">
            <a:avLst>
              <a:gd name="adj" fmla="val 2592"/>
            </a:avLst>
          </a:prstGeom>
          <a:solidFill>
            <a:schemeClr val="tx1"/>
          </a:solidFill>
          <a:ln/>
        </p:spPr>
      </p:sp>
      <p:pic>
        <p:nvPicPr>
          <p:cNvPr id="20" name="icon-405" descr="preencoded.png">    </p:cNvPr>
          <p:cNvPicPr>
            <a:picLocks noChangeAspect="1"/>
          </p:cNvPicPr>
          <p:nvPr/>
        </p:nvPicPr>
        <p:blipFill>
          <a:blip r:embed="rId6"/>
          <a:stretch>
            <a:fillRect/>
          </a:stretch>
        </p:blipFill>
        <p:spPr>
          <a:xfrm>
            <a:off x="7772400" y="1783080"/>
            <a:ext cx="548640" cy="548640"/>
          </a:xfrm>
          <a:prstGeom prst="rect">
            <a:avLst/>
          </a:prstGeom>
        </p:spPr>
      </p:pic>
      <p:sp>
        <p:nvSpPr>
          <p:cNvPr id="21" name="text-406"/>
          <p:cNvSpPr txBox="1"/>
          <p:nvPr/>
        </p:nvSpPr>
        <p:spPr>
          <a:xfrm>
            <a:off x="7772400" y="2514600"/>
            <a:ext cx="3657600" cy="457200"/>
          </a:xfrm>
          <a:prstGeom prst="rect">
            <a:avLst/>
          </a:prstGeom>
          <a:noFill/>
          <a:ln/>
        </p:spPr>
        <p:txBody>
          <a:bodyPr wrap="square" lIns="0" tIns="0" rIns="0" bIns="0" rtlCol="0" anchor="t"/>
          <a:lstStyle/>
          <a:p>
            <a:pPr indent="0" marL="0">
              <a:buNone/>
            </a:pPr>
            <a:r>
              <a:rPr lang="en-US" sz="2200" b="1" dirty="0">
                <a:solidFill>
                  <a:schemeClr val="bg1"/>
                </a:solidFill>
              </a:rPr>
              <a:t>The privacy trap</a:t>
            </a:r>
            <a:endParaRPr lang="en-US" sz="2200" dirty="0"/>
          </a:p>
        </p:txBody>
      </p:sp>
      <p:sp>
        <p:nvSpPr>
          <p:cNvPr id="22" name="text-407"/>
          <p:cNvSpPr txBox="1"/>
          <p:nvPr/>
        </p:nvSpPr>
        <p:spPr>
          <a:xfrm>
            <a:off x="7772400" y="3017520"/>
            <a:ext cx="3611880" cy="1554480"/>
          </a:xfrm>
          <a:prstGeom prst="rect">
            <a:avLst/>
          </a:prstGeom>
          <a:noFill/>
          <a:ln/>
        </p:spPr>
        <p:txBody>
          <a:bodyPr wrap="square" lIns="0" tIns="0" rIns="0" bIns="0" rtlCol="0" anchor="t"/>
          <a:lstStyle/>
          <a:p>
            <a:pPr indent="0" marL="0">
              <a:buNone/>
            </a:pPr>
            <a:r>
              <a:rPr lang="en-US" sz="1600" dirty="0">
                <a:solidFill>
                  <a:schemeClr val="accent3"/>
                </a:solidFill>
              </a:rPr>
              <a:t>The manager's email named an employee and their performance plan. Strong groups described the concern in general terms instead:</a:t>
            </a:r>
            <a:endParaRPr lang="en-US" sz="1600" dirty="0"/>
          </a:p>
        </p:txBody>
      </p:sp>
      <p:sp>
        <p:nvSpPr>
          <p:cNvPr id="23" name="text-408"/>
          <p:cNvSpPr txBox="1"/>
          <p:nvPr/>
        </p:nvSpPr>
        <p:spPr>
          <a:xfrm>
            <a:off x="7772400" y="4617720"/>
            <a:ext cx="3611880" cy="1097280"/>
          </a:xfrm>
          <a:prstGeom prst="rect">
            <a:avLst/>
          </a:prstGeom>
          <a:noFill/>
          <a:ln/>
        </p:spPr>
        <p:txBody>
          <a:bodyPr wrap="square" lIns="0" tIns="0" rIns="0" bIns="0" rtlCol="0" anchor="t"/>
          <a:lstStyle/>
          <a:p>
            <a:pPr indent="0" marL="0">
              <a:buNone/>
            </a:pPr>
            <a:r>
              <a:rPr lang="en-US" sz="1700" i="1" dirty="0">
                <a:solidFill>
                  <a:schemeClr val="bg1"/>
                </a:solidFill>
              </a:rPr>
              <a:t>“Can performance be a factor in approving remote work?”</a:t>
            </a:r>
            <a:endParaRPr lang="en-US" sz="17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Build a prompt you'll actually reuse</a:t>
            </a:r>
            <a:endParaRPr lang="en-US" sz="3400" dirty="0"/>
          </a:p>
        </p:txBody>
      </p:sp>
      <p:sp>
        <p:nvSpPr>
          <p:cNvPr id="3" name="text-409"/>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tx2"/>
                </a:solidFill>
              </a:rPr>
              <a:t>Prompt Engineering Essentials   ·   Part 4: Capstone</a:t>
            </a:r>
            <a:endParaRPr lang="en-US" sz="1000" dirty="0"/>
          </a:p>
        </p:txBody>
      </p:sp>
      <p:sp>
        <p:nvSpPr>
          <p:cNvPr id="4" name="badge-410"/>
          <p:cNvSpPr/>
          <p:nvPr/>
        </p:nvSpPr>
        <p:spPr>
          <a:xfrm>
            <a:off x="10042855" y="502920"/>
            <a:ext cx="1600200" cy="457200"/>
          </a:xfrm>
          <a:prstGeom prst="roundRect">
            <a:avLst>
              <a:gd name="adj" fmla="val 50000"/>
            </a:avLst>
          </a:prstGeom>
          <a:solidFill>
            <a:schemeClr val="bg2"/>
          </a:solidFill>
          <a:ln/>
        </p:spPr>
      </p:sp>
      <p:sp>
        <p:nvSpPr>
          <p:cNvPr id="5" name="text-411"/>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40 min</a:t>
            </a:r>
            <a:endParaRPr lang="en-US" sz="1600" dirty="0"/>
          </a:p>
        </p:txBody>
      </p:sp>
      <p:sp>
        <p:nvSpPr>
          <p:cNvPr id="6" name="stepper-line"/>
          <p:cNvSpPr/>
          <p:nvPr/>
        </p:nvSpPr>
        <p:spPr>
          <a:xfrm>
            <a:off x="1566642" y="1874520"/>
            <a:ext cx="9058412" cy="0"/>
          </a:xfrm>
          <a:prstGeom prst="line">
            <a:avLst/>
          </a:prstGeom>
          <a:noFill/>
          <a:ln w="25400">
            <a:solidFill>
              <a:srgbClr val="BCBBBA"/>
            </a:solidFill>
            <a:prstDash val="solid"/>
          </a:ln>
        </p:spPr>
      </p:sp>
      <p:sp>
        <p:nvSpPr>
          <p:cNvPr id="7" name="num-412"/>
          <p:cNvSpPr/>
          <p:nvPr/>
        </p:nvSpPr>
        <p:spPr>
          <a:xfrm>
            <a:off x="1246602" y="1554480"/>
            <a:ext cx="640080" cy="640080"/>
          </a:xfrm>
          <a:prstGeom prst="ellipse">
            <a:avLst/>
          </a:prstGeom>
          <a:solidFill>
            <a:schemeClr val="tx1"/>
          </a:solidFill>
          <a:ln/>
        </p:spPr>
      </p:sp>
      <p:sp>
        <p:nvSpPr>
          <p:cNvPr id="8" name="text-413"/>
          <p:cNvSpPr txBox="1"/>
          <p:nvPr/>
        </p:nvSpPr>
        <p:spPr>
          <a:xfrm>
            <a:off x="1246602" y="15544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9" name="text-414"/>
          <p:cNvSpPr txBox="1"/>
          <p:nvPr/>
        </p:nvSpPr>
        <p:spPr>
          <a:xfrm>
            <a:off x="548640" y="2377440"/>
            <a:ext cx="2036003" cy="411480"/>
          </a:xfrm>
          <a:prstGeom prst="rect">
            <a:avLst/>
          </a:prstGeom>
          <a:noFill/>
          <a:ln/>
        </p:spPr>
        <p:txBody>
          <a:bodyPr wrap="square" lIns="0" tIns="0" rIns="0" bIns="0" rtlCol="0" anchor="t"/>
          <a:lstStyle/>
          <a:p>
            <a:pPr algn="ctr" indent="0" marL="0">
              <a:buNone/>
            </a:pPr>
            <a:r>
              <a:rPr lang="en-US" sz="1900" b="1" dirty="0">
                <a:solidFill>
                  <a:schemeClr val="tx1"/>
                </a:solidFill>
              </a:rPr>
              <a:t>Pick a task</a:t>
            </a:r>
            <a:endParaRPr lang="en-US" sz="1900" dirty="0"/>
          </a:p>
        </p:txBody>
      </p:sp>
      <p:sp>
        <p:nvSpPr>
          <p:cNvPr id="10" name="text-415"/>
          <p:cNvSpPr txBox="1"/>
          <p:nvPr/>
        </p:nvSpPr>
        <p:spPr>
          <a:xfrm>
            <a:off x="594360" y="2834640"/>
            <a:ext cx="1944563" cy="1188720"/>
          </a:xfrm>
          <a:prstGeom prst="rect">
            <a:avLst/>
          </a:prstGeom>
          <a:noFill/>
          <a:ln/>
        </p:spPr>
        <p:txBody>
          <a:bodyPr wrap="square" lIns="0" tIns="0" rIns="0" bIns="0" rtlCol="0" anchor="t"/>
          <a:lstStyle/>
          <a:p>
            <a:pPr algn="ctr" indent="0" marL="0">
              <a:buNone/>
            </a:pPr>
            <a:r>
              <a:rPr lang="en-US" sz="1500" dirty="0">
                <a:solidFill>
                  <a:schemeClr val="tx2"/>
                </a:solidFill>
              </a:rPr>
              <a:t>Something you do at least monthly that involves writing or summarizing</a:t>
            </a:r>
            <a:endParaRPr lang="en-US" sz="1500" dirty="0"/>
          </a:p>
        </p:txBody>
      </p:sp>
      <p:sp>
        <p:nvSpPr>
          <p:cNvPr id="11" name="num-416"/>
          <p:cNvSpPr/>
          <p:nvPr/>
        </p:nvSpPr>
        <p:spPr>
          <a:xfrm>
            <a:off x="3511205" y="1554480"/>
            <a:ext cx="640080" cy="640080"/>
          </a:xfrm>
          <a:prstGeom prst="ellipse">
            <a:avLst/>
          </a:prstGeom>
          <a:solidFill>
            <a:schemeClr val="tx1"/>
          </a:solidFill>
          <a:ln/>
        </p:spPr>
      </p:sp>
      <p:sp>
        <p:nvSpPr>
          <p:cNvPr id="12" name="text-417"/>
          <p:cNvSpPr txBox="1"/>
          <p:nvPr/>
        </p:nvSpPr>
        <p:spPr>
          <a:xfrm>
            <a:off x="3511205" y="15544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3" name="text-418"/>
          <p:cNvSpPr txBox="1"/>
          <p:nvPr/>
        </p:nvSpPr>
        <p:spPr>
          <a:xfrm>
            <a:off x="2813243" y="2377440"/>
            <a:ext cx="2036003" cy="411480"/>
          </a:xfrm>
          <a:prstGeom prst="rect">
            <a:avLst/>
          </a:prstGeom>
          <a:noFill/>
          <a:ln/>
        </p:spPr>
        <p:txBody>
          <a:bodyPr wrap="square" lIns="0" tIns="0" rIns="0" bIns="0" rtlCol="0" anchor="t"/>
          <a:lstStyle/>
          <a:p>
            <a:pPr algn="ctr" indent="0" marL="0">
              <a:buNone/>
            </a:pPr>
            <a:r>
              <a:rPr lang="en-US" sz="1900" b="1" dirty="0">
                <a:solidFill>
                  <a:schemeClr val="tx1"/>
                </a:solidFill>
              </a:rPr>
              <a:t>Build it</a:t>
            </a:r>
            <a:endParaRPr lang="en-US" sz="1900" dirty="0"/>
          </a:p>
        </p:txBody>
      </p:sp>
      <p:sp>
        <p:nvSpPr>
          <p:cNvPr id="14" name="text-419"/>
          <p:cNvSpPr txBox="1"/>
          <p:nvPr/>
        </p:nvSpPr>
        <p:spPr>
          <a:xfrm>
            <a:off x="2858963" y="2834640"/>
            <a:ext cx="1944563" cy="1188720"/>
          </a:xfrm>
          <a:prstGeom prst="rect">
            <a:avLst/>
          </a:prstGeom>
          <a:noFill/>
          <a:ln/>
        </p:spPr>
        <p:txBody>
          <a:bodyPr wrap="square" lIns="0" tIns="0" rIns="0" bIns="0" rtlCol="0" anchor="t"/>
          <a:lstStyle/>
          <a:p>
            <a:pPr algn="ctr" indent="0" marL="0">
              <a:buNone/>
            </a:pPr>
            <a:r>
              <a:rPr lang="en-US" sz="1500" dirty="0">
                <a:solidFill>
                  <a:schemeClr val="tx2"/>
                </a:solidFill>
              </a:rPr>
              <a:t>CRAFT plus at least one technique, with [PLACEHOLDERS]</a:t>
            </a:r>
            <a:endParaRPr lang="en-US" sz="1500" dirty="0"/>
          </a:p>
        </p:txBody>
      </p:sp>
      <p:sp>
        <p:nvSpPr>
          <p:cNvPr id="15" name="num-420"/>
          <p:cNvSpPr/>
          <p:nvPr/>
        </p:nvSpPr>
        <p:spPr>
          <a:xfrm>
            <a:off x="5775808" y="1554480"/>
            <a:ext cx="640080" cy="640080"/>
          </a:xfrm>
          <a:prstGeom prst="ellipse">
            <a:avLst/>
          </a:prstGeom>
          <a:solidFill>
            <a:schemeClr val="tx1"/>
          </a:solidFill>
          <a:ln/>
        </p:spPr>
      </p:sp>
      <p:sp>
        <p:nvSpPr>
          <p:cNvPr id="16" name="text-421"/>
          <p:cNvSpPr txBox="1"/>
          <p:nvPr/>
        </p:nvSpPr>
        <p:spPr>
          <a:xfrm>
            <a:off x="5775808" y="15544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7" name="text-422"/>
          <p:cNvSpPr txBox="1"/>
          <p:nvPr/>
        </p:nvSpPr>
        <p:spPr>
          <a:xfrm>
            <a:off x="5077846" y="2377440"/>
            <a:ext cx="2036003" cy="411480"/>
          </a:xfrm>
          <a:prstGeom prst="rect">
            <a:avLst/>
          </a:prstGeom>
          <a:noFill/>
          <a:ln/>
        </p:spPr>
        <p:txBody>
          <a:bodyPr wrap="square" lIns="0" tIns="0" rIns="0" bIns="0" rtlCol="0" anchor="t"/>
          <a:lstStyle/>
          <a:p>
            <a:pPr algn="ctr" indent="0" marL="0">
              <a:buNone/>
            </a:pPr>
            <a:r>
              <a:rPr lang="en-US" sz="1900" b="1" dirty="0">
                <a:solidFill>
                  <a:schemeClr val="tx1"/>
                </a:solidFill>
              </a:rPr>
              <a:t>Test it twice</a:t>
            </a:r>
            <a:endParaRPr lang="en-US" sz="1900" dirty="0"/>
          </a:p>
        </p:txBody>
      </p:sp>
      <p:sp>
        <p:nvSpPr>
          <p:cNvPr id="18" name="text-423"/>
          <p:cNvSpPr txBox="1"/>
          <p:nvPr/>
        </p:nvSpPr>
        <p:spPr>
          <a:xfrm>
            <a:off x="5123566" y="2834640"/>
            <a:ext cx="1944563" cy="1188720"/>
          </a:xfrm>
          <a:prstGeom prst="rect">
            <a:avLst/>
          </a:prstGeom>
          <a:noFill/>
          <a:ln/>
        </p:spPr>
        <p:txBody>
          <a:bodyPr wrap="square" lIns="0" tIns="0" rIns="0" bIns="0" rtlCol="0" anchor="t"/>
          <a:lstStyle/>
          <a:p>
            <a:pPr algn="ctr" indent="0" marL="0">
              <a:buNone/>
            </a:pPr>
            <a:r>
              <a:rPr lang="en-US" sz="1500" dirty="0">
                <a:solidFill>
                  <a:schemeClr val="tx2"/>
                </a:solidFill>
              </a:rPr>
              <a:t>Two different inputs: fictional or safe material only</a:t>
            </a:r>
            <a:endParaRPr lang="en-US" sz="1500" dirty="0"/>
          </a:p>
        </p:txBody>
      </p:sp>
      <p:sp>
        <p:nvSpPr>
          <p:cNvPr id="19" name="num-424"/>
          <p:cNvSpPr/>
          <p:nvPr/>
        </p:nvSpPr>
        <p:spPr>
          <a:xfrm>
            <a:off x="8040411" y="1554480"/>
            <a:ext cx="640080" cy="640080"/>
          </a:xfrm>
          <a:prstGeom prst="ellipse">
            <a:avLst/>
          </a:prstGeom>
          <a:solidFill>
            <a:schemeClr val="tx1"/>
          </a:solidFill>
          <a:ln/>
        </p:spPr>
      </p:sp>
      <p:sp>
        <p:nvSpPr>
          <p:cNvPr id="20" name="text-425"/>
          <p:cNvSpPr txBox="1"/>
          <p:nvPr/>
        </p:nvSpPr>
        <p:spPr>
          <a:xfrm>
            <a:off x="8040411" y="15544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1" name="text-426"/>
          <p:cNvSpPr txBox="1"/>
          <p:nvPr/>
        </p:nvSpPr>
        <p:spPr>
          <a:xfrm>
            <a:off x="7342449" y="2377440"/>
            <a:ext cx="2036003" cy="411480"/>
          </a:xfrm>
          <a:prstGeom prst="rect">
            <a:avLst/>
          </a:prstGeom>
          <a:noFill/>
          <a:ln/>
        </p:spPr>
        <p:txBody>
          <a:bodyPr wrap="square" lIns="0" tIns="0" rIns="0" bIns="0" rtlCol="0" anchor="t"/>
          <a:lstStyle/>
          <a:p>
            <a:pPr algn="ctr" indent="0" marL="0">
              <a:buNone/>
            </a:pPr>
            <a:r>
              <a:rPr lang="en-US" sz="1900" b="1" dirty="0">
                <a:solidFill>
                  <a:schemeClr val="tx1"/>
                </a:solidFill>
              </a:rPr>
              <a:t>Refine it</a:t>
            </a:r>
            <a:endParaRPr lang="en-US" sz="1900" dirty="0"/>
          </a:p>
        </p:txBody>
      </p:sp>
      <p:sp>
        <p:nvSpPr>
          <p:cNvPr id="22" name="text-427"/>
          <p:cNvSpPr txBox="1"/>
          <p:nvPr/>
        </p:nvSpPr>
        <p:spPr>
          <a:xfrm>
            <a:off x="7388169" y="2834640"/>
            <a:ext cx="1944563" cy="1188720"/>
          </a:xfrm>
          <a:prstGeom prst="rect">
            <a:avLst/>
          </a:prstGeom>
          <a:noFill/>
          <a:ln/>
        </p:spPr>
        <p:txBody>
          <a:bodyPr wrap="square" lIns="0" tIns="0" rIns="0" bIns="0" rtlCol="0" anchor="t"/>
          <a:lstStyle/>
          <a:p>
            <a:pPr algn="ctr" indent="0" marL="0">
              <a:buNone/>
            </a:pPr>
            <a:r>
              <a:rPr lang="en-US" sz="1500" dirty="0">
                <a:solidFill>
                  <a:schemeClr val="tx2"/>
                </a:solidFill>
              </a:rPr>
              <a:t>Fix what the tests showed you</a:t>
            </a:r>
            <a:endParaRPr lang="en-US" sz="1500" dirty="0"/>
          </a:p>
        </p:txBody>
      </p:sp>
      <p:sp>
        <p:nvSpPr>
          <p:cNvPr id="23" name="num-428"/>
          <p:cNvSpPr/>
          <p:nvPr/>
        </p:nvSpPr>
        <p:spPr>
          <a:xfrm>
            <a:off x="10305014" y="1554480"/>
            <a:ext cx="640080" cy="640080"/>
          </a:xfrm>
          <a:prstGeom prst="ellipse">
            <a:avLst/>
          </a:prstGeom>
          <a:solidFill>
            <a:schemeClr val="accent1"/>
          </a:solidFill>
          <a:ln/>
        </p:spPr>
      </p:sp>
      <p:sp>
        <p:nvSpPr>
          <p:cNvPr id="24" name="text-429"/>
          <p:cNvSpPr txBox="1"/>
          <p:nvPr/>
        </p:nvSpPr>
        <p:spPr>
          <a:xfrm>
            <a:off x="10305014" y="15544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25" name="text-430"/>
          <p:cNvSpPr txBox="1"/>
          <p:nvPr/>
        </p:nvSpPr>
        <p:spPr>
          <a:xfrm>
            <a:off x="9607052" y="2377440"/>
            <a:ext cx="2036003" cy="411480"/>
          </a:xfrm>
          <a:prstGeom prst="rect">
            <a:avLst/>
          </a:prstGeom>
          <a:noFill/>
          <a:ln/>
        </p:spPr>
        <p:txBody>
          <a:bodyPr wrap="square" lIns="0" tIns="0" rIns="0" bIns="0" rtlCol="0" anchor="t"/>
          <a:lstStyle/>
          <a:p>
            <a:pPr algn="ctr" indent="0" marL="0">
              <a:buNone/>
            </a:pPr>
            <a:r>
              <a:rPr lang="en-US" sz="1900" b="1" dirty="0">
                <a:solidFill>
                  <a:schemeClr val="tx1"/>
                </a:solidFill>
              </a:rPr>
              <a:t>Save it</a:t>
            </a:r>
            <a:endParaRPr lang="en-US" sz="1900" dirty="0"/>
          </a:p>
        </p:txBody>
      </p:sp>
      <p:sp>
        <p:nvSpPr>
          <p:cNvPr id="26" name="text-431"/>
          <p:cNvSpPr txBox="1"/>
          <p:nvPr/>
        </p:nvSpPr>
        <p:spPr>
          <a:xfrm>
            <a:off x="9652772" y="2834640"/>
            <a:ext cx="1944563" cy="1188720"/>
          </a:xfrm>
          <a:prstGeom prst="rect">
            <a:avLst/>
          </a:prstGeom>
          <a:noFill/>
          <a:ln/>
        </p:spPr>
        <p:txBody>
          <a:bodyPr wrap="square" lIns="0" tIns="0" rIns="0" bIns="0" rtlCol="0" anchor="t"/>
          <a:lstStyle/>
          <a:p>
            <a:pPr algn="ctr" indent="0" marL="0">
              <a:buNone/>
            </a:pPr>
            <a:r>
              <a:rPr lang="en-US" sz="1500" dirty="0">
                <a:solidFill>
                  <a:schemeClr val="tx2"/>
                </a:solidFill>
              </a:rPr>
              <a:t>As a Gemini skill, so it's one click away next time</a:t>
            </a:r>
            <a:endParaRPr lang="en-US" sz="1500" dirty="0"/>
          </a:p>
        </p:txBody>
      </p:sp>
      <p:sp>
        <p:nvSpPr>
          <p:cNvPr id="27" name="card-432"/>
          <p:cNvSpPr/>
          <p:nvPr/>
        </p:nvSpPr>
        <p:spPr>
          <a:xfrm>
            <a:off x="548640" y="4297680"/>
            <a:ext cx="5387188" cy="1691640"/>
          </a:xfrm>
          <a:prstGeom prst="roundRect">
            <a:avLst>
              <a:gd name="adj" fmla="val 6486"/>
            </a:avLst>
          </a:prstGeom>
          <a:solidFill>
            <a:schemeClr val="bg2"/>
          </a:solidFill>
          <a:ln/>
        </p:spPr>
      </p:sp>
      <p:sp>
        <p:nvSpPr>
          <p:cNvPr id="28" name="text-433"/>
          <p:cNvSpPr txBox="1"/>
          <p:nvPr/>
        </p:nvSpPr>
        <p:spPr>
          <a:xfrm>
            <a:off x="868680" y="4480560"/>
            <a:ext cx="4747108" cy="1371600"/>
          </a:xfrm>
          <a:prstGeom prst="rect">
            <a:avLst/>
          </a:prstGeom>
          <a:noFill/>
          <a:ln/>
        </p:spPr>
        <p:txBody>
          <a:bodyPr wrap="square" lIns="0" tIns="0" rIns="0" bIns="0" rtlCol="0" anchor="t"/>
          <a:lstStyle/>
          <a:p>
            <a:pPr indent="0" marL="0">
              <a:buNone/>
            </a:pPr>
            <a:r>
              <a:rPr lang="en-US" sz="1600" b="1" dirty="0">
                <a:solidFill>
                  <a:schemeClr val="tx1"/>
                </a:solidFill>
              </a:rPr>
              <a:t>No task in mind?</a:t>
            </a:r>
            <a:endParaRPr lang="en-US" sz="1600" dirty="0"/>
          </a:p>
          <a:p>
            <a:pPr indent="0" marL="0">
              <a:buNone/>
            </a:pPr>
            <a:r>
              <a:rPr lang="en-US" sz="1600" dirty="0">
                <a:solidFill>
                  <a:schemeClr val="tx1"/>
                </a:solidFill>
              </a:rPr>
              <a:t>Use the fallback: a weekly operations update for Prairie Point's warehouse supervisors.</a:t>
            </a:r>
            <a:endParaRPr lang="en-US" sz="1600" dirty="0"/>
          </a:p>
        </p:txBody>
      </p:sp>
      <p:sp>
        <p:nvSpPr>
          <p:cNvPr id="29" name="card-434"/>
          <p:cNvSpPr/>
          <p:nvPr/>
        </p:nvSpPr>
        <p:spPr>
          <a:xfrm>
            <a:off x="6255868" y="4297680"/>
            <a:ext cx="5387188" cy="1691640"/>
          </a:xfrm>
          <a:prstGeom prst="roundRect">
            <a:avLst>
              <a:gd name="adj" fmla="val 6486"/>
            </a:avLst>
          </a:prstGeom>
          <a:solidFill>
            <a:schemeClr val="tx1"/>
          </a:solidFill>
          <a:ln/>
        </p:spPr>
      </p:sp>
      <p:sp>
        <p:nvSpPr>
          <p:cNvPr id="30" name="text-435"/>
          <p:cNvSpPr txBox="1"/>
          <p:nvPr/>
        </p:nvSpPr>
        <p:spPr>
          <a:xfrm>
            <a:off x="6575908" y="4480560"/>
            <a:ext cx="4747108" cy="1371600"/>
          </a:xfrm>
          <a:prstGeom prst="rect">
            <a:avLst/>
          </a:prstGeom>
          <a:noFill/>
          <a:ln/>
        </p:spPr>
        <p:txBody>
          <a:bodyPr wrap="square" lIns="0" tIns="0" rIns="0" bIns="0" rtlCol="0" anchor="t"/>
          <a:lstStyle/>
          <a:p>
            <a:pPr indent="0" marL="0">
              <a:buNone/>
            </a:pPr>
            <a:r>
              <a:rPr lang="en-US" sz="1600" b="1" dirty="0">
                <a:solidFill>
                  <a:schemeClr val="bg1"/>
                </a:solidFill>
              </a:rPr>
              <a:t>Good enough looks like</a:t>
            </a:r>
            <a:endParaRPr lang="en-US" sz="1600" dirty="0"/>
          </a:p>
          <a:p>
            <a:pPr indent="0" marL="0">
              <a:buNone/>
            </a:pPr>
            <a:r>
              <a:rPr lang="en-US" sz="1600" dirty="0">
                <a:solidFill>
                  <a:schemeClr val="accent3"/>
                </a:solidFill>
              </a:rPr>
              <a:t>A colleague could run it without asking you anything. The checklist is in your workbook.</a:t>
            </a:r>
            <a:endParaRPr lang="en-US" sz="16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Start from this skeleton</a:t>
            </a:r>
            <a:endParaRPr lang="en-US" sz="3400" dirty="0"/>
          </a:p>
        </p:txBody>
      </p:sp>
      <p:sp>
        <p:nvSpPr>
          <p:cNvPr id="3" name="text-436"/>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tx2"/>
                </a:solidFill>
              </a:rPr>
              <a:t>Prompt Engineering Essentials   ·   Part 4: Capstone</a:t>
            </a:r>
            <a:endParaRPr lang="en-US" sz="1000" dirty="0"/>
          </a:p>
        </p:txBody>
      </p:sp>
      <p:sp>
        <p:nvSpPr>
          <p:cNvPr id="4" name="card-437"/>
          <p:cNvSpPr/>
          <p:nvPr/>
        </p:nvSpPr>
        <p:spPr>
          <a:xfrm>
            <a:off x="548640" y="1417320"/>
            <a:ext cx="7406640" cy="4663440"/>
          </a:xfrm>
          <a:prstGeom prst="roundRect">
            <a:avLst>
              <a:gd name="adj" fmla="val 2353"/>
            </a:avLst>
          </a:prstGeom>
          <a:solidFill>
            <a:schemeClr val="tx1"/>
          </a:solidFill>
          <a:ln/>
        </p:spPr>
      </p:sp>
      <p:sp>
        <p:nvSpPr>
          <p:cNvPr id="5" name="text-438"/>
          <p:cNvSpPr txBox="1"/>
          <p:nvPr/>
        </p:nvSpPr>
        <p:spPr>
          <a:xfrm>
            <a:off x="822960" y="1618488"/>
            <a:ext cx="685800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TEMPLATE</a:t>
            </a:r>
            <a:endParaRPr lang="en-US" sz="1200" dirty="0"/>
          </a:p>
        </p:txBody>
      </p:sp>
      <p:sp>
        <p:nvSpPr>
          <p:cNvPr id="6" name="text-439"/>
          <p:cNvSpPr txBox="1"/>
          <p:nvPr/>
        </p:nvSpPr>
        <p:spPr>
          <a:xfrm>
            <a:off x="822960" y="1947672"/>
            <a:ext cx="6858000" cy="3950208"/>
          </a:xfrm>
          <a:prstGeom prst="rect">
            <a:avLst/>
          </a:prstGeom>
          <a:noFill/>
          <a:ln/>
        </p:spPr>
        <p:txBody>
          <a:bodyPr wrap="square" lIns="0" tIns="0" rIns="0" bIns="0" rtlCol="0" anchor="t"/>
          <a:lstStyle/>
          <a:p>
            <a:pPr indent="0" marL="0">
              <a:spcAft>
                <a:spcPts val="200"/>
              </a:spcAft>
              <a:buNone/>
            </a:pPr>
            <a:r>
              <a:rPr lang="en-US" sz="1400" b="1" dirty="0">
                <a:solidFill>
                  <a:schemeClr val="bg1"/>
                </a:solidFill>
                <a:latin typeface="Courier New" pitchFamily="34" charset="0"/>
                <a:ea typeface="Courier New" pitchFamily="34" charset="-122"/>
                <a:cs typeface="Courier New" pitchFamily="34" charset="-120"/>
              </a:rPr>
              <a:t>ROLE: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Act as a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[role]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b="1" dirty="0">
                <a:solidFill>
                  <a:schemeClr val="bg1"/>
                </a:solidFill>
                <a:latin typeface="Courier New" pitchFamily="34" charset="0"/>
                <a:ea typeface="Courier New" pitchFamily="34" charset="-122"/>
                <a:cs typeface="Courier New" pitchFamily="34" charset="-120"/>
              </a:rPr>
              <a:t>CONTEXT:</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I am a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[your role]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[type of organization]</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This is for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[purpose]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b="1" dirty="0">
                <a:solidFill>
                  <a:schemeClr val="bg1"/>
                </a:solidFill>
                <a:latin typeface="Courier New" pitchFamily="34" charset="0"/>
                <a:ea typeface="Courier New" pitchFamily="34" charset="-122"/>
                <a:cs typeface="Courier New" pitchFamily="34" charset="-120"/>
              </a:rPr>
              <a:t>ASK:</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[Action verb]</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[deliverable]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about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[topic]</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b="1" dirty="0">
                <a:solidFill>
                  <a:schemeClr val="bg1"/>
                </a:solidFill>
                <a:latin typeface="Courier New" pitchFamily="34" charset="0"/>
                <a:ea typeface="Courier New" pitchFamily="34" charset="-122"/>
                <a:cs typeface="Courier New" pitchFamily="34" charset="-120"/>
              </a:rPr>
              <a:t>SOURCE: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Use only the text between the ### marks.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If something is missing, write "Not stated."</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[paste source material]</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b="1" dirty="0">
                <a:solidFill>
                  <a:schemeClr val="bg1"/>
                </a:solidFill>
                <a:latin typeface="Courier New" pitchFamily="34" charset="0"/>
                <a:ea typeface="Courier New" pitchFamily="34" charset="-122"/>
                <a:cs typeface="Courier New" pitchFamily="34" charset="-120"/>
              </a:rPr>
              <a:t>FORMAT:</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[length]</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[bullets / table / headings]</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b="1" dirty="0">
                <a:solidFill>
                  <a:schemeClr val="bg1"/>
                </a:solidFill>
                <a:latin typeface="Courier New" pitchFamily="34" charset="0"/>
                <a:ea typeface="Courier New" pitchFamily="34" charset="-122"/>
                <a:cs typeface="Courier New" pitchFamily="34" charset="-120"/>
              </a:rPr>
              <a:t>TONE &amp; AUDIENCE: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For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[audience]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Tone: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[tone]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b="1" dirty="0">
                <a:solidFill>
                  <a:schemeClr val="bg1"/>
                </a:solidFill>
                <a:latin typeface="Courier New" pitchFamily="34" charset="0"/>
                <a:ea typeface="Courier New" pitchFamily="34" charset="-122"/>
                <a:cs typeface="Courier New" pitchFamily="34" charset="-120"/>
              </a:rPr>
              <a:t>EXAMPLE: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[optional sample of what good looks like]</a:t>
            </a:r>
            <a:endParaRPr lang="en-US" sz="1400" dirty="0"/>
          </a:p>
          <a:p>
            <a:pPr indent="0" marL="0">
              <a:spcAft>
                <a:spcPts val="200"/>
              </a:spcAft>
              <a:buNone/>
            </a:pPr>
            <a:r>
              <a:rPr lang="en-US" sz="1400" b="1" dirty="0">
                <a:solidFill>
                  <a:schemeClr val="bg1"/>
                </a:solidFill>
                <a:latin typeface="Courier New" pitchFamily="34" charset="0"/>
                <a:ea typeface="Courier New" pitchFamily="34" charset="-122"/>
                <a:cs typeface="Courier New" pitchFamily="34" charset="-120"/>
              </a:rPr>
              <a:t>BEFORE YOU START:</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Ask me up to 3 questions if</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anything important is unclear.</a:t>
            </a:r>
            <a:endParaRPr lang="en-US" sz="1400" dirty="0"/>
          </a:p>
        </p:txBody>
      </p:sp>
      <p:sp>
        <p:nvSpPr>
          <p:cNvPr id="7" name="card-440"/>
          <p:cNvSpPr/>
          <p:nvPr/>
        </p:nvSpPr>
        <p:spPr>
          <a:xfrm>
            <a:off x="8275320" y="1508760"/>
            <a:ext cx="3364992" cy="1280160"/>
          </a:xfrm>
          <a:prstGeom prst="roundRect">
            <a:avLst>
              <a:gd name="adj" fmla="val 8571"/>
            </a:avLst>
          </a:prstGeom>
          <a:solidFill>
            <a:schemeClr val="bg2"/>
          </a:solidFill>
          <a:ln/>
        </p:spPr>
      </p:sp>
      <p:sp>
        <p:nvSpPr>
          <p:cNvPr id="8" name="text-441"/>
          <p:cNvSpPr txBox="1"/>
          <p:nvPr/>
        </p:nvSpPr>
        <p:spPr>
          <a:xfrm>
            <a:off x="8503920" y="1618488"/>
            <a:ext cx="2926080" cy="1060704"/>
          </a:xfrm>
          <a:prstGeom prst="rect">
            <a:avLst/>
          </a:prstGeom>
          <a:noFill/>
          <a:ln/>
        </p:spPr>
        <p:txBody>
          <a:bodyPr wrap="square" lIns="0" tIns="0" rIns="0" bIns="0" rtlCol="0" anchor="ctr"/>
          <a:lstStyle/>
          <a:p>
            <a:pPr indent="0" marL="0">
              <a:buNone/>
            </a:pPr>
            <a:r>
              <a:rPr lang="en-US" sz="1500" b="1" dirty="0">
                <a:solidFill>
                  <a:schemeClr val="accent1"/>
                </a:solidFill>
              </a:rPr>
              <a:t>[Brackets] </a:t>
            </a:r>
            <a:pPr indent="0" marL="0">
              <a:buNone/>
            </a:pPr>
            <a:r>
              <a:rPr lang="en-US" sz="1500" dirty="0">
                <a:solidFill>
                  <a:schemeClr val="tx1"/>
                </a:solidFill>
              </a:rPr>
              <a:t>are what changes each time. Delete any line you don't need.</a:t>
            </a:r>
            <a:endParaRPr lang="en-US" sz="1500" dirty="0"/>
          </a:p>
        </p:txBody>
      </p:sp>
      <p:sp>
        <p:nvSpPr>
          <p:cNvPr id="9" name="card-442"/>
          <p:cNvSpPr/>
          <p:nvPr/>
        </p:nvSpPr>
        <p:spPr>
          <a:xfrm>
            <a:off x="8275320" y="2971800"/>
            <a:ext cx="3364992" cy="1280160"/>
          </a:xfrm>
          <a:prstGeom prst="roundRect">
            <a:avLst>
              <a:gd name="adj" fmla="val 8571"/>
            </a:avLst>
          </a:prstGeom>
          <a:solidFill>
            <a:schemeClr val="bg2"/>
          </a:solidFill>
          <a:ln/>
        </p:spPr>
      </p:sp>
      <p:sp>
        <p:nvSpPr>
          <p:cNvPr id="10" name="text-443"/>
          <p:cNvSpPr txBox="1"/>
          <p:nvPr/>
        </p:nvSpPr>
        <p:spPr>
          <a:xfrm>
            <a:off x="8503920" y="3081528"/>
            <a:ext cx="2926080" cy="1060704"/>
          </a:xfrm>
          <a:prstGeom prst="rect">
            <a:avLst/>
          </a:prstGeom>
          <a:noFill/>
          <a:ln/>
        </p:spPr>
        <p:txBody>
          <a:bodyPr wrap="square" lIns="0" tIns="0" rIns="0" bIns="0" rtlCol="0" anchor="ctr"/>
          <a:lstStyle/>
          <a:p>
            <a:pPr indent="0" marL="0">
              <a:buNone/>
            </a:pPr>
            <a:r>
              <a:rPr lang="en-US" sz="1500" b="1" dirty="0">
                <a:solidFill>
                  <a:schemeClr val="tx1"/>
                </a:solidFill>
              </a:rPr>
              <a:t>Save it as a skill. </a:t>
            </a:r>
            <a:pPr indent="0" marL="0">
              <a:buNone/>
            </a:pPr>
            <a:r>
              <a:rPr lang="en-US" sz="1500" dirty="0">
                <a:solidFill>
                  <a:schemeClr val="tx1"/>
                </a:solidFill>
              </a:rPr>
              <a:t>Ask Gemini: “Create a skill from this prompt.” Then type / to use it.</a:t>
            </a:r>
            <a:endParaRPr lang="en-US" sz="1500" dirty="0"/>
          </a:p>
        </p:txBody>
      </p:sp>
      <p:sp>
        <p:nvSpPr>
          <p:cNvPr id="11" name="card-444"/>
          <p:cNvSpPr/>
          <p:nvPr/>
        </p:nvSpPr>
        <p:spPr>
          <a:xfrm>
            <a:off x="8275320" y="4434840"/>
            <a:ext cx="3364992" cy="1280160"/>
          </a:xfrm>
          <a:prstGeom prst="roundRect">
            <a:avLst>
              <a:gd name="adj" fmla="val 8571"/>
            </a:avLst>
          </a:prstGeom>
          <a:solidFill>
            <a:schemeClr val="bg2"/>
          </a:solidFill>
          <a:ln/>
        </p:spPr>
      </p:sp>
      <p:sp>
        <p:nvSpPr>
          <p:cNvPr id="12" name="text-445"/>
          <p:cNvSpPr txBox="1"/>
          <p:nvPr/>
        </p:nvSpPr>
        <p:spPr>
          <a:xfrm>
            <a:off x="8503920" y="4544568"/>
            <a:ext cx="2926080" cy="1060704"/>
          </a:xfrm>
          <a:prstGeom prst="rect">
            <a:avLst/>
          </a:prstGeom>
          <a:noFill/>
          <a:ln/>
        </p:spPr>
        <p:txBody>
          <a:bodyPr wrap="square" lIns="0" tIns="0" rIns="0" bIns="0" rtlCol="0" anchor="ctr"/>
          <a:lstStyle/>
          <a:p>
            <a:pPr indent="0" marL="0">
              <a:buNone/>
            </a:pPr>
            <a:r>
              <a:rPr lang="en-US" sz="1500" b="1" dirty="0">
                <a:solidFill>
                  <a:schemeClr val="tx1"/>
                </a:solidFill>
              </a:rPr>
              <a:t>Still see Gems? </a:t>
            </a:r>
            <a:pPr indent="0" marL="0">
              <a:buNone/>
            </a:pPr>
            <a:r>
              <a:rPr lang="en-US" sz="1500" dirty="0">
                <a:solidFill>
                  <a:schemeClr val="tx1"/>
                </a:solidFill>
              </a:rPr>
              <a:t>Gems → New Gem works the same way. Or keep it in a Google Doc.</a:t>
            </a:r>
            <a:endParaRPr lang="en-US" sz="15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The day on one slide</a:t>
            </a:r>
            <a:endParaRPr lang="en-US" sz="3400" dirty="0"/>
          </a:p>
        </p:txBody>
      </p:sp>
      <p:sp>
        <p:nvSpPr>
          <p:cNvPr id="3" name="text-446"/>
          <p:cNvSpPr txBox="1"/>
          <p:nvPr/>
        </p:nvSpPr>
        <p:spPr>
          <a:xfrm>
            <a:off x="548640" y="6382512"/>
            <a:ext cx="7315200" cy="274320"/>
          </a:xfrm>
          <a:prstGeom prst="rect">
            <a:avLst/>
          </a:prstGeom>
          <a:noFill/>
          <a:ln/>
        </p:spPr>
        <p:txBody>
          <a:bodyPr wrap="square" lIns="0" tIns="0" rIns="0" bIns="0" rtlCol="0" anchor="t"/>
          <a:lstStyle/>
          <a:p>
            <a:pPr indent="0" marL="0">
              <a:buNone/>
            </a:pPr>
            <a:r>
              <a:rPr lang="en-US" sz="1000" dirty="0">
                <a:solidFill>
                  <a:schemeClr val="tx2"/>
                </a:solidFill>
              </a:rPr>
              <a:t>Prompt Engineering Essentials   ·   Review</a:t>
            </a:r>
            <a:endParaRPr lang="en-US" sz="1000" dirty="0"/>
          </a:p>
        </p:txBody>
      </p:sp>
      <p:sp>
        <p:nvSpPr>
          <p:cNvPr id="4" name="card-447"/>
          <p:cNvSpPr/>
          <p:nvPr/>
        </p:nvSpPr>
        <p:spPr>
          <a:xfrm>
            <a:off x="548640" y="1463040"/>
            <a:ext cx="3515258" cy="4572000"/>
          </a:xfrm>
          <a:prstGeom prst="roundRect">
            <a:avLst>
              <a:gd name="adj" fmla="val 3121"/>
            </a:avLst>
          </a:prstGeom>
          <a:solidFill>
            <a:schemeClr val="bg2"/>
          </a:solidFill>
          <a:ln/>
        </p:spPr>
      </p:sp>
      <p:sp>
        <p:nvSpPr>
          <p:cNvPr id="5" name="text-448"/>
          <p:cNvSpPr txBox="1"/>
          <p:nvPr/>
        </p:nvSpPr>
        <p:spPr>
          <a:xfrm>
            <a:off x="868680" y="1737360"/>
            <a:ext cx="2875178" cy="457200"/>
          </a:xfrm>
          <a:prstGeom prst="rect">
            <a:avLst/>
          </a:prstGeom>
          <a:noFill/>
          <a:ln/>
        </p:spPr>
        <p:txBody>
          <a:bodyPr wrap="square" lIns="0" tIns="0" rIns="0" bIns="0" rtlCol="0" anchor="t"/>
          <a:lstStyle/>
          <a:p>
            <a:pPr indent="0" marL="0">
              <a:buNone/>
            </a:pPr>
            <a:r>
              <a:rPr lang="en-US" sz="2200" b="1" dirty="0">
                <a:solidFill>
                  <a:schemeClr val="tx1"/>
                </a:solidFill>
              </a:rPr>
              <a:t>Write it: CRAFT</a:t>
            </a:r>
            <a:endParaRPr lang="en-US" sz="2200" dirty="0"/>
          </a:p>
        </p:txBody>
      </p:sp>
      <p:sp>
        <p:nvSpPr>
          <p:cNvPr id="6" name="text-449"/>
          <p:cNvSpPr txBox="1"/>
          <p:nvPr/>
        </p:nvSpPr>
        <p:spPr>
          <a:xfrm>
            <a:off x="868680" y="2377440"/>
            <a:ext cx="2966618" cy="347472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chemeClr val="tx1"/>
                </a:solidFill>
              </a:rPr>
              <a:t>Context</a:t>
            </a:r>
            <a:endParaRPr lang="en-US" sz="1800" dirty="0"/>
          </a:p>
          <a:p>
            <a:pPr marL="228600" indent="-228600">
              <a:spcAft>
                <a:spcPts val="1200"/>
              </a:spcAft>
              <a:buSzPct val="100000"/>
              <a:buChar char="•"/>
            </a:pPr>
            <a:r>
              <a:rPr lang="en-US" sz="1800" dirty="0">
                <a:solidFill>
                  <a:schemeClr val="tx1"/>
                </a:solidFill>
              </a:rPr>
              <a:t>Role</a:t>
            </a:r>
            <a:endParaRPr lang="en-US" sz="1800" dirty="0"/>
          </a:p>
          <a:p>
            <a:pPr marL="228600" indent="-228600">
              <a:spcAft>
                <a:spcPts val="1200"/>
              </a:spcAft>
              <a:buSzPct val="100000"/>
              <a:buChar char="•"/>
            </a:pPr>
            <a:r>
              <a:rPr lang="en-US" sz="1800" dirty="0">
                <a:solidFill>
                  <a:schemeClr val="tx1"/>
                </a:solidFill>
              </a:rPr>
              <a:t>Ask</a:t>
            </a:r>
            <a:endParaRPr lang="en-US" sz="1800" dirty="0"/>
          </a:p>
          <a:p>
            <a:pPr marL="228600" indent="-228600">
              <a:spcAft>
                <a:spcPts val="1200"/>
              </a:spcAft>
              <a:buSzPct val="100000"/>
              <a:buChar char="•"/>
            </a:pPr>
            <a:r>
              <a:rPr lang="en-US" sz="1800" dirty="0">
                <a:solidFill>
                  <a:schemeClr val="tx1"/>
                </a:solidFill>
              </a:rPr>
              <a:t>Format</a:t>
            </a:r>
            <a:endParaRPr lang="en-US" sz="1800" dirty="0"/>
          </a:p>
          <a:p>
            <a:pPr marL="228600" indent="-228600">
              <a:spcAft>
                <a:spcPts val="1200"/>
              </a:spcAft>
              <a:buSzPct val="100000"/>
              <a:buChar char="•"/>
            </a:pPr>
            <a:r>
              <a:rPr lang="en-US" sz="1800" dirty="0">
                <a:solidFill>
                  <a:schemeClr val="tx1"/>
                </a:solidFill>
              </a:rPr>
              <a:t>Tone &amp; audience</a:t>
            </a:r>
            <a:endParaRPr lang="en-US" sz="1800" dirty="0"/>
          </a:p>
        </p:txBody>
      </p:sp>
      <p:sp>
        <p:nvSpPr>
          <p:cNvPr id="7" name="card-450"/>
          <p:cNvSpPr/>
          <p:nvPr/>
        </p:nvSpPr>
        <p:spPr>
          <a:xfrm>
            <a:off x="4338218" y="1463040"/>
            <a:ext cx="3515258" cy="4572000"/>
          </a:xfrm>
          <a:prstGeom prst="roundRect">
            <a:avLst>
              <a:gd name="adj" fmla="val 3121"/>
            </a:avLst>
          </a:prstGeom>
          <a:solidFill>
            <a:schemeClr val="bg2"/>
          </a:solidFill>
          <a:ln/>
        </p:spPr>
      </p:sp>
      <p:sp>
        <p:nvSpPr>
          <p:cNvPr id="8" name="text-451"/>
          <p:cNvSpPr txBox="1"/>
          <p:nvPr/>
        </p:nvSpPr>
        <p:spPr>
          <a:xfrm>
            <a:off x="4658258" y="1737360"/>
            <a:ext cx="2875178" cy="457200"/>
          </a:xfrm>
          <a:prstGeom prst="rect">
            <a:avLst/>
          </a:prstGeom>
          <a:noFill/>
          <a:ln/>
        </p:spPr>
        <p:txBody>
          <a:bodyPr wrap="square" lIns="0" tIns="0" rIns="0" bIns="0" rtlCol="0" anchor="t"/>
          <a:lstStyle/>
          <a:p>
            <a:pPr indent="0" marL="0">
              <a:buNone/>
            </a:pPr>
            <a:r>
              <a:rPr lang="en-US" sz="2200" b="1" dirty="0">
                <a:solidFill>
                  <a:schemeClr val="tx1"/>
                </a:solidFill>
              </a:rPr>
              <a:t>Strengthen it</a:t>
            </a:r>
            <a:endParaRPr lang="en-US" sz="2200" dirty="0"/>
          </a:p>
        </p:txBody>
      </p:sp>
      <p:sp>
        <p:nvSpPr>
          <p:cNvPr id="9" name="text-452"/>
          <p:cNvSpPr txBox="1"/>
          <p:nvPr/>
        </p:nvSpPr>
        <p:spPr>
          <a:xfrm>
            <a:off x="4658258" y="2377440"/>
            <a:ext cx="2966618" cy="347472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chemeClr val="tx1"/>
                </a:solidFill>
              </a:rPr>
              <a:t>Give an example</a:t>
            </a:r>
            <a:endParaRPr lang="en-US" sz="1800" dirty="0"/>
          </a:p>
          <a:p>
            <a:pPr marL="228600" indent="-228600">
              <a:spcAft>
                <a:spcPts val="1200"/>
              </a:spcAft>
              <a:buSzPct val="100000"/>
              <a:buChar char="•"/>
            </a:pPr>
            <a:r>
              <a:rPr lang="en-US" sz="1800" dirty="0">
                <a:solidFill>
                  <a:schemeClr val="tx1"/>
                </a:solidFill>
              </a:rPr>
              <a:t>Fence the source</a:t>
            </a:r>
            <a:endParaRPr lang="en-US" sz="1800" dirty="0"/>
          </a:p>
          <a:p>
            <a:pPr marL="228600" indent="-228600">
              <a:spcAft>
                <a:spcPts val="1200"/>
              </a:spcAft>
              <a:buSzPct val="100000"/>
              <a:buChar char="•"/>
            </a:pPr>
            <a:r>
              <a:rPr lang="en-US" sz="1800" dirty="0">
                <a:solidFill>
                  <a:schemeClr val="tx1"/>
                </a:solidFill>
              </a:rPr>
              <a:t>Ground it: “Not stated”</a:t>
            </a:r>
            <a:endParaRPr lang="en-US" sz="1800" dirty="0"/>
          </a:p>
          <a:p>
            <a:pPr marL="228600" indent="-228600">
              <a:spcAft>
                <a:spcPts val="1200"/>
              </a:spcAft>
              <a:buSzPct val="100000"/>
              <a:buChar char="•"/>
            </a:pPr>
            <a:r>
              <a:rPr lang="en-US" sz="1800" dirty="0">
                <a:solidFill>
                  <a:schemeClr val="tx1"/>
                </a:solidFill>
              </a:rPr>
              <a:t>Set the structure</a:t>
            </a:r>
            <a:endParaRPr lang="en-US" sz="1800" dirty="0"/>
          </a:p>
          <a:p>
            <a:pPr marL="228600" indent="-228600">
              <a:spcAft>
                <a:spcPts val="1200"/>
              </a:spcAft>
              <a:buSzPct val="100000"/>
              <a:buChar char="•"/>
            </a:pPr>
            <a:r>
              <a:rPr lang="en-US" sz="1800" dirty="0">
                <a:solidFill>
                  <a:schemeClr val="tx1"/>
                </a:solidFill>
              </a:rPr>
              <a:t>Refine with follow-ups</a:t>
            </a:r>
            <a:endParaRPr lang="en-US" sz="1800" dirty="0"/>
          </a:p>
        </p:txBody>
      </p:sp>
      <p:sp>
        <p:nvSpPr>
          <p:cNvPr id="10" name="card-453"/>
          <p:cNvSpPr/>
          <p:nvPr/>
        </p:nvSpPr>
        <p:spPr>
          <a:xfrm>
            <a:off x="8127797" y="1463040"/>
            <a:ext cx="3515258" cy="4572000"/>
          </a:xfrm>
          <a:prstGeom prst="roundRect">
            <a:avLst>
              <a:gd name="adj" fmla="val 3121"/>
            </a:avLst>
          </a:prstGeom>
          <a:solidFill>
            <a:schemeClr val="tx1"/>
          </a:solidFill>
          <a:ln/>
        </p:spPr>
      </p:sp>
      <p:sp>
        <p:nvSpPr>
          <p:cNvPr id="11" name="text-454"/>
          <p:cNvSpPr txBox="1"/>
          <p:nvPr/>
        </p:nvSpPr>
        <p:spPr>
          <a:xfrm>
            <a:off x="8447837" y="1737360"/>
            <a:ext cx="2875178" cy="457200"/>
          </a:xfrm>
          <a:prstGeom prst="rect">
            <a:avLst/>
          </a:prstGeom>
          <a:noFill/>
          <a:ln/>
        </p:spPr>
        <p:txBody>
          <a:bodyPr wrap="square" lIns="0" tIns="0" rIns="0" bIns="0" rtlCol="0" anchor="t"/>
          <a:lstStyle/>
          <a:p>
            <a:pPr indent="0" marL="0">
              <a:buNone/>
            </a:pPr>
            <a:r>
              <a:rPr lang="en-US" sz="2200" b="1" dirty="0">
                <a:solidFill>
                  <a:schemeClr val="bg1"/>
                </a:solidFill>
              </a:rPr>
              <a:t>Use it responsibly</a:t>
            </a:r>
            <a:endParaRPr lang="en-US" sz="2200" dirty="0"/>
          </a:p>
        </p:txBody>
      </p:sp>
      <p:sp>
        <p:nvSpPr>
          <p:cNvPr id="12" name="text-455"/>
          <p:cNvSpPr txBox="1"/>
          <p:nvPr/>
        </p:nvSpPr>
        <p:spPr>
          <a:xfrm>
            <a:off x="8447837" y="2377440"/>
            <a:ext cx="2966618" cy="347472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chemeClr val="bg1"/>
                </a:solidFill>
              </a:rPr>
              <a:t>Know your account</a:t>
            </a:r>
            <a:endParaRPr lang="en-US" sz="1800" dirty="0"/>
          </a:p>
          <a:p>
            <a:pPr marL="228600" indent="-228600">
              <a:spcAft>
                <a:spcPts val="1200"/>
              </a:spcAft>
              <a:buSzPct val="100000"/>
              <a:buChar char="•"/>
            </a:pPr>
            <a:r>
              <a:rPr lang="en-US" sz="1800" dirty="0">
                <a:solidFill>
                  <a:schemeClr val="bg1"/>
                </a:solidFill>
              </a:rPr>
              <a:t>Check before you paste</a:t>
            </a:r>
            <a:endParaRPr lang="en-US" sz="1800" dirty="0"/>
          </a:p>
          <a:p>
            <a:pPr marL="228600" indent="-228600">
              <a:spcAft>
                <a:spcPts val="1200"/>
              </a:spcAft>
              <a:buSzPct val="100000"/>
              <a:buChar char="•"/>
            </a:pPr>
            <a:r>
              <a:rPr lang="en-US" sz="1800" dirty="0">
                <a:solidFill>
                  <a:schemeClr val="bg1"/>
                </a:solidFill>
              </a:rPr>
              <a:t>Verify every output</a:t>
            </a:r>
            <a:endParaRPr lang="en-US" sz="1800" dirty="0"/>
          </a:p>
          <a:p>
            <a:pPr marL="228600" indent="-228600">
              <a:spcAft>
                <a:spcPts val="1200"/>
              </a:spcAft>
              <a:buSzPct val="100000"/>
              <a:buChar char="•"/>
            </a:pPr>
            <a:r>
              <a:rPr lang="en-US" sz="1800" dirty="0">
                <a:solidFill>
                  <a:schemeClr val="bg1"/>
                </a:solidFill>
              </a:rPr>
              <a:t>You're the editor</a:t>
            </a:r>
            <a:endParaRPr lang="en-US" sz="18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2" type="title" hasCustomPrompt="1"/>
          </p:nvPr>
        </p:nvSpPr>
        <p:spPr>
          <a:xfrm>
            <a:off x="548640" y="2103120"/>
            <a:ext cx="9875520" cy="1554480"/>
          </a:xfrm>
          <a:prstGeom prst="rect">
            <a:avLst/>
          </a:prstGeom>
          <a:noFill/>
          <a:ln/>
        </p:spPr>
        <p:txBody>
          <a:bodyPr wrap="square" lIns="0" tIns="0" rIns="0" bIns="0" rtlCol="0" anchor="b"/>
          <a:lstStyle/>
          <a:p>
            <a:pPr algn="l" indent="0" marL="0">
              <a:buNone/>
            </a:pPr>
            <a:r>
              <a:rPr lang="en-US" sz="5400" b="1" dirty="0">
                <a:solidFill>
                  <a:schemeClr val="bg1"/>
                </a:solidFill>
              </a:rPr>
              <a:t>Thank you</a:t>
            </a:r>
            <a:endParaRPr lang="en-US" sz="5400" dirty="0"/>
          </a:p>
        </p:txBody>
      </p:sp>
      <p:sp>
        <p:nvSpPr>
          <p:cNvPr id="3" name="Text 0"/>
          <p:cNvSpPr/>
          <p:nvPr>
            <p:ph idx="103" type="body" hasCustomPrompt="1"/>
          </p:nvPr>
        </p:nvSpPr>
        <p:spPr>
          <a:xfrm>
            <a:off x="548640" y="3794760"/>
            <a:ext cx="9875520" cy="731520"/>
          </a:xfrm>
          <a:prstGeom prst="rect">
            <a:avLst/>
          </a:prstGeom>
          <a:noFill/>
          <a:ln/>
        </p:spPr>
        <p:txBody>
          <a:bodyPr wrap="square" lIns="0" tIns="0" rIns="0" bIns="0" rtlCol="0" anchor="t"/>
          <a:lstStyle/>
          <a:p>
            <a:pPr algn="l" indent="0" marL="0">
              <a:buNone/>
            </a:pPr>
            <a:r>
              <a:rPr lang="en-US" sz="2400" dirty="0">
                <a:solidFill>
                  <a:schemeClr val="accent3"/>
                </a:solidFill>
              </a:rPr>
              <a:t>Use your saved prompt on one real task this week.</a:t>
            </a:r>
            <a:endParaRPr lang="en-US" sz="2400" dirty="0"/>
          </a:p>
        </p:txBody>
      </p:sp>
      <p:sp>
        <p:nvSpPr>
          <p:cNvPr id="4" name="Text 0"/>
          <p:cNvSpPr/>
          <p:nvPr>
            <p:ph idx="104" type="body" hasCustomPrompt="1"/>
          </p:nvPr>
        </p:nvSpPr>
        <p:spPr>
          <a:xfrm>
            <a:off x="548640" y="4754880"/>
            <a:ext cx="7863840" cy="822960"/>
          </a:xfrm>
          <a:prstGeom prst="rect">
            <a:avLst/>
          </a:prstGeom>
          <a:noFill/>
          <a:ln/>
        </p:spPr>
        <p:txBody>
          <a:bodyPr wrap="square" lIns="0" tIns="0" rIns="0" bIns="0" rtlCol="0" anchor="t"/>
          <a:lstStyle/>
          <a:p>
            <a:pPr algn="l" indent="0" marL="0">
              <a:buNone/>
            </a:pPr>
            <a:r>
              <a:rPr lang="en-US" sz="1600" dirty="0">
                <a:solidFill>
                  <a:schemeClr val="bg1"/>
                </a:solidFill>
              </a:rPr>
              <a:t>Keep practising with your workbook and Google's Gemini prompt guide (linked in the syllabus).</a:t>
            </a:r>
            <a:endParaRPr lang="en-US" sz="1600" dirty="0"/>
          </a:p>
        </p:txBody>
      </p:sp>
    </p:spTree>
  </p:cSld>
  <p:clrMapOvr>
    <a:masterClrMapping/>
  </p:clrMapOvr>
</p:sld>
</file>

<file path=ppt/theme/theme1.xml><?xml version="1.0" encoding="utf-8"?>
<a:theme xmlns:a="http://schemas.openxmlformats.org/drawingml/2006/main" name="UNO Black and Red">
  <a:themeElements>
    <a:clrScheme name="UNO Black and Red">
      <a:dk1>
        <a:srgbClr val="000000"/>
      </a:dk1>
      <a:lt1>
        <a:srgbClr val="FFFFFF"/>
      </a:lt1>
      <a:dk2>
        <a:srgbClr val="636568"/>
      </a:dk2>
      <a:lt2>
        <a:srgbClr val="EFEFEF"/>
      </a:lt2>
      <a:accent1>
        <a:srgbClr val="D71920"/>
      </a:accent1>
      <a:accent2>
        <a:srgbClr val="262626"/>
      </a:accent2>
      <a:accent3>
        <a:srgbClr val="BCBBBA"/>
      </a:accent3>
      <a:accent4>
        <a:srgbClr val="636568"/>
      </a:accent4>
      <a:accent5>
        <a:srgbClr val="8E8F91"/>
      </a:accent5>
      <a:accent6>
        <a:srgbClr val="000000"/>
      </a:accent6>
      <a:hlink>
        <a:srgbClr val="D71920"/>
      </a:hlink>
      <a:folHlink>
        <a:srgbClr val="636568"/>
      </a:folHlink>
    </a:clrScheme>
    <a:fontScheme name="UNO Black and Re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University of Nebraska at Omaha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Essentials</dc:title>
  <dc:subject>A one-day prompt engineering workshop using Google Gemini</dc:subject>
  <dc:creator>PptxGenJS</dc:creator>
  <cp:lastModifiedBy>PptxGenJS</cp:lastModifiedBy>
  <cp:revision>1</cp:revision>
  <dcterms:created xsi:type="dcterms:W3CDTF">2026-10-16T19:25:57Z</dcterms:created>
  <dcterms:modified xsi:type="dcterms:W3CDTF">2026-10-16T19:25:57Z</dcterms:modified>
</cp:coreProperties>
</file>